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b418e361b54b71" /><Relationship Type="http://schemas.openxmlformats.org/officeDocument/2006/relationships/extended-properties" Target="/docProps/app.xml" Id="R3636d30e3ba541be" /><Relationship Type="http://schemas.openxmlformats.org/officeDocument/2006/relationships/officeDocument" Target="/ppt/presentation.xml" Id="R49ef04a8bf5f4e24" /></Relationships>
</file>

<file path=ppt/presentation.xml><?xml version="1.0" encoding="utf-8"?>
<p:presentation xmlns:p="http://schemas.openxmlformats.org/presentationml/2006/main">
  <p:sldMasterIdLst>
    <p:sldMasterId xmlns:r="http://schemas.openxmlformats.org/officeDocument/2006/relationships" id="2147483648" r:id="Ra2843bbef44e40d2"/>
  </p:sldMasterIdLst>
  <p:notesMasterIdLst>
    <p:notesMasterId xmlns:r="http://schemas.openxmlformats.org/officeDocument/2006/relationships" r:id="R1eed0cf8cd994a03"/>
  </p:notesMasterIdLst>
  <p:sldIdLst>
    <p:sldId xmlns:r="http://schemas.openxmlformats.org/officeDocument/2006/relationships" id="256" r:id="R22c76e2ce8ae4423"/>
    <p:sldId xmlns:r="http://schemas.openxmlformats.org/officeDocument/2006/relationships" id="257" r:id="R08faa03a19ac4b08"/>
    <p:sldId xmlns:r="http://schemas.openxmlformats.org/officeDocument/2006/relationships" id="258" r:id="R7291332c31174a96"/>
    <p:sldId xmlns:r="http://schemas.openxmlformats.org/officeDocument/2006/relationships" id="259" r:id="Rd9bb06be4db44eaf"/>
    <p:sldId xmlns:r="http://schemas.openxmlformats.org/officeDocument/2006/relationships" id="260" r:id="R5ec2e73dfc8b45d2"/>
    <p:sldId xmlns:r="http://schemas.openxmlformats.org/officeDocument/2006/relationships" id="261" r:id="R64b31411d9f24250"/>
    <p:sldId xmlns:r="http://schemas.openxmlformats.org/officeDocument/2006/relationships" id="262" r:id="R869b10bff1724fc0"/>
    <p:sldId xmlns:r="http://schemas.openxmlformats.org/officeDocument/2006/relationships" id="263" r:id="R5453f042ead7480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70d8ff37214aec" /><Relationship Type="http://schemas.openxmlformats.org/officeDocument/2006/relationships/slideMaster" Target="/ppt/slideMasters/slideMaster1.xml" Id="Ra2843bbef44e40d2" /><Relationship Type="http://schemas.openxmlformats.org/officeDocument/2006/relationships/notesMaster" Target="/ppt/notesMasters/notesMaster1.xml" Id="R1eed0cf8cd994a03" /><Relationship Type="http://schemas.openxmlformats.org/officeDocument/2006/relationships/presProps" Target="/ppt/presProps.xml" Id="Rc17554d983ee43fc" /><Relationship Type="http://schemas.openxmlformats.org/officeDocument/2006/relationships/tableStyles" Target="/ppt/tableStyles.xml" Id="Re2052601a6d34075" /><Relationship Type="http://schemas.openxmlformats.org/officeDocument/2006/relationships/slide" Target="/ppt/slides/slide1.xml" Id="R22c76e2ce8ae4423" /><Relationship Type="http://schemas.openxmlformats.org/officeDocument/2006/relationships/slide" Target="/ppt/slides/slide2.xml" Id="R08faa03a19ac4b08" /><Relationship Type="http://schemas.openxmlformats.org/officeDocument/2006/relationships/slide" Target="/ppt/slides/slide3.xml" Id="R7291332c31174a96" /><Relationship Type="http://schemas.openxmlformats.org/officeDocument/2006/relationships/slide" Target="/ppt/slides/slide4.xml" Id="Rd9bb06be4db44eaf" /><Relationship Type="http://schemas.openxmlformats.org/officeDocument/2006/relationships/slide" Target="/ppt/slides/slide5.xml" Id="R5ec2e73dfc8b45d2" /><Relationship Type="http://schemas.openxmlformats.org/officeDocument/2006/relationships/slide" Target="/ppt/slides/slide6.xml" Id="R64b31411d9f24250" /><Relationship Type="http://schemas.openxmlformats.org/officeDocument/2006/relationships/slide" Target="/ppt/slides/slide7.xml" Id="R869b10bff1724fc0" /><Relationship Type="http://schemas.openxmlformats.org/officeDocument/2006/relationships/slide" Target="/ppt/slides/slide8.xml" Id="R5453f042ead7480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fb67bd7cce4e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f91c3e0cfde41df" /><Relationship Type="http://schemas.openxmlformats.org/officeDocument/2006/relationships/notesMaster" Target="/ppt/notesMasters/notesMaster1.xml" Id="R53d559c8e5c543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7aa87f9a6646b1" /><Relationship Type="http://schemas.openxmlformats.org/officeDocument/2006/relationships/notesMaster" Target="/ppt/notesMasters/notesMaster1.xml" Id="R0a0f42422d0f42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4cda86c86f4f0f" /><Relationship Type="http://schemas.openxmlformats.org/officeDocument/2006/relationships/notesMaster" Target="/ppt/notesMasters/notesMaster1.xml" Id="R9d9393765ed04f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6235cfd50c4018" /><Relationship Type="http://schemas.openxmlformats.org/officeDocument/2006/relationships/notesMaster" Target="/ppt/notesMasters/notesMaster1.xml" Id="R0ba05e88affd42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3a1812818d4f8a" /><Relationship Type="http://schemas.openxmlformats.org/officeDocument/2006/relationships/notesMaster" Target="/ppt/notesMasters/notesMaster1.xml" Id="Rbaeef98a3a8d44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c521dd66784a85" /><Relationship Type="http://schemas.openxmlformats.org/officeDocument/2006/relationships/notesMaster" Target="/ppt/notesMasters/notesMaster1.xml" Id="Rd781f7eedf3640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92fa86fd5647f4" /><Relationship Type="http://schemas.openxmlformats.org/officeDocument/2006/relationships/notesMaster" Target="/ppt/notesMasters/notesMaster1.xml" Id="Ree0f64c91b1749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01b3973ea54ffa" /><Relationship Type="http://schemas.openxmlformats.org/officeDocument/2006/relationships/notesMaster" Target="/ppt/notesMasters/notesMaster1.xml" Id="Ra8a7d27ee72b48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Introduce the module as one connected learning package, not a list of software clicks.</a:t>
            </a:r>
          </a:p>
          <a:p xmlns:a="http://schemas.openxmlformats.org/drawingml/2006/main">
            <a:r>
              <a:t>State the outcome: Explain decisions, use feedback and plan the next iteration.</a:t>
            </a:r>
          </a:p>
          <a:p xmlns:a="http://schemas.openxmlformats.org/drawingml/2006/main">
            <a:r>
              <a:t>Prompt: What turns feedback from an opinion into useful design evidence?</a:t>
            </a:r>
          </a:p>
          <a:p xmlns:a="http://schemas.openxmlformats.org/drawingml/2006/main">
            <a:r>
              <a:t>Listen for a purposeful link to audience, evidence or communication.</a:t>
            </a:r>
          </a:p>
          <a:p xmlns:a="http://schemas.openxmlformats.org/drawingml/2006/main">
            <a:r>
              <a:t>Transition: Preview the three named sections on the next slide.</a:t>
            </a:r>
          </a:p>
          <a:p xmlns:a="http://schemas.openxmlformats.org/drawingml/2006/main">
            <a:r>
              <a:t/>
            </a:r>
          </a:p>
          <a:p xmlns:a="http://schemas.openxmlformats.org/drawingml/2006/main">
            <a:r>
              <a:t>[Sources]</a:t>
            </a:r>
          </a:p>
          <a:p xmlns:a="http://schemas.openxmlformats.org/drawingml/2006/main">
            <a:r>
              <a:t>- Course sequence: data/course-map.js, Module 10.</a:t>
            </a:r>
          </a:p>
          <a:p xmlns:a="http://schemas.openxmlformats.org/drawingml/2006/main">
            <a:r>
              <a:t>- Theory: data/course-content.js, m10-s01, m10-s02, m10-s03.</a:t>
            </a:r>
          </a:p>
          <a:p xmlns:a="http://schemas.openxmlformats.org/drawingml/2006/main">
            <a:r>
              <a:t>- Visual: assets/visuals/generated-peer-critique.png.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three section titles aloud and explain how each one prepares the next.</a:t>
            </a:r>
          </a:p>
          <a:p xmlns:a="http://schemas.openxmlformats.org/drawingml/2006/main">
            <a:r>
              <a:t>Warm-up: What turns feedback from an opinion into useful design evidence?</a:t>
            </a:r>
          </a:p>
          <a:p xmlns:a="http://schemas.openxmlformats.org/drawingml/2006/main">
            <a:r>
              <a:t>Give silent thinking time before pair discussion.</a:t>
            </a:r>
          </a:p>
          <a:p xmlns:a="http://schemas.openxmlformats.org/drawingml/2006/main">
            <a:r>
              <a:t>Listen for: a reason, not only a preference.</a:t>
            </a:r>
          </a:p>
          <a:p xmlns:a="http://schemas.openxmlformats.org/drawingml/2006/main">
            <a:r>
              <a:t>Transition: Start with Success criteria and feedback.</a:t>
            </a:r>
          </a:p>
          <a:p xmlns:a="http://schemas.openxmlformats.org/drawingml/2006/main">
            <a:r>
              <a:t/>
            </a:r>
          </a:p>
          <a:p xmlns:a="http://schemas.openxmlformats.org/drawingml/2006/main">
            <a:r>
              <a:t>[Sources]</a:t>
            </a:r>
          </a:p>
          <a:p xmlns:a="http://schemas.openxmlformats.org/drawingml/2006/main">
            <a:r>
              <a:t>- Theory sequence: data/course-content.js, m10-s01, m10-s02, m10-s03.</a:t>
            </a:r>
          </a:p>
          <a:p xmlns:a="http://schemas.openxmlformats.org/drawingml/2006/main">
            <a:r>
              <a:t>- Module summary: data/course-map.js, Module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Judge the connected brand against specific criteria and interpret feedback as evidence with limits.</a:t>
            </a:r>
          </a:p>
          <a:p xmlns:a="http://schemas.openxmlformats.org/drawingml/2006/main">
            <a:r>
              <a:t>Explain: A success criterion describes a quality that can be observed or judged with evidence. “Looks good” is too vague. “The same core logo and palette roles are recognisable across the poster, uniform concept, animation and site” can be checked. Criteria should come from the brief, audience needs and taught design principles. Different evidence may be needed for recognition, readability, honesty and navigation.</a:t>
            </a:r>
          </a:p>
          <a:p xmlns:a="http://schemas.openxmlformats.org/drawingml/2006/main">
            <a:r>
              <a:t>Clarify: Feedback becomes useful when the reviewer completes a focused task and explains what happened. Preference comments can matter, but they should not overrule access, truthfulness or brief requirements. Record who or what type of user context was represented without collecting unnecessary personal data. Look for patterns, contradictions and limitations, then decide which changes have the strongest reason.</a:t>
            </a:r>
          </a:p>
          <a:p xmlns:a="http://schemas.openxmlformats.org/drawingml/2006/main">
            <a:r>
              <a:t>Worked example: Criterion: users can identify the brand across four outputs. Evidence: three reviewers correctly grouped the poster, uniform, animation and site header, but two missed the menu because its logo used an unrelated colour. Judgement: the criterion is partly met. Revision: restore an approved palette role on the menu and repeat the grouping task. The wording reports the small test honestly rather than claiming universal recognition.</a:t>
            </a:r>
          </a:p>
          <a:p xmlns:a="http://schemas.openxmlformats.org/drawingml/2006/main">
            <a:r>
              <a:t>Ask: What makes a success criterion useful?</a:t>
            </a:r>
          </a:p>
          <a:p xmlns:a="http://schemas.openxmlformats.org/drawingml/2006/main">
            <a:r>
              <a:t>Listen for: It describes a quality that can be checked with evidence. Correct. The judgement can be supported.</a:t>
            </a:r>
          </a:p>
          <a:p xmlns:a="http://schemas.openxmlformats.org/drawingml/2006/main">
            <a:r>
              <a:t>Misconception to correct: Positive feedback proves every criterion has been met. → Feedback must be connected to each criterion and interpreted within its limits.</a:t>
            </a:r>
          </a:p>
          <a:p xmlns:a="http://schemas.openxmlformats.org/drawingml/2006/main">
            <a:r>
              <a:t>Transition: Connect this idea to Explaining design decisions.</a:t>
            </a:r>
          </a:p>
          <a:p xmlns:a="http://schemas.openxmlformats.org/drawingml/2006/main">
            <a:r>
              <a:t/>
            </a:r>
          </a:p>
          <a:p xmlns:a="http://schemas.openxmlformats.org/drawingml/2006/main">
            <a:r>
              <a:t>[Sources]</a:t>
            </a:r>
          </a:p>
          <a:p xmlns:a="http://schemas.openxmlformats.org/drawingml/2006/main">
            <a:r>
              <a:t>- Theory and check: data/course-content.js, m10-s01 and m10-s01-q01.</a:t>
            </a:r>
          </a:p>
          <a:p xmlns:a="http://schemas.openxmlformats.org/drawingml/2006/main">
            <a:r>
              <a:t>- Native projection-scale diagram adapted from approved visual feedback-iteration-cycle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Build a concise rationale that links each important choice to audience, purpose, testing and revision evidence.</a:t>
            </a:r>
          </a:p>
          <a:p xmlns:a="http://schemas.openxmlformats.org/drawingml/2006/main">
            <a:r>
              <a:t>Explain: A design rationale is not a list of software steps. It explains an important choice, the reason connected to the brief or audience, the evidence considered and the result. Subject vocabulary makes the relationship precise: hierarchy, contrast, variant, transition and information architecture identify what was controlled. Select decisions that shaped the outcome rather than narrating every click.</a:t>
            </a:r>
          </a:p>
          <a:p xmlns:a="http://schemas.openxmlformats.org/drawingml/2006/main">
            <a:r>
              <a:t>Clarify: Begin with a claim about the choice, cite visible or tested evidence and explain why the evidence supports the claim. “I used orange because it looks good” is preference. “Orange is limited to the main action; phone-size testing showed it separates from the cream background without carrying small text” links role and evidence. If evidence is mixed, acknowledge the trade-off rather than hiding it.</a:t>
            </a:r>
          </a:p>
          <a:p xmlns:a="http://schemas.openxmlformats.org/drawingml/2006/main">
            <a:r>
              <a:t>Worked example: The first site header used the full logo and slogan. At phone width the slogan wrapped and pushed navigation down. The student changed to the compact variant while preserving the circular bite and brand colours. A second test showed the title and navigation without overflow. The rationale names the problem, the controlled change, the preserved identity and the new evidence. It does not claim that one phone test proves every device will work.</a:t>
            </a:r>
          </a:p>
          <a:p xmlns:a="http://schemas.openxmlformats.org/drawingml/2006/main">
            <a:r>
              <a:t>Ask: What does a design rationale mainly explain?</a:t>
            </a:r>
          </a:p>
          <a:p xmlns:a="http://schemas.openxmlformats.org/drawingml/2006/main">
            <a:r>
              <a:t>Listen for: Why significant choices answer the brief and evidence. Correct. A rationale makes reasoning visible.</a:t>
            </a:r>
          </a:p>
          <a:p xmlns:a="http://schemas.openxmlformats.org/drawingml/2006/main">
            <a:r>
              <a:t>Misconception to correct: A rationale is stronger when it lists every action taken. → It is stronger when it selects important decisions and explains why evidence supports them.</a:t>
            </a:r>
          </a:p>
          <a:p xmlns:a="http://schemas.openxmlformats.org/drawingml/2006/main">
            <a:r>
              <a:t>Transition: Connect this idea to Evaluation and next iteration.</a:t>
            </a:r>
          </a:p>
          <a:p xmlns:a="http://schemas.openxmlformats.org/drawingml/2006/main">
            <a:r>
              <a:t/>
            </a:r>
          </a:p>
          <a:p xmlns:a="http://schemas.openxmlformats.org/drawingml/2006/main">
            <a:r>
              <a:t>[Sources]</a:t>
            </a:r>
          </a:p>
          <a:p xmlns:a="http://schemas.openxmlformats.org/drawingml/2006/main">
            <a:r>
              <a:t>- Theory and check: data/course-content.js, m10-s02 and m10-s02-q01.</a:t>
            </a:r>
          </a:p>
          <a:p xmlns:a="http://schemas.openxmlformats.org/drawingml/2006/main">
            <a:r>
              <a:t>- Native editable diagram: claim-evidence-reasoning.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Synthesize the project evidence into an honest evaluation and a specific, testable next iteration.</a:t>
            </a:r>
          </a:p>
          <a:p xmlns:a="http://schemas.openxmlformats.org/drawingml/2006/main">
            <a:r>
              <a:t>Explain: Evaluation asks how well the connected solution met its purpose and criteria. It should identify strengths, limitations and evidence across the logo, menu, poster, uniform concept, animation and site. The supplied unit form offers question prompts that can help organise reflection. Write from your own process records and feedback; do not invent audience findings or claim that local browser work was submitted.</a:t>
            </a:r>
          </a:p>
          <a:p xmlns:a="http://schemas.openxmlformats.org/drawingml/2006/main">
            <a:r>
              <a:t>Clarify: “Make it better” cannot guide a next iteration. Name what will change, why the evidence calls for it, how it will be changed and what result will be tested. Prioritise changes by likely effect and effort. Fixing a broken navigation pathway may matter more than adding decorative motion. Preserve backups before revision so earlier evidence remains available for comparison.</a:t>
            </a:r>
          </a:p>
          <a:p xmlns:a="http://schemas.openxmlformats.org/drawingml/2006/main">
            <a:r>
              <a:t>Worked example: Evidence shows the brand is recognisable and the poster hierarchy works, but phone users miss the Products link and the motion-ad slogan disappears too quickly. The student prioritises navigation first, renames and retests the link, then extends the slogan state and re-exports. They compare before and after records, explain what improved and retain a remaining question about authorised site access. The evaluation leads directly into another design cycle.</a:t>
            </a:r>
          </a:p>
          <a:p xmlns:a="http://schemas.openxmlformats.org/drawingml/2006/main">
            <a:r>
              <a:t>Ask: What makes evaluation different from description?</a:t>
            </a:r>
          </a:p>
          <a:p xmlns:a="http://schemas.openxmlformats.org/drawingml/2006/main">
            <a:r>
              <a:t>Listen for: It judges performance using criteria and evidence. Correct. Evaluation explains how well the solution worked.</a:t>
            </a:r>
          </a:p>
          <a:p xmlns:a="http://schemas.openxmlformats.org/drawingml/2006/main">
            <a:r>
              <a:t>Misconception to correct: Evaluation is finished once strengths are listed. → It also addresses limitations, priorities and evidence-based next actions.</a:t>
            </a:r>
          </a:p>
          <a:p xmlns:a="http://schemas.openxmlformats.org/drawingml/2006/main">
            <a:r>
              <a:t>Transition: Connect this idea to the retrieval check.</a:t>
            </a:r>
          </a:p>
          <a:p xmlns:a="http://schemas.openxmlformats.org/drawingml/2006/main">
            <a:r>
              <a:t/>
            </a:r>
          </a:p>
          <a:p xmlns:a="http://schemas.openxmlformats.org/drawingml/2006/main">
            <a:r>
              <a:t>[Sources]</a:t>
            </a:r>
          </a:p>
          <a:p xmlns:a="http://schemas.openxmlformats.org/drawingml/2006/main">
            <a:r>
              <a:t>- Theory and check: data/course-content.js, m10-s03 and m10-s03-q01.</a:t>
            </a:r>
          </a:p>
          <a:p xmlns:a="http://schemas.openxmlformats.org/drawingml/2006/main">
            <a:r>
              <a:t>- Native projection-scale diagram adapted from approved visual evaluation-evidence-structure and its source-grounded learning 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60 seconds silent retrieval, pair justification, then whole-class feedback.</a:t>
            </a:r>
          </a:p>
          <a:p xmlns:a="http://schemas.openxmlformats.org/drawingml/2006/main">
            <a:r>
              <a:t>Question 1: It describes a quality that can be checked with evidence. Feedback: Correct. The judgement can be supported.</a:t>
            </a:r>
          </a:p>
          <a:p xmlns:a="http://schemas.openxmlformats.org/drawingml/2006/main">
            <a:r>
              <a:t>Question 2: Why significant choices answer the brief and evidence. Feedback: Correct. A rationale makes reasoning visible.</a:t>
            </a:r>
          </a:p>
          <a:p xmlns:a="http://schemas.openxmlformats.org/drawingml/2006/main">
            <a:r>
              <a:t>Question 3: It judges performance using criteria and evidence. Feedback: Correct. Evaluation explains how well the solution worked.</a:t>
            </a:r>
          </a:p>
          <a:p xmlns:a="http://schemas.openxmlformats.org/drawingml/2006/main">
            <a:r>
              <a:t>Do not score this as a formal assessment. Use responses to decide whether to reteach or continue.</a:t>
            </a:r>
          </a:p>
          <a:p xmlns:a="http://schemas.openxmlformats.org/drawingml/2006/main">
            <a:r>
              <a:t>Transition: Model how the same knowledge becomes a longer written explanation.</a:t>
            </a:r>
          </a:p>
          <a:p xmlns:a="http://schemas.openxmlformats.org/drawingml/2006/main">
            <a:r>
              <a:t/>
            </a:r>
          </a:p>
          <a:p xmlns:a="http://schemas.openxmlformats.org/drawingml/2006/main">
            <a:r>
              <a:t>[Sources]</a:t>
            </a:r>
          </a:p>
          <a:p xmlns:a="http://schemas.openxmlformats.org/drawingml/2006/main">
            <a:r>
              <a:t>- Formative checks: data/course-content.js, m10-s01-q01, m10-s02-q01, m10-s03-q01.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talk: Read the prompt once, then unpack it using Select, Explain and Check.</a:t>
            </a:r>
          </a:p>
          <a:p xmlns:a="http://schemas.openxmlformats.org/drawingml/2006/main">
            <a:r>
              <a:t>Model one sentence aloud using the supplied starter.</a:t>
            </a:r>
          </a:p>
          <a:p xmlns:a="http://schemas.openxmlformats.org/drawingml/2006/main">
            <a:r>
              <a:t>Prompt: Which section provides the strongest evidence for each part of the question?</a:t>
            </a:r>
          </a:p>
          <a:p xmlns:a="http://schemas.openxmlformats.org/drawingml/2006/main">
            <a:r>
              <a:t>Remind students: this is formative learning evidence. A local save is not a submission.</a:t>
            </a:r>
          </a:p>
          <a:p xmlns:a="http://schemas.openxmlformats.org/drawingml/2006/main">
            <a:r>
              <a:t>Transition: Finish with a three-part exit ticket and save the response in the matching module.</a:t>
            </a:r>
          </a:p>
          <a:p xmlns:a="http://schemas.openxmlformats.org/drawingml/2006/main">
            <a:r>
              <a:t/>
            </a:r>
          </a:p>
          <a:p xmlns:a="http://schemas.openxmlformats.org/drawingml/2006/main">
            <a:r>
              <a:t>[Sources]</a:t>
            </a:r>
          </a:p>
          <a:p xmlns:a="http://schemas.openxmlformats.org/drawingml/2006/main">
            <a:r>
              <a:t>- Section capstones: data/course-content.js, m10-s01-capstone, m10-s02-capstone, m10-s03-capstone.</a:t>
            </a:r>
          </a:p>
          <a:p xmlns:a="http://schemas.openxmlformats.org/drawingml/2006/main">
            <a:r>
              <a:t>- Integrated prompt: Stage 07 synthesis of the three source-grounded section capstones.</a:t>
            </a:r>
          </a:p>
          <a:p xmlns:a="http://schemas.openxmlformats.org/drawingml/2006/main">
            <a:r>
              <a:t>- Evidence boundary: data/course-content.js evidenceLabel, saveNotice and moduleEvidenceKey.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routine: Ask students to answer all three prompts in the matching module response box.</a:t>
            </a:r>
          </a:p>
          <a:p xmlns:a="http://schemas.openxmlformats.org/drawingml/2006/main">
            <a:r>
              <a:t>Invite one voluntary share for the first prompt.</a:t>
            </a:r>
          </a:p>
          <a:p xmlns:a="http://schemas.openxmlformats.org/drawingml/2006/main">
            <a:r>
              <a:t>Use the final question to plan the next explanation or support.</a:t>
            </a:r>
          </a:p>
          <a:p xmlns:a="http://schemas.openxmlformats.org/drawingml/2006/main">
            <a:r>
              <a:t>Remind students that browser-local saving preserves a draft on this device; it does not submit work.</a:t>
            </a:r>
          </a:p>
          <a:p xmlns:a="http://schemas.openxmlformats.org/drawingml/2006/main">
            <a:r>
              <a:t/>
            </a:r>
          </a:p>
          <a:p xmlns:a="http://schemas.openxmlformats.org/drawingml/2006/main">
            <a:r>
              <a:t>[Sources]</a:t>
            </a:r>
          </a:p>
          <a:p xmlns:a="http://schemas.openxmlformats.org/drawingml/2006/main">
            <a:r>
              <a:t>- Exit-ticket structure and evidence boundary: data/course-content.js saveNotice, savedMessage and evidenceDestination.</a:t>
            </a:r>
          </a:p>
          <a:p xmlns:a="http://schemas.openxmlformats.org/drawingml/2006/main">
            <a:r>
              <a:t>- Module theory: data/course-content.js, m10-s01, m10-s02, m10-s03.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3d8a9caa8e449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bfe2be1ba54af9" /><Relationship Type="http://schemas.openxmlformats.org/officeDocument/2006/relationships/slideLayout" Target="/ppt/slideLayouts/slideLayout1.xml" Id="R61b527e3ba664f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b527e3ba664f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314f6c64214461" /><Relationship Type="http://schemas.openxmlformats.org/officeDocument/2006/relationships/image" Target="/ppt/media/image.png" Id="R58a46ee6b1e14608" /><Relationship Type="http://schemas.openxmlformats.org/officeDocument/2006/relationships/notesSlide" Target="/ppt/notesSlides/notesSlide1.xml" Id="Re16aec69264742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ff6a4a421ac4076" /><Relationship Type="http://schemas.openxmlformats.org/officeDocument/2006/relationships/notesSlide" Target="/ppt/notesSlides/notesSlide2.xml" Id="R1366f03a696341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c21cc6f6f2493b" /><Relationship Type="http://schemas.openxmlformats.org/officeDocument/2006/relationships/notesSlide" Target="/ppt/notesSlides/notesSlide3.xml" Id="Rd454dda1352841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6247b820e004385" /><Relationship Type="http://schemas.openxmlformats.org/officeDocument/2006/relationships/notesSlide" Target="/ppt/notesSlides/notesSlide4.xml" Id="R5bff360a4e7047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86f5ad88034e39" /><Relationship Type="http://schemas.openxmlformats.org/officeDocument/2006/relationships/notesSlide" Target="/ppt/notesSlides/notesSlide5.xml" Id="R22a7d727f8854a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244d9c72ad416d" /><Relationship Type="http://schemas.openxmlformats.org/officeDocument/2006/relationships/notesSlide" Target="/ppt/notesSlides/notesSlide6.xml" Id="R6f4554d70c3745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69ff928ee844338" /><Relationship Type="http://schemas.openxmlformats.org/officeDocument/2006/relationships/notesSlide" Target="/ppt/notesSlides/notesSlide7.xml" Id="R197049c15c1649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56c8787f3a4aa5" /><Relationship Type="http://schemas.openxmlformats.org/officeDocument/2006/relationships/notesSlide" Target="/ppt/notesSlides/notesSlide8.xml" Id="R094aa5553a574caa" /></Relationships>
</file>

<file path=ppt/slides/slide1.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9E12561-E6CF-4982-B5CF-E4BEADBBB366}"/>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1734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5C4AC8-9684-4112-9534-C7B73219E659}"/>
              </a:ext>
            </a:extLst>
          </p:cNvPr>
          <p:cNvSpPr>
            <a:spLocks xmlns:a="http://schemas.openxmlformats.org/drawingml/2006/main" noGrp="1"/>
          </p:cNvSpPr>
          <p:nvPr/>
        </p:nvSpPr>
        <p:spPr>
          <a:xfrm xmlns:a="http://schemas.openxmlformats.org/drawingml/2006/main">
            <a:off x="685800" y="723900"/>
            <a:ext cx="933450" cy="952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3E50166-9A43-4D86-A2B3-87B2AC9D7969}"/>
              </a:ext>
            </a:extLst>
          </p:cNvPr>
          <p:cNvSpPr>
            <a:spLocks xmlns:a="http://schemas.openxmlformats.org/drawingml/2006/main" noGrp="1"/>
          </p:cNvSpPr>
          <p:nvPr/>
        </p:nvSpPr>
        <p:spPr>
          <a:xfrm xmlns:a="http://schemas.openxmlformats.org/drawingml/2006/main">
            <a:off x="685800" y="112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F2BD3C"/>
                </a:solidFill>
                <a:latin typeface="Arial"/>
                <a:ea typeface="Arial"/>
                <a:cs typeface="Arial"/>
              </a:defRPr>
            </a:pPr>
            <a:r>
              <a:rPr sz="1350" b="1">
                <a:solidFill>
                  <a:srgbClr val="F2BD3C"/>
                </a:solidFill>
                <a:latin typeface="Arial"/>
                <a:ea typeface="Arial"/>
                <a:cs typeface="Arial"/>
              </a:rPr>
              <a:t>MODULE 10</a:t>
            </a:r>
          </a:p>
        </p:txBody>
      </p:sp>
      <p:sp>
        <p:nvSpPr>
          <p:cNvPr id="4" name="">
            <a:extLst xmlns:a="http://schemas.openxmlformats.org/drawingml/2006/main">
              <a:ext uri="{FF2B5EF4-FFF2-40B4-BE49-F238E27FC236}">
                <a16:creationId xmlns:a16="http://schemas.microsoft.com/office/drawing/2014/main" id="{0CC261DD-2D68-45F8-9E6E-D2037696A18E}"/>
              </a:ext>
            </a:extLst>
          </p:cNvPr>
          <p:cNvSpPr>
            <a:spLocks xmlns:a="http://schemas.openxmlformats.org/drawingml/2006/main" noGrp="1"/>
          </p:cNvSpPr>
          <p:nvPr/>
        </p:nvSpPr>
        <p:spPr>
          <a:xfrm xmlns:a="http://schemas.openxmlformats.org/drawingml/2006/main">
            <a:off x="685800" y="1790700"/>
            <a:ext cx="4476750" cy="154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Present, evaluate, improve</a:t>
            </a:r>
          </a:p>
        </p:txBody>
      </p:sp>
      <p:sp>
        <p:nvSpPr>
          <p:cNvPr id="5" name="">
            <a:extLst xmlns:a="http://schemas.openxmlformats.org/drawingml/2006/main">
              <a:ext uri="{FF2B5EF4-FFF2-40B4-BE49-F238E27FC236}">
                <a16:creationId xmlns:a16="http://schemas.microsoft.com/office/drawing/2014/main" id="{9E721C08-334D-4EF8-9770-B30CBB8F4831}"/>
              </a:ext>
            </a:extLst>
          </p:cNvPr>
          <p:cNvSpPr>
            <a:spLocks xmlns:a="http://schemas.openxmlformats.org/drawingml/2006/main" noGrp="1"/>
          </p:cNvSpPr>
          <p:nvPr/>
        </p:nvSpPr>
        <p:spPr>
          <a:xfrm xmlns:a="http://schemas.openxmlformats.org/drawingml/2006/main">
            <a:off x="685800" y="3676650"/>
            <a:ext cx="43338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0">
                <a:solidFill>
                  <a:srgbClr val="E6EEE9"/>
                </a:solidFill>
                <a:latin typeface="Arial"/>
                <a:ea typeface="Arial"/>
                <a:cs typeface="Arial"/>
              </a:defRPr>
            </a:pPr>
            <a:r>
              <a:rPr sz="1650" b="0">
                <a:solidFill>
                  <a:srgbClr val="E6EEE9"/>
                </a:solidFill>
                <a:latin typeface="Arial"/>
                <a:ea typeface="Arial"/>
                <a:cs typeface="Arial"/>
              </a:rPr>
              <a:t>Explain decisions, use feedback and plan the next iteration.</a:t>
            </a:r>
          </a:p>
        </p:txBody>
      </p:sp>
      <p:sp>
        <p:nvSpPr>
          <p:cNvPr id="6" name="">
            <a:extLst xmlns:a="http://schemas.openxmlformats.org/drawingml/2006/main">
              <a:ext uri="{FF2B5EF4-FFF2-40B4-BE49-F238E27FC236}">
                <a16:creationId xmlns:a16="http://schemas.microsoft.com/office/drawing/2014/main" id="{2DDCAF28-7967-48FC-B350-889609D68E3F}"/>
              </a:ext>
            </a:extLst>
          </p:cNvPr>
          <p:cNvSpPr>
            <a:spLocks xmlns:a="http://schemas.openxmlformats.org/drawingml/2006/main" noGrp="1"/>
          </p:cNvSpPr>
          <p:nvPr/>
        </p:nvSpPr>
        <p:spPr>
          <a:xfrm xmlns:a="http://schemas.openxmlformats.org/drawingml/2006/main">
            <a:off x="685800" y="5010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E8674B"/>
                </a:solidFill>
                <a:latin typeface="Arial"/>
                <a:ea typeface="Arial"/>
                <a:cs typeface="Arial"/>
              </a:defRPr>
            </a:pPr>
            <a:r>
              <a:rPr sz="900" b="1">
                <a:solidFill>
                  <a:srgbClr val="E8674B"/>
                </a:solidFill>
                <a:latin typeface="Arial"/>
                <a:ea typeface="Arial"/>
                <a:cs typeface="Arial"/>
              </a:rPr>
              <a:t>TEACHING QUESTION</a:t>
            </a:r>
          </a:p>
        </p:txBody>
      </p:sp>
      <p:sp>
        <p:nvSpPr>
          <p:cNvPr id="7" name="">
            <a:extLst xmlns:a="http://schemas.openxmlformats.org/drawingml/2006/main">
              <a:ext uri="{FF2B5EF4-FFF2-40B4-BE49-F238E27FC236}">
                <a16:creationId xmlns:a16="http://schemas.microsoft.com/office/drawing/2014/main" id="{76A0E547-4B74-4181-89BC-A34DCBFEABDC}"/>
              </a:ext>
            </a:extLst>
          </p:cNvPr>
          <p:cNvSpPr>
            <a:spLocks xmlns:a="http://schemas.openxmlformats.org/drawingml/2006/main" noGrp="1"/>
          </p:cNvSpPr>
          <p:nvPr/>
        </p:nvSpPr>
        <p:spPr>
          <a:xfrm xmlns:a="http://schemas.openxmlformats.org/drawingml/2006/main">
            <a:off x="685800" y="5295900"/>
            <a:ext cx="43624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FFFFFF"/>
                </a:solidFill>
                <a:latin typeface="Arial"/>
                <a:ea typeface="Arial"/>
                <a:cs typeface="Arial"/>
              </a:defRPr>
            </a:pPr>
            <a:r>
              <a:rPr sz="1425" b="1">
                <a:solidFill>
                  <a:srgbClr val="FFFFFF"/>
                </a:solidFill>
                <a:latin typeface="Arial"/>
                <a:ea typeface="Arial"/>
                <a:cs typeface="Arial"/>
              </a:rPr>
              <a:t>What turns feedback from an opinion into useful design evidence?</a:t>
            </a:r>
          </a:p>
        </p:txBody>
      </p:sp>
      <p:sp>
        <p:nvSpPr>
          <p:cNvPr id="8" name="">
            <a:extLst xmlns:a="http://schemas.openxmlformats.org/drawingml/2006/main">
              <a:ext uri="{FF2B5EF4-FFF2-40B4-BE49-F238E27FC236}">
                <a16:creationId xmlns:a16="http://schemas.microsoft.com/office/drawing/2014/main" id="{F110E1DB-3A54-4FF7-B980-807804281415}"/>
              </a:ext>
            </a:extLst>
          </p:cNvPr>
          <p:cNvSpPr>
            <a:spLocks xmlns:a="http://schemas.openxmlformats.org/drawingml/2006/main" noGrp="1"/>
          </p:cNvSpPr>
          <p:nvPr/>
        </p:nvSpPr>
        <p:spPr>
          <a:xfrm xmlns:a="http://schemas.openxmlformats.org/drawingml/2006/main">
            <a:off x="6191250" y="514350"/>
            <a:ext cx="5334000" cy="5372100"/>
          </a:xfrm>
          <a:prstGeom xmlns:a="http://schemas.openxmlformats.org/drawingml/2006/main" prst="roundRect">
            <a:avLst>
              <a:gd name="adj" fmla="val 2143"/>
            </a:avLst>
          </a:prstGeom>
          <a:solidFill xmlns:a="http://schemas.openxmlformats.org/drawingml/2006/main">
            <a:srgbClr val="FFFFFF"/>
          </a:solidFill>
          <a:ln xmlns:a="http://schemas.openxmlformats.org/drawingml/2006/main" w="9525">
            <a:solidFill>
              <a:srgbClr val="CFD8D2"/>
            </a:solidFill>
            <a:prstDash val="solid"/>
          </a:ln>
        </p:spPr>
      </p:sp>
      <p:pic>
        <p:nvPicPr>
          <p:cNvPr id="20" name="Peer Critique" title="Peer Critique" descr="Overhead classroom table with several hands pointing to two abstract poster drafts, coloured feedback tabs and a blank criteria sheet."/>
          <p:cNvPicPr>
            <a:picLocks xmlns:a="http://schemas.openxmlformats.org/drawingml/2006/main" noChangeAspect="1"/>
          </p:cNvPicPr>
          <p:nvPr/>
        </p:nvPicPr>
        <p:blipFill>
          <a:blip xmlns:r="http://schemas.openxmlformats.org/officeDocument/2006/relationships" xmlns:a="http://schemas.openxmlformats.org/drawingml/2006/main" r:embed="R58a46ee6b1e14608"/>
          <a:srcRect xmlns:a="http://schemas.openxmlformats.org/drawingml/2006/main" l="22060" t="0" r="22060" b="0"/>
          <a:stretch xmlns:a="http://schemas.openxmlformats.org/drawingml/2006/main">
            <a:fillRect l="0" t="0" r="0" b="0"/>
          </a:stretch>
        </p:blipFill>
        <p:spPr>
          <a:xfrm xmlns:a="http://schemas.openxmlformats.org/drawingml/2006/main">
            <a:off x="6191250" y="514350"/>
            <a:ext cx="5334000" cy="5372100"/>
          </a:xfrm>
          <a:prstGeom xmlns:a="http://schemas.openxmlformats.org/drawingml/2006/main" prst="roundRect">
            <a:avLst>
              <a:gd name="adj" fmla="val 2143"/>
            </a:avLst>
          </a:prstGeom>
        </p:spPr>
      </p:pic>
      <p:sp>
        <p:nvSpPr>
          <p:cNvPr id="10" name="">
            <a:extLst xmlns:a="http://schemas.openxmlformats.org/drawingml/2006/main">
              <a:ext uri="{FF2B5EF4-FFF2-40B4-BE49-F238E27FC236}">
                <a16:creationId xmlns:a16="http://schemas.microsoft.com/office/drawing/2014/main" id="{BFDB4C89-CA7D-4811-92F4-86EFEBB5EBCC}"/>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10  •  PRESENT, EVALUATE, IMPROVE</a:t>
            </a:r>
          </a:p>
        </p:txBody>
      </p:sp>
      <p:sp>
        <p:nvSpPr>
          <p:cNvPr id="11" name="">
            <a:extLst xmlns:a="http://schemas.openxmlformats.org/drawingml/2006/main">
              <a:ext uri="{FF2B5EF4-FFF2-40B4-BE49-F238E27FC236}">
                <a16:creationId xmlns:a16="http://schemas.microsoft.com/office/drawing/2014/main" id="{FE871CCD-79D2-40C2-8CE4-964C706C5066}"/>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01</a:t>
            </a:r>
          </a:p>
        </p:txBody>
      </p:sp>
    </p:spTree>
    <p:extLst>
      <p:ext uri="{BB962C8B-B14F-4D97-AF65-F5344CB8AC3E}">
        <p14:creationId xmlns:p14="http://schemas.microsoft.com/office/powerpoint/2010/main" val="1774263615"/>
      </p:ext>
    </p:extLst>
  </p:cSld>
</p:sld>
</file>

<file path=ppt/slides/slide2.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829139C-4FC8-46CB-AA65-2CA3367F4E0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735700F-4C8A-4DB4-96A3-F4F283ACEAE0}"/>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TODAY'S LEARNING PATH</a:t>
            </a:r>
          </a:p>
        </p:txBody>
      </p:sp>
      <p:sp>
        <p:nvSpPr>
          <p:cNvPr id="3" name="">
            <a:extLst xmlns:a="http://schemas.openxmlformats.org/drawingml/2006/main">
              <a:ext uri="{FF2B5EF4-FFF2-40B4-BE49-F238E27FC236}">
                <a16:creationId xmlns:a16="http://schemas.microsoft.com/office/drawing/2014/main" id="{8607568E-5A73-4228-8031-33490158402B}"/>
              </a:ext>
            </a:extLst>
          </p:cNvPr>
          <p:cNvSpPr>
            <a:spLocks xmlns:a="http://schemas.openxmlformats.org/drawingml/2006/main" noGrp="1"/>
          </p:cNvSpPr>
          <p:nvPr/>
        </p:nvSpPr>
        <p:spPr>
          <a:xfrm xmlns:a="http://schemas.openxmlformats.org/drawingml/2006/main">
            <a:off x="685800" y="895350"/>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Where are we going?</a:t>
            </a:r>
          </a:p>
        </p:txBody>
      </p:sp>
      <p:sp>
        <p:nvSpPr>
          <p:cNvPr id="4" name="">
            <a:extLst xmlns:a="http://schemas.openxmlformats.org/drawingml/2006/main">
              <a:ext uri="{FF2B5EF4-FFF2-40B4-BE49-F238E27FC236}">
                <a16:creationId xmlns:a16="http://schemas.microsoft.com/office/drawing/2014/main" id="{C44BF0B3-9B0B-4B88-993C-B79D632FD775}"/>
              </a:ext>
            </a:extLst>
          </p:cNvPr>
          <p:cNvSpPr>
            <a:spLocks xmlns:a="http://schemas.openxmlformats.org/drawingml/2006/main" noGrp="1"/>
          </p:cNvSpPr>
          <p:nvPr/>
        </p:nvSpPr>
        <p:spPr>
          <a:xfrm xmlns:a="http://schemas.openxmlformats.org/drawingml/2006/main">
            <a:off x="685800" y="19526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5" name="">
            <a:extLst xmlns:a="http://schemas.openxmlformats.org/drawingml/2006/main">
              <a:ext uri="{FF2B5EF4-FFF2-40B4-BE49-F238E27FC236}">
                <a16:creationId xmlns:a16="http://schemas.microsoft.com/office/drawing/2014/main" id="{2AAAE670-E0D6-49B5-9301-3AA746F50167}"/>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A094406-DA6F-4C05-B17D-5770BB44EA22}"/>
              </a:ext>
            </a:extLst>
          </p:cNvPr>
          <p:cNvSpPr>
            <a:spLocks xmlns:a="http://schemas.openxmlformats.org/drawingml/2006/main" noGrp="1"/>
          </p:cNvSpPr>
          <p:nvPr/>
        </p:nvSpPr>
        <p:spPr>
          <a:xfrm xmlns:a="http://schemas.openxmlformats.org/drawingml/2006/main">
            <a:off x="933450" y="21621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57358FAE-7D68-4F86-8B48-8F9485E19E4E}"/>
              </a:ext>
            </a:extLst>
          </p:cNvPr>
          <p:cNvSpPr>
            <a:spLocks xmlns:a="http://schemas.openxmlformats.org/drawingml/2006/main" noGrp="1"/>
          </p:cNvSpPr>
          <p:nvPr/>
        </p:nvSpPr>
        <p:spPr>
          <a:xfrm xmlns:a="http://schemas.openxmlformats.org/drawingml/2006/main">
            <a:off x="1733550" y="21431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Success criteria and feedback</a:t>
            </a:r>
          </a:p>
        </p:txBody>
      </p:sp>
      <p:sp>
        <p:nvSpPr>
          <p:cNvPr id="8" name="">
            <a:extLst xmlns:a="http://schemas.openxmlformats.org/drawingml/2006/main">
              <a:ext uri="{FF2B5EF4-FFF2-40B4-BE49-F238E27FC236}">
                <a16:creationId xmlns:a16="http://schemas.microsoft.com/office/drawing/2014/main" id="{B302B27D-4701-45A8-97E1-BC0778543EA4}"/>
              </a:ext>
            </a:extLst>
          </p:cNvPr>
          <p:cNvSpPr>
            <a:spLocks xmlns:a="http://schemas.openxmlformats.org/drawingml/2006/main" noGrp="1"/>
          </p:cNvSpPr>
          <p:nvPr/>
        </p:nvSpPr>
        <p:spPr>
          <a:xfrm xmlns:a="http://schemas.openxmlformats.org/drawingml/2006/main">
            <a:off x="685800" y="32099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9" name="">
            <a:extLst xmlns:a="http://schemas.openxmlformats.org/drawingml/2006/main">
              <a:ext uri="{FF2B5EF4-FFF2-40B4-BE49-F238E27FC236}">
                <a16:creationId xmlns:a16="http://schemas.microsoft.com/office/drawing/2014/main" id="{9FE82189-25DB-4233-BE30-26F5323BF52D}"/>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2A70D08-F4CE-4CAE-8233-9C5D7D3C56F5}"/>
              </a:ext>
            </a:extLst>
          </p:cNvPr>
          <p:cNvSpPr>
            <a:spLocks xmlns:a="http://schemas.openxmlformats.org/drawingml/2006/main" noGrp="1"/>
          </p:cNvSpPr>
          <p:nvPr/>
        </p:nvSpPr>
        <p:spPr>
          <a:xfrm xmlns:a="http://schemas.openxmlformats.org/drawingml/2006/main">
            <a:off x="933450" y="34194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17342C"/>
                </a:solidFill>
                <a:latin typeface="Arial"/>
                <a:ea typeface="Arial"/>
                <a:cs typeface="Arial"/>
              </a:defRPr>
            </a:pPr>
            <a:r>
              <a:rPr sz="1500" b="1">
                <a:solidFill>
                  <a:srgbClr val="17342C"/>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12D298A3-5A2C-4F0D-B6ED-5A294B314376}"/>
              </a:ext>
            </a:extLst>
          </p:cNvPr>
          <p:cNvSpPr>
            <a:spLocks xmlns:a="http://schemas.openxmlformats.org/drawingml/2006/main" noGrp="1"/>
          </p:cNvSpPr>
          <p:nvPr/>
        </p:nvSpPr>
        <p:spPr>
          <a:xfrm xmlns:a="http://schemas.openxmlformats.org/drawingml/2006/main">
            <a:off x="1733550" y="34004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Explaining design decisions</a:t>
            </a:r>
          </a:p>
        </p:txBody>
      </p:sp>
      <p:sp>
        <p:nvSpPr>
          <p:cNvPr id="12" name="">
            <a:extLst xmlns:a="http://schemas.openxmlformats.org/drawingml/2006/main">
              <a:ext uri="{FF2B5EF4-FFF2-40B4-BE49-F238E27FC236}">
                <a16:creationId xmlns:a16="http://schemas.microsoft.com/office/drawing/2014/main" id="{D82135C5-EE52-46FC-8465-81C5EAEB1B9A}"/>
              </a:ext>
            </a:extLst>
          </p:cNvPr>
          <p:cNvSpPr>
            <a:spLocks xmlns:a="http://schemas.openxmlformats.org/drawingml/2006/main" noGrp="1"/>
          </p:cNvSpPr>
          <p:nvPr/>
        </p:nvSpPr>
        <p:spPr>
          <a:xfrm xmlns:a="http://schemas.openxmlformats.org/drawingml/2006/main">
            <a:off x="685800" y="4467225"/>
            <a:ext cx="695325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CFD8D2"/>
            </a:solidFill>
            <a:prstDash val="solid"/>
          </a:ln>
        </p:spPr>
      </p:sp>
      <p:sp>
        <p:nvSpPr>
          <p:cNvPr id="13" name="">
            <a:extLst xmlns:a="http://schemas.openxmlformats.org/drawingml/2006/main">
              <a:ext uri="{FF2B5EF4-FFF2-40B4-BE49-F238E27FC236}">
                <a16:creationId xmlns:a16="http://schemas.microsoft.com/office/drawing/2014/main" id="{46900725-1F9D-4509-8F81-17433BFBE113}"/>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9FCDBD-3B0E-4C1E-8E7F-394C50BD5CB0}"/>
              </a:ext>
            </a:extLst>
          </p:cNvPr>
          <p:cNvSpPr>
            <a:spLocks xmlns:a="http://schemas.openxmlformats.org/drawingml/2006/main" noGrp="1"/>
          </p:cNvSpPr>
          <p:nvPr/>
        </p:nvSpPr>
        <p:spPr>
          <a:xfrm xmlns:a="http://schemas.openxmlformats.org/drawingml/2006/main">
            <a:off x="933450" y="46767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309E4EE9-AD87-474B-8739-C205395AA981}"/>
              </a:ext>
            </a:extLst>
          </p:cNvPr>
          <p:cNvSpPr>
            <a:spLocks xmlns:a="http://schemas.openxmlformats.org/drawingml/2006/main" noGrp="1"/>
          </p:cNvSpPr>
          <p:nvPr/>
        </p:nvSpPr>
        <p:spPr>
          <a:xfrm xmlns:a="http://schemas.openxmlformats.org/drawingml/2006/main">
            <a:off x="1733550" y="4657725"/>
            <a:ext cx="533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7342C"/>
                </a:solidFill>
                <a:latin typeface="Arial"/>
                <a:ea typeface="Arial"/>
                <a:cs typeface="Arial"/>
              </a:defRPr>
            </a:pPr>
            <a:r>
              <a:rPr sz="1725" b="1">
                <a:solidFill>
                  <a:srgbClr val="17342C"/>
                </a:solidFill>
                <a:latin typeface="Arial"/>
                <a:ea typeface="Arial"/>
                <a:cs typeface="Arial"/>
              </a:rPr>
              <a:t>Evaluation and next iteration</a:t>
            </a:r>
          </a:p>
        </p:txBody>
      </p:sp>
      <p:sp>
        <p:nvSpPr>
          <p:cNvPr id="16" name="">
            <a:extLst xmlns:a="http://schemas.openxmlformats.org/drawingml/2006/main">
              <a:ext uri="{FF2B5EF4-FFF2-40B4-BE49-F238E27FC236}">
                <a16:creationId xmlns:a16="http://schemas.microsoft.com/office/drawing/2014/main" id="{3FBDE7B1-3616-47DF-A040-05E52937C69C}"/>
              </a:ext>
            </a:extLst>
          </p:cNvPr>
          <p:cNvSpPr>
            <a:spLocks xmlns:a="http://schemas.openxmlformats.org/drawingml/2006/main" noGrp="1"/>
          </p:cNvSpPr>
          <p:nvPr/>
        </p:nvSpPr>
        <p:spPr>
          <a:xfrm xmlns:a="http://schemas.openxmlformats.org/drawingml/2006/main">
            <a:off x="8191500" y="20764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F2BD3C"/>
                </a:solidFill>
                <a:latin typeface="Arial"/>
                <a:ea typeface="Arial"/>
                <a:cs typeface="Arial"/>
              </a:defRPr>
            </a:pPr>
            <a:r>
              <a:rPr sz="1050" b="1">
                <a:solidFill>
                  <a:srgbClr val="F2BD3C"/>
                </a:solidFill>
                <a:latin typeface="Arial"/>
                <a:ea typeface="Arial"/>
                <a:cs typeface="Arial"/>
              </a:rPr>
              <a:t>RETRIEVAL WARM-UP</a:t>
            </a:r>
          </a:p>
        </p:txBody>
      </p:sp>
      <p:sp>
        <p:nvSpPr>
          <p:cNvPr id="17" name="">
            <a:extLst xmlns:a="http://schemas.openxmlformats.org/drawingml/2006/main">
              <a:ext uri="{FF2B5EF4-FFF2-40B4-BE49-F238E27FC236}">
                <a16:creationId xmlns:a16="http://schemas.microsoft.com/office/drawing/2014/main" id="{AC88477D-C802-4B32-9968-698A8639DB2A}"/>
              </a:ext>
            </a:extLst>
          </p:cNvPr>
          <p:cNvSpPr>
            <a:spLocks xmlns:a="http://schemas.openxmlformats.org/drawingml/2006/main" noGrp="1"/>
          </p:cNvSpPr>
          <p:nvPr/>
        </p:nvSpPr>
        <p:spPr>
          <a:xfrm xmlns:a="http://schemas.openxmlformats.org/drawingml/2006/main">
            <a:off x="8191500" y="2609850"/>
            <a:ext cx="2952750" cy="1390650"/>
          </a:xfrm>
          <a:prstGeom xmlns:a="http://schemas.openxmlformats.org/drawingml/2006/main" prst="roundRect">
            <a:avLst>
              <a:gd name="adj" fmla="val 8219"/>
            </a:avLst>
          </a:prstGeom>
          <a:solidFill xmlns:a="http://schemas.openxmlformats.org/drawingml/2006/main">
            <a:srgbClr val="17342C"/>
          </a:solidFill>
          <a:ln xmlns:a="http://schemas.openxmlformats.org/drawingml/2006/main" w="0">
            <a:noFill/>
            <a:prstDash val="solid"/>
          </a:ln>
        </p:spPr>
        <p:txBody>
          <a:bodyPr xmlns:a="http://schemas.openxmlformats.org/drawingml/2006/main" lIns="209550" tIns="209550" rIns="209550" bIns="209550" anchor="ctr">
            <a:normAutofit fontScale="89274"/>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What turns feedback from an opinion into useful design evidence?</a:t>
            </a:r>
          </a:p>
        </p:txBody>
      </p:sp>
      <p:sp>
        <p:nvSpPr>
          <p:cNvPr id="18" name="">
            <a:extLst xmlns:a="http://schemas.openxmlformats.org/drawingml/2006/main">
              <a:ext uri="{FF2B5EF4-FFF2-40B4-BE49-F238E27FC236}">
                <a16:creationId xmlns:a16="http://schemas.microsoft.com/office/drawing/2014/main" id="{E11B5848-6EDF-4B7E-9CEB-C44F3B928F4E}"/>
              </a:ext>
            </a:extLst>
          </p:cNvPr>
          <p:cNvSpPr>
            <a:spLocks xmlns:a="http://schemas.openxmlformats.org/drawingml/2006/main" noGrp="1"/>
          </p:cNvSpPr>
          <p:nvPr/>
        </p:nvSpPr>
        <p:spPr>
          <a:xfrm xmlns:a="http://schemas.openxmlformats.org/drawingml/2006/main">
            <a:off x="8191500" y="42291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Think silently → pair → share one reason.</a:t>
            </a:r>
          </a:p>
        </p:txBody>
      </p:sp>
      <p:sp>
        <p:nvSpPr>
          <p:cNvPr id="19" name="">
            <a:extLst xmlns:a="http://schemas.openxmlformats.org/drawingml/2006/main">
              <a:ext uri="{FF2B5EF4-FFF2-40B4-BE49-F238E27FC236}">
                <a16:creationId xmlns:a16="http://schemas.microsoft.com/office/drawing/2014/main" id="{A89E50B7-F02D-453C-A536-DEC4E879F717}"/>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10  •  PRESENT, EVALUATE, IMPROVE</a:t>
            </a:r>
          </a:p>
        </p:txBody>
      </p:sp>
      <p:sp>
        <p:nvSpPr>
          <p:cNvPr id="20" name="">
            <a:extLst xmlns:a="http://schemas.openxmlformats.org/drawingml/2006/main">
              <a:ext uri="{FF2B5EF4-FFF2-40B4-BE49-F238E27FC236}">
                <a16:creationId xmlns:a16="http://schemas.microsoft.com/office/drawing/2014/main" id="{A4346248-B1EB-4231-9513-5D5C3B4DACF6}"/>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02</a:t>
            </a:r>
          </a:p>
        </p:txBody>
      </p:sp>
    </p:spTree>
    <p:extLst>
      <p:ext uri="{BB962C8B-B14F-4D97-AF65-F5344CB8AC3E}">
        <p14:creationId xmlns:p14="http://schemas.microsoft.com/office/powerpoint/2010/main" val="686392656"/>
      </p:ext>
    </p:extLst>
  </p:cSld>
</p:sld>
</file>

<file path=ppt/slides/slide3.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AE8C447-7B6C-4A14-B10B-99B3C9ECF0A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1FA97F4-B9B7-4BD4-9114-D88BBBEECF45}"/>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10.1  SUCCESS CRITERIA AND FEEDBACK</a:t>
            </a:r>
          </a:p>
        </p:txBody>
      </p:sp>
      <p:sp>
        <p:nvSpPr>
          <p:cNvPr id="3" name="">
            <a:extLst xmlns:a="http://schemas.openxmlformats.org/drawingml/2006/main">
              <a:ext uri="{FF2B5EF4-FFF2-40B4-BE49-F238E27FC236}">
                <a16:creationId xmlns:a16="http://schemas.microsoft.com/office/drawing/2014/main" id="{73AAF178-CF56-4E3D-8D25-535BE7783494}"/>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Success criteria and feedback</a:t>
            </a:r>
          </a:p>
        </p:txBody>
      </p:sp>
      <p:sp>
        <p:nvSpPr>
          <p:cNvPr id="4" name="">
            <a:extLst xmlns:a="http://schemas.openxmlformats.org/drawingml/2006/main">
              <a:ext uri="{FF2B5EF4-FFF2-40B4-BE49-F238E27FC236}">
                <a16:creationId xmlns:a16="http://schemas.microsoft.com/office/drawing/2014/main" id="{B46E69C3-D8EE-4742-9EA6-88C0E69ABA83}"/>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2EF554F1-7DD5-4433-8FEF-975B6C857E33}"/>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6773A9F-58F4-4133-9E87-8689A5CBADFA}"/>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Criteria must be specific enough to check.</a:t>
            </a:r>
          </a:p>
        </p:txBody>
      </p:sp>
      <p:sp>
        <p:nvSpPr>
          <p:cNvPr id="7" name="">
            <a:extLst xmlns:a="http://schemas.openxmlformats.org/drawingml/2006/main">
              <a:ext uri="{FF2B5EF4-FFF2-40B4-BE49-F238E27FC236}">
                <a16:creationId xmlns:a16="http://schemas.microsoft.com/office/drawing/2014/main" id="{733B58BB-FBD6-42B2-9D68-C4C8F2D15FC0}"/>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4C07760-1911-44F8-9872-6E134C126EA1}"/>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Feedback has context and limits.</a:t>
            </a:r>
          </a:p>
        </p:txBody>
      </p:sp>
      <p:sp>
        <p:nvSpPr>
          <p:cNvPr id="9" name="">
            <a:extLst xmlns:a="http://schemas.openxmlformats.org/drawingml/2006/main">
              <a:ext uri="{FF2B5EF4-FFF2-40B4-BE49-F238E27FC236}">
                <a16:creationId xmlns:a16="http://schemas.microsoft.com/office/drawing/2014/main" id="{246F3937-8FA0-40B9-BC11-186384FB18EF}"/>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294EC8D-6D12-4C70-8AD4-461F00233B61}"/>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judgement connects criterion, evidence and next action.</a:t>
            </a:r>
          </a:p>
        </p:txBody>
      </p:sp>
      <p:sp>
        <p:nvSpPr>
          <p:cNvPr id="11" name="">
            <a:extLst xmlns:a="http://schemas.openxmlformats.org/drawingml/2006/main">
              <a:ext uri="{FF2B5EF4-FFF2-40B4-BE49-F238E27FC236}">
                <a16:creationId xmlns:a16="http://schemas.microsoft.com/office/drawing/2014/main" id="{E0D23FB6-3275-4C71-89A5-F8A6A02959EB}"/>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EF89182C-F217-4B12-8A49-C9DB92D8F4A2}"/>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TURN FEEDBACK INTO A RETEST</a:t>
            </a:r>
          </a:p>
        </p:txBody>
      </p:sp>
      <p:sp>
        <p:nvSpPr>
          <p:cNvPr id="13" name="">
            <a:extLst xmlns:a="http://schemas.openxmlformats.org/drawingml/2006/main">
              <a:ext uri="{FF2B5EF4-FFF2-40B4-BE49-F238E27FC236}">
                <a16:creationId xmlns:a16="http://schemas.microsoft.com/office/drawing/2014/main" id="{C2925C14-C3B4-4B49-BA0F-44D006AECC86}"/>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CRITERIA</a:t>
            </a:r>
          </a:p>
        </p:txBody>
      </p:sp>
      <p:sp>
        <p:nvSpPr>
          <p:cNvPr id="14" name="">
            <a:extLst xmlns:a="http://schemas.openxmlformats.org/drawingml/2006/main">
              <a:ext uri="{FF2B5EF4-FFF2-40B4-BE49-F238E27FC236}">
                <a16:creationId xmlns:a16="http://schemas.microsoft.com/office/drawing/2014/main" id="{C15480F7-5023-4D16-8FAC-6B68B889B33D}"/>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AF77B461-753A-4F01-A519-BDE7F9EBCDD2}"/>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FEEDBACK</a:t>
            </a:r>
          </a:p>
        </p:txBody>
      </p:sp>
      <p:sp>
        <p:nvSpPr>
          <p:cNvPr id="16" name="">
            <a:extLst xmlns:a="http://schemas.openxmlformats.org/drawingml/2006/main">
              <a:ext uri="{FF2B5EF4-FFF2-40B4-BE49-F238E27FC236}">
                <a16:creationId xmlns:a16="http://schemas.microsoft.com/office/drawing/2014/main" id="{8F0AE1E8-D91E-41FC-B0F6-E9E80A193975}"/>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F68CB3B0-E3B1-4C4B-97F9-D38A51D2C551}"/>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REVISION</a:t>
            </a:r>
          </a:p>
        </p:txBody>
      </p:sp>
      <p:sp>
        <p:nvSpPr>
          <p:cNvPr id="18" name="">
            <a:extLst xmlns:a="http://schemas.openxmlformats.org/drawingml/2006/main">
              <a:ext uri="{FF2B5EF4-FFF2-40B4-BE49-F238E27FC236}">
                <a16:creationId xmlns:a16="http://schemas.microsoft.com/office/drawing/2014/main" id="{158A6E38-E522-4277-923C-7D4F9E858442}"/>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7448CB4-9356-4FDF-8143-6CD6045BF4C7}"/>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RETEST</a:t>
            </a:r>
          </a:p>
        </p:txBody>
      </p:sp>
      <p:sp>
        <p:nvSpPr>
          <p:cNvPr id="20" name="">
            <a:extLst xmlns:a="http://schemas.openxmlformats.org/drawingml/2006/main">
              <a:ext uri="{FF2B5EF4-FFF2-40B4-BE49-F238E27FC236}">
                <a16:creationId xmlns:a16="http://schemas.microsoft.com/office/drawing/2014/main" id="{C84086F6-14E8-48A7-B2F4-6AF0722B69E8}"/>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75809"/>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Useful feedback names the issue, the change and how to check it.</a:t>
            </a:r>
          </a:p>
        </p:txBody>
      </p:sp>
      <p:sp>
        <p:nvSpPr>
          <p:cNvPr id="21" name="">
            <a:extLst xmlns:a="http://schemas.openxmlformats.org/drawingml/2006/main">
              <a:ext uri="{FF2B5EF4-FFF2-40B4-BE49-F238E27FC236}">
                <a16:creationId xmlns:a16="http://schemas.microsoft.com/office/drawing/2014/main" id="{7894F40B-1088-4EA0-9128-48D1CB138CF3}"/>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A307122C-AE78-48D7-AC08-8D0F884D75E4}"/>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makes a success criterion useful?</a:t>
            </a:r>
          </a:p>
        </p:txBody>
      </p:sp>
      <p:sp>
        <p:nvSpPr>
          <p:cNvPr id="23" name="">
            <a:extLst xmlns:a="http://schemas.openxmlformats.org/drawingml/2006/main">
              <a:ext uri="{FF2B5EF4-FFF2-40B4-BE49-F238E27FC236}">
                <a16:creationId xmlns:a16="http://schemas.microsoft.com/office/drawing/2014/main" id="{772B90B5-3D8C-40D8-9C3B-48BFBE2B041B}"/>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10  •  PRESENT, EVALUATE, IMPROVE</a:t>
            </a:r>
          </a:p>
        </p:txBody>
      </p:sp>
      <p:sp>
        <p:nvSpPr>
          <p:cNvPr id="24" name="">
            <a:extLst xmlns:a="http://schemas.openxmlformats.org/drawingml/2006/main">
              <a:ext uri="{FF2B5EF4-FFF2-40B4-BE49-F238E27FC236}">
                <a16:creationId xmlns:a16="http://schemas.microsoft.com/office/drawing/2014/main" id="{611E04FF-5DB1-4F88-9633-B6CF43109EFE}"/>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03</a:t>
            </a:r>
          </a:p>
        </p:txBody>
      </p:sp>
    </p:spTree>
    <p:extLst>
      <p:ext uri="{BB962C8B-B14F-4D97-AF65-F5344CB8AC3E}">
        <p14:creationId xmlns:p14="http://schemas.microsoft.com/office/powerpoint/2010/main" val="610623178"/>
      </p:ext>
    </p:extLst>
  </p:cSld>
</p:sld>
</file>

<file path=ppt/slides/slide4.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8183C5A-8060-48D7-8ECB-9D2A37AEF8D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E03E50-2A31-4AB4-A479-43FD3A3B04DB}"/>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10.2  EXPLAINING DESIGN DECISIONS</a:t>
            </a:r>
          </a:p>
        </p:txBody>
      </p:sp>
      <p:sp>
        <p:nvSpPr>
          <p:cNvPr id="3" name="">
            <a:extLst xmlns:a="http://schemas.openxmlformats.org/drawingml/2006/main">
              <a:ext uri="{FF2B5EF4-FFF2-40B4-BE49-F238E27FC236}">
                <a16:creationId xmlns:a16="http://schemas.microsoft.com/office/drawing/2014/main" id="{6E1B7503-43A2-466C-8F6A-C8DEEFE7DC89}"/>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Explaining design decisions</a:t>
            </a:r>
          </a:p>
        </p:txBody>
      </p:sp>
      <p:sp>
        <p:nvSpPr>
          <p:cNvPr id="4" name="">
            <a:extLst xmlns:a="http://schemas.openxmlformats.org/drawingml/2006/main">
              <a:ext uri="{FF2B5EF4-FFF2-40B4-BE49-F238E27FC236}">
                <a16:creationId xmlns:a16="http://schemas.microsoft.com/office/drawing/2014/main" id="{03FF2B07-AF0B-4155-9999-2C397FA2F641}"/>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18B60590-2575-434F-8630-91A515EEB2BE}"/>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03B6446-75F2-4219-95F2-12138BC15506}"/>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A rationale explains decisions, not click-by-click software use.</a:t>
            </a:r>
          </a:p>
        </p:txBody>
      </p:sp>
      <p:sp>
        <p:nvSpPr>
          <p:cNvPr id="7" name="">
            <a:extLst xmlns:a="http://schemas.openxmlformats.org/drawingml/2006/main">
              <a:ext uri="{FF2B5EF4-FFF2-40B4-BE49-F238E27FC236}">
                <a16:creationId xmlns:a16="http://schemas.microsoft.com/office/drawing/2014/main" id="{831D5A2C-7AD4-4440-B9D1-0FC3EAE07FE9}"/>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7FE149E-B3FB-4383-A226-E51DC18FE2B9}"/>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Claim, evidence and reasoning make justification traceable.</a:t>
            </a:r>
          </a:p>
        </p:txBody>
      </p:sp>
      <p:sp>
        <p:nvSpPr>
          <p:cNvPr id="9" name="">
            <a:extLst xmlns:a="http://schemas.openxmlformats.org/drawingml/2006/main">
              <a:ext uri="{FF2B5EF4-FFF2-40B4-BE49-F238E27FC236}">
                <a16:creationId xmlns:a16="http://schemas.microsoft.com/office/drawing/2014/main" id="{F49C0E14-6936-40DA-A1E2-2DAB27B66918}"/>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78C70F5-901A-4916-B691-EB4725023387}"/>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Mixed evidence and trade-offs should be acknowledged.</a:t>
            </a:r>
          </a:p>
        </p:txBody>
      </p:sp>
      <p:sp>
        <p:nvSpPr>
          <p:cNvPr id="11" name="">
            <a:extLst xmlns:a="http://schemas.openxmlformats.org/drawingml/2006/main">
              <a:ext uri="{FF2B5EF4-FFF2-40B4-BE49-F238E27FC236}">
                <a16:creationId xmlns:a16="http://schemas.microsoft.com/office/drawing/2014/main" id="{39E65ADF-9560-45CD-BC1C-E90D5EDD841C}"/>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27DD7F31-FDEB-48A8-8EF7-CD9A45CC8E83}"/>
              </a:ext>
            </a:extLst>
          </p:cNvPr>
          <p:cNvSpPr>
            <a:spLocks xmlns:a="http://schemas.openxmlformats.org/drawingml/2006/main" noGrp="1"/>
          </p:cNvSpPr>
          <p:nvPr/>
        </p:nvSpPr>
        <p:spPr>
          <a:xfrm xmlns:a="http://schemas.openxmlformats.org/drawingml/2006/main">
            <a:off x="7524750" y="1924050"/>
            <a:ext cx="400050" cy="40005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E058E73-471A-4192-91BB-C9DF1F4CA000}"/>
              </a:ext>
            </a:extLst>
          </p:cNvPr>
          <p:cNvSpPr>
            <a:spLocks xmlns:a="http://schemas.openxmlformats.org/drawingml/2006/main" noGrp="1"/>
          </p:cNvSpPr>
          <p:nvPr/>
        </p:nvSpPr>
        <p:spPr>
          <a:xfrm xmlns:a="http://schemas.openxmlformats.org/drawingml/2006/main">
            <a:off x="7524750" y="19240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14" name="">
            <a:extLst xmlns:a="http://schemas.openxmlformats.org/drawingml/2006/main">
              <a:ext uri="{FF2B5EF4-FFF2-40B4-BE49-F238E27FC236}">
                <a16:creationId xmlns:a16="http://schemas.microsoft.com/office/drawing/2014/main" id="{D846D981-4F86-402E-8243-DDDACE473AE3}"/>
              </a:ext>
            </a:extLst>
          </p:cNvPr>
          <p:cNvSpPr>
            <a:spLocks xmlns:a="http://schemas.openxmlformats.org/drawingml/2006/main" noGrp="1"/>
          </p:cNvSpPr>
          <p:nvPr/>
        </p:nvSpPr>
        <p:spPr>
          <a:xfrm xmlns:a="http://schemas.openxmlformats.org/drawingml/2006/main">
            <a:off x="8115300" y="1847850"/>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42C"/>
                </a:solidFill>
                <a:latin typeface="Arial"/>
                <a:ea typeface="Arial"/>
                <a:cs typeface="Arial"/>
              </a:defRPr>
            </a:pPr>
            <a:r>
              <a:rPr sz="1500" b="1">
                <a:solidFill>
                  <a:srgbClr val="17342C"/>
                </a:solidFill>
                <a:latin typeface="Arial"/>
                <a:ea typeface="Arial"/>
                <a:cs typeface="Arial"/>
              </a:rPr>
              <a:t>CLAIM</a:t>
            </a:r>
          </a:p>
        </p:txBody>
      </p:sp>
      <p:sp>
        <p:nvSpPr>
          <p:cNvPr id="15" name="">
            <a:extLst xmlns:a="http://schemas.openxmlformats.org/drawingml/2006/main">
              <a:ext uri="{FF2B5EF4-FFF2-40B4-BE49-F238E27FC236}">
                <a16:creationId xmlns:a16="http://schemas.microsoft.com/office/drawing/2014/main" id="{736B20C5-C467-4BA4-99C7-4254E553C0FB}"/>
              </a:ext>
            </a:extLst>
          </p:cNvPr>
          <p:cNvSpPr>
            <a:spLocks xmlns:a="http://schemas.openxmlformats.org/drawingml/2006/main" noGrp="1"/>
          </p:cNvSpPr>
          <p:nvPr/>
        </p:nvSpPr>
        <p:spPr>
          <a:xfrm xmlns:a="http://schemas.openxmlformats.org/drawingml/2006/main">
            <a:off x="8115300" y="21717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4706B"/>
                </a:solidFill>
                <a:latin typeface="Arial"/>
                <a:ea typeface="Arial"/>
                <a:cs typeface="Arial"/>
              </a:defRPr>
            </a:pPr>
            <a:r>
              <a:rPr sz="1200" b="0">
                <a:solidFill>
                  <a:srgbClr val="64706B"/>
                </a:solidFill>
                <a:latin typeface="Arial"/>
                <a:ea typeface="Arial"/>
                <a:cs typeface="Arial"/>
              </a:rPr>
              <a:t>State the design decision.</a:t>
            </a:r>
          </a:p>
        </p:txBody>
      </p:sp>
      <p:sp>
        <p:nvSpPr>
          <p:cNvPr id="16" name="">
            <a:extLst xmlns:a="http://schemas.openxmlformats.org/drawingml/2006/main">
              <a:ext uri="{FF2B5EF4-FFF2-40B4-BE49-F238E27FC236}">
                <a16:creationId xmlns:a16="http://schemas.microsoft.com/office/drawing/2014/main" id="{EB693A04-A74A-404F-9909-6A605F949A4B}"/>
              </a:ext>
            </a:extLst>
          </p:cNvPr>
          <p:cNvSpPr>
            <a:spLocks xmlns:a="http://schemas.openxmlformats.org/drawingml/2006/main" noGrp="1"/>
          </p:cNvSpPr>
          <p:nvPr/>
        </p:nvSpPr>
        <p:spPr>
          <a:xfrm xmlns:a="http://schemas.openxmlformats.org/drawingml/2006/main">
            <a:off x="7524750" y="3028950"/>
            <a:ext cx="400050" cy="40005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6E72604-F151-4D35-ADB5-D21DF765223A}"/>
              </a:ext>
            </a:extLst>
          </p:cNvPr>
          <p:cNvSpPr>
            <a:spLocks xmlns:a="http://schemas.openxmlformats.org/drawingml/2006/main" noGrp="1"/>
          </p:cNvSpPr>
          <p:nvPr/>
        </p:nvSpPr>
        <p:spPr>
          <a:xfrm xmlns:a="http://schemas.openxmlformats.org/drawingml/2006/main">
            <a:off x="7524750" y="30289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8" name="">
            <a:extLst xmlns:a="http://schemas.openxmlformats.org/drawingml/2006/main">
              <a:ext uri="{FF2B5EF4-FFF2-40B4-BE49-F238E27FC236}">
                <a16:creationId xmlns:a16="http://schemas.microsoft.com/office/drawing/2014/main" id="{959D71E1-BCAF-4B42-B6F0-AE1FA1C1C953}"/>
              </a:ext>
            </a:extLst>
          </p:cNvPr>
          <p:cNvSpPr>
            <a:spLocks xmlns:a="http://schemas.openxmlformats.org/drawingml/2006/main" noGrp="1"/>
          </p:cNvSpPr>
          <p:nvPr/>
        </p:nvSpPr>
        <p:spPr>
          <a:xfrm xmlns:a="http://schemas.openxmlformats.org/drawingml/2006/main">
            <a:off x="8115300" y="2952750"/>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42C"/>
                </a:solidFill>
                <a:latin typeface="Arial"/>
                <a:ea typeface="Arial"/>
                <a:cs typeface="Arial"/>
              </a:defRPr>
            </a:pPr>
            <a:r>
              <a:rPr sz="1500" b="1">
                <a:solidFill>
                  <a:srgbClr val="17342C"/>
                </a:solidFill>
                <a:latin typeface="Arial"/>
                <a:ea typeface="Arial"/>
                <a:cs typeface="Arial"/>
              </a:rPr>
              <a:t>EVIDENCE</a:t>
            </a:r>
          </a:p>
        </p:txBody>
      </p:sp>
      <p:sp>
        <p:nvSpPr>
          <p:cNvPr id="19" name="">
            <a:extLst xmlns:a="http://schemas.openxmlformats.org/drawingml/2006/main">
              <a:ext uri="{FF2B5EF4-FFF2-40B4-BE49-F238E27FC236}">
                <a16:creationId xmlns:a16="http://schemas.microsoft.com/office/drawing/2014/main" id="{1CD1332E-7344-4171-BF93-2ECD3EC87887}"/>
              </a:ext>
            </a:extLst>
          </p:cNvPr>
          <p:cNvSpPr>
            <a:spLocks xmlns:a="http://schemas.openxmlformats.org/drawingml/2006/main" noGrp="1"/>
          </p:cNvSpPr>
          <p:nvPr/>
        </p:nvSpPr>
        <p:spPr>
          <a:xfrm xmlns:a="http://schemas.openxmlformats.org/drawingml/2006/main">
            <a:off x="8115300" y="32766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4706B"/>
                </a:solidFill>
                <a:latin typeface="Arial"/>
                <a:ea typeface="Arial"/>
                <a:cs typeface="Arial"/>
              </a:defRPr>
            </a:pPr>
            <a:r>
              <a:rPr sz="1200" b="0">
                <a:solidFill>
                  <a:srgbClr val="64706B"/>
                </a:solidFill>
                <a:latin typeface="Arial"/>
                <a:ea typeface="Arial"/>
                <a:cs typeface="Arial"/>
              </a:rPr>
              <a:t>Name the test or observation.</a:t>
            </a:r>
          </a:p>
        </p:txBody>
      </p:sp>
      <p:sp>
        <p:nvSpPr>
          <p:cNvPr id="20" name="">
            <a:extLst xmlns:a="http://schemas.openxmlformats.org/drawingml/2006/main">
              <a:ext uri="{FF2B5EF4-FFF2-40B4-BE49-F238E27FC236}">
                <a16:creationId xmlns:a16="http://schemas.microsoft.com/office/drawing/2014/main" id="{4057D3DB-0FEE-4D81-8F81-8F66C780A5A5}"/>
              </a:ext>
            </a:extLst>
          </p:cNvPr>
          <p:cNvSpPr>
            <a:spLocks xmlns:a="http://schemas.openxmlformats.org/drawingml/2006/main" noGrp="1"/>
          </p:cNvSpPr>
          <p:nvPr/>
        </p:nvSpPr>
        <p:spPr>
          <a:xfrm xmlns:a="http://schemas.openxmlformats.org/drawingml/2006/main">
            <a:off x="7524750" y="4133850"/>
            <a:ext cx="400050" cy="40005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5FD1C10-C47E-4B53-A53E-721A4F0192B5}"/>
              </a:ext>
            </a:extLst>
          </p:cNvPr>
          <p:cNvSpPr>
            <a:spLocks xmlns:a="http://schemas.openxmlformats.org/drawingml/2006/main" noGrp="1"/>
          </p:cNvSpPr>
          <p:nvPr/>
        </p:nvSpPr>
        <p:spPr>
          <a:xfrm xmlns:a="http://schemas.openxmlformats.org/drawingml/2006/main">
            <a:off x="7524750" y="4133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7342C"/>
                </a:solidFill>
                <a:latin typeface="Arial"/>
                <a:ea typeface="Arial"/>
                <a:cs typeface="Arial"/>
              </a:defRPr>
            </a:pPr>
            <a:r>
              <a:rPr sz="1350" b="1">
                <a:solidFill>
                  <a:srgbClr val="17342C"/>
                </a:solidFill>
                <a:latin typeface="Arial"/>
                <a:ea typeface="Arial"/>
                <a:cs typeface="Arial"/>
              </a:rPr>
              <a:t>3</a:t>
            </a:r>
          </a:p>
        </p:txBody>
      </p:sp>
      <p:sp>
        <p:nvSpPr>
          <p:cNvPr id="22" name="">
            <a:extLst xmlns:a="http://schemas.openxmlformats.org/drawingml/2006/main">
              <a:ext uri="{FF2B5EF4-FFF2-40B4-BE49-F238E27FC236}">
                <a16:creationId xmlns:a16="http://schemas.microsoft.com/office/drawing/2014/main" id="{FF3E94DE-6C20-4C8A-A93A-C5832F5E84FE}"/>
              </a:ext>
            </a:extLst>
          </p:cNvPr>
          <p:cNvSpPr>
            <a:spLocks xmlns:a="http://schemas.openxmlformats.org/drawingml/2006/main" noGrp="1"/>
          </p:cNvSpPr>
          <p:nvPr/>
        </p:nvSpPr>
        <p:spPr>
          <a:xfrm xmlns:a="http://schemas.openxmlformats.org/drawingml/2006/main">
            <a:off x="8115300" y="4057650"/>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7342C"/>
                </a:solidFill>
                <a:latin typeface="Arial"/>
                <a:ea typeface="Arial"/>
                <a:cs typeface="Arial"/>
              </a:defRPr>
            </a:pPr>
            <a:r>
              <a:rPr sz="1500" b="1">
                <a:solidFill>
                  <a:srgbClr val="17342C"/>
                </a:solidFill>
                <a:latin typeface="Arial"/>
                <a:ea typeface="Arial"/>
                <a:cs typeface="Arial"/>
              </a:rPr>
              <a:t>REASONING</a:t>
            </a:r>
          </a:p>
        </p:txBody>
      </p:sp>
      <p:sp>
        <p:nvSpPr>
          <p:cNvPr id="23" name="">
            <a:extLst xmlns:a="http://schemas.openxmlformats.org/drawingml/2006/main">
              <a:ext uri="{FF2B5EF4-FFF2-40B4-BE49-F238E27FC236}">
                <a16:creationId xmlns:a16="http://schemas.microsoft.com/office/drawing/2014/main" id="{312BB978-81B4-4563-B390-CB59A094A6BA}"/>
              </a:ext>
            </a:extLst>
          </p:cNvPr>
          <p:cNvSpPr>
            <a:spLocks xmlns:a="http://schemas.openxmlformats.org/drawingml/2006/main" noGrp="1"/>
          </p:cNvSpPr>
          <p:nvPr/>
        </p:nvSpPr>
        <p:spPr>
          <a:xfrm xmlns:a="http://schemas.openxmlformats.org/drawingml/2006/main">
            <a:off x="8115300" y="4381500"/>
            <a:ext cx="3067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4706B"/>
                </a:solidFill>
                <a:latin typeface="Arial"/>
                <a:ea typeface="Arial"/>
                <a:cs typeface="Arial"/>
              </a:defRPr>
            </a:pPr>
            <a:r>
              <a:rPr sz="1200" b="0">
                <a:solidFill>
                  <a:srgbClr val="64706B"/>
                </a:solidFill>
                <a:latin typeface="Arial"/>
                <a:ea typeface="Arial"/>
                <a:cs typeface="Arial"/>
              </a:rPr>
              <a:t>Explain why the evidence supports the claim.</a:t>
            </a:r>
          </a:p>
        </p:txBody>
      </p:sp>
      <p:sp>
        <p:nvSpPr>
          <p:cNvPr id="24" name="">
            <a:extLst xmlns:a="http://schemas.openxmlformats.org/drawingml/2006/main">
              <a:ext uri="{FF2B5EF4-FFF2-40B4-BE49-F238E27FC236}">
                <a16:creationId xmlns:a16="http://schemas.microsoft.com/office/drawing/2014/main" id="{6EED7BF4-D9BB-4D33-B27D-9E74AB9854EF}"/>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5" name="">
            <a:extLst xmlns:a="http://schemas.openxmlformats.org/drawingml/2006/main">
              <a:ext uri="{FF2B5EF4-FFF2-40B4-BE49-F238E27FC236}">
                <a16:creationId xmlns:a16="http://schemas.microsoft.com/office/drawing/2014/main" id="{54B6ACC2-6CED-4B7D-A41A-FC6A3EA1B1DA}"/>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does a design rationale mainly explain?</a:t>
            </a:r>
          </a:p>
        </p:txBody>
      </p:sp>
      <p:sp>
        <p:nvSpPr>
          <p:cNvPr id="26" name="">
            <a:extLst xmlns:a="http://schemas.openxmlformats.org/drawingml/2006/main">
              <a:ext uri="{FF2B5EF4-FFF2-40B4-BE49-F238E27FC236}">
                <a16:creationId xmlns:a16="http://schemas.microsoft.com/office/drawing/2014/main" id="{5B3643E2-0FEF-407C-B2AB-C7A39E49C887}"/>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10  •  PRESENT, EVALUATE, IMPROVE</a:t>
            </a:r>
          </a:p>
        </p:txBody>
      </p:sp>
      <p:sp>
        <p:nvSpPr>
          <p:cNvPr id="27" name="">
            <a:extLst xmlns:a="http://schemas.openxmlformats.org/drawingml/2006/main">
              <a:ext uri="{FF2B5EF4-FFF2-40B4-BE49-F238E27FC236}">
                <a16:creationId xmlns:a16="http://schemas.microsoft.com/office/drawing/2014/main" id="{14917928-3ACE-461A-A816-1AFE661CAB88}"/>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04</a:t>
            </a:r>
          </a:p>
        </p:txBody>
      </p:sp>
    </p:spTree>
    <p:extLst>
      <p:ext uri="{BB962C8B-B14F-4D97-AF65-F5344CB8AC3E}">
        <p14:creationId xmlns:p14="http://schemas.microsoft.com/office/powerpoint/2010/main" val="487652130"/>
      </p:ext>
    </p:extLst>
  </p:cSld>
</p:sld>
</file>

<file path=ppt/slides/slide5.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662E203-67BA-48CB-A6A7-6F682A71019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AAE264-C021-4BFB-99F9-B8741F6CD679}"/>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10.3  EVALUATION AND NEXT ITERATION</a:t>
            </a:r>
          </a:p>
        </p:txBody>
      </p:sp>
      <p:sp>
        <p:nvSpPr>
          <p:cNvPr id="3" name="">
            <a:extLst xmlns:a="http://schemas.openxmlformats.org/drawingml/2006/main">
              <a:ext uri="{FF2B5EF4-FFF2-40B4-BE49-F238E27FC236}">
                <a16:creationId xmlns:a16="http://schemas.microsoft.com/office/drawing/2014/main" id="{D3A387DF-CCB1-4ABF-A003-C24E75F8FF41}"/>
              </a:ext>
            </a:extLst>
          </p:cNvPr>
          <p:cNvSpPr>
            <a:spLocks xmlns:a="http://schemas.openxmlformats.org/drawingml/2006/main" noGrp="1"/>
          </p:cNvSpPr>
          <p:nvPr/>
        </p:nvSpPr>
        <p:spPr>
          <a:xfrm xmlns:a="http://schemas.openxmlformats.org/drawingml/2006/main">
            <a:off x="685800" y="800100"/>
            <a:ext cx="6953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775" b="1">
                <a:solidFill>
                  <a:srgbClr val="17342C"/>
                </a:solidFill>
                <a:latin typeface="Arial"/>
                <a:ea typeface="Arial"/>
                <a:cs typeface="Arial"/>
              </a:defRPr>
            </a:pPr>
            <a:r>
              <a:rPr sz="2775" b="1">
                <a:solidFill>
                  <a:srgbClr val="17342C"/>
                </a:solidFill>
                <a:latin typeface="Arial"/>
                <a:ea typeface="Arial"/>
                <a:cs typeface="Arial"/>
              </a:rPr>
              <a:t>Evaluation and next iteration</a:t>
            </a:r>
          </a:p>
        </p:txBody>
      </p:sp>
      <p:sp>
        <p:nvSpPr>
          <p:cNvPr id="4" name="">
            <a:extLst xmlns:a="http://schemas.openxmlformats.org/drawingml/2006/main">
              <a:ext uri="{FF2B5EF4-FFF2-40B4-BE49-F238E27FC236}">
                <a16:creationId xmlns:a16="http://schemas.microsoft.com/office/drawing/2014/main" id="{C3CCED57-2B9B-4472-AD4B-509912F92102}"/>
              </a:ext>
            </a:extLst>
          </p:cNvPr>
          <p:cNvSpPr>
            <a:spLocks xmlns:a="http://schemas.openxmlformats.org/drawingml/2006/main" noGrp="1"/>
          </p:cNvSpPr>
          <p:nvPr/>
        </p:nvSpPr>
        <p:spPr>
          <a:xfrm xmlns:a="http://schemas.openxmlformats.org/drawingml/2006/main">
            <a:off x="685800" y="1743075"/>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THREE IDEAS TO PUT ON THE BOARD</a:t>
            </a:r>
          </a:p>
        </p:txBody>
      </p:sp>
      <p:sp>
        <p:nvSpPr>
          <p:cNvPr id="5" name="">
            <a:extLst xmlns:a="http://schemas.openxmlformats.org/drawingml/2006/main">
              <a:ext uri="{FF2B5EF4-FFF2-40B4-BE49-F238E27FC236}">
                <a16:creationId xmlns:a16="http://schemas.microsoft.com/office/drawing/2014/main" id="{FD5525F5-168F-4024-8CB9-CA0E3F116542}"/>
              </a:ext>
            </a:extLst>
          </p:cNvPr>
          <p:cNvSpPr>
            <a:spLocks xmlns:a="http://schemas.openxmlformats.org/drawingml/2006/main" noGrp="1"/>
          </p:cNvSpPr>
          <p:nvPr/>
        </p:nvSpPr>
        <p:spPr>
          <a:xfrm xmlns:a="http://schemas.openxmlformats.org/drawingml/2006/main">
            <a:off x="781050" y="2276475"/>
            <a:ext cx="142875" cy="142875"/>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709A5EB-E2E0-4A5F-BBD4-39E154EDABD3}"/>
              </a:ext>
            </a:extLst>
          </p:cNvPr>
          <p:cNvSpPr>
            <a:spLocks xmlns:a="http://schemas.openxmlformats.org/drawingml/2006/main" noGrp="1"/>
          </p:cNvSpPr>
          <p:nvPr/>
        </p:nvSpPr>
        <p:spPr>
          <a:xfrm xmlns:a="http://schemas.openxmlformats.org/drawingml/2006/main">
            <a:off x="1143000" y="220980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Evaluation judges performance against criteria with evidence.</a:t>
            </a:r>
          </a:p>
        </p:txBody>
      </p:sp>
      <p:sp>
        <p:nvSpPr>
          <p:cNvPr id="7" name="">
            <a:extLst xmlns:a="http://schemas.openxmlformats.org/drawingml/2006/main">
              <a:ext uri="{FF2B5EF4-FFF2-40B4-BE49-F238E27FC236}">
                <a16:creationId xmlns:a16="http://schemas.microsoft.com/office/drawing/2014/main" id="{113A17B6-CA48-4164-B8B6-1FEDA94DF3E9}"/>
              </a:ext>
            </a:extLst>
          </p:cNvPr>
          <p:cNvSpPr>
            <a:spLocks xmlns:a="http://schemas.openxmlformats.org/drawingml/2006/main" noGrp="1"/>
          </p:cNvSpPr>
          <p:nvPr/>
        </p:nvSpPr>
        <p:spPr>
          <a:xfrm xmlns:a="http://schemas.openxmlformats.org/drawingml/2006/main">
            <a:off x="781050" y="3181350"/>
            <a:ext cx="142875" cy="142875"/>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455E50-F247-4553-85DC-349BD1A3E72C}"/>
              </a:ext>
            </a:extLst>
          </p:cNvPr>
          <p:cNvSpPr>
            <a:spLocks xmlns:a="http://schemas.openxmlformats.org/drawingml/2006/main" noGrp="1"/>
          </p:cNvSpPr>
          <p:nvPr/>
        </p:nvSpPr>
        <p:spPr>
          <a:xfrm xmlns:a="http://schemas.openxmlformats.org/drawingml/2006/main">
            <a:off x="1143000" y="3114675"/>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Specific improvements state change, reason, method and expected effect.</a:t>
            </a:r>
          </a:p>
        </p:txBody>
      </p:sp>
      <p:sp>
        <p:nvSpPr>
          <p:cNvPr id="9" name="">
            <a:extLst xmlns:a="http://schemas.openxmlformats.org/drawingml/2006/main">
              <a:ext uri="{FF2B5EF4-FFF2-40B4-BE49-F238E27FC236}">
                <a16:creationId xmlns:a16="http://schemas.microsoft.com/office/drawing/2014/main" id="{E9FE39A4-78B2-4430-BBB0-635D3FBEFC4F}"/>
              </a:ext>
            </a:extLst>
          </p:cNvPr>
          <p:cNvSpPr>
            <a:spLocks xmlns:a="http://schemas.openxmlformats.org/drawingml/2006/main" noGrp="1"/>
          </p:cNvSpPr>
          <p:nvPr/>
        </p:nvSpPr>
        <p:spPr>
          <a:xfrm xmlns:a="http://schemas.openxmlformats.org/drawingml/2006/main">
            <a:off x="781050" y="4086225"/>
            <a:ext cx="142875" cy="142875"/>
          </a:xfrm>
          <a:prstGeom xmlns:a="http://schemas.openxmlformats.org/drawingml/2006/main" prst="ellipse">
            <a:avLst/>
          </a:prstGeom>
          <a:solidFill xmlns:a="http://schemas.openxmlformats.org/drawingml/2006/main">
            <a:srgbClr val="17756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667BDB-971C-4AD2-ADE2-FBA046DD935F}"/>
              </a:ext>
            </a:extLst>
          </p:cNvPr>
          <p:cNvSpPr>
            <a:spLocks xmlns:a="http://schemas.openxmlformats.org/drawingml/2006/main" noGrp="1"/>
          </p:cNvSpPr>
          <p:nvPr/>
        </p:nvSpPr>
        <p:spPr>
          <a:xfrm xmlns:a="http://schemas.openxmlformats.org/drawingml/2006/main">
            <a:off x="1143000" y="4019550"/>
            <a:ext cx="5476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17342C"/>
                </a:solidFill>
                <a:latin typeface="Arial"/>
                <a:ea typeface="Arial"/>
                <a:cs typeface="Arial"/>
              </a:defRPr>
            </a:pPr>
            <a:r>
              <a:rPr sz="1500" b="0">
                <a:solidFill>
                  <a:srgbClr val="17342C"/>
                </a:solidFill>
                <a:latin typeface="Arial"/>
                <a:ea typeface="Arial"/>
                <a:cs typeface="Arial"/>
              </a:rPr>
              <a:t>Backups and before-after records protect the design trail.</a:t>
            </a:r>
          </a:p>
        </p:txBody>
      </p:sp>
      <p:sp>
        <p:nvSpPr>
          <p:cNvPr id="11" name="">
            <a:extLst xmlns:a="http://schemas.openxmlformats.org/drawingml/2006/main">
              <a:ext uri="{FF2B5EF4-FFF2-40B4-BE49-F238E27FC236}">
                <a16:creationId xmlns:a16="http://schemas.microsoft.com/office/drawing/2014/main" id="{A78122EF-4100-4941-B124-708FB7622E81}"/>
              </a:ext>
            </a:extLst>
          </p:cNvPr>
          <p:cNvSpPr>
            <a:spLocks xmlns:a="http://schemas.openxmlformats.org/drawingml/2006/main" noGrp="1"/>
          </p:cNvSpPr>
          <p:nvPr/>
        </p:nvSpPr>
        <p:spPr>
          <a:xfrm xmlns:a="http://schemas.openxmlformats.org/drawingml/2006/main">
            <a:off x="7200900" y="1352550"/>
            <a:ext cx="4305300" cy="3505200"/>
          </a:xfrm>
          <a:prstGeom xmlns:a="http://schemas.openxmlformats.org/drawingml/2006/main" prst="roundRect">
            <a:avLst>
              <a:gd name="adj" fmla="val 3261"/>
            </a:avLst>
          </a:prstGeom>
          <a:solidFill xmlns:a="http://schemas.openxmlformats.org/drawingml/2006/main">
            <a:srgbClr val="FFFFFF"/>
          </a:solidFill>
          <a:ln xmlns:a="http://schemas.openxmlformats.org/drawingml/2006/main" w="9525">
            <a:solidFill>
              <a:srgbClr val="CFD8D2"/>
            </a:solidFill>
            <a:prstDash val="solid"/>
          </a:ln>
        </p:spPr>
      </p:sp>
      <p:sp>
        <p:nvSpPr>
          <p:cNvPr id="12" name="">
            <a:extLst xmlns:a="http://schemas.openxmlformats.org/drawingml/2006/main">
              <a:ext uri="{FF2B5EF4-FFF2-40B4-BE49-F238E27FC236}">
                <a16:creationId xmlns:a16="http://schemas.microsoft.com/office/drawing/2014/main" id="{BDFBB7E8-7B1D-4156-A6E8-6A581171C7EC}"/>
              </a:ext>
            </a:extLst>
          </p:cNvPr>
          <p:cNvSpPr>
            <a:spLocks xmlns:a="http://schemas.openxmlformats.org/drawingml/2006/main" noGrp="1"/>
          </p:cNvSpPr>
          <p:nvPr/>
        </p:nvSpPr>
        <p:spPr>
          <a:xfrm xmlns:a="http://schemas.openxmlformats.org/drawingml/2006/main">
            <a:off x="7410450" y="1524000"/>
            <a:ext cx="3886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0C5554"/>
                </a:solidFill>
                <a:latin typeface="Arial"/>
                <a:ea typeface="Arial"/>
                <a:cs typeface="Arial"/>
              </a:defRPr>
            </a:pPr>
            <a:r>
              <a:rPr sz="1425" b="1">
                <a:solidFill>
                  <a:srgbClr val="0C5554"/>
                </a:solidFill>
                <a:latin typeface="Arial"/>
                <a:ea typeface="Arial"/>
                <a:cs typeface="Arial"/>
              </a:rPr>
              <a:t>BUILD AN EVIDENCE-BASED EVALUATION</a:t>
            </a:r>
          </a:p>
        </p:txBody>
      </p:sp>
      <p:sp>
        <p:nvSpPr>
          <p:cNvPr id="13" name="">
            <a:extLst xmlns:a="http://schemas.openxmlformats.org/drawingml/2006/main">
              <a:ext uri="{FF2B5EF4-FFF2-40B4-BE49-F238E27FC236}">
                <a16:creationId xmlns:a16="http://schemas.microsoft.com/office/drawing/2014/main" id="{5199BA9C-D8BE-4B30-9F8C-9E609940AD05}"/>
              </a:ext>
            </a:extLst>
          </p:cNvPr>
          <p:cNvSpPr>
            <a:spLocks xmlns:a="http://schemas.openxmlformats.org/drawingml/2006/main" noGrp="1"/>
          </p:cNvSpPr>
          <p:nvPr/>
        </p:nvSpPr>
        <p:spPr>
          <a:xfrm xmlns:a="http://schemas.openxmlformats.org/drawingml/2006/main">
            <a:off x="7696200" y="1924050"/>
            <a:ext cx="3314700" cy="428625"/>
          </a:xfrm>
          <a:prstGeom xmlns:a="http://schemas.openxmlformats.org/drawingml/2006/main" prst="roundRect">
            <a:avLst>
              <a:gd name="adj" fmla="val 17778"/>
            </a:avLst>
          </a:prstGeom>
          <a:solidFill xmlns:a="http://schemas.openxmlformats.org/drawingml/2006/main">
            <a:srgbClr val="0C5554"/>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CLAIM</a:t>
            </a:r>
          </a:p>
        </p:txBody>
      </p:sp>
      <p:sp>
        <p:nvSpPr>
          <p:cNvPr id="14" name="">
            <a:extLst xmlns:a="http://schemas.openxmlformats.org/drawingml/2006/main">
              <a:ext uri="{FF2B5EF4-FFF2-40B4-BE49-F238E27FC236}">
                <a16:creationId xmlns:a16="http://schemas.microsoft.com/office/drawing/2014/main" id="{6A7C50DB-A91A-4B01-9172-FF0C4733ECF7}"/>
              </a:ext>
            </a:extLst>
          </p:cNvPr>
          <p:cNvSpPr>
            <a:spLocks xmlns:a="http://schemas.openxmlformats.org/drawingml/2006/main" noGrp="1"/>
          </p:cNvSpPr>
          <p:nvPr/>
        </p:nvSpPr>
        <p:spPr>
          <a:xfrm xmlns:a="http://schemas.openxmlformats.org/drawingml/2006/main">
            <a:off x="9182100" y="235267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98B92412-DF06-4DE4-8F13-52AB88514FE6}"/>
              </a:ext>
            </a:extLst>
          </p:cNvPr>
          <p:cNvSpPr>
            <a:spLocks xmlns:a="http://schemas.openxmlformats.org/drawingml/2006/main" noGrp="1"/>
          </p:cNvSpPr>
          <p:nvPr/>
        </p:nvSpPr>
        <p:spPr>
          <a:xfrm xmlns:a="http://schemas.openxmlformats.org/drawingml/2006/main">
            <a:off x="7696200" y="2466975"/>
            <a:ext cx="3314700" cy="428625"/>
          </a:xfrm>
          <a:prstGeom xmlns:a="http://schemas.openxmlformats.org/drawingml/2006/main" prst="roundRect">
            <a:avLst>
              <a:gd name="adj" fmla="val 17778"/>
            </a:avLst>
          </a:prstGeom>
          <a:solidFill xmlns:a="http://schemas.openxmlformats.org/drawingml/2006/main">
            <a:srgbClr val="F2BD3C"/>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17342C"/>
                </a:solidFill>
                <a:latin typeface="Arial"/>
                <a:ea typeface="Arial"/>
                <a:cs typeface="Arial"/>
              </a:defRPr>
            </a:pPr>
            <a:r>
              <a:rPr sz="1425" b="1">
                <a:solidFill>
                  <a:srgbClr val="17342C"/>
                </a:solidFill>
                <a:latin typeface="Arial"/>
                <a:ea typeface="Arial"/>
                <a:cs typeface="Arial"/>
              </a:rPr>
              <a:t>EVIDENCE</a:t>
            </a:r>
          </a:p>
        </p:txBody>
      </p:sp>
      <p:sp>
        <p:nvSpPr>
          <p:cNvPr id="16" name="">
            <a:extLst xmlns:a="http://schemas.openxmlformats.org/drawingml/2006/main">
              <a:ext uri="{FF2B5EF4-FFF2-40B4-BE49-F238E27FC236}">
                <a16:creationId xmlns:a16="http://schemas.microsoft.com/office/drawing/2014/main" id="{373D9F59-3838-4167-839C-1A2D080776BF}"/>
              </a:ext>
            </a:extLst>
          </p:cNvPr>
          <p:cNvSpPr>
            <a:spLocks xmlns:a="http://schemas.openxmlformats.org/drawingml/2006/main" noGrp="1"/>
          </p:cNvSpPr>
          <p:nvPr/>
        </p:nvSpPr>
        <p:spPr>
          <a:xfrm xmlns:a="http://schemas.openxmlformats.org/drawingml/2006/main">
            <a:off x="9182100" y="2895600"/>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612B4E33-0483-46C5-BFED-B91FCA997012}"/>
              </a:ext>
            </a:extLst>
          </p:cNvPr>
          <p:cNvSpPr>
            <a:spLocks xmlns:a="http://schemas.openxmlformats.org/drawingml/2006/main" noGrp="1"/>
          </p:cNvSpPr>
          <p:nvPr/>
        </p:nvSpPr>
        <p:spPr>
          <a:xfrm xmlns:a="http://schemas.openxmlformats.org/drawingml/2006/main">
            <a:off x="7696200" y="3009900"/>
            <a:ext cx="3314700" cy="428625"/>
          </a:xfrm>
          <a:prstGeom xmlns:a="http://schemas.openxmlformats.org/drawingml/2006/main" prst="roundRect">
            <a:avLst>
              <a:gd name="adj" fmla="val 17778"/>
            </a:avLst>
          </a:prstGeom>
          <a:solidFill xmlns:a="http://schemas.openxmlformats.org/drawingml/2006/main">
            <a:srgbClr val="17756F"/>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REASONING</a:t>
            </a:r>
          </a:p>
        </p:txBody>
      </p:sp>
      <p:sp>
        <p:nvSpPr>
          <p:cNvPr id="18" name="">
            <a:extLst xmlns:a="http://schemas.openxmlformats.org/drawingml/2006/main">
              <a:ext uri="{FF2B5EF4-FFF2-40B4-BE49-F238E27FC236}">
                <a16:creationId xmlns:a16="http://schemas.microsoft.com/office/drawing/2014/main" id="{73CC18F7-28FD-4B52-BFE5-C7AC6B2540BC}"/>
              </a:ext>
            </a:extLst>
          </p:cNvPr>
          <p:cNvSpPr>
            <a:spLocks xmlns:a="http://schemas.openxmlformats.org/drawingml/2006/main" noGrp="1"/>
          </p:cNvSpPr>
          <p:nvPr/>
        </p:nvSpPr>
        <p:spPr>
          <a:xfrm xmlns:a="http://schemas.openxmlformats.org/drawingml/2006/main">
            <a:off x="9182100" y="3438525"/>
            <a:ext cx="342900" cy="114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1429"/>
          </a:bodyPr>
          <a:lstStyle xmlns:a="http://schemas.openxmlformats.org/drawingml/2006/main"/>
          <a:p xmlns:a="http://schemas.openxmlformats.org/drawingml/2006/main">
            <a:pPr algn="ctr">
              <a:defRPr sz="1050" b="1">
                <a:solidFill>
                  <a:srgbClr val="64706B"/>
                </a:solidFill>
                <a:latin typeface="Arial"/>
                <a:ea typeface="Arial"/>
                <a:cs typeface="Arial"/>
              </a:defRPr>
            </a:pPr>
            <a:r>
              <a:rPr sz="1050" b="1">
                <a:solidFill>
                  <a:srgbClr val="64706B"/>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6B8250B4-88A7-4155-B594-9276E88594F1}"/>
              </a:ext>
            </a:extLst>
          </p:cNvPr>
          <p:cNvSpPr>
            <a:spLocks xmlns:a="http://schemas.openxmlformats.org/drawingml/2006/main" noGrp="1"/>
          </p:cNvSpPr>
          <p:nvPr/>
        </p:nvSpPr>
        <p:spPr>
          <a:xfrm xmlns:a="http://schemas.openxmlformats.org/drawingml/2006/main">
            <a:off x="7696200" y="3552825"/>
            <a:ext cx="3314700" cy="428625"/>
          </a:xfrm>
          <a:prstGeom xmlns:a="http://schemas.openxmlformats.org/drawingml/2006/main" prst="roundRect">
            <a:avLst>
              <a:gd name="adj" fmla="val 17778"/>
            </a:avLst>
          </a:prstGeom>
          <a:solidFill xmlns:a="http://schemas.openxmlformats.org/drawingml/2006/main">
            <a:srgbClr val="6A57C8"/>
          </a:solidFill>
          <a:ln xmlns:a="http://schemas.openxmlformats.org/drawingml/2006/main" w="0">
            <a:noFill/>
            <a:prstDash val="solid"/>
          </a:ln>
        </p:spPr>
        <p:txBody>
          <a:bodyPr xmlns:a="http://schemas.openxmlformats.org/drawingml/2006/main" lIns="76200" tIns="47625" rIns="76200" bIns="47625" anchor="ctr">
            <a:normAutofit fontScale="100000"/>
          </a:bodyPr>
          <a:lstStyle xmlns:a="http://schemas.openxmlformats.org/drawingml/2006/main"/>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NEXT ACTION</a:t>
            </a:r>
          </a:p>
        </p:txBody>
      </p:sp>
      <p:sp>
        <p:nvSpPr>
          <p:cNvPr id="20" name="">
            <a:extLst xmlns:a="http://schemas.openxmlformats.org/drawingml/2006/main">
              <a:ext uri="{FF2B5EF4-FFF2-40B4-BE49-F238E27FC236}">
                <a16:creationId xmlns:a16="http://schemas.microsoft.com/office/drawing/2014/main" id="{D0824F0C-CD57-45D4-A4F9-3E59BA7F1B5E}"/>
              </a:ext>
            </a:extLst>
          </p:cNvPr>
          <p:cNvSpPr>
            <a:spLocks xmlns:a="http://schemas.openxmlformats.org/drawingml/2006/main" noGrp="1"/>
          </p:cNvSpPr>
          <p:nvPr/>
        </p:nvSpPr>
        <p:spPr>
          <a:xfrm xmlns:a="http://schemas.openxmlformats.org/drawingml/2006/main">
            <a:off x="7429500" y="4343400"/>
            <a:ext cx="3848100" cy="361950"/>
          </a:xfrm>
          <a:prstGeom xmlns:a="http://schemas.openxmlformats.org/drawingml/2006/main" prst="roundRect">
            <a:avLst>
              <a:gd name="adj" fmla="val 2105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95250" tIns="47625" rIns="95250" bIns="47625" anchor="ctr">
            <a:normAutofit fontScale="69003"/>
          </a:bodyPr>
          <a:lstStyle xmlns:a="http://schemas.openxmlformats.org/drawingml/2006/main"/>
          <a:p xmlns:a="http://schemas.openxmlformats.org/drawingml/2006/main">
            <a:pPr algn="ctr">
              <a:defRPr sz="1200" b="1">
                <a:solidFill>
                  <a:srgbClr val="17342C"/>
                </a:solidFill>
                <a:latin typeface="Arial"/>
                <a:ea typeface="Arial"/>
                <a:cs typeface="Arial"/>
              </a:defRPr>
            </a:pPr>
            <a:r>
              <a:rPr sz="1200" b="1">
                <a:solidFill>
                  <a:srgbClr val="17342C"/>
                </a:solidFill>
                <a:latin typeface="Arial"/>
                <a:ea typeface="Arial"/>
                <a:cs typeface="Arial"/>
              </a:rPr>
              <a:t>Judge the result, explain why, then name the next specific improvement.</a:t>
            </a:r>
          </a:p>
        </p:txBody>
      </p:sp>
      <p:sp>
        <p:nvSpPr>
          <p:cNvPr id="21" name="">
            <a:extLst xmlns:a="http://schemas.openxmlformats.org/drawingml/2006/main">
              <a:ext uri="{FF2B5EF4-FFF2-40B4-BE49-F238E27FC236}">
                <a16:creationId xmlns:a16="http://schemas.microsoft.com/office/drawing/2014/main" id="{C4F8EEB8-BFE6-4417-977D-A8275B0ADB40}"/>
              </a:ext>
            </a:extLst>
          </p:cNvPr>
          <p:cNvSpPr>
            <a:spLocks xmlns:a="http://schemas.openxmlformats.org/drawingml/2006/main" noGrp="1"/>
          </p:cNvSpPr>
          <p:nvPr/>
        </p:nvSpPr>
        <p:spPr>
          <a:xfrm xmlns:a="http://schemas.openxmlformats.org/drawingml/2006/main">
            <a:off x="7200900" y="504825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C5554"/>
                </a:solidFill>
                <a:latin typeface="Arial"/>
                <a:ea typeface="Arial"/>
                <a:cs typeface="Arial"/>
              </a:defRPr>
            </a:pPr>
            <a:r>
              <a:rPr sz="975" b="1">
                <a:solidFill>
                  <a:srgbClr val="0C5554"/>
                </a:solidFill>
                <a:latin typeface="Arial"/>
                <a:ea typeface="Arial"/>
                <a:cs typeface="Arial"/>
              </a:rPr>
              <a:t>ASK THE ROOM</a:t>
            </a:r>
          </a:p>
        </p:txBody>
      </p:sp>
      <p:sp>
        <p:nvSpPr>
          <p:cNvPr id="22" name="">
            <a:extLst xmlns:a="http://schemas.openxmlformats.org/drawingml/2006/main">
              <a:ext uri="{FF2B5EF4-FFF2-40B4-BE49-F238E27FC236}">
                <a16:creationId xmlns:a16="http://schemas.microsoft.com/office/drawing/2014/main" id="{20749548-6361-4492-BD9D-9C3BDCFEAE89}"/>
              </a:ext>
            </a:extLst>
          </p:cNvPr>
          <p:cNvSpPr>
            <a:spLocks xmlns:a="http://schemas.openxmlformats.org/drawingml/2006/main" noGrp="1"/>
          </p:cNvSpPr>
          <p:nvPr/>
        </p:nvSpPr>
        <p:spPr>
          <a:xfrm xmlns:a="http://schemas.openxmlformats.org/drawingml/2006/main">
            <a:off x="7200900" y="5257800"/>
            <a:ext cx="4305300" cy="914400"/>
          </a:xfrm>
          <a:prstGeom xmlns:a="http://schemas.openxmlformats.org/drawingml/2006/main" prst="roundRect">
            <a:avLst>
              <a:gd name="adj" fmla="val 8333"/>
            </a:avLst>
          </a:prstGeom>
          <a:solidFill xmlns:a="http://schemas.openxmlformats.org/drawingml/2006/main">
            <a:srgbClr val="E7F0EC"/>
          </a:solidFill>
          <a:ln xmlns:a="http://schemas.openxmlformats.org/drawingml/2006/main" w="0">
            <a:noFill/>
            <a:prstDash val="solid"/>
          </a:ln>
        </p:spPr>
        <p:txBody>
          <a:bodyPr xmlns:a="http://schemas.openxmlformats.org/drawingml/2006/main" lIns="133350" tIns="76200" rIns="133350" bIns="76200" anchor="ctr">
            <a:normAutofit fontScale="100000"/>
          </a:bodyPr>
          <a:lstStyle xmlns:a="http://schemas.openxmlformats.org/drawingml/2006/main"/>
          <a:p xmlns:a="http://schemas.openxmlformats.org/drawingml/2006/main">
            <a:pPr algn="l">
              <a:defRPr sz="1275" b="1">
                <a:solidFill>
                  <a:srgbClr val="17342C"/>
                </a:solidFill>
                <a:latin typeface="Arial"/>
                <a:ea typeface="Arial"/>
                <a:cs typeface="Arial"/>
              </a:defRPr>
            </a:pPr>
            <a:r>
              <a:rPr sz="1275" b="1">
                <a:solidFill>
                  <a:srgbClr val="17342C"/>
                </a:solidFill>
                <a:latin typeface="Arial"/>
                <a:ea typeface="Arial"/>
                <a:cs typeface="Arial"/>
              </a:rPr>
              <a:t>What makes evaluation different from description?</a:t>
            </a:r>
          </a:p>
        </p:txBody>
      </p:sp>
      <p:sp>
        <p:nvSpPr>
          <p:cNvPr id="23" name="">
            <a:extLst xmlns:a="http://schemas.openxmlformats.org/drawingml/2006/main">
              <a:ext uri="{FF2B5EF4-FFF2-40B4-BE49-F238E27FC236}">
                <a16:creationId xmlns:a16="http://schemas.microsoft.com/office/drawing/2014/main" id="{3CA2C7F3-AE32-488F-930A-A86B50ED5756}"/>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10  •  PRESENT, EVALUATE, IMPROVE</a:t>
            </a:r>
          </a:p>
        </p:txBody>
      </p:sp>
      <p:sp>
        <p:nvSpPr>
          <p:cNvPr id="24" name="">
            <a:extLst xmlns:a="http://schemas.openxmlformats.org/drawingml/2006/main">
              <a:ext uri="{FF2B5EF4-FFF2-40B4-BE49-F238E27FC236}">
                <a16:creationId xmlns:a16="http://schemas.microsoft.com/office/drawing/2014/main" id="{79F1A641-FC22-483E-A734-F85BBA3A4E37}"/>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05</a:t>
            </a:r>
          </a:p>
        </p:txBody>
      </p:sp>
    </p:spTree>
    <p:extLst>
      <p:ext uri="{BB962C8B-B14F-4D97-AF65-F5344CB8AC3E}">
        <p14:creationId xmlns:p14="http://schemas.microsoft.com/office/powerpoint/2010/main" val="1087534066"/>
      </p:ext>
    </p:extLst>
  </p:cSld>
</p:sld>
</file>

<file path=ppt/slides/slide6.xml><?xml version="1.0" encoding="utf-8"?>
<p:sld xmlns:p="http://schemas.openxmlformats.org/presentationml/2006/main">
  <p:cSld>
    <p:bg>
      <p:bgPr>
        <a:solidFill xmlns:a="http://schemas.openxmlformats.org/drawingml/2006/main">
          <a:srgbClr val="17342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40324AA-2CBC-4D92-A157-280CCB0304A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D0ADBD-79E9-4470-993C-7E001AC9378E}"/>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F2BD3C"/>
                </a:solidFill>
                <a:latin typeface="Arial"/>
                <a:ea typeface="Arial"/>
                <a:cs typeface="Arial"/>
              </a:defRPr>
            </a:pPr>
            <a:r>
              <a:rPr sz="975" b="1">
                <a:solidFill>
                  <a:srgbClr val="F2BD3C"/>
                </a:solidFill>
                <a:latin typeface="Arial"/>
                <a:ea typeface="Arial"/>
                <a:cs typeface="Arial"/>
              </a:rPr>
              <a:t>CHECK FOR UNDERSTANDING</a:t>
            </a:r>
          </a:p>
        </p:txBody>
      </p:sp>
      <p:sp>
        <p:nvSpPr>
          <p:cNvPr id="3" name="">
            <a:extLst xmlns:a="http://schemas.openxmlformats.org/drawingml/2006/main">
              <a:ext uri="{FF2B5EF4-FFF2-40B4-BE49-F238E27FC236}">
                <a16:creationId xmlns:a16="http://schemas.microsoft.com/office/drawing/2014/main" id="{3F2B9B66-15B6-4AA2-9552-AD00D18D0727}"/>
              </a:ext>
            </a:extLst>
          </p:cNvPr>
          <p:cNvSpPr>
            <a:spLocks xmlns:a="http://schemas.openxmlformats.org/drawingml/2006/main" noGrp="1"/>
          </p:cNvSpPr>
          <p:nvPr/>
        </p:nvSpPr>
        <p:spPr>
          <a:xfrm xmlns:a="http://schemas.openxmlformats.org/drawingml/2006/main">
            <a:off x="685800" y="91440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075" b="1">
                <a:solidFill>
                  <a:srgbClr val="FFFFFF"/>
                </a:solidFill>
                <a:latin typeface="Arial"/>
                <a:ea typeface="Arial"/>
                <a:cs typeface="Arial"/>
              </a:defRPr>
            </a:pPr>
            <a:r>
              <a:rPr sz="3075" b="1">
                <a:solidFill>
                  <a:srgbClr val="FFFFFF"/>
                </a:solidFill>
                <a:latin typeface="Arial"/>
                <a:ea typeface="Arial"/>
                <a:cs typeface="Arial"/>
              </a:rPr>
              <a:t>Stop. Think. Explain.</a:t>
            </a:r>
          </a:p>
        </p:txBody>
      </p:sp>
      <p:sp>
        <p:nvSpPr>
          <p:cNvPr id="4" name="">
            <a:extLst xmlns:a="http://schemas.openxmlformats.org/drawingml/2006/main">
              <a:ext uri="{FF2B5EF4-FFF2-40B4-BE49-F238E27FC236}">
                <a16:creationId xmlns:a16="http://schemas.microsoft.com/office/drawing/2014/main" id="{1FAFDB6F-638D-4117-B742-A6EEA1B6AAB6}"/>
              </a:ext>
            </a:extLst>
          </p:cNvPr>
          <p:cNvSpPr>
            <a:spLocks xmlns:a="http://schemas.openxmlformats.org/drawingml/2006/main" noGrp="1"/>
          </p:cNvSpPr>
          <p:nvPr/>
        </p:nvSpPr>
        <p:spPr>
          <a:xfrm xmlns:a="http://schemas.openxmlformats.org/drawingml/2006/main">
            <a:off x="685800" y="16573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DCE8E2"/>
                </a:solidFill>
                <a:latin typeface="Arial"/>
                <a:ea typeface="Arial"/>
                <a:cs typeface="Arial"/>
              </a:defRPr>
            </a:pPr>
            <a:r>
              <a:rPr sz="1425" b="0">
                <a:solidFill>
                  <a:srgbClr val="DCE8E2"/>
                </a:solidFill>
                <a:latin typeface="Arial"/>
                <a:ea typeface="Arial"/>
                <a:cs typeface="Arial"/>
              </a:rPr>
              <a:t>Answer silently first, then justify with a partner.</a:t>
            </a:r>
          </a:p>
        </p:txBody>
      </p:sp>
      <p:sp>
        <p:nvSpPr>
          <p:cNvPr id="5" name="">
            <a:extLst xmlns:a="http://schemas.openxmlformats.org/drawingml/2006/main">
              <a:ext uri="{FF2B5EF4-FFF2-40B4-BE49-F238E27FC236}">
                <a16:creationId xmlns:a16="http://schemas.microsoft.com/office/drawing/2014/main" id="{A790B430-ADB2-4AC5-A593-435775643B39}"/>
              </a:ext>
            </a:extLst>
          </p:cNvPr>
          <p:cNvSpPr>
            <a:spLocks xmlns:a="http://schemas.openxmlformats.org/drawingml/2006/main" noGrp="1"/>
          </p:cNvSpPr>
          <p:nvPr/>
        </p:nvSpPr>
        <p:spPr>
          <a:xfrm xmlns:a="http://schemas.openxmlformats.org/drawingml/2006/main">
            <a:off x="685800" y="23241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6" name="">
            <a:extLst xmlns:a="http://schemas.openxmlformats.org/drawingml/2006/main">
              <a:ext uri="{FF2B5EF4-FFF2-40B4-BE49-F238E27FC236}">
                <a16:creationId xmlns:a16="http://schemas.microsoft.com/office/drawing/2014/main" id="{4763CAF8-6C7F-4471-89F7-1DEE27D5D75D}"/>
              </a:ext>
            </a:extLst>
          </p:cNvPr>
          <p:cNvSpPr>
            <a:spLocks xmlns:a="http://schemas.openxmlformats.org/drawingml/2006/main" noGrp="1"/>
          </p:cNvSpPr>
          <p:nvPr/>
        </p:nvSpPr>
        <p:spPr>
          <a:xfrm xmlns:a="http://schemas.openxmlformats.org/drawingml/2006/main">
            <a:off x="1028700" y="25527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23320FE9-E786-4C70-A13C-9612E5F7D8C9}"/>
              </a:ext>
            </a:extLst>
          </p:cNvPr>
          <p:cNvSpPr>
            <a:spLocks xmlns:a="http://schemas.openxmlformats.org/drawingml/2006/main" noGrp="1"/>
          </p:cNvSpPr>
          <p:nvPr/>
        </p:nvSpPr>
        <p:spPr>
          <a:xfrm xmlns:a="http://schemas.openxmlformats.org/drawingml/2006/main">
            <a:off x="1676400" y="24574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makes a success criterion useful?</a:t>
            </a:r>
          </a:p>
        </p:txBody>
      </p:sp>
      <p:sp>
        <p:nvSpPr>
          <p:cNvPr id="8" name="">
            <a:extLst xmlns:a="http://schemas.openxmlformats.org/drawingml/2006/main">
              <a:ext uri="{FF2B5EF4-FFF2-40B4-BE49-F238E27FC236}">
                <a16:creationId xmlns:a16="http://schemas.microsoft.com/office/drawing/2014/main" id="{2EC02199-703E-467F-AC1E-BEE5D243C7EF}"/>
              </a:ext>
            </a:extLst>
          </p:cNvPr>
          <p:cNvSpPr>
            <a:spLocks xmlns:a="http://schemas.openxmlformats.org/drawingml/2006/main" noGrp="1"/>
          </p:cNvSpPr>
          <p:nvPr/>
        </p:nvSpPr>
        <p:spPr>
          <a:xfrm xmlns:a="http://schemas.openxmlformats.org/drawingml/2006/main">
            <a:off x="685800" y="352425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9" name="">
            <a:extLst xmlns:a="http://schemas.openxmlformats.org/drawingml/2006/main">
              <a:ext uri="{FF2B5EF4-FFF2-40B4-BE49-F238E27FC236}">
                <a16:creationId xmlns:a16="http://schemas.microsoft.com/office/drawing/2014/main" id="{3A3E0ACD-9824-44F5-8EF7-C9565B7D69E0}"/>
              </a:ext>
            </a:extLst>
          </p:cNvPr>
          <p:cNvSpPr>
            <a:spLocks xmlns:a="http://schemas.openxmlformats.org/drawingml/2006/main" noGrp="1"/>
          </p:cNvSpPr>
          <p:nvPr/>
        </p:nvSpPr>
        <p:spPr>
          <a:xfrm xmlns:a="http://schemas.openxmlformats.org/drawingml/2006/main">
            <a:off x="1028700" y="37528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2</a:t>
            </a:r>
          </a:p>
        </p:txBody>
      </p:sp>
      <p:sp>
        <p:nvSpPr>
          <p:cNvPr id="10" name="">
            <a:extLst xmlns:a="http://schemas.openxmlformats.org/drawingml/2006/main">
              <a:ext uri="{FF2B5EF4-FFF2-40B4-BE49-F238E27FC236}">
                <a16:creationId xmlns:a16="http://schemas.microsoft.com/office/drawing/2014/main" id="{FABB24C4-7BC9-49FB-A4B5-92AD40FD9A3F}"/>
              </a:ext>
            </a:extLst>
          </p:cNvPr>
          <p:cNvSpPr>
            <a:spLocks xmlns:a="http://schemas.openxmlformats.org/drawingml/2006/main" noGrp="1"/>
          </p:cNvSpPr>
          <p:nvPr/>
        </p:nvSpPr>
        <p:spPr>
          <a:xfrm xmlns:a="http://schemas.openxmlformats.org/drawingml/2006/main">
            <a:off x="1676400" y="365760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does a design rationale mainly explain?</a:t>
            </a:r>
          </a:p>
        </p:txBody>
      </p:sp>
      <p:sp>
        <p:nvSpPr>
          <p:cNvPr id="11" name="">
            <a:extLst xmlns:a="http://schemas.openxmlformats.org/drawingml/2006/main">
              <a:ext uri="{FF2B5EF4-FFF2-40B4-BE49-F238E27FC236}">
                <a16:creationId xmlns:a16="http://schemas.microsoft.com/office/drawing/2014/main" id="{11F8A802-D0D8-40B0-B3AA-E744406894C3}"/>
              </a:ext>
            </a:extLst>
          </p:cNvPr>
          <p:cNvSpPr>
            <a:spLocks xmlns:a="http://schemas.openxmlformats.org/drawingml/2006/main" noGrp="1"/>
          </p:cNvSpPr>
          <p:nvPr/>
        </p:nvSpPr>
        <p:spPr>
          <a:xfrm xmlns:a="http://schemas.openxmlformats.org/drawingml/2006/main">
            <a:off x="685800" y="4724400"/>
            <a:ext cx="10820400" cy="895350"/>
          </a:xfrm>
          <a:prstGeom xmlns:a="http://schemas.openxmlformats.org/drawingml/2006/main" prst="roundRect">
            <a:avLst>
              <a:gd name="adj" fmla="val 12766"/>
            </a:avLst>
          </a:prstGeom>
          <a:solidFill xmlns:a="http://schemas.openxmlformats.org/drawingml/2006/main">
            <a:srgbClr val="21483A"/>
          </a:solidFill>
          <a:ln xmlns:a="http://schemas.openxmlformats.org/drawingml/2006/main" w="9525">
            <a:solidFill>
              <a:srgbClr val="4F7668"/>
            </a:solidFill>
            <a:prstDash val="solid"/>
          </a:ln>
        </p:spPr>
      </p:sp>
      <p:sp>
        <p:nvSpPr>
          <p:cNvPr id="12" name="">
            <a:extLst xmlns:a="http://schemas.openxmlformats.org/drawingml/2006/main">
              <a:ext uri="{FF2B5EF4-FFF2-40B4-BE49-F238E27FC236}">
                <a16:creationId xmlns:a16="http://schemas.microsoft.com/office/drawing/2014/main" id="{E23C2A40-8B54-4F16-9F1A-6918EC988E56}"/>
              </a:ext>
            </a:extLst>
          </p:cNvPr>
          <p:cNvSpPr>
            <a:spLocks xmlns:a="http://schemas.openxmlformats.org/drawingml/2006/main" noGrp="1"/>
          </p:cNvSpPr>
          <p:nvPr/>
        </p:nvSpPr>
        <p:spPr>
          <a:xfrm xmlns:a="http://schemas.openxmlformats.org/drawingml/2006/main">
            <a:off x="1028700" y="4953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F2BD3C"/>
                </a:solidFill>
                <a:latin typeface="Arial"/>
                <a:ea typeface="Arial"/>
                <a:cs typeface="Arial"/>
              </a:defRPr>
            </a:pPr>
            <a:r>
              <a:rPr sz="1575" b="1">
                <a:solidFill>
                  <a:srgbClr val="F2BD3C"/>
                </a:solidFill>
                <a:latin typeface="Arial"/>
                <a:ea typeface="Arial"/>
                <a:cs typeface="Arial"/>
              </a:rPr>
              <a:t>3</a:t>
            </a:r>
          </a:p>
        </p:txBody>
      </p:sp>
      <p:sp>
        <p:nvSpPr>
          <p:cNvPr id="13" name="">
            <a:extLst xmlns:a="http://schemas.openxmlformats.org/drawingml/2006/main">
              <a:ext uri="{FF2B5EF4-FFF2-40B4-BE49-F238E27FC236}">
                <a16:creationId xmlns:a16="http://schemas.microsoft.com/office/drawing/2014/main" id="{AB5CE257-BA4E-4A1B-BD9E-CA4A10E605ED}"/>
              </a:ext>
            </a:extLst>
          </p:cNvPr>
          <p:cNvSpPr>
            <a:spLocks xmlns:a="http://schemas.openxmlformats.org/drawingml/2006/main" noGrp="1"/>
          </p:cNvSpPr>
          <p:nvPr/>
        </p:nvSpPr>
        <p:spPr>
          <a:xfrm xmlns:a="http://schemas.openxmlformats.org/drawingml/2006/main">
            <a:off x="1676400" y="4857750"/>
            <a:ext cx="933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What makes evaluation different from description?</a:t>
            </a:r>
          </a:p>
        </p:txBody>
      </p:sp>
      <p:sp>
        <p:nvSpPr>
          <p:cNvPr id="14" name="">
            <a:extLst xmlns:a="http://schemas.openxmlformats.org/drawingml/2006/main">
              <a:ext uri="{FF2B5EF4-FFF2-40B4-BE49-F238E27FC236}">
                <a16:creationId xmlns:a16="http://schemas.microsoft.com/office/drawing/2014/main" id="{3D98C193-07CB-4BB1-AAFF-62A6BE584DDE}"/>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10  •  PRESENT, EVALUATE, IMPROVE</a:t>
            </a:r>
          </a:p>
        </p:txBody>
      </p:sp>
      <p:sp>
        <p:nvSpPr>
          <p:cNvPr id="15" name="">
            <a:extLst xmlns:a="http://schemas.openxmlformats.org/drawingml/2006/main">
              <a:ext uri="{FF2B5EF4-FFF2-40B4-BE49-F238E27FC236}">
                <a16:creationId xmlns:a16="http://schemas.microsoft.com/office/drawing/2014/main" id="{CE119B60-D621-4F8C-BF3B-CB65FC3D43A2}"/>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06</a:t>
            </a:r>
          </a:p>
        </p:txBody>
      </p:sp>
    </p:spTree>
    <p:extLst>
      <p:ext uri="{BB962C8B-B14F-4D97-AF65-F5344CB8AC3E}">
        <p14:creationId xmlns:p14="http://schemas.microsoft.com/office/powerpoint/2010/main" val="2017053771"/>
      </p:ext>
    </p:extLst>
  </p:cSld>
</p:sld>
</file>

<file path=ppt/slides/slide7.xml><?xml version="1.0" encoding="utf-8"?>
<p:sld xmlns:p="http://schemas.openxmlformats.org/presentationml/2006/main">
  <p:cSld>
    <p:bg>
      <p:bgPr>
        <a:solidFill xmlns:a="http://schemas.openxmlformats.org/drawingml/2006/main">
          <a:srgbClr val="F7F3E8"/>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E16676D-CB16-4A7F-A758-4204BA5EA958}"/>
              </a:ext>
            </a:extLst>
          </p:cNvPr>
          <p:cNvSpPr>
            <a:spLocks xmlns:a="http://schemas.openxmlformats.org/drawingml/2006/main" noGrp="1"/>
          </p:cNvSpPr>
          <p:nvPr/>
        </p:nvSpPr>
        <p:spPr>
          <a:xfrm xmlns:a="http://schemas.openxmlformats.org/drawingml/2006/main">
            <a:off x="685800" y="4000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FORMATIVE LEARNING EVIDENCE</a:t>
            </a:r>
          </a:p>
        </p:txBody>
      </p:sp>
      <p:sp>
        <p:nvSpPr>
          <p:cNvPr id="2" name="">
            <a:extLst xmlns:a="http://schemas.openxmlformats.org/drawingml/2006/main">
              <a:ext uri="{FF2B5EF4-FFF2-40B4-BE49-F238E27FC236}">
                <a16:creationId xmlns:a16="http://schemas.microsoft.com/office/drawing/2014/main" id="{98BCD81C-C7A0-4269-ACB1-631D7B0B4AA2}"/>
              </a:ext>
            </a:extLst>
          </p:cNvPr>
          <p:cNvSpPr>
            <a:spLocks xmlns:a="http://schemas.openxmlformats.org/drawingml/2006/main" noGrp="1"/>
          </p:cNvSpPr>
          <p:nvPr/>
        </p:nvSpPr>
        <p:spPr>
          <a:xfrm xmlns:a="http://schemas.openxmlformats.org/drawingml/2006/main">
            <a:off x="685800" y="895350"/>
            <a:ext cx="9906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925" b="1">
                <a:solidFill>
                  <a:srgbClr val="17342C"/>
                </a:solidFill>
                <a:latin typeface="Arial"/>
                <a:ea typeface="Arial"/>
                <a:cs typeface="Arial"/>
              </a:defRPr>
            </a:pPr>
            <a:r>
              <a:rPr sz="2925" b="1">
                <a:solidFill>
                  <a:srgbClr val="17342C"/>
                </a:solidFill>
                <a:latin typeface="Arial"/>
                <a:ea typeface="Arial"/>
                <a:cs typeface="Arial"/>
              </a:rPr>
              <a:t>Read → Select → Explain → Check</a:t>
            </a:r>
          </a:p>
        </p:txBody>
      </p:sp>
      <p:sp>
        <p:nvSpPr>
          <p:cNvPr id="3" name="">
            <a:extLst xmlns:a="http://schemas.openxmlformats.org/drawingml/2006/main">
              <a:ext uri="{FF2B5EF4-FFF2-40B4-BE49-F238E27FC236}">
                <a16:creationId xmlns:a16="http://schemas.microsoft.com/office/drawing/2014/main" id="{01AF2049-6CF5-40DC-96DA-8784E3EEA176}"/>
              </a:ext>
            </a:extLst>
          </p:cNvPr>
          <p:cNvSpPr>
            <a:spLocks xmlns:a="http://schemas.openxmlformats.org/drawingml/2006/main" noGrp="1"/>
          </p:cNvSpPr>
          <p:nvPr/>
        </p:nvSpPr>
        <p:spPr>
          <a:xfrm xmlns:a="http://schemas.openxmlformats.org/drawingml/2006/main">
            <a:off x="685800" y="1752600"/>
            <a:ext cx="59055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CFD8D2"/>
            </a:solidFill>
            <a:prstDash val="solid"/>
          </a:ln>
        </p:spPr>
      </p:sp>
      <p:sp>
        <p:nvSpPr>
          <p:cNvPr id="4" name="">
            <a:extLst xmlns:a="http://schemas.openxmlformats.org/drawingml/2006/main">
              <a:ext uri="{FF2B5EF4-FFF2-40B4-BE49-F238E27FC236}">
                <a16:creationId xmlns:a16="http://schemas.microsoft.com/office/drawing/2014/main" id="{2DAA9318-1A61-4283-ACA6-A6A1E9A75F5B}"/>
              </a:ext>
            </a:extLst>
          </p:cNvPr>
          <p:cNvSpPr>
            <a:spLocks xmlns:a="http://schemas.openxmlformats.org/drawingml/2006/main" noGrp="1"/>
          </p:cNvSpPr>
          <p:nvPr/>
        </p:nvSpPr>
        <p:spPr>
          <a:xfrm xmlns:a="http://schemas.openxmlformats.org/drawingml/2006/main">
            <a:off x="6896100" y="1752600"/>
            <a:ext cx="4610100" cy="2019300"/>
          </a:xfrm>
          <a:prstGeom xmlns:a="http://schemas.openxmlformats.org/drawingml/2006/main" prst="roundRect">
            <a:avLst>
              <a:gd name="adj" fmla="val 5660"/>
            </a:avLst>
          </a:prstGeom>
          <a:solidFill xmlns:a="http://schemas.openxmlformats.org/drawingml/2006/main">
            <a:srgbClr val="E7F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5A86DD3-8469-481F-8507-981393890327}"/>
              </a:ext>
            </a:extLst>
          </p:cNvPr>
          <p:cNvSpPr>
            <a:spLocks xmlns:a="http://schemas.openxmlformats.org/drawingml/2006/main" noGrp="1"/>
          </p:cNvSpPr>
          <p:nvPr/>
        </p:nvSpPr>
        <p:spPr>
          <a:xfrm xmlns:a="http://schemas.openxmlformats.org/drawingml/2006/main">
            <a:off x="9525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THE QUESTION</a:t>
            </a:r>
          </a:p>
        </p:txBody>
      </p:sp>
      <p:sp>
        <p:nvSpPr>
          <p:cNvPr id="6" name="">
            <a:extLst xmlns:a="http://schemas.openxmlformats.org/drawingml/2006/main">
              <a:ext uri="{FF2B5EF4-FFF2-40B4-BE49-F238E27FC236}">
                <a16:creationId xmlns:a16="http://schemas.microsoft.com/office/drawing/2014/main" id="{A78D1C0C-ADCC-42D8-8871-933048C11E8B}"/>
              </a:ext>
            </a:extLst>
          </p:cNvPr>
          <p:cNvSpPr>
            <a:spLocks xmlns:a="http://schemas.openxmlformats.org/drawingml/2006/main" noGrp="1"/>
          </p:cNvSpPr>
          <p:nvPr/>
        </p:nvSpPr>
        <p:spPr>
          <a:xfrm xmlns:a="http://schemas.openxmlformats.org/drawingml/2006/main">
            <a:off x="952500" y="2266950"/>
            <a:ext cx="52387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7342C"/>
                </a:solidFill>
                <a:latin typeface="Arial"/>
                <a:ea typeface="Arial"/>
                <a:cs typeface="Arial"/>
              </a:defRPr>
            </a:pPr>
            <a:r>
              <a:rPr sz="1575" b="1">
                <a:solidFill>
                  <a:srgbClr val="17342C"/>
                </a:solidFill>
                <a:latin typeface="Arial"/>
                <a:ea typeface="Arial"/>
                <a:cs typeface="Arial"/>
              </a:rPr>
              <a:t>Evaluate the connected brand with evidence, explain two key decisions and prioritise three specific improvements for the next iteration.</a:t>
            </a:r>
          </a:p>
        </p:txBody>
      </p:sp>
      <p:sp>
        <p:nvSpPr>
          <p:cNvPr id="7" name="">
            <a:extLst xmlns:a="http://schemas.openxmlformats.org/drawingml/2006/main">
              <a:ext uri="{FF2B5EF4-FFF2-40B4-BE49-F238E27FC236}">
                <a16:creationId xmlns:a16="http://schemas.microsoft.com/office/drawing/2014/main" id="{4C421D94-0838-4254-B467-D2E42B773105}"/>
              </a:ext>
            </a:extLst>
          </p:cNvPr>
          <p:cNvSpPr>
            <a:spLocks xmlns:a="http://schemas.openxmlformats.org/drawingml/2006/main" noGrp="1"/>
          </p:cNvSpPr>
          <p:nvPr/>
        </p:nvSpPr>
        <p:spPr>
          <a:xfrm xmlns:a="http://schemas.openxmlformats.org/drawingml/2006/main">
            <a:off x="7181850" y="18859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E8674B"/>
                </a:solidFill>
                <a:latin typeface="Arial"/>
                <a:ea typeface="Arial"/>
                <a:cs typeface="Arial"/>
              </a:defRPr>
            </a:pPr>
            <a:r>
              <a:rPr sz="975" b="1">
                <a:solidFill>
                  <a:srgbClr val="E8674B"/>
                </a:solidFill>
                <a:latin typeface="Arial"/>
                <a:ea typeface="Arial"/>
                <a:cs typeface="Arial"/>
              </a:rPr>
              <a:t>WHAT THIS IS ASKING</a:t>
            </a:r>
          </a:p>
        </p:txBody>
      </p:sp>
      <p:sp>
        <p:nvSpPr>
          <p:cNvPr id="8" name="">
            <a:extLst xmlns:a="http://schemas.openxmlformats.org/drawingml/2006/main">
              <a:ext uri="{FF2B5EF4-FFF2-40B4-BE49-F238E27FC236}">
                <a16:creationId xmlns:a16="http://schemas.microsoft.com/office/drawing/2014/main" id="{1C4E27E5-975F-4C15-933D-2A85F0EE5FFF}"/>
              </a:ext>
            </a:extLst>
          </p:cNvPr>
          <p:cNvSpPr>
            <a:spLocks xmlns:a="http://schemas.openxmlformats.org/drawingml/2006/main" noGrp="1"/>
          </p:cNvSpPr>
          <p:nvPr/>
        </p:nvSpPr>
        <p:spPr>
          <a:xfrm xmlns:a="http://schemas.openxmlformats.org/drawingml/2006/main">
            <a:off x="7219950" y="2324100"/>
            <a:ext cx="114300" cy="114300"/>
          </a:xfrm>
          <a:prstGeom xmlns:a="http://schemas.openxmlformats.org/drawingml/2006/main" prst="ellipse">
            <a:avLst/>
          </a:prstGeom>
          <a:solidFill xmlns:a="http://schemas.openxmlformats.org/drawingml/2006/main">
            <a:srgbClr val="0C555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1BDF844-15C1-416D-AE48-ED849AB1A017}"/>
              </a:ext>
            </a:extLst>
          </p:cNvPr>
          <p:cNvSpPr>
            <a:spLocks xmlns:a="http://schemas.openxmlformats.org/drawingml/2006/main" noGrp="1"/>
          </p:cNvSpPr>
          <p:nvPr/>
        </p:nvSpPr>
        <p:spPr>
          <a:xfrm xmlns:a="http://schemas.openxmlformats.org/drawingml/2006/main">
            <a:off x="7524750" y="2228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Judge against criteria</a:t>
            </a:r>
          </a:p>
        </p:txBody>
      </p:sp>
      <p:sp>
        <p:nvSpPr>
          <p:cNvPr id="10" name="">
            <a:extLst xmlns:a="http://schemas.openxmlformats.org/drawingml/2006/main">
              <a:ext uri="{FF2B5EF4-FFF2-40B4-BE49-F238E27FC236}">
                <a16:creationId xmlns:a16="http://schemas.microsoft.com/office/drawing/2014/main" id="{1F0E6EDA-0E07-45B9-AF36-1D23237C52AD}"/>
              </a:ext>
            </a:extLst>
          </p:cNvPr>
          <p:cNvSpPr>
            <a:spLocks xmlns:a="http://schemas.openxmlformats.org/drawingml/2006/main" noGrp="1"/>
          </p:cNvSpPr>
          <p:nvPr/>
        </p:nvSpPr>
        <p:spPr>
          <a:xfrm xmlns:a="http://schemas.openxmlformats.org/drawingml/2006/main">
            <a:off x="7219950" y="2771775"/>
            <a:ext cx="114300" cy="114300"/>
          </a:xfrm>
          <a:prstGeom xmlns:a="http://schemas.openxmlformats.org/drawingml/2006/main" prst="ellipse">
            <a:avLst/>
          </a:prstGeom>
          <a:solidFill xmlns:a="http://schemas.openxmlformats.org/drawingml/2006/main">
            <a:srgbClr val="E8674B"/>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02422DF-66FA-4F68-8C06-BD3B0204160E}"/>
              </a:ext>
            </a:extLst>
          </p:cNvPr>
          <p:cNvSpPr>
            <a:spLocks xmlns:a="http://schemas.openxmlformats.org/drawingml/2006/main" noGrp="1"/>
          </p:cNvSpPr>
          <p:nvPr/>
        </p:nvSpPr>
        <p:spPr>
          <a:xfrm xmlns:a="http://schemas.openxmlformats.org/drawingml/2006/main">
            <a:off x="7524750" y="267652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Link claim, evidence and reasoning</a:t>
            </a:r>
          </a:p>
        </p:txBody>
      </p:sp>
      <p:sp>
        <p:nvSpPr>
          <p:cNvPr id="12" name="">
            <a:extLst xmlns:a="http://schemas.openxmlformats.org/drawingml/2006/main">
              <a:ext uri="{FF2B5EF4-FFF2-40B4-BE49-F238E27FC236}">
                <a16:creationId xmlns:a16="http://schemas.microsoft.com/office/drawing/2014/main" id="{EA1AF9BC-79B5-4D32-8835-8E82A1A3F48B}"/>
              </a:ext>
            </a:extLst>
          </p:cNvPr>
          <p:cNvSpPr>
            <a:spLocks xmlns:a="http://schemas.openxmlformats.org/drawingml/2006/main" noGrp="1"/>
          </p:cNvSpPr>
          <p:nvPr/>
        </p:nvSpPr>
        <p:spPr>
          <a:xfrm xmlns:a="http://schemas.openxmlformats.org/drawingml/2006/main">
            <a:off x="7219950" y="3219450"/>
            <a:ext cx="114300" cy="114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D0F9325-D143-49DE-A9FC-E74A0AC1B573}"/>
              </a:ext>
            </a:extLst>
          </p:cNvPr>
          <p:cNvSpPr>
            <a:spLocks xmlns:a="http://schemas.openxmlformats.org/drawingml/2006/main" noGrp="1"/>
          </p:cNvSpPr>
          <p:nvPr/>
        </p:nvSpPr>
        <p:spPr>
          <a:xfrm xmlns:a="http://schemas.openxmlformats.org/drawingml/2006/main">
            <a:off x="7524750" y="31242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1">
                <a:solidFill>
                  <a:srgbClr val="17342C"/>
                </a:solidFill>
                <a:latin typeface="Arial"/>
                <a:ea typeface="Arial"/>
                <a:cs typeface="Arial"/>
              </a:defRPr>
            </a:pPr>
            <a:r>
              <a:rPr sz="1350" b="1">
                <a:solidFill>
                  <a:srgbClr val="17342C"/>
                </a:solidFill>
                <a:latin typeface="Arial"/>
                <a:ea typeface="Arial"/>
                <a:cs typeface="Arial"/>
              </a:rPr>
              <a:t>Name change, method and retest</a:t>
            </a:r>
          </a:p>
        </p:txBody>
      </p:sp>
      <p:sp>
        <p:nvSpPr>
          <p:cNvPr id="14" name="">
            <a:extLst xmlns:a="http://schemas.openxmlformats.org/drawingml/2006/main">
              <a:ext uri="{FF2B5EF4-FFF2-40B4-BE49-F238E27FC236}">
                <a16:creationId xmlns:a16="http://schemas.microsoft.com/office/drawing/2014/main" id="{00037B59-829F-402A-B404-632A6935FBBF}"/>
              </a:ext>
            </a:extLst>
          </p:cNvPr>
          <p:cNvSpPr>
            <a:spLocks xmlns:a="http://schemas.openxmlformats.org/drawingml/2006/main" noGrp="1"/>
          </p:cNvSpPr>
          <p:nvPr/>
        </p:nvSpPr>
        <p:spPr>
          <a:xfrm xmlns:a="http://schemas.openxmlformats.org/drawingml/2006/main">
            <a:off x="685800" y="4095750"/>
            <a:ext cx="3333750" cy="1466850"/>
          </a:xfrm>
          <a:prstGeom xmlns:a="http://schemas.openxmlformats.org/drawingml/2006/main" prst="roundRect">
            <a:avLst>
              <a:gd name="adj" fmla="val 7792"/>
            </a:avLst>
          </a:prstGeom>
          <a:solidFill xmlns:a="http://schemas.openxmlformats.org/drawingml/2006/main">
            <a:srgbClr val="17342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1748423-2D0B-4CBC-A1AE-6AAB294A14BD}"/>
              </a:ext>
            </a:extLst>
          </p:cNvPr>
          <p:cNvSpPr>
            <a:spLocks xmlns:a="http://schemas.openxmlformats.org/drawingml/2006/main" noGrp="1"/>
          </p:cNvSpPr>
          <p:nvPr/>
        </p:nvSpPr>
        <p:spPr>
          <a:xfrm xmlns:a="http://schemas.openxmlformats.org/drawingml/2006/main">
            <a:off x="8953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1  SELECT</a:t>
            </a:r>
          </a:p>
        </p:txBody>
      </p:sp>
      <p:sp>
        <p:nvSpPr>
          <p:cNvPr id="16" name="">
            <a:extLst xmlns:a="http://schemas.openxmlformats.org/drawingml/2006/main">
              <a:ext uri="{FF2B5EF4-FFF2-40B4-BE49-F238E27FC236}">
                <a16:creationId xmlns:a16="http://schemas.microsoft.com/office/drawing/2014/main" id="{C2A69772-25F2-40F6-9C01-B079FD9A386F}"/>
              </a:ext>
            </a:extLst>
          </p:cNvPr>
          <p:cNvSpPr>
            <a:spLocks xmlns:a="http://schemas.openxmlformats.org/drawingml/2006/main" noGrp="1"/>
          </p:cNvSpPr>
          <p:nvPr/>
        </p:nvSpPr>
        <p:spPr>
          <a:xfrm xmlns:a="http://schemas.openxmlformats.org/drawingml/2006/main">
            <a:off x="8953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Choose precise theory and examples that answer the question.</a:t>
            </a:r>
          </a:p>
        </p:txBody>
      </p:sp>
      <p:sp>
        <p:nvSpPr>
          <p:cNvPr id="17" name="">
            <a:extLst xmlns:a="http://schemas.openxmlformats.org/drawingml/2006/main">
              <a:ext uri="{FF2B5EF4-FFF2-40B4-BE49-F238E27FC236}">
                <a16:creationId xmlns:a16="http://schemas.microsoft.com/office/drawing/2014/main" id="{BD54DC5C-1E90-4AD5-A801-B37D26A0623E}"/>
              </a:ext>
            </a:extLst>
          </p:cNvPr>
          <p:cNvSpPr>
            <a:spLocks xmlns:a="http://schemas.openxmlformats.org/drawingml/2006/main" noGrp="1"/>
          </p:cNvSpPr>
          <p:nvPr/>
        </p:nvSpPr>
        <p:spPr>
          <a:xfrm xmlns:a="http://schemas.openxmlformats.org/drawingml/2006/main">
            <a:off x="4362450" y="4095750"/>
            <a:ext cx="3333750" cy="1466850"/>
          </a:xfrm>
          <a:prstGeom xmlns:a="http://schemas.openxmlformats.org/drawingml/2006/main" prst="roundRect">
            <a:avLst>
              <a:gd name="adj" fmla="val 7792"/>
            </a:avLst>
          </a:prstGeom>
          <a:solidFill xmlns:a="http://schemas.openxmlformats.org/drawingml/2006/main">
            <a:srgbClr val="F2BD3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CF5A63D-EA96-4DC7-B166-B0E8C13EB1C9}"/>
              </a:ext>
            </a:extLst>
          </p:cNvPr>
          <p:cNvSpPr>
            <a:spLocks xmlns:a="http://schemas.openxmlformats.org/drawingml/2006/main" noGrp="1"/>
          </p:cNvSpPr>
          <p:nvPr/>
        </p:nvSpPr>
        <p:spPr>
          <a:xfrm xmlns:a="http://schemas.openxmlformats.org/drawingml/2006/main">
            <a:off x="457200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17342C"/>
                </a:solidFill>
                <a:latin typeface="Arial"/>
                <a:ea typeface="Arial"/>
                <a:cs typeface="Arial"/>
              </a:defRPr>
            </a:pPr>
            <a:r>
              <a:rPr sz="1050" b="1">
                <a:solidFill>
                  <a:srgbClr val="17342C"/>
                </a:solidFill>
                <a:latin typeface="Arial"/>
                <a:ea typeface="Arial"/>
                <a:cs typeface="Arial"/>
              </a:rPr>
              <a:t>2  EXPLAIN</a:t>
            </a:r>
          </a:p>
        </p:txBody>
      </p:sp>
      <p:sp>
        <p:nvSpPr>
          <p:cNvPr id="19" name="">
            <a:extLst xmlns:a="http://schemas.openxmlformats.org/drawingml/2006/main">
              <a:ext uri="{FF2B5EF4-FFF2-40B4-BE49-F238E27FC236}">
                <a16:creationId xmlns:a16="http://schemas.microsoft.com/office/drawing/2014/main" id="{BA7D71D7-5004-46BA-BA2F-9AF702A11413}"/>
              </a:ext>
            </a:extLst>
          </p:cNvPr>
          <p:cNvSpPr>
            <a:spLocks xmlns:a="http://schemas.openxmlformats.org/drawingml/2006/main" noGrp="1"/>
          </p:cNvSpPr>
          <p:nvPr/>
        </p:nvSpPr>
        <p:spPr>
          <a:xfrm xmlns:a="http://schemas.openxmlformats.org/drawingml/2006/main">
            <a:off x="457200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17342C"/>
                </a:solidFill>
                <a:latin typeface="Arial"/>
                <a:ea typeface="Arial"/>
                <a:cs typeface="Arial"/>
              </a:defRPr>
            </a:pPr>
            <a:r>
              <a:rPr sz="1275" b="0">
                <a:solidFill>
                  <a:srgbClr val="17342C"/>
                </a:solidFill>
                <a:latin typeface="Arial"/>
                <a:ea typeface="Arial"/>
                <a:cs typeface="Arial"/>
              </a:rPr>
              <a:t>Link ideas with because, so or therefore.</a:t>
            </a:r>
          </a:p>
        </p:txBody>
      </p:sp>
      <p:sp>
        <p:nvSpPr>
          <p:cNvPr id="20" name="">
            <a:extLst xmlns:a="http://schemas.openxmlformats.org/drawingml/2006/main">
              <a:ext uri="{FF2B5EF4-FFF2-40B4-BE49-F238E27FC236}">
                <a16:creationId xmlns:a16="http://schemas.microsoft.com/office/drawing/2014/main" id="{0682FE62-82DA-424C-8A99-BC0176319344}"/>
              </a:ext>
            </a:extLst>
          </p:cNvPr>
          <p:cNvSpPr>
            <a:spLocks xmlns:a="http://schemas.openxmlformats.org/drawingml/2006/main" noGrp="1"/>
          </p:cNvSpPr>
          <p:nvPr/>
        </p:nvSpPr>
        <p:spPr>
          <a:xfrm xmlns:a="http://schemas.openxmlformats.org/drawingml/2006/main">
            <a:off x="8039100" y="4095750"/>
            <a:ext cx="3333750" cy="1466850"/>
          </a:xfrm>
          <a:prstGeom xmlns:a="http://schemas.openxmlformats.org/drawingml/2006/main" prst="roundRect">
            <a:avLst>
              <a:gd name="adj" fmla="val 7792"/>
            </a:avLst>
          </a:prstGeom>
          <a:solidFill xmlns:a="http://schemas.openxmlformats.org/drawingml/2006/main">
            <a:srgbClr val="0C555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8F7FD82-64EA-47EB-BB63-FA6922461C38}"/>
              </a:ext>
            </a:extLst>
          </p:cNvPr>
          <p:cNvSpPr>
            <a:spLocks xmlns:a="http://schemas.openxmlformats.org/drawingml/2006/main" noGrp="1"/>
          </p:cNvSpPr>
          <p:nvPr/>
        </p:nvSpPr>
        <p:spPr>
          <a:xfrm xmlns:a="http://schemas.openxmlformats.org/drawingml/2006/main">
            <a:off x="8248650" y="42862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050" b="1">
                <a:solidFill>
                  <a:srgbClr val="FFFFFF"/>
                </a:solidFill>
                <a:latin typeface="Arial"/>
                <a:ea typeface="Arial"/>
                <a:cs typeface="Arial"/>
              </a:defRPr>
            </a:pPr>
            <a:r>
              <a:rPr sz="1050" b="1">
                <a:solidFill>
                  <a:srgbClr val="FFFFFF"/>
                </a:solidFill>
                <a:latin typeface="Arial"/>
                <a:ea typeface="Arial"/>
                <a:cs typeface="Arial"/>
              </a:rPr>
              <a:t>3  CHECK</a:t>
            </a:r>
          </a:p>
        </p:txBody>
      </p:sp>
      <p:sp>
        <p:nvSpPr>
          <p:cNvPr id="22" name="">
            <a:extLst xmlns:a="http://schemas.openxmlformats.org/drawingml/2006/main">
              <a:ext uri="{FF2B5EF4-FFF2-40B4-BE49-F238E27FC236}">
                <a16:creationId xmlns:a16="http://schemas.microsoft.com/office/drawing/2014/main" id="{48B8EADE-9758-4826-8D1B-23354BEA2B66}"/>
              </a:ext>
            </a:extLst>
          </p:cNvPr>
          <p:cNvSpPr>
            <a:spLocks xmlns:a="http://schemas.openxmlformats.org/drawingml/2006/main" noGrp="1"/>
          </p:cNvSpPr>
          <p:nvPr/>
        </p:nvSpPr>
        <p:spPr>
          <a:xfrm xmlns:a="http://schemas.openxmlformats.org/drawingml/2006/main">
            <a:off x="8248650" y="47053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Answer every part; keep claims specific and source-safe.</a:t>
            </a:r>
          </a:p>
        </p:txBody>
      </p:sp>
      <p:sp>
        <p:nvSpPr>
          <p:cNvPr id="23" name="">
            <a:extLst xmlns:a="http://schemas.openxmlformats.org/drawingml/2006/main">
              <a:ext uri="{FF2B5EF4-FFF2-40B4-BE49-F238E27FC236}">
                <a16:creationId xmlns:a16="http://schemas.microsoft.com/office/drawing/2014/main" id="{D059DAA2-0C6E-46D5-9822-1A5D9228A83A}"/>
              </a:ext>
            </a:extLst>
          </p:cNvPr>
          <p:cNvSpPr>
            <a:spLocks xmlns:a="http://schemas.openxmlformats.org/drawingml/2006/main" noGrp="1"/>
          </p:cNvSpPr>
          <p:nvPr/>
        </p:nvSpPr>
        <p:spPr>
          <a:xfrm xmlns:a="http://schemas.openxmlformats.org/drawingml/2006/main">
            <a:off x="685800" y="5810250"/>
            <a:ext cx="1076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E8674B"/>
                </a:solidFill>
                <a:latin typeface="Arial"/>
                <a:ea typeface="Arial"/>
                <a:cs typeface="Arial"/>
              </a:defRPr>
            </a:pPr>
            <a:r>
              <a:rPr sz="1200" b="1">
                <a:solidFill>
                  <a:srgbClr val="E8674B"/>
                </a:solidFill>
                <a:latin typeface="Arial"/>
                <a:ea typeface="Arial"/>
                <a:cs typeface="Arial"/>
              </a:rPr>
              <a:t>Sentence starter: The brand succeeds at… because the evidence shows… Next I will… and retest by…</a:t>
            </a:r>
          </a:p>
        </p:txBody>
      </p:sp>
      <p:sp>
        <p:nvSpPr>
          <p:cNvPr id="24" name="">
            <a:extLst xmlns:a="http://schemas.openxmlformats.org/drawingml/2006/main">
              <a:ext uri="{FF2B5EF4-FFF2-40B4-BE49-F238E27FC236}">
                <a16:creationId xmlns:a16="http://schemas.microsoft.com/office/drawing/2014/main" id="{62DF0794-1E6B-4DEC-B738-3FB9630214D7}"/>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64706B"/>
                </a:solidFill>
                <a:latin typeface="Arial"/>
                <a:ea typeface="Arial"/>
                <a:cs typeface="Arial"/>
              </a:defRPr>
            </a:pPr>
            <a:r>
              <a:rPr sz="825" b="1">
                <a:solidFill>
                  <a:srgbClr val="64706B"/>
                </a:solidFill>
                <a:latin typeface="Arial"/>
                <a:ea typeface="Arial"/>
                <a:cs typeface="Arial"/>
              </a:rPr>
              <a:t>YEAR 7 MULTIMEDIA  •  MODULE 10  •  PRESENT, EVALUATE, IMPROVE</a:t>
            </a:r>
          </a:p>
        </p:txBody>
      </p:sp>
      <p:sp>
        <p:nvSpPr>
          <p:cNvPr id="25" name="">
            <a:extLst xmlns:a="http://schemas.openxmlformats.org/drawingml/2006/main">
              <a:ext uri="{FF2B5EF4-FFF2-40B4-BE49-F238E27FC236}">
                <a16:creationId xmlns:a16="http://schemas.microsoft.com/office/drawing/2014/main" id="{68A01393-3A2B-45B9-B73F-D26288A3809A}"/>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E8674B"/>
                </a:solidFill>
                <a:latin typeface="Arial"/>
                <a:ea typeface="Arial"/>
                <a:cs typeface="Arial"/>
              </a:defRPr>
            </a:pPr>
            <a:r>
              <a:rPr sz="900" b="1">
                <a:solidFill>
                  <a:srgbClr val="E8674B"/>
                </a:solidFill>
                <a:latin typeface="Arial"/>
                <a:ea typeface="Arial"/>
                <a:cs typeface="Arial"/>
              </a:rPr>
              <a:t>07</a:t>
            </a:r>
          </a:p>
        </p:txBody>
      </p:sp>
    </p:spTree>
    <p:extLst>
      <p:ext uri="{BB962C8B-B14F-4D97-AF65-F5344CB8AC3E}">
        <p14:creationId xmlns:p14="http://schemas.microsoft.com/office/powerpoint/2010/main" val="536202829"/>
      </p:ext>
    </p:extLst>
  </p:cSld>
</p:sld>
</file>

<file path=ppt/slides/slide8.xml><?xml version="1.0" encoding="utf-8"?>
<p:sld xmlns:p="http://schemas.openxmlformats.org/presentationml/2006/main">
  <p:cSld>
    <p:bg>
      <p:bgPr>
        <a:solidFill xmlns:a="http://schemas.openxmlformats.org/drawingml/2006/main">
          <a:srgbClr val="E8674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C292C8-E262-460A-8FBD-A89AE0D038C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BD3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C10F54-5144-4FC5-ADCF-D90058273B53}"/>
              </a:ext>
            </a:extLst>
          </p:cNvPr>
          <p:cNvSpPr>
            <a:spLocks xmlns:a="http://schemas.openxmlformats.org/drawingml/2006/main" noGrp="1"/>
          </p:cNvSpPr>
          <p:nvPr/>
        </p:nvSpPr>
        <p:spPr>
          <a:xfrm xmlns:a="http://schemas.openxmlformats.org/drawingml/2006/main">
            <a:off x="685800" y="838200"/>
            <a:ext cx="666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Before you pack up…</a:t>
            </a:r>
          </a:p>
        </p:txBody>
      </p:sp>
      <p:sp>
        <p:nvSpPr>
          <p:cNvPr id="3" name="">
            <a:extLst xmlns:a="http://schemas.openxmlformats.org/drawingml/2006/main">
              <a:ext uri="{FF2B5EF4-FFF2-40B4-BE49-F238E27FC236}">
                <a16:creationId xmlns:a16="http://schemas.microsoft.com/office/drawing/2014/main" id="{0C1692F8-F394-4CD4-A32A-0A6A25B5F490}"/>
              </a:ext>
            </a:extLst>
          </p:cNvPr>
          <p:cNvSpPr>
            <a:spLocks xmlns:a="http://schemas.openxmlformats.org/drawingml/2006/main" noGrp="1"/>
          </p:cNvSpPr>
          <p:nvPr/>
        </p:nvSpPr>
        <p:spPr>
          <a:xfrm xmlns:a="http://schemas.openxmlformats.org/drawingml/2006/main">
            <a:off x="685800" y="19621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1. One idea I can now explain is…</a:t>
            </a:r>
          </a:p>
        </p:txBody>
      </p:sp>
      <p:sp>
        <p:nvSpPr>
          <p:cNvPr id="4" name="">
            <a:extLst xmlns:a="http://schemas.openxmlformats.org/drawingml/2006/main">
              <a:ext uri="{FF2B5EF4-FFF2-40B4-BE49-F238E27FC236}">
                <a16:creationId xmlns:a16="http://schemas.microsoft.com/office/drawing/2014/main" id="{33C1B5AD-C551-4E85-B3C6-0ADF64B30535}"/>
              </a:ext>
            </a:extLst>
          </p:cNvPr>
          <p:cNvSpPr>
            <a:spLocks xmlns:a="http://schemas.openxmlformats.org/drawingml/2006/main" noGrp="1"/>
          </p:cNvSpPr>
          <p:nvPr/>
        </p:nvSpPr>
        <p:spPr>
          <a:xfrm xmlns:a="http://schemas.openxmlformats.org/drawingml/2006/main">
            <a:off x="685800" y="308610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2. One design decision or practical action this changes is…</a:t>
            </a:r>
          </a:p>
        </p:txBody>
      </p:sp>
      <p:sp>
        <p:nvSpPr>
          <p:cNvPr id="5" name="">
            <a:extLst xmlns:a="http://schemas.openxmlformats.org/drawingml/2006/main">
              <a:ext uri="{FF2B5EF4-FFF2-40B4-BE49-F238E27FC236}">
                <a16:creationId xmlns:a16="http://schemas.microsoft.com/office/drawing/2014/main" id="{42DABD01-F353-4B4A-B09D-283205B5F11A}"/>
              </a:ext>
            </a:extLst>
          </p:cNvPr>
          <p:cNvSpPr>
            <a:spLocks xmlns:a="http://schemas.openxmlformats.org/drawingml/2006/main" noGrp="1"/>
          </p:cNvSpPr>
          <p:nvPr/>
        </p:nvSpPr>
        <p:spPr>
          <a:xfrm xmlns:a="http://schemas.openxmlformats.org/drawingml/2006/main">
            <a:off x="685800" y="4210050"/>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txBody>
          <a:bodyPr xmlns:a="http://schemas.openxmlformats.org/drawingml/2006/main" lIns="228600" tIns="152400" rIns="228600" bIns="152400" anchor="ctr">
            <a:normAutofit fontScale="100000"/>
          </a:bodyPr>
          <a:lstStyle xmlns:a="http://schemas.openxmlformats.org/drawingml/2006/main"/>
          <a:p xmlns:a="http://schemas.openxmlformats.org/drawingml/2006/main">
            <a:pPr algn="l">
              <a:defRPr sz="1650" b="1">
                <a:solidFill>
                  <a:srgbClr val="17342C"/>
                </a:solidFill>
                <a:latin typeface="Arial"/>
                <a:ea typeface="Arial"/>
                <a:cs typeface="Arial"/>
              </a:defRPr>
            </a:pPr>
            <a:r>
              <a:rPr sz="1650" b="1">
                <a:solidFill>
                  <a:srgbClr val="17342C"/>
                </a:solidFill>
                <a:latin typeface="Arial"/>
                <a:ea typeface="Arial"/>
                <a:cs typeface="Arial"/>
              </a:rPr>
              <a:t>3. One question I still need answered is…</a:t>
            </a:r>
          </a:p>
        </p:txBody>
      </p:sp>
      <p:sp>
        <p:nvSpPr>
          <p:cNvPr id="6" name="">
            <a:extLst xmlns:a="http://schemas.openxmlformats.org/drawingml/2006/main">
              <a:ext uri="{FF2B5EF4-FFF2-40B4-BE49-F238E27FC236}">
                <a16:creationId xmlns:a16="http://schemas.microsoft.com/office/drawing/2014/main" id="{74A59D65-60CF-4463-8365-3B6465605A40}"/>
              </a:ext>
            </a:extLst>
          </p:cNvPr>
          <p:cNvSpPr>
            <a:spLocks xmlns:a="http://schemas.openxmlformats.org/drawingml/2006/main" noGrp="1"/>
          </p:cNvSpPr>
          <p:nvPr/>
        </p:nvSpPr>
        <p:spPr>
          <a:xfrm xmlns:a="http://schemas.openxmlformats.org/drawingml/2006/main">
            <a:off x="9810750" y="2609850"/>
            <a:ext cx="1638300" cy="1638300"/>
          </a:xfrm>
          <a:prstGeom xmlns:a="http://schemas.openxmlformats.org/drawingml/2006/main" prst="ellipse">
            <a:avLst/>
          </a:prstGeom>
          <a:solidFill xmlns:a="http://schemas.openxmlformats.org/drawingml/2006/main">
            <a:srgbClr val="F2BD3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8B6D610-A359-4D3B-ACC4-19BF5B665ECB}"/>
              </a:ext>
            </a:extLst>
          </p:cNvPr>
          <p:cNvSpPr>
            <a:spLocks xmlns:a="http://schemas.openxmlformats.org/drawingml/2006/main" noGrp="1"/>
          </p:cNvSpPr>
          <p:nvPr/>
        </p:nvSpPr>
        <p:spPr>
          <a:xfrm xmlns:a="http://schemas.openxmlformats.org/drawingml/2006/main">
            <a:off x="9944100" y="2876550"/>
            <a:ext cx="13716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SAVE</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YOUR</a:t>
            </a:r>
          </a:p>
          <a:p xmlns:a="http://schemas.openxmlformats.org/drawingml/2006/main">
            <a:pPr algn="ctr">
              <a:defRPr sz="1725" b="1">
                <a:solidFill>
                  <a:srgbClr val="17342C"/>
                </a:solidFill>
                <a:latin typeface="Arial"/>
                <a:ea typeface="Arial"/>
                <a:cs typeface="Arial"/>
              </a:defRPr>
            </a:pPr>
            <a:r>
              <a:rPr sz="1725" b="1">
                <a:solidFill>
                  <a:srgbClr val="17342C"/>
                </a:solidFill>
                <a:latin typeface="Arial"/>
                <a:ea typeface="Arial"/>
                <a:cs typeface="Arial"/>
              </a:rPr>
              <a:t>EVIDENCE</a:t>
            </a:r>
          </a:p>
        </p:txBody>
      </p:sp>
      <p:sp>
        <p:nvSpPr>
          <p:cNvPr id="8" name="">
            <a:extLst xmlns:a="http://schemas.openxmlformats.org/drawingml/2006/main">
              <a:ext uri="{FF2B5EF4-FFF2-40B4-BE49-F238E27FC236}">
                <a16:creationId xmlns:a16="http://schemas.microsoft.com/office/drawing/2014/main" id="{6CBB740F-416B-433F-AADF-CA9BBA50337B}"/>
              </a:ext>
            </a:extLst>
          </p:cNvPr>
          <p:cNvSpPr>
            <a:spLocks xmlns:a="http://schemas.openxmlformats.org/drawingml/2006/main" noGrp="1"/>
          </p:cNvSpPr>
          <p:nvPr/>
        </p:nvSpPr>
        <p:spPr>
          <a:xfrm xmlns:a="http://schemas.openxmlformats.org/drawingml/2006/main">
            <a:off x="685800" y="57531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rPr sz="1200" b="1">
                <a:solidFill>
                  <a:srgbClr val="FFFFFF"/>
                </a:solidFill>
                <a:latin typeface="Arial"/>
                <a:ea typeface="Arial"/>
                <a:cs typeface="Arial"/>
              </a:rPr>
              <a:t>Save in the matching course module. Local save is not submission.</a:t>
            </a:r>
          </a:p>
        </p:txBody>
      </p:sp>
      <p:sp>
        <p:nvSpPr>
          <p:cNvPr id="9" name="">
            <a:extLst xmlns:a="http://schemas.openxmlformats.org/drawingml/2006/main">
              <a:ext uri="{FF2B5EF4-FFF2-40B4-BE49-F238E27FC236}">
                <a16:creationId xmlns:a16="http://schemas.microsoft.com/office/drawing/2014/main" id="{A5FB1E0B-FA4E-4783-8107-7E540CB9B54F}"/>
              </a:ext>
            </a:extLst>
          </p:cNvPr>
          <p:cNvSpPr>
            <a:spLocks xmlns:a="http://schemas.openxmlformats.org/drawingml/2006/main" noGrp="1"/>
          </p:cNvSpPr>
          <p:nvPr/>
        </p:nvSpPr>
        <p:spPr>
          <a:xfrm xmlns:a="http://schemas.openxmlformats.org/drawingml/2006/main">
            <a:off x="685800" y="6438900"/>
            <a:ext cx="7429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825" b="1">
                <a:solidFill>
                  <a:srgbClr val="C7D6CF"/>
                </a:solidFill>
                <a:latin typeface="Arial"/>
                <a:ea typeface="Arial"/>
                <a:cs typeface="Arial"/>
              </a:defRPr>
            </a:pPr>
            <a:r>
              <a:rPr sz="825" b="1">
                <a:solidFill>
                  <a:srgbClr val="C7D6CF"/>
                </a:solidFill>
                <a:latin typeface="Arial"/>
                <a:ea typeface="Arial"/>
                <a:cs typeface="Arial"/>
              </a:rPr>
              <a:t>YEAR 7 MULTIMEDIA  •  MODULE 10  •  PRESENT, EVALUATE, IMPROVE</a:t>
            </a:r>
          </a:p>
        </p:txBody>
      </p:sp>
      <p:sp>
        <p:nvSpPr>
          <p:cNvPr id="10" name="">
            <a:extLst xmlns:a="http://schemas.openxmlformats.org/drawingml/2006/main">
              <a:ext uri="{FF2B5EF4-FFF2-40B4-BE49-F238E27FC236}">
                <a16:creationId xmlns:a16="http://schemas.microsoft.com/office/drawing/2014/main" id="{10A681F2-78A5-43EC-B29E-E3F3F07673C3}"/>
              </a:ext>
            </a:extLst>
          </p:cNvPr>
          <p:cNvSpPr>
            <a:spLocks xmlns:a="http://schemas.openxmlformats.org/drawingml/2006/main" noGrp="1"/>
          </p:cNvSpPr>
          <p:nvPr/>
        </p:nvSpPr>
        <p:spPr>
          <a:xfrm xmlns:a="http://schemas.openxmlformats.org/drawingml/2006/main">
            <a:off x="11239500" y="6400800"/>
            <a:ext cx="34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900" b="1">
                <a:solidFill>
                  <a:srgbClr val="F2BD3C"/>
                </a:solidFill>
                <a:latin typeface="Arial"/>
                <a:ea typeface="Arial"/>
                <a:cs typeface="Arial"/>
              </a:defRPr>
            </a:pPr>
            <a:r>
              <a:rPr sz="900" b="1">
                <a:solidFill>
                  <a:srgbClr val="F2BD3C"/>
                </a:solidFill>
                <a:latin typeface="Arial"/>
                <a:ea typeface="Arial"/>
                <a:cs typeface="Arial"/>
              </a:rPr>
              <a:t>08</a:t>
            </a:r>
          </a:p>
        </p:txBody>
      </p:sp>
    </p:spTree>
    <p:extLst>
      <p:ext uri="{BB962C8B-B14F-4D97-AF65-F5344CB8AC3E}">
        <p14:creationId xmlns:p14="http://schemas.microsoft.com/office/powerpoint/2010/main" val="7853439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2026-08-24T00:54:08.7090000Z</dcterms:created>
  <dcterms:modified xsi:type="dcterms:W3CDTF">2026-08-24T00:54:08.7090000Z</dcterms:modified>
</coreProperties>
</file>