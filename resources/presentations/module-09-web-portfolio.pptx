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60714cb9d2846ae" /><Relationship Type="http://schemas.openxmlformats.org/officeDocument/2006/relationships/extended-properties" Target="/docProps/app.xml" Id="Rf0213ab375004bca" /><Relationship Type="http://schemas.openxmlformats.org/officeDocument/2006/relationships/officeDocument" Target="/ppt/presentation.xml" Id="Rd6c3c12447f54e25" /></Relationships>
</file>

<file path=ppt/presentation.xml><?xml version="1.0" encoding="utf-8"?>
<p:presentation xmlns:p="http://schemas.openxmlformats.org/presentationml/2006/main">
  <p:sldMasterIdLst>
    <p:sldMasterId xmlns:r="http://schemas.openxmlformats.org/officeDocument/2006/relationships" id="2147483648" r:id="Rb9ac42dd48cc4f52"/>
  </p:sldMasterIdLst>
  <p:notesMasterIdLst>
    <p:notesMasterId xmlns:r="http://schemas.openxmlformats.org/officeDocument/2006/relationships" r:id="Rcc9fadabd21a41d8"/>
  </p:notesMasterIdLst>
  <p:sldIdLst>
    <p:sldId xmlns:r="http://schemas.openxmlformats.org/officeDocument/2006/relationships" id="256" r:id="R5c90cd8b74b44d8f"/>
    <p:sldId xmlns:r="http://schemas.openxmlformats.org/officeDocument/2006/relationships" id="257" r:id="R9d58b87dc50d423b"/>
    <p:sldId xmlns:r="http://schemas.openxmlformats.org/officeDocument/2006/relationships" id="258" r:id="R1d5004093585424c"/>
    <p:sldId xmlns:r="http://schemas.openxmlformats.org/officeDocument/2006/relationships" id="259" r:id="Ra39f6e155ba04eed"/>
    <p:sldId xmlns:r="http://schemas.openxmlformats.org/officeDocument/2006/relationships" id="260" r:id="R37a3fb7c823f44d5"/>
    <p:sldId xmlns:r="http://schemas.openxmlformats.org/officeDocument/2006/relationships" id="261" r:id="Rfa33984e09f1466c"/>
    <p:sldId xmlns:r="http://schemas.openxmlformats.org/officeDocument/2006/relationships" id="262" r:id="R544bbcd562f14ece"/>
    <p:sldId xmlns:r="http://schemas.openxmlformats.org/officeDocument/2006/relationships" id="263" r:id="R512adcbac5294fa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40a1ff4343047cb" /><Relationship Type="http://schemas.openxmlformats.org/officeDocument/2006/relationships/slideMaster" Target="/ppt/slideMasters/slideMaster1.xml" Id="Rb9ac42dd48cc4f52" /><Relationship Type="http://schemas.openxmlformats.org/officeDocument/2006/relationships/notesMaster" Target="/ppt/notesMasters/notesMaster1.xml" Id="Rcc9fadabd21a41d8" /><Relationship Type="http://schemas.openxmlformats.org/officeDocument/2006/relationships/presProps" Target="/ppt/presProps.xml" Id="R544bd44e10724bf5" /><Relationship Type="http://schemas.openxmlformats.org/officeDocument/2006/relationships/tableStyles" Target="/ppt/tableStyles.xml" Id="Rb46a3f71d49742ff" /><Relationship Type="http://schemas.openxmlformats.org/officeDocument/2006/relationships/slide" Target="/ppt/slides/slide1.xml" Id="R5c90cd8b74b44d8f" /><Relationship Type="http://schemas.openxmlformats.org/officeDocument/2006/relationships/slide" Target="/ppt/slides/slide2.xml" Id="R9d58b87dc50d423b" /><Relationship Type="http://schemas.openxmlformats.org/officeDocument/2006/relationships/slide" Target="/ppt/slides/slide3.xml" Id="R1d5004093585424c" /><Relationship Type="http://schemas.openxmlformats.org/officeDocument/2006/relationships/slide" Target="/ppt/slides/slide4.xml" Id="Ra39f6e155ba04eed" /><Relationship Type="http://schemas.openxmlformats.org/officeDocument/2006/relationships/slide" Target="/ppt/slides/slide5.xml" Id="R37a3fb7c823f44d5" /><Relationship Type="http://schemas.openxmlformats.org/officeDocument/2006/relationships/slide" Target="/ppt/slides/slide6.xml" Id="Rfa33984e09f1466c" /><Relationship Type="http://schemas.openxmlformats.org/officeDocument/2006/relationships/slide" Target="/ppt/slides/slide7.xml" Id="R544bbcd562f14ece" /><Relationship Type="http://schemas.openxmlformats.org/officeDocument/2006/relationships/slide" Target="/ppt/slides/slide8.xml" Id="R512adcbac5294fa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1f3e8cd2927457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20c4c74e93d423e" /><Relationship Type="http://schemas.openxmlformats.org/officeDocument/2006/relationships/notesMaster" Target="/ppt/notesMasters/notesMaster1.xml" Id="Rac553bb5e78f4531" /></Relationships>
</file>

<file path=ppt/notesSlides/_rels/notesSlide2.xml.rels>&#65279;<?xml version="1.0" encoding="utf-8"?><Relationships xmlns="http://schemas.openxmlformats.org/package/2006/relationships"><Relationship Type="http://schemas.openxmlformats.org/officeDocument/2006/relationships/slide" Target="/ppt/slides/slide2.xml" Id="R36c0c1c17c5d408a" /><Relationship Type="http://schemas.openxmlformats.org/officeDocument/2006/relationships/notesMaster" Target="/ppt/notesMasters/notesMaster1.xml" Id="Rfd9841f2bd3a46ca" /></Relationships>
</file>

<file path=ppt/notesSlides/_rels/notesSlide3.xml.rels>&#65279;<?xml version="1.0" encoding="utf-8"?><Relationships xmlns="http://schemas.openxmlformats.org/package/2006/relationships"><Relationship Type="http://schemas.openxmlformats.org/officeDocument/2006/relationships/slide" Target="/ppt/slides/slide3.xml" Id="R9a94be501a804624" /><Relationship Type="http://schemas.openxmlformats.org/officeDocument/2006/relationships/notesMaster" Target="/ppt/notesMasters/notesMaster1.xml" Id="Ra1551addf36b4993" /></Relationships>
</file>

<file path=ppt/notesSlides/_rels/notesSlide4.xml.rels>&#65279;<?xml version="1.0" encoding="utf-8"?><Relationships xmlns="http://schemas.openxmlformats.org/package/2006/relationships"><Relationship Type="http://schemas.openxmlformats.org/officeDocument/2006/relationships/slide" Target="/ppt/slides/slide4.xml" Id="R185904367a304836" /><Relationship Type="http://schemas.openxmlformats.org/officeDocument/2006/relationships/notesMaster" Target="/ppt/notesMasters/notesMaster1.xml" Id="Ra6725ffe9f8848b7" /></Relationships>
</file>

<file path=ppt/notesSlides/_rels/notesSlide5.xml.rels>&#65279;<?xml version="1.0" encoding="utf-8"?><Relationships xmlns="http://schemas.openxmlformats.org/package/2006/relationships"><Relationship Type="http://schemas.openxmlformats.org/officeDocument/2006/relationships/slide" Target="/ppt/slides/slide5.xml" Id="R69079d4082034e87" /><Relationship Type="http://schemas.openxmlformats.org/officeDocument/2006/relationships/notesMaster" Target="/ppt/notesMasters/notesMaster1.xml" Id="R68b5ff45fe2d4595" /></Relationships>
</file>

<file path=ppt/notesSlides/_rels/notesSlide6.xml.rels>&#65279;<?xml version="1.0" encoding="utf-8"?><Relationships xmlns="http://schemas.openxmlformats.org/package/2006/relationships"><Relationship Type="http://schemas.openxmlformats.org/officeDocument/2006/relationships/slide" Target="/ppt/slides/slide6.xml" Id="R00b451ef39314d96" /><Relationship Type="http://schemas.openxmlformats.org/officeDocument/2006/relationships/notesMaster" Target="/ppt/notesMasters/notesMaster1.xml" Id="Rf9cfe1c95ac245dc" /></Relationships>
</file>

<file path=ppt/notesSlides/_rels/notesSlide7.xml.rels>&#65279;<?xml version="1.0" encoding="utf-8"?><Relationships xmlns="http://schemas.openxmlformats.org/package/2006/relationships"><Relationship Type="http://schemas.openxmlformats.org/officeDocument/2006/relationships/slide" Target="/ppt/slides/slide7.xml" Id="Rd31ab0bfde744de1" /><Relationship Type="http://schemas.openxmlformats.org/officeDocument/2006/relationships/notesMaster" Target="/ppt/notesMasters/notesMaster1.xml" Id="R7dc814b0e08d4298" /></Relationships>
</file>

<file path=ppt/notesSlides/_rels/notesSlide8.xml.rels>&#65279;<?xml version="1.0" encoding="utf-8"?><Relationships xmlns="http://schemas.openxmlformats.org/package/2006/relationships"><Relationship Type="http://schemas.openxmlformats.org/officeDocument/2006/relationships/slide" Target="/ppt/slides/slide8.xml" Id="R02d4a727dd5e4b22" /><Relationship Type="http://schemas.openxmlformats.org/officeDocument/2006/relationships/notesMaster" Target="/ppt/notesMasters/notesMaster1.xml" Id="R1f56f07fa52241f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Introduce the module as one connected learning package, not a list of software clicks.</a:t>
            </a:r>
          </a:p>
          <a:p xmlns:a="http://schemas.openxmlformats.org/drawingml/2006/main">
            <a:r>
              <a:t>State the outcome: Structure and publish a connected Google Sites portfolio.</a:t>
            </a:r>
          </a:p>
          <a:p xmlns:a="http://schemas.openxmlformats.org/drawingml/2006/main">
            <a:r>
              <a:t>Prompt: What should a visitor predict from the labels Home, Products and Contact Us?</a:t>
            </a:r>
          </a:p>
          <a:p xmlns:a="http://schemas.openxmlformats.org/drawingml/2006/main">
            <a:r>
              <a:t>Listen for a purposeful link to audience, evidence or communication.</a:t>
            </a:r>
          </a:p>
          <a:p xmlns:a="http://schemas.openxmlformats.org/drawingml/2006/main">
            <a:r>
              <a:t>Transition: Preview the three named sections on the next slide.</a:t>
            </a:r>
          </a:p>
          <a:p xmlns:a="http://schemas.openxmlformats.org/drawingml/2006/main">
            <a:r>
              <a:t/>
            </a:r>
          </a:p>
          <a:p xmlns:a="http://schemas.openxmlformats.org/drawingml/2006/main">
            <a:r>
              <a:t>[Sources]</a:t>
            </a:r>
          </a:p>
          <a:p xmlns:a="http://schemas.openxmlformats.org/drawingml/2006/main">
            <a:r>
              <a:t>- Course sequence: data/course-map.js, Module 9.</a:t>
            </a:r>
          </a:p>
          <a:p xmlns:a="http://schemas.openxmlformats.org/drawingml/2006/main">
            <a:r>
              <a:t>- Theory: data/course-content.js, m09-s01, m09-s02, m09-s03.</a:t>
            </a:r>
          </a:p>
          <a:p xmlns:a="http://schemas.openxmlformats.org/drawingml/2006/main">
            <a:r>
              <a:t>- Native editable overview diagram derived from the three named module 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three section titles aloud and explain how each one prepares the next.</a:t>
            </a:r>
          </a:p>
          <a:p xmlns:a="http://schemas.openxmlformats.org/drawingml/2006/main">
            <a:r>
              <a:t>Warm-up: What should a visitor predict from the labels Home, Products and Contact Us?</a:t>
            </a:r>
          </a:p>
          <a:p xmlns:a="http://schemas.openxmlformats.org/drawingml/2006/main">
            <a:r>
              <a:t>Give silent thinking time before pair discussion.</a:t>
            </a:r>
          </a:p>
          <a:p xmlns:a="http://schemas.openxmlformats.org/drawingml/2006/main">
            <a:r>
              <a:t>Listen for: a reason, not only a preference.</a:t>
            </a:r>
          </a:p>
          <a:p xmlns:a="http://schemas.openxmlformats.org/drawingml/2006/main">
            <a:r>
              <a:t>Transition: Start with Site structure and navigation.</a:t>
            </a:r>
          </a:p>
          <a:p xmlns:a="http://schemas.openxmlformats.org/drawingml/2006/main">
            <a:r>
              <a:t/>
            </a:r>
          </a:p>
          <a:p xmlns:a="http://schemas.openxmlformats.org/drawingml/2006/main">
            <a:r>
              <a:t>[Sources]</a:t>
            </a:r>
          </a:p>
          <a:p xmlns:a="http://schemas.openxmlformats.org/drawingml/2006/main">
            <a:r>
              <a:t>- Theory sequence: data/course-content.js, m09-s01, m09-s02, m09-s03.</a:t>
            </a:r>
          </a:p>
          <a:p xmlns:a="http://schemas.openxmlformats.org/drawingml/2006/main">
            <a:r>
              <a:t>- Module summary: data/course-map.js, Module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Organise a small portfolio so users can predict where to find the brand story, products and contact information.</a:t>
            </a:r>
          </a:p>
          <a:p xmlns:a="http://schemas.openxmlformats.org/drawingml/2006/main">
            <a:r>
              <a:t>Explain: A site structure groups related information into pages and sets a useful order. The Drive demonstration shows a blank Google Site developed with Home, Products and Contact Us pages. This is verified source workflow for the unit. Home establishes identity and orientation, Products presents relevant brand outputs, and Contact Us provides the intended contact area. Any real contact details must follow teacher-approved privacy arrangements.</a:t>
            </a:r>
          </a:p>
          <a:p xmlns:a="http://schemas.openxmlformats.org/drawingml/2006/main">
            <a:r>
              <a:t>Clarify: Navigation labels should match page content and remain consistent. Users need to know where they are, what each link means and how to return. A page called “Stuff” gives weaker guidance than “Products”. Avoid dead ends, duplicate pages and links whose visible label does not match the destination. Test every main link from more than one page and at phone width.</a:t>
            </a:r>
          </a:p>
          <a:p xmlns:a="http://schemas.openxmlformats.org/drawingml/2006/main">
            <a:r>
              <a:t>Worked example: Cards labelled logo story, poster, motion advertisement, product information, brand introduction and approved contact pathway are sorted under the three demonstrated pages. The logo story and introduction fit Home; product information and media fit Products; the approved pathway fits Contact Us. One card could fit two places, so a short link points to the main location instead of duplicating content. A peer predicts each destination before opening it.</a:t>
            </a:r>
          </a:p>
          <a:p xmlns:a="http://schemas.openxmlformats.org/drawingml/2006/main">
            <a:r>
              <a:t>Ask: Which page structure is shown in the source demonstration?</a:t>
            </a:r>
          </a:p>
          <a:p xmlns:a="http://schemas.openxmlformats.org/drawingml/2006/main">
            <a:r>
              <a:t>Listen for: Home, Products and Contact Us. Correct. These are visible in the verified workflow.</a:t>
            </a:r>
          </a:p>
          <a:p xmlns:a="http://schemas.openxmlformats.org/drawingml/2006/main">
            <a:r>
              <a:t>Misconception to correct: A navigation menu is successful if every link works technically. → Links must also be understandable, predictable and usable across devices.</a:t>
            </a:r>
          </a:p>
          <a:p xmlns:a="http://schemas.openxmlformats.org/drawingml/2006/main">
            <a:r>
              <a:t>Transition: Connect this idea to Preparing and embedding media.</a:t>
            </a:r>
          </a:p>
          <a:p xmlns:a="http://schemas.openxmlformats.org/drawingml/2006/main">
            <a:r>
              <a:t/>
            </a:r>
          </a:p>
          <a:p xmlns:a="http://schemas.openxmlformats.org/drawingml/2006/main">
            <a:r>
              <a:t>[Sources]</a:t>
            </a:r>
          </a:p>
          <a:p xmlns:a="http://schemas.openxmlformats.org/drawingml/2006/main">
            <a:r>
              <a:t>- Theory and check: data/course-content.js, m09-s01 and m09-s01-q01.</a:t>
            </a:r>
          </a:p>
          <a:p xmlns:a="http://schemas.openxmlformats.org/drawingml/2006/main">
            <a:r>
              <a:t>- Native projection-scale diagram adapted from approved visual site-structure-map and its source-grounded learning purpose.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Prepare images and video so the portfolio remains clear, accessible and honest about source and access.</a:t>
            </a:r>
          </a:p>
          <a:p xmlns:a="http://schemas.openxmlformats.org/drawingml/2006/main">
            <a:r>
              <a:t>Explain: Choose the correct file, crop only working copies, check resolution and use meaningful file names. Compress a copy when needed so pages do not carry unnecessarily large files, while preserving the best-quality original. Add concise alternative text that describes the important visible content. Captions can explain the design purpose or identify a mock-up as a simulated context.</a:t>
            </a:r>
          </a:p>
          <a:p xmlns:a="http://schemas.openxmlformats.org/drawingml/2006/main">
            <a:r>
              <a:t>Clarify: The source demonstration shows inserting posters and Drive video into Google Sites. Embedded media still depends on its sharing and privacy settings. A teacher-visible Drive file is not automatically public, and an embed that works for the owner may fail for another viewer. Use the approved access setting, provide a clear fallback when authorised and avoid exposing account details or signed-in interface frames.</a:t>
            </a:r>
          </a:p>
          <a:p xmlns:a="http://schemas.openxmlformats.org/drawingml/2006/main">
            <a:r>
              <a:t>Worked example: The site owner sees an embedded MP4, but a reviewer using a different approved view sees an access message. The student does not change sharing without permission. They record the failed test, ask which access level is authorised and prepare a clear placeholder or teacher-approved fallback. An image also lacks alt text, so it is revised to describe the actual poster rather than saying only “poster image”.</a:t>
            </a:r>
          </a:p>
          <a:p xmlns:a="http://schemas.openxmlformats.org/drawingml/2006/main">
            <a:r>
              <a:t>Ask: What should alternative text do?</a:t>
            </a:r>
          </a:p>
          <a:p xmlns:a="http://schemas.openxmlformats.org/drawingml/2006/main">
            <a:r>
              <a:t>Listen for: Describe the important content and function of the image. Correct. This supports users who cannot rely on the image.</a:t>
            </a:r>
          </a:p>
          <a:p xmlns:a="http://schemas.openxmlformats.org/drawingml/2006/main">
            <a:r>
              <a:t>Misconception to correct: If the owner can view an embed, every authorised viewer can view it. → Owner access may hide sharing problems; test from an independent approved view.</a:t>
            </a:r>
          </a:p>
          <a:p xmlns:a="http://schemas.openxmlformats.org/drawingml/2006/main">
            <a:r>
              <a:t>Transition: Connect this idea to Publishing, access and submission.</a:t>
            </a:r>
          </a:p>
          <a:p xmlns:a="http://schemas.openxmlformats.org/drawingml/2006/main">
            <a:r>
              <a:t/>
            </a:r>
          </a:p>
          <a:p xmlns:a="http://schemas.openxmlformats.org/drawingml/2006/main">
            <a:r>
              <a:t>[Sources]</a:t>
            </a:r>
          </a:p>
          <a:p xmlns:a="http://schemas.openxmlformats.org/drawingml/2006/main">
            <a:r>
              <a:t>- Theory and check: data/course-content.js, m09-s02 and m09-s02-q01.</a:t>
            </a:r>
          </a:p>
          <a:p xmlns:a="http://schemas.openxmlformats.org/drawingml/2006/main">
            <a:r>
              <a:t>- Drive video poster: assets/video-posters/google-sites-demo.svg.</a:t>
            </a:r>
          </a:p>
          <a:p xmlns:a="http://schemas.openxmlformats.org/drawingml/2006/main">
            <a:r>
              <a:t>- Google Drive source: Google Sites Demonstration.mp4, Drive ID 1PV_O58qVIZ7AtoJrjfTLl9R_xML1JcqP, 8:55.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Distinguish preview, publication, authorised access, local saving and final link submission.</a:t>
            </a:r>
          </a:p>
          <a:p xmlns:a="http://schemas.openxmlformats.org/drawingml/2006/main">
            <a:r>
              <a:t>Explain: Preview shows how the site may appear before publication. Publishing creates or updates an accessible site version under selected settings. Access determines who can view it. The source demonstration includes preview, publish and link checking, but the permitted audience setting is not supplied in the course source. Follow the teacher’s direction and never broaden access merely to make a link easier to open.</a:t>
            </a:r>
          </a:p>
          <a:p xmlns:a="http://schemas.openxmlformats.org/drawingml/2006/main">
            <a:r>
              <a:t>Clarify: The verified Website Link prompt asks for a website link. A complete link record should identify the intended site and be checked from an approved viewer context. Saving it in this local course browser preserves a working draft only; it does not send the link to a teacher. Follow the teacher’s nominated submission pathway when supplied and avoid placing edit links or private account information in a public location.</a:t>
            </a:r>
          </a:p>
          <a:p xmlns:a="http://schemas.openxmlformats.org/drawingml/2006/main">
            <a:r>
              <a:t>Worked example: A student previews the site and saves its address locally, but the approved viewer still receives an access request. The honest status is “previewed and link recorded; viewer access not yet confirmed”. It is not “submitted” or “public”. The student checks for an accidental edit URL, records the issue and waits for the teacher’s access direction. Precise state language prevents false confidence and unsafe permission changes.</a:t>
            </a:r>
          </a:p>
          <a:p xmlns:a="http://schemas.openxmlformats.org/drawingml/2006/main">
            <a:r>
              <a:t>Ask: Which statement is accurate?</a:t>
            </a:r>
          </a:p>
          <a:p xmlns:a="http://schemas.openxmlformats.org/drawingml/2006/main">
            <a:r>
              <a:t>Listen for: A preview does not prove publication or viewer access. Correct. These are separate states.</a:t>
            </a:r>
          </a:p>
          <a:p xmlns:a="http://schemas.openxmlformats.org/drawingml/2006/main">
            <a:r>
              <a:t>Misconception to correct: If a URL exists, the site has been submitted and everyone can view it. → A URL can exist before authorised access or submission is complete.</a:t>
            </a:r>
          </a:p>
          <a:p xmlns:a="http://schemas.openxmlformats.org/drawingml/2006/main">
            <a:r>
              <a:t>Transition: Connect this idea to the retrieval check.</a:t>
            </a:r>
          </a:p>
          <a:p xmlns:a="http://schemas.openxmlformats.org/drawingml/2006/main">
            <a:r>
              <a:t/>
            </a:r>
          </a:p>
          <a:p xmlns:a="http://schemas.openxmlformats.org/drawingml/2006/main">
            <a:r>
              <a:t>[Sources]</a:t>
            </a:r>
          </a:p>
          <a:p xmlns:a="http://schemas.openxmlformats.org/drawingml/2006/main">
            <a:r>
              <a:t>- Theory and check: data/course-content.js, m09-s03 and m09-s03-q01.</a:t>
            </a:r>
          </a:p>
          <a:p xmlns:a="http://schemas.openxmlformats.org/drawingml/2006/main">
            <a:r>
              <a:t>- Native projection-scale diagram adapted from approved visual publish-access-check and its source-grounded learning purpose.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60 seconds silent retrieval, pair justification, then whole-class feedback.</a:t>
            </a:r>
          </a:p>
          <a:p xmlns:a="http://schemas.openxmlformats.org/drawingml/2006/main">
            <a:r>
              <a:t>Question 1: Home, Products and Contact Us. Feedback: Correct. These are visible in the verified workflow.</a:t>
            </a:r>
          </a:p>
          <a:p xmlns:a="http://schemas.openxmlformats.org/drawingml/2006/main">
            <a:r>
              <a:t>Question 2: Describe the important content and function of the image. Feedback: Correct. This supports users who cannot rely on the image.</a:t>
            </a:r>
          </a:p>
          <a:p xmlns:a="http://schemas.openxmlformats.org/drawingml/2006/main">
            <a:r>
              <a:t>Question 3: A preview does not prove publication or viewer access. Feedback: Correct. These are separate states.</a:t>
            </a:r>
          </a:p>
          <a:p xmlns:a="http://schemas.openxmlformats.org/drawingml/2006/main">
            <a:r>
              <a:t>Do not score this as a formal assessment. Use responses to decide whether to reteach or continue.</a:t>
            </a:r>
          </a:p>
          <a:p xmlns:a="http://schemas.openxmlformats.org/drawingml/2006/main">
            <a:r>
              <a:t>Transition: Model how the same knowledge becomes a longer written explanation.</a:t>
            </a:r>
          </a:p>
          <a:p xmlns:a="http://schemas.openxmlformats.org/drawingml/2006/main">
            <a:r>
              <a:t/>
            </a:r>
          </a:p>
          <a:p xmlns:a="http://schemas.openxmlformats.org/drawingml/2006/main">
            <a:r>
              <a:t>[Sources]</a:t>
            </a:r>
          </a:p>
          <a:p xmlns:a="http://schemas.openxmlformats.org/drawingml/2006/main">
            <a:r>
              <a:t>- Formative checks: data/course-content.js, m09-s01-q01, m09-s02-q01, m09-s03-q01.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prompt once, then unpack it using Select, Explain and Check.</a:t>
            </a:r>
          </a:p>
          <a:p xmlns:a="http://schemas.openxmlformats.org/drawingml/2006/main">
            <a:r>
              <a:t>Model one sentence aloud using the supplied starter.</a:t>
            </a:r>
          </a:p>
          <a:p xmlns:a="http://schemas.openxmlformats.org/drawingml/2006/main">
            <a:r>
              <a:t>Prompt: Which section provides the strongest evidence for each part of the question?</a:t>
            </a:r>
          </a:p>
          <a:p xmlns:a="http://schemas.openxmlformats.org/drawingml/2006/main">
            <a:r>
              <a:t>Remind students: this is formative learning evidence. A local save is not a submission.</a:t>
            </a:r>
          </a:p>
          <a:p xmlns:a="http://schemas.openxmlformats.org/drawingml/2006/main">
            <a:r>
              <a:t>Transition: Finish with a three-part exit ticket and save the response in the matching module.</a:t>
            </a:r>
          </a:p>
          <a:p xmlns:a="http://schemas.openxmlformats.org/drawingml/2006/main">
            <a:r>
              <a:t/>
            </a:r>
          </a:p>
          <a:p xmlns:a="http://schemas.openxmlformats.org/drawingml/2006/main">
            <a:r>
              <a:t>[Sources]</a:t>
            </a:r>
          </a:p>
          <a:p xmlns:a="http://schemas.openxmlformats.org/drawingml/2006/main">
            <a:r>
              <a:t>- Section capstones: data/course-content.js, m09-s01-capstone, m09-s02-capstone, m09-s03-capstone.</a:t>
            </a:r>
          </a:p>
          <a:p xmlns:a="http://schemas.openxmlformats.org/drawingml/2006/main">
            <a:r>
              <a:t>- Integrated prompt: Stage 07 synthesis of the three source-grounded section capstones.</a:t>
            </a:r>
          </a:p>
          <a:p xmlns:a="http://schemas.openxmlformats.org/drawingml/2006/main">
            <a:r>
              <a:t>- Evidence boundary: data/course-content.js evidenceLabel, saveNotice and moduleEvidenceKey.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Ask students to answer all three prompts in the matching module response box.</a:t>
            </a:r>
          </a:p>
          <a:p xmlns:a="http://schemas.openxmlformats.org/drawingml/2006/main">
            <a:r>
              <a:t>Invite one voluntary share for the first prompt.</a:t>
            </a:r>
          </a:p>
          <a:p xmlns:a="http://schemas.openxmlformats.org/drawingml/2006/main">
            <a:r>
              <a:t>Use the final question to plan the next explanation or support.</a:t>
            </a:r>
          </a:p>
          <a:p xmlns:a="http://schemas.openxmlformats.org/drawingml/2006/main">
            <a:r>
              <a:t>Remind students that browser-local saving preserves a draft on this device; it does not submit work.</a:t>
            </a:r>
          </a:p>
          <a:p xmlns:a="http://schemas.openxmlformats.org/drawingml/2006/main">
            <a:r>
              <a:t/>
            </a:r>
          </a:p>
          <a:p xmlns:a="http://schemas.openxmlformats.org/drawingml/2006/main">
            <a:r>
              <a:t>[Sources]</a:t>
            </a:r>
          </a:p>
          <a:p xmlns:a="http://schemas.openxmlformats.org/drawingml/2006/main">
            <a:r>
              <a:t>- Exit-ticket structure and evidence boundary: data/course-content.js saveNotice, savedMessage and evidenceDestination.</a:t>
            </a:r>
          </a:p>
          <a:p xmlns:a="http://schemas.openxmlformats.org/drawingml/2006/main">
            <a:r>
              <a:t>- Module theory: data/course-content.js, m09-s01, m09-s02, m09-s03.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cf2b7935b9a40f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8b26f4e4336441e" /><Relationship Type="http://schemas.openxmlformats.org/officeDocument/2006/relationships/slideLayout" Target="/ppt/slideLayouts/slideLayout1.xml" Id="Rb849a86021c346f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849a86021c346f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c9ed9713be5400b" /><Relationship Type="http://schemas.openxmlformats.org/officeDocument/2006/relationships/notesSlide" Target="/ppt/notesSlides/notesSlide1.xml" Id="Ra2072ee890a34a8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1f760bcf27e473e" /><Relationship Type="http://schemas.openxmlformats.org/officeDocument/2006/relationships/notesSlide" Target="/ppt/notesSlides/notesSlide2.xml" Id="R84b48f428c9a4f9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57716271ad848d9" /><Relationship Type="http://schemas.openxmlformats.org/officeDocument/2006/relationships/notesSlide" Target="/ppt/notesSlides/notesSlide3.xml" Id="R4b54c3630679460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77ea0f8bcd94b88" /><Relationship Type="http://schemas.openxmlformats.org/officeDocument/2006/relationships/image" Target="/ppt/media/image.png" Id="R528ab5b206284deb" /><Relationship Type="http://schemas.openxmlformats.org/officeDocument/2006/relationships/notesSlide" Target="/ppt/notesSlides/notesSlide4.xml" Id="Rdbca1f1e20974e46" /><Relationship Type="http://schemas.openxmlformats.org/officeDocument/2006/relationships/hyperlink" Target="https://drive.google.com/file/d/1PV_O58qVIZ7AtoJrjfTLl9R_xML1JcqP/view" TargetMode="External" Id="RStage07Hyperlink4_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e31e4f1cb954369" /><Relationship Type="http://schemas.openxmlformats.org/officeDocument/2006/relationships/notesSlide" Target="/ppt/notesSlides/notesSlide5.xml" Id="R593120d19fce4ae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ed1ea4224fd41c7" /><Relationship Type="http://schemas.openxmlformats.org/officeDocument/2006/relationships/notesSlide" Target="/ppt/notesSlides/notesSlide6.xml" Id="Rdc3b6ce29d064e6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66b1149edfa4d02" /><Relationship Type="http://schemas.openxmlformats.org/officeDocument/2006/relationships/notesSlide" Target="/ppt/notesSlides/notesSlide7.xml" Id="R92624e0bf72547b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fca9cacd93547d6" /><Relationship Type="http://schemas.openxmlformats.org/officeDocument/2006/relationships/notesSlide" Target="/ppt/notesSlides/notesSlide8.xml" Id="Rdf23135a0a794ed5" /></Relationships>
</file>

<file path=ppt/slides/slide1.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212605D-E89D-48FB-A29D-AD5142C2A611}"/>
              </a:ext>
            </a:extLst>
          </p:cNvPr>
          <p:cNvSpPr>
            <a:spLocks xmlns:a="http://schemas.openxmlformats.org/drawingml/2006/main" noGrp="1"/>
          </p:cNvSpPr>
          <p:nvPr/>
        </p:nvSpPr>
        <p:spPr>
          <a:xfrm xmlns:a="http://schemas.openxmlformats.org/drawingml/2006/main">
            <a:off x="0" y="0"/>
            <a:ext cx="5810250" cy="6858000"/>
          </a:xfrm>
          <a:prstGeom xmlns:a="http://schemas.openxmlformats.org/drawingml/2006/main" prst="rect">
            <a:avLst/>
          </a:prstGeom>
          <a:solidFill xmlns:a="http://schemas.openxmlformats.org/drawingml/2006/main">
            <a:srgbClr val="1734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AEF7561-D460-443F-9D34-AB9CDFA669DE}"/>
              </a:ext>
            </a:extLst>
          </p:cNvPr>
          <p:cNvSpPr>
            <a:spLocks xmlns:a="http://schemas.openxmlformats.org/drawingml/2006/main" noGrp="1"/>
          </p:cNvSpPr>
          <p:nvPr/>
        </p:nvSpPr>
        <p:spPr>
          <a:xfrm xmlns:a="http://schemas.openxmlformats.org/drawingml/2006/main">
            <a:off x="685800" y="723900"/>
            <a:ext cx="933450" cy="952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8353F3E-43DF-4711-A815-5B24F3360C6A}"/>
              </a:ext>
            </a:extLst>
          </p:cNvPr>
          <p:cNvSpPr>
            <a:spLocks xmlns:a="http://schemas.openxmlformats.org/drawingml/2006/main" noGrp="1"/>
          </p:cNvSpPr>
          <p:nvPr/>
        </p:nvSpPr>
        <p:spPr>
          <a:xfrm xmlns:a="http://schemas.openxmlformats.org/drawingml/2006/main">
            <a:off x="685800" y="11239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2BD3C"/>
                </a:solidFill>
                <a:latin typeface="Arial"/>
                <a:ea typeface="Arial"/>
                <a:cs typeface="Arial"/>
              </a:defRPr>
            </a:pPr>
            <a:r>
              <a:rPr sz="1350" b="1">
                <a:solidFill>
                  <a:srgbClr val="F2BD3C"/>
                </a:solidFill>
                <a:latin typeface="Arial"/>
                <a:ea typeface="Arial"/>
                <a:cs typeface="Arial"/>
              </a:rPr>
              <a:t>MODULE 09</a:t>
            </a:r>
          </a:p>
        </p:txBody>
      </p:sp>
      <p:sp>
        <p:nvSpPr>
          <p:cNvPr id="4" name="">
            <a:extLst xmlns:a="http://schemas.openxmlformats.org/drawingml/2006/main">
              <a:ext uri="{FF2B5EF4-FFF2-40B4-BE49-F238E27FC236}">
                <a16:creationId xmlns:a16="http://schemas.microsoft.com/office/drawing/2014/main" id="{DAC91120-4D36-4580-AE4F-E99987CC455A}"/>
              </a:ext>
            </a:extLst>
          </p:cNvPr>
          <p:cNvSpPr>
            <a:spLocks xmlns:a="http://schemas.openxmlformats.org/drawingml/2006/main" noGrp="1"/>
          </p:cNvSpPr>
          <p:nvPr/>
        </p:nvSpPr>
        <p:spPr>
          <a:xfrm xmlns:a="http://schemas.openxmlformats.org/drawingml/2006/main">
            <a:off x="685800" y="1790700"/>
            <a:ext cx="4476750"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675" b="1">
                <a:solidFill>
                  <a:srgbClr val="FFFFFF"/>
                </a:solidFill>
                <a:latin typeface="Arial"/>
                <a:ea typeface="Arial"/>
                <a:cs typeface="Arial"/>
              </a:defRPr>
            </a:pPr>
            <a:r>
              <a:rPr sz="3675" b="1">
                <a:solidFill>
                  <a:srgbClr val="FFFFFF"/>
                </a:solidFill>
                <a:latin typeface="Arial"/>
                <a:ea typeface="Arial"/>
                <a:cs typeface="Arial"/>
              </a:rPr>
              <a:t>Web portfolio</a:t>
            </a:r>
          </a:p>
        </p:txBody>
      </p:sp>
      <p:sp>
        <p:nvSpPr>
          <p:cNvPr id="5" name="">
            <a:extLst xmlns:a="http://schemas.openxmlformats.org/drawingml/2006/main">
              <a:ext uri="{FF2B5EF4-FFF2-40B4-BE49-F238E27FC236}">
                <a16:creationId xmlns:a16="http://schemas.microsoft.com/office/drawing/2014/main" id="{A94F3ED2-0B88-4A7C-80ED-0895314EF12B}"/>
              </a:ext>
            </a:extLst>
          </p:cNvPr>
          <p:cNvSpPr>
            <a:spLocks xmlns:a="http://schemas.openxmlformats.org/drawingml/2006/main" noGrp="1"/>
          </p:cNvSpPr>
          <p:nvPr/>
        </p:nvSpPr>
        <p:spPr>
          <a:xfrm xmlns:a="http://schemas.openxmlformats.org/drawingml/2006/main">
            <a:off x="685800" y="3676650"/>
            <a:ext cx="43338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E6EEE9"/>
                </a:solidFill>
                <a:latin typeface="Arial"/>
                <a:ea typeface="Arial"/>
                <a:cs typeface="Arial"/>
              </a:defRPr>
            </a:pPr>
            <a:r>
              <a:rPr sz="1650" b="0">
                <a:solidFill>
                  <a:srgbClr val="E6EEE9"/>
                </a:solidFill>
                <a:latin typeface="Arial"/>
                <a:ea typeface="Arial"/>
                <a:cs typeface="Arial"/>
              </a:rPr>
              <a:t>Structure and publish a connected Google Sites portfolio.</a:t>
            </a:r>
          </a:p>
        </p:txBody>
      </p:sp>
      <p:sp>
        <p:nvSpPr>
          <p:cNvPr id="6" name="">
            <a:extLst xmlns:a="http://schemas.openxmlformats.org/drawingml/2006/main">
              <a:ext uri="{FF2B5EF4-FFF2-40B4-BE49-F238E27FC236}">
                <a16:creationId xmlns:a16="http://schemas.microsoft.com/office/drawing/2014/main" id="{FD72BD41-CC1A-4069-91CF-55D2666DC873}"/>
              </a:ext>
            </a:extLst>
          </p:cNvPr>
          <p:cNvSpPr>
            <a:spLocks xmlns:a="http://schemas.openxmlformats.org/drawingml/2006/main" noGrp="1"/>
          </p:cNvSpPr>
          <p:nvPr/>
        </p:nvSpPr>
        <p:spPr>
          <a:xfrm xmlns:a="http://schemas.openxmlformats.org/drawingml/2006/main">
            <a:off x="685800" y="50101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1">
                <a:solidFill>
                  <a:srgbClr val="E8674B"/>
                </a:solidFill>
                <a:latin typeface="Arial"/>
                <a:ea typeface="Arial"/>
                <a:cs typeface="Arial"/>
              </a:defRPr>
            </a:pPr>
            <a:r>
              <a:rPr sz="900" b="1">
                <a:solidFill>
                  <a:srgbClr val="E8674B"/>
                </a:solidFill>
                <a:latin typeface="Arial"/>
                <a:ea typeface="Arial"/>
                <a:cs typeface="Arial"/>
              </a:rPr>
              <a:t>TEACHING QUESTION</a:t>
            </a:r>
          </a:p>
        </p:txBody>
      </p:sp>
      <p:sp>
        <p:nvSpPr>
          <p:cNvPr id="7" name="">
            <a:extLst xmlns:a="http://schemas.openxmlformats.org/drawingml/2006/main">
              <a:ext uri="{FF2B5EF4-FFF2-40B4-BE49-F238E27FC236}">
                <a16:creationId xmlns:a16="http://schemas.microsoft.com/office/drawing/2014/main" id="{F990F8B3-C672-4B59-97DF-F5E95580EC57}"/>
              </a:ext>
            </a:extLst>
          </p:cNvPr>
          <p:cNvSpPr>
            <a:spLocks xmlns:a="http://schemas.openxmlformats.org/drawingml/2006/main" noGrp="1"/>
          </p:cNvSpPr>
          <p:nvPr/>
        </p:nvSpPr>
        <p:spPr>
          <a:xfrm xmlns:a="http://schemas.openxmlformats.org/drawingml/2006/main">
            <a:off x="685800" y="5295900"/>
            <a:ext cx="43624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a:solidFill>
                  <a:srgbClr val="FFFFFF"/>
                </a:solidFill>
                <a:latin typeface="Arial"/>
                <a:ea typeface="Arial"/>
                <a:cs typeface="Arial"/>
              </a:defRPr>
            </a:pPr>
            <a:r>
              <a:rPr sz="1425" b="1">
                <a:solidFill>
                  <a:srgbClr val="FFFFFF"/>
                </a:solidFill>
                <a:latin typeface="Arial"/>
                <a:ea typeface="Arial"/>
                <a:cs typeface="Arial"/>
              </a:rPr>
              <a:t>What should a visitor predict from the labels Home, Products and Contact Us?</a:t>
            </a:r>
          </a:p>
        </p:txBody>
      </p:sp>
      <p:sp>
        <p:nvSpPr>
          <p:cNvPr id="8" name="">
            <a:extLst xmlns:a="http://schemas.openxmlformats.org/drawingml/2006/main">
              <a:ext uri="{FF2B5EF4-FFF2-40B4-BE49-F238E27FC236}">
                <a16:creationId xmlns:a16="http://schemas.microsoft.com/office/drawing/2014/main" id="{BAC16A3F-BFD2-4E3F-9D6A-0B03996A1E92}"/>
              </a:ext>
            </a:extLst>
          </p:cNvPr>
          <p:cNvSpPr>
            <a:spLocks xmlns:a="http://schemas.openxmlformats.org/drawingml/2006/main" noGrp="1"/>
          </p:cNvSpPr>
          <p:nvPr/>
        </p:nvSpPr>
        <p:spPr>
          <a:xfrm xmlns:a="http://schemas.openxmlformats.org/drawingml/2006/main">
            <a:off x="6191250" y="514350"/>
            <a:ext cx="5334000" cy="5372100"/>
          </a:xfrm>
          <a:prstGeom xmlns:a="http://schemas.openxmlformats.org/drawingml/2006/main" prst="roundRect">
            <a:avLst>
              <a:gd name="adj" fmla="val 2143"/>
            </a:avLst>
          </a:prstGeom>
          <a:solidFill xmlns:a="http://schemas.openxmlformats.org/drawingml/2006/main">
            <a:srgbClr val="FFFFFF"/>
          </a:solidFill>
          <a:ln xmlns:a="http://schemas.openxmlformats.org/drawingml/2006/main" w="9525">
            <a:solidFill>
              <a:srgbClr val="CFD8D2"/>
            </a:solidFill>
            <a:prstDash val="solid"/>
          </a:ln>
        </p:spPr>
      </p:sp>
      <p:sp>
        <p:nvSpPr>
          <p:cNvPr id="9" name="">
            <a:extLst xmlns:a="http://schemas.openxmlformats.org/drawingml/2006/main">
              <a:ext uri="{FF2B5EF4-FFF2-40B4-BE49-F238E27FC236}">
                <a16:creationId xmlns:a16="http://schemas.microsoft.com/office/drawing/2014/main" id="{4EF50BCF-6129-43EE-8E07-6362A473BE1D}"/>
              </a:ext>
            </a:extLst>
          </p:cNvPr>
          <p:cNvSpPr>
            <a:spLocks xmlns:a="http://schemas.openxmlformats.org/drawingml/2006/main" noGrp="1"/>
          </p:cNvSpPr>
          <p:nvPr/>
        </p:nvSpPr>
        <p:spPr>
          <a:xfrm xmlns:a="http://schemas.openxmlformats.org/drawingml/2006/main">
            <a:off x="6553200" y="838200"/>
            <a:ext cx="4610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200" b="1">
                <a:solidFill>
                  <a:srgbClr val="E8674B"/>
                </a:solidFill>
                <a:latin typeface="Arial"/>
                <a:ea typeface="Arial"/>
                <a:cs typeface="Arial"/>
              </a:defRPr>
            </a:pPr>
            <a:r>
              <a:rPr sz="1200" b="1">
                <a:solidFill>
                  <a:srgbClr val="E8674B"/>
                </a:solidFill>
                <a:latin typeface="Arial"/>
                <a:ea typeface="Arial"/>
                <a:cs typeface="Arial"/>
              </a:rPr>
              <a:t>PREDICTABLE NAVIGATION</a:t>
            </a:r>
          </a:p>
        </p:txBody>
      </p:sp>
      <p:sp>
        <p:nvSpPr>
          <p:cNvPr id="10" name="">
            <a:extLst xmlns:a="http://schemas.openxmlformats.org/drawingml/2006/main">
              <a:ext uri="{FF2B5EF4-FFF2-40B4-BE49-F238E27FC236}">
                <a16:creationId xmlns:a16="http://schemas.microsoft.com/office/drawing/2014/main" id="{068214F7-DDF3-4DD7-8000-2162B651AE0E}"/>
              </a:ext>
            </a:extLst>
          </p:cNvPr>
          <p:cNvSpPr>
            <a:spLocks xmlns:a="http://schemas.openxmlformats.org/drawingml/2006/main" noGrp="1"/>
          </p:cNvSpPr>
          <p:nvPr/>
        </p:nvSpPr>
        <p:spPr>
          <a:xfrm xmlns:a="http://schemas.openxmlformats.org/drawingml/2006/main">
            <a:off x="6705600" y="1390650"/>
            <a:ext cx="4305300" cy="685800"/>
          </a:xfrm>
          <a:prstGeom xmlns:a="http://schemas.openxmlformats.org/drawingml/2006/main" prst="roundRect">
            <a:avLst>
              <a:gd name="adj" fmla="val 16667"/>
            </a:avLst>
          </a:prstGeom>
          <a:solidFill xmlns:a="http://schemas.openxmlformats.org/drawingml/2006/main">
            <a:srgbClr val="0C5554"/>
          </a:solidFill>
          <a:ln xmlns:a="http://schemas.openxmlformats.org/drawingml/2006/main" w="0">
            <a:noFill/>
            <a:prstDash val="solid"/>
          </a:ln>
        </p:spPr>
        <p:txBody>
          <a:bodyPr xmlns:a="http://schemas.openxmlformats.org/drawingml/2006/main" lIns="76200" tIns="76200" rIns="76200" bIns="76200" anchor="ctr">
            <a:normAutofit fontScale="100000"/>
          </a:bodyPr>
          <a:lstStyle xmlns:a="http://schemas.openxmlformats.org/drawingml/2006/main"/>
          <a:p xmlns:a="http://schemas.openxmlformats.org/drawingml/2006/main">
            <a:pPr algn="ctr">
              <a:defRPr sz="1875" b="1">
                <a:solidFill>
                  <a:srgbClr val="FFFFFF"/>
                </a:solidFill>
                <a:latin typeface="Arial"/>
                <a:ea typeface="Arial"/>
                <a:cs typeface="Arial"/>
              </a:defRPr>
            </a:pPr>
            <a:r>
              <a:rPr sz="1875" b="1">
                <a:solidFill>
                  <a:srgbClr val="FFFFFF"/>
                </a:solidFill>
                <a:latin typeface="Arial"/>
                <a:ea typeface="Arial"/>
                <a:cs typeface="Arial"/>
              </a:rPr>
              <a:t>HOME</a:t>
            </a:r>
          </a:p>
        </p:txBody>
      </p:sp>
      <p:sp>
        <p:nvSpPr>
          <p:cNvPr id="11" name="">
            <a:extLst xmlns:a="http://schemas.openxmlformats.org/drawingml/2006/main">
              <a:ext uri="{FF2B5EF4-FFF2-40B4-BE49-F238E27FC236}">
                <a16:creationId xmlns:a16="http://schemas.microsoft.com/office/drawing/2014/main" id="{C6F0F645-75A4-40CA-A777-34A2D043CBBE}"/>
              </a:ext>
            </a:extLst>
          </p:cNvPr>
          <p:cNvSpPr>
            <a:spLocks xmlns:a="http://schemas.openxmlformats.org/drawingml/2006/main" noGrp="1"/>
          </p:cNvSpPr>
          <p:nvPr/>
        </p:nvSpPr>
        <p:spPr>
          <a:xfrm xmlns:a="http://schemas.openxmlformats.org/drawingml/2006/main">
            <a:off x="8667750" y="2133600"/>
            <a:ext cx="38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650" b="1">
                <a:solidFill>
                  <a:srgbClr val="64706B"/>
                </a:solidFill>
                <a:latin typeface="Arial"/>
                <a:ea typeface="Arial"/>
                <a:cs typeface="Arial"/>
              </a:defRPr>
            </a:pPr>
            <a:r>
              <a:rPr sz="1650" b="1">
                <a:solidFill>
                  <a:srgbClr val="64706B"/>
                </a:solidFill>
                <a:latin typeface="Arial"/>
                <a:ea typeface="Arial"/>
                <a:cs typeface="Arial"/>
              </a:rPr>
              <a:t>↓</a:t>
            </a:r>
          </a:p>
        </p:txBody>
      </p:sp>
      <p:sp>
        <p:nvSpPr>
          <p:cNvPr id="12" name="">
            <a:extLst xmlns:a="http://schemas.openxmlformats.org/drawingml/2006/main">
              <a:ext uri="{FF2B5EF4-FFF2-40B4-BE49-F238E27FC236}">
                <a16:creationId xmlns:a16="http://schemas.microsoft.com/office/drawing/2014/main" id="{9C6FB344-C11C-46E7-B4D9-B0B43017598A}"/>
              </a:ext>
            </a:extLst>
          </p:cNvPr>
          <p:cNvSpPr>
            <a:spLocks xmlns:a="http://schemas.openxmlformats.org/drawingml/2006/main" noGrp="1"/>
          </p:cNvSpPr>
          <p:nvPr/>
        </p:nvSpPr>
        <p:spPr>
          <a:xfrm xmlns:a="http://schemas.openxmlformats.org/drawingml/2006/main">
            <a:off x="6705600" y="2590800"/>
            <a:ext cx="4305300" cy="685800"/>
          </a:xfrm>
          <a:prstGeom xmlns:a="http://schemas.openxmlformats.org/drawingml/2006/main" prst="roundRect">
            <a:avLst>
              <a:gd name="adj" fmla="val 16667"/>
            </a:avLst>
          </a:prstGeom>
          <a:solidFill xmlns:a="http://schemas.openxmlformats.org/drawingml/2006/main">
            <a:srgbClr val="F7E8E3"/>
          </a:solidFill>
          <a:ln xmlns:a="http://schemas.openxmlformats.org/drawingml/2006/main" w="0">
            <a:noFill/>
            <a:prstDash val="solid"/>
          </a:ln>
        </p:spPr>
        <p:txBody>
          <a:bodyPr xmlns:a="http://schemas.openxmlformats.org/drawingml/2006/main" lIns="76200" tIns="76200" rIns="76200" bIns="76200" anchor="ctr">
            <a:normAutofit fontScale="100000"/>
          </a:bodyPr>
          <a:lstStyle xmlns:a="http://schemas.openxmlformats.org/drawingml/2006/main"/>
          <a:p xmlns:a="http://schemas.openxmlformats.org/drawingml/2006/main">
            <a:pPr algn="ctr">
              <a:defRPr sz="1875" b="1">
                <a:solidFill>
                  <a:srgbClr val="17342C"/>
                </a:solidFill>
                <a:latin typeface="Arial"/>
                <a:ea typeface="Arial"/>
                <a:cs typeface="Arial"/>
              </a:defRPr>
            </a:pPr>
            <a:r>
              <a:rPr sz="1875" b="1">
                <a:solidFill>
                  <a:srgbClr val="17342C"/>
                </a:solidFill>
                <a:latin typeface="Arial"/>
                <a:ea typeface="Arial"/>
                <a:cs typeface="Arial"/>
              </a:rPr>
              <a:t>PRODUCTS</a:t>
            </a:r>
          </a:p>
        </p:txBody>
      </p:sp>
      <p:sp>
        <p:nvSpPr>
          <p:cNvPr id="13" name="">
            <a:extLst xmlns:a="http://schemas.openxmlformats.org/drawingml/2006/main">
              <a:ext uri="{FF2B5EF4-FFF2-40B4-BE49-F238E27FC236}">
                <a16:creationId xmlns:a16="http://schemas.microsoft.com/office/drawing/2014/main" id="{F44180B6-F18A-412C-BA76-10BAB09A486A}"/>
              </a:ext>
            </a:extLst>
          </p:cNvPr>
          <p:cNvSpPr>
            <a:spLocks xmlns:a="http://schemas.openxmlformats.org/drawingml/2006/main" noGrp="1"/>
          </p:cNvSpPr>
          <p:nvPr/>
        </p:nvSpPr>
        <p:spPr>
          <a:xfrm xmlns:a="http://schemas.openxmlformats.org/drawingml/2006/main">
            <a:off x="8667750" y="3333750"/>
            <a:ext cx="381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650" b="1">
                <a:solidFill>
                  <a:srgbClr val="64706B"/>
                </a:solidFill>
                <a:latin typeface="Arial"/>
                <a:ea typeface="Arial"/>
                <a:cs typeface="Arial"/>
              </a:defRPr>
            </a:pPr>
            <a:r>
              <a:rPr sz="1650" b="1">
                <a:solidFill>
                  <a:srgbClr val="64706B"/>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1A491CD6-BB9F-41D6-B347-47B84D32CE86}"/>
              </a:ext>
            </a:extLst>
          </p:cNvPr>
          <p:cNvSpPr>
            <a:spLocks xmlns:a="http://schemas.openxmlformats.org/drawingml/2006/main" noGrp="1"/>
          </p:cNvSpPr>
          <p:nvPr/>
        </p:nvSpPr>
        <p:spPr>
          <a:xfrm xmlns:a="http://schemas.openxmlformats.org/drawingml/2006/main">
            <a:off x="6705600" y="3790950"/>
            <a:ext cx="4305300" cy="685800"/>
          </a:xfrm>
          <a:prstGeom xmlns:a="http://schemas.openxmlformats.org/drawingml/2006/main" prst="roundRect">
            <a:avLst>
              <a:gd name="adj" fmla="val 16667"/>
            </a:avLst>
          </a:prstGeom>
          <a:solidFill xmlns:a="http://schemas.openxmlformats.org/drawingml/2006/main">
            <a:srgbClr val="FCF4D8"/>
          </a:solidFill>
          <a:ln xmlns:a="http://schemas.openxmlformats.org/drawingml/2006/main" w="0">
            <a:noFill/>
            <a:prstDash val="solid"/>
          </a:ln>
        </p:spPr>
        <p:txBody>
          <a:bodyPr xmlns:a="http://schemas.openxmlformats.org/drawingml/2006/main" lIns="76200" tIns="76200" rIns="76200" bIns="76200" anchor="ctr">
            <a:normAutofit fontScale="100000"/>
          </a:bodyPr>
          <a:lstStyle xmlns:a="http://schemas.openxmlformats.org/drawingml/2006/main"/>
          <a:p xmlns:a="http://schemas.openxmlformats.org/drawingml/2006/main">
            <a:pPr algn="ctr">
              <a:defRPr sz="1875" b="1">
                <a:solidFill>
                  <a:srgbClr val="17342C"/>
                </a:solidFill>
                <a:latin typeface="Arial"/>
                <a:ea typeface="Arial"/>
                <a:cs typeface="Arial"/>
              </a:defRPr>
            </a:pPr>
            <a:r>
              <a:rPr sz="1875" b="1">
                <a:solidFill>
                  <a:srgbClr val="17342C"/>
                </a:solidFill>
                <a:latin typeface="Arial"/>
                <a:ea typeface="Arial"/>
                <a:cs typeface="Arial"/>
              </a:rPr>
              <a:t>CONTACT US</a:t>
            </a:r>
          </a:p>
        </p:txBody>
      </p:sp>
      <p:sp>
        <p:nvSpPr>
          <p:cNvPr id="15" name="">
            <a:extLst xmlns:a="http://schemas.openxmlformats.org/drawingml/2006/main">
              <a:ext uri="{FF2B5EF4-FFF2-40B4-BE49-F238E27FC236}">
                <a16:creationId xmlns:a16="http://schemas.microsoft.com/office/drawing/2014/main" id="{042670EF-0E51-490D-A9A5-2FD7A7F17CA8}"/>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09  •  WEB PORTFOLIO</a:t>
            </a:r>
          </a:p>
        </p:txBody>
      </p:sp>
      <p:sp>
        <p:nvSpPr>
          <p:cNvPr id="16" name="">
            <a:extLst xmlns:a="http://schemas.openxmlformats.org/drawingml/2006/main">
              <a:ext uri="{FF2B5EF4-FFF2-40B4-BE49-F238E27FC236}">
                <a16:creationId xmlns:a16="http://schemas.microsoft.com/office/drawing/2014/main" id="{BC245494-71D8-4920-9C0E-9B3FF7DC0ADD}"/>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01</a:t>
            </a:r>
          </a:p>
        </p:txBody>
      </p:sp>
    </p:spTree>
    <p:extLst>
      <p:ext uri="{BB962C8B-B14F-4D97-AF65-F5344CB8AC3E}">
        <p14:creationId xmlns:p14="http://schemas.microsoft.com/office/powerpoint/2010/main" val="770170262"/>
      </p:ext>
    </p:extLst>
  </p:cSld>
</p:sld>
</file>

<file path=ppt/slides/slide2.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0134BC4-931A-4362-85F4-F6F6BA989547}"/>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E600BB0-09DD-4B4F-82E6-8B0113643694}"/>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TODAY'S LEARNING PATH</a:t>
            </a:r>
          </a:p>
        </p:txBody>
      </p:sp>
      <p:sp>
        <p:nvSpPr>
          <p:cNvPr id="3" name="">
            <a:extLst xmlns:a="http://schemas.openxmlformats.org/drawingml/2006/main">
              <a:ext uri="{FF2B5EF4-FFF2-40B4-BE49-F238E27FC236}">
                <a16:creationId xmlns:a16="http://schemas.microsoft.com/office/drawing/2014/main" id="{FA2F3681-8CE4-43A2-9926-B31374BF5DDD}"/>
              </a:ext>
            </a:extLst>
          </p:cNvPr>
          <p:cNvSpPr>
            <a:spLocks xmlns:a="http://schemas.openxmlformats.org/drawingml/2006/main" noGrp="1"/>
          </p:cNvSpPr>
          <p:nvPr/>
        </p:nvSpPr>
        <p:spPr>
          <a:xfrm xmlns:a="http://schemas.openxmlformats.org/drawingml/2006/main">
            <a:off x="685800" y="895350"/>
            <a:ext cx="7429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Where are we going?</a:t>
            </a:r>
          </a:p>
        </p:txBody>
      </p:sp>
      <p:sp>
        <p:nvSpPr>
          <p:cNvPr id="4" name="">
            <a:extLst xmlns:a="http://schemas.openxmlformats.org/drawingml/2006/main">
              <a:ext uri="{FF2B5EF4-FFF2-40B4-BE49-F238E27FC236}">
                <a16:creationId xmlns:a16="http://schemas.microsoft.com/office/drawing/2014/main" id="{678390D1-1C35-4C55-8D1E-EB1E1B23CB3B}"/>
              </a:ext>
            </a:extLst>
          </p:cNvPr>
          <p:cNvSpPr>
            <a:spLocks xmlns:a="http://schemas.openxmlformats.org/drawingml/2006/main" noGrp="1"/>
          </p:cNvSpPr>
          <p:nvPr/>
        </p:nvSpPr>
        <p:spPr>
          <a:xfrm xmlns:a="http://schemas.openxmlformats.org/drawingml/2006/main">
            <a:off x="685800" y="19526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5" name="">
            <a:extLst xmlns:a="http://schemas.openxmlformats.org/drawingml/2006/main">
              <a:ext uri="{FF2B5EF4-FFF2-40B4-BE49-F238E27FC236}">
                <a16:creationId xmlns:a16="http://schemas.microsoft.com/office/drawing/2014/main" id="{38B4E4D2-E74A-4119-A859-E259EC72EEBE}"/>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658A2AB-A3BC-440F-BC88-9A5DA36FD52F}"/>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C9CC8897-9C83-4FA5-B45F-8164A437E704}"/>
              </a:ext>
            </a:extLst>
          </p:cNvPr>
          <p:cNvSpPr>
            <a:spLocks xmlns:a="http://schemas.openxmlformats.org/drawingml/2006/main" noGrp="1"/>
          </p:cNvSpPr>
          <p:nvPr/>
        </p:nvSpPr>
        <p:spPr>
          <a:xfrm xmlns:a="http://schemas.openxmlformats.org/drawingml/2006/main">
            <a:off x="1733550" y="21431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Site structure and navigation</a:t>
            </a:r>
          </a:p>
        </p:txBody>
      </p:sp>
      <p:sp>
        <p:nvSpPr>
          <p:cNvPr id="8" name="">
            <a:extLst xmlns:a="http://schemas.openxmlformats.org/drawingml/2006/main">
              <a:ext uri="{FF2B5EF4-FFF2-40B4-BE49-F238E27FC236}">
                <a16:creationId xmlns:a16="http://schemas.microsoft.com/office/drawing/2014/main" id="{C86EE22C-FF19-47BE-B53D-6D0BB1E8CDE7}"/>
              </a:ext>
            </a:extLst>
          </p:cNvPr>
          <p:cNvSpPr>
            <a:spLocks xmlns:a="http://schemas.openxmlformats.org/drawingml/2006/main" noGrp="1"/>
          </p:cNvSpPr>
          <p:nvPr/>
        </p:nvSpPr>
        <p:spPr>
          <a:xfrm xmlns:a="http://schemas.openxmlformats.org/drawingml/2006/main">
            <a:off x="685800" y="32099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9" name="">
            <a:extLst xmlns:a="http://schemas.openxmlformats.org/drawingml/2006/main">
              <a:ext uri="{FF2B5EF4-FFF2-40B4-BE49-F238E27FC236}">
                <a16:creationId xmlns:a16="http://schemas.microsoft.com/office/drawing/2014/main" id="{6842C67A-ECC8-4381-AC3B-361D6DC1ABC9}"/>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185CC35-1F60-4419-9238-4984B02CD1F8}"/>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7342C"/>
                </a:solidFill>
                <a:latin typeface="Arial"/>
                <a:ea typeface="Arial"/>
                <a:cs typeface="Arial"/>
              </a:defRPr>
            </a:pPr>
            <a:r>
              <a:rPr sz="1500" b="1">
                <a:solidFill>
                  <a:srgbClr val="17342C"/>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62166503-CF9F-492E-B86E-140AA391C05D}"/>
              </a:ext>
            </a:extLst>
          </p:cNvPr>
          <p:cNvSpPr>
            <a:spLocks xmlns:a="http://schemas.openxmlformats.org/drawingml/2006/main" noGrp="1"/>
          </p:cNvSpPr>
          <p:nvPr/>
        </p:nvSpPr>
        <p:spPr>
          <a:xfrm xmlns:a="http://schemas.openxmlformats.org/drawingml/2006/main">
            <a:off x="1733550" y="34004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Preparing and embedding media</a:t>
            </a:r>
          </a:p>
        </p:txBody>
      </p:sp>
      <p:sp>
        <p:nvSpPr>
          <p:cNvPr id="12" name="">
            <a:extLst xmlns:a="http://schemas.openxmlformats.org/drawingml/2006/main">
              <a:ext uri="{FF2B5EF4-FFF2-40B4-BE49-F238E27FC236}">
                <a16:creationId xmlns:a16="http://schemas.microsoft.com/office/drawing/2014/main" id="{FDB4B5E4-69FD-4707-B84E-D13946C0851E}"/>
              </a:ext>
            </a:extLst>
          </p:cNvPr>
          <p:cNvSpPr>
            <a:spLocks xmlns:a="http://schemas.openxmlformats.org/drawingml/2006/main" noGrp="1"/>
          </p:cNvSpPr>
          <p:nvPr/>
        </p:nvSpPr>
        <p:spPr>
          <a:xfrm xmlns:a="http://schemas.openxmlformats.org/drawingml/2006/main">
            <a:off x="685800" y="44672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13" name="">
            <a:extLst xmlns:a="http://schemas.openxmlformats.org/drawingml/2006/main">
              <a:ext uri="{FF2B5EF4-FFF2-40B4-BE49-F238E27FC236}">
                <a16:creationId xmlns:a16="http://schemas.microsoft.com/office/drawing/2014/main" id="{CA0420E3-07D3-4966-B363-447409CEE1C9}"/>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FA672DF-D3B8-41BF-90BB-AB22EAEEF58D}"/>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2AD0ECBD-3CBE-45D7-8B2F-B2C4FE89FC34}"/>
              </a:ext>
            </a:extLst>
          </p:cNvPr>
          <p:cNvSpPr>
            <a:spLocks xmlns:a="http://schemas.openxmlformats.org/drawingml/2006/main" noGrp="1"/>
          </p:cNvSpPr>
          <p:nvPr/>
        </p:nvSpPr>
        <p:spPr>
          <a:xfrm xmlns:a="http://schemas.openxmlformats.org/drawingml/2006/main">
            <a:off x="1733550" y="46577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Publishing, access and submission</a:t>
            </a:r>
          </a:p>
        </p:txBody>
      </p:sp>
      <p:sp>
        <p:nvSpPr>
          <p:cNvPr id="16" name="">
            <a:extLst xmlns:a="http://schemas.openxmlformats.org/drawingml/2006/main">
              <a:ext uri="{FF2B5EF4-FFF2-40B4-BE49-F238E27FC236}">
                <a16:creationId xmlns:a16="http://schemas.microsoft.com/office/drawing/2014/main" id="{595413A6-F466-425E-82BF-A68FE8E7C884}"/>
              </a:ext>
            </a:extLst>
          </p:cNvPr>
          <p:cNvSpPr>
            <a:spLocks xmlns:a="http://schemas.openxmlformats.org/drawingml/2006/main" noGrp="1"/>
          </p:cNvSpPr>
          <p:nvPr/>
        </p:nvSpPr>
        <p:spPr>
          <a:xfrm xmlns:a="http://schemas.openxmlformats.org/drawingml/2006/main">
            <a:off x="8191500" y="20764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F2BD3C"/>
                </a:solidFill>
                <a:latin typeface="Arial"/>
                <a:ea typeface="Arial"/>
                <a:cs typeface="Arial"/>
              </a:defRPr>
            </a:pPr>
            <a:r>
              <a:rPr sz="1050" b="1">
                <a:solidFill>
                  <a:srgbClr val="F2BD3C"/>
                </a:solidFill>
                <a:latin typeface="Arial"/>
                <a:ea typeface="Arial"/>
                <a:cs typeface="Arial"/>
              </a:rPr>
              <a:t>RETRIEVAL WARM-UP</a:t>
            </a:r>
          </a:p>
        </p:txBody>
      </p:sp>
      <p:sp>
        <p:nvSpPr>
          <p:cNvPr id="17" name="">
            <a:extLst xmlns:a="http://schemas.openxmlformats.org/drawingml/2006/main">
              <a:ext uri="{FF2B5EF4-FFF2-40B4-BE49-F238E27FC236}">
                <a16:creationId xmlns:a16="http://schemas.microsoft.com/office/drawing/2014/main" id="{66246BC9-1117-4CB1-A863-19FFC433771E}"/>
              </a:ext>
            </a:extLst>
          </p:cNvPr>
          <p:cNvSpPr>
            <a:spLocks xmlns:a="http://schemas.openxmlformats.org/drawingml/2006/main" noGrp="1"/>
          </p:cNvSpPr>
          <p:nvPr/>
        </p:nvSpPr>
        <p:spPr>
          <a:xfrm xmlns:a="http://schemas.openxmlformats.org/drawingml/2006/main">
            <a:off x="8191500" y="2609850"/>
            <a:ext cx="2952750" cy="1390650"/>
          </a:xfrm>
          <a:prstGeom xmlns:a="http://schemas.openxmlformats.org/drawingml/2006/main" prst="roundRect">
            <a:avLst>
              <a:gd name="adj" fmla="val 8219"/>
            </a:avLst>
          </a:prstGeom>
          <a:solidFill xmlns:a="http://schemas.openxmlformats.org/drawingml/2006/main">
            <a:srgbClr val="17342C"/>
          </a:solidFill>
          <a:ln xmlns:a="http://schemas.openxmlformats.org/drawingml/2006/main" w="0">
            <a:noFill/>
            <a:prstDash val="solid"/>
          </a:ln>
        </p:spPr>
        <p:txBody>
          <a:bodyPr xmlns:a="http://schemas.openxmlformats.org/drawingml/2006/main" lIns="209550" tIns="209550" rIns="209550" bIns="209550" anchor="ctr">
            <a:normAutofit fontScale="79142"/>
          </a:bodyPr>
          <a:lstStyle xmlns:a="http://schemas.openxmlformats.org/drawingml/2006/main"/>
          <a:p xmlns:a="http://schemas.openxmlformats.org/drawingml/2006/main">
            <a:pPr algn="l">
              <a:defRPr sz="1875" b="1">
                <a:solidFill>
                  <a:srgbClr val="FFFFFF"/>
                </a:solidFill>
                <a:latin typeface="Arial"/>
                <a:ea typeface="Arial"/>
                <a:cs typeface="Arial"/>
              </a:defRPr>
            </a:pPr>
            <a:r>
              <a:rPr sz="1875" b="1">
                <a:solidFill>
                  <a:srgbClr val="FFFFFF"/>
                </a:solidFill>
                <a:latin typeface="Arial"/>
                <a:ea typeface="Arial"/>
                <a:cs typeface="Arial"/>
              </a:rPr>
              <a:t>What should a visitor predict from the labels Home, Products and Contact Us?</a:t>
            </a:r>
          </a:p>
        </p:txBody>
      </p:sp>
      <p:sp>
        <p:nvSpPr>
          <p:cNvPr id="18" name="">
            <a:extLst xmlns:a="http://schemas.openxmlformats.org/drawingml/2006/main">
              <a:ext uri="{FF2B5EF4-FFF2-40B4-BE49-F238E27FC236}">
                <a16:creationId xmlns:a16="http://schemas.microsoft.com/office/drawing/2014/main" id="{D9462083-E7B2-4D4E-925C-842F754A219C}"/>
              </a:ext>
            </a:extLst>
          </p:cNvPr>
          <p:cNvSpPr>
            <a:spLocks xmlns:a="http://schemas.openxmlformats.org/drawingml/2006/main" noGrp="1"/>
          </p:cNvSpPr>
          <p:nvPr/>
        </p:nvSpPr>
        <p:spPr>
          <a:xfrm xmlns:a="http://schemas.openxmlformats.org/drawingml/2006/main">
            <a:off x="8191500" y="42291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Think silently → pair → share one reason.</a:t>
            </a:r>
          </a:p>
        </p:txBody>
      </p:sp>
      <p:sp>
        <p:nvSpPr>
          <p:cNvPr id="19" name="">
            <a:extLst xmlns:a="http://schemas.openxmlformats.org/drawingml/2006/main">
              <a:ext uri="{FF2B5EF4-FFF2-40B4-BE49-F238E27FC236}">
                <a16:creationId xmlns:a16="http://schemas.microsoft.com/office/drawing/2014/main" id="{88989021-458D-48E1-B46B-06C05EE0B025}"/>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09  •  WEB PORTFOLIO</a:t>
            </a:r>
          </a:p>
        </p:txBody>
      </p:sp>
      <p:sp>
        <p:nvSpPr>
          <p:cNvPr id="20" name="">
            <a:extLst xmlns:a="http://schemas.openxmlformats.org/drawingml/2006/main">
              <a:ext uri="{FF2B5EF4-FFF2-40B4-BE49-F238E27FC236}">
                <a16:creationId xmlns:a16="http://schemas.microsoft.com/office/drawing/2014/main" id="{9E6C9573-946A-435E-A637-A586359DF9F0}"/>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02</a:t>
            </a:r>
          </a:p>
        </p:txBody>
      </p:sp>
    </p:spTree>
    <p:extLst>
      <p:ext uri="{BB962C8B-B14F-4D97-AF65-F5344CB8AC3E}">
        <p14:creationId xmlns:p14="http://schemas.microsoft.com/office/powerpoint/2010/main" val="1757559748"/>
      </p:ext>
    </p:extLst>
  </p:cSld>
</p:sld>
</file>

<file path=ppt/slides/slide3.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D38D987-5C00-4810-BE6E-C414902EBCE7}"/>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A846006-4F34-4BD8-87F8-928ECA3208F4}"/>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9.1  SITE STRUCTURE AND NAVIGATION</a:t>
            </a:r>
          </a:p>
        </p:txBody>
      </p:sp>
      <p:sp>
        <p:nvSpPr>
          <p:cNvPr id="3" name="">
            <a:extLst xmlns:a="http://schemas.openxmlformats.org/drawingml/2006/main">
              <a:ext uri="{FF2B5EF4-FFF2-40B4-BE49-F238E27FC236}">
                <a16:creationId xmlns:a16="http://schemas.microsoft.com/office/drawing/2014/main" id="{72A16C8F-A9A8-4CB0-A6A7-0B1DF8B93907}"/>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Site structure and navigation</a:t>
            </a:r>
          </a:p>
        </p:txBody>
      </p:sp>
      <p:sp>
        <p:nvSpPr>
          <p:cNvPr id="4" name="">
            <a:extLst xmlns:a="http://schemas.openxmlformats.org/drawingml/2006/main">
              <a:ext uri="{FF2B5EF4-FFF2-40B4-BE49-F238E27FC236}">
                <a16:creationId xmlns:a16="http://schemas.microsoft.com/office/drawing/2014/main" id="{06BEB00F-6BFB-47C8-BA09-17F2E833EFE6}"/>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1DA773A7-6521-41A3-AA46-5C813B0FC084}"/>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8149253-3B80-4621-9D1D-0C313B4F4B4A}"/>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The source demonstrates Home, Products and Contact Us.</a:t>
            </a:r>
          </a:p>
        </p:txBody>
      </p:sp>
      <p:sp>
        <p:nvSpPr>
          <p:cNvPr id="7" name="">
            <a:extLst xmlns:a="http://schemas.openxmlformats.org/drawingml/2006/main">
              <a:ext uri="{FF2B5EF4-FFF2-40B4-BE49-F238E27FC236}">
                <a16:creationId xmlns:a16="http://schemas.microsoft.com/office/drawing/2014/main" id="{6D22B6F0-5659-434D-BAF4-E1C9D7D41820}"/>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0A58A6C-6A97-4E82-A327-BBB1EED58402}"/>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Labels should predict destination content.</a:t>
            </a:r>
          </a:p>
        </p:txBody>
      </p:sp>
      <p:sp>
        <p:nvSpPr>
          <p:cNvPr id="9" name="">
            <a:extLst xmlns:a="http://schemas.openxmlformats.org/drawingml/2006/main">
              <a:ext uri="{FF2B5EF4-FFF2-40B4-BE49-F238E27FC236}">
                <a16:creationId xmlns:a16="http://schemas.microsoft.com/office/drawing/2014/main" id="{6070AC7C-9559-4D0A-9D0E-55ED24A1707E}"/>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D20E386-EE16-4EE6-ABDA-6D8BDE89A1EA}"/>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Real contact information requires privacy-safe teacher direction.</a:t>
            </a:r>
          </a:p>
        </p:txBody>
      </p:sp>
      <p:sp>
        <p:nvSpPr>
          <p:cNvPr id="11" name="">
            <a:extLst xmlns:a="http://schemas.openxmlformats.org/drawingml/2006/main">
              <a:ext uri="{FF2B5EF4-FFF2-40B4-BE49-F238E27FC236}">
                <a16:creationId xmlns:a16="http://schemas.microsoft.com/office/drawing/2014/main" id="{F4117800-A2B3-488B-8BAD-35FD7D94EB24}"/>
              </a:ext>
            </a:extLst>
          </p:cNvPr>
          <p:cNvSpPr>
            <a:spLocks xmlns:a="http://schemas.openxmlformats.org/drawingml/2006/main" noGrp="1"/>
          </p:cNvSpPr>
          <p:nvPr/>
        </p:nvSpPr>
        <p:spPr>
          <a:xfrm xmlns:a="http://schemas.openxmlformats.org/drawingml/2006/main">
            <a:off x="7200900" y="1352550"/>
            <a:ext cx="4305300" cy="3505200"/>
          </a:xfrm>
          <a:prstGeom xmlns:a="http://schemas.openxmlformats.org/drawingml/2006/main" prst="roundRect">
            <a:avLst>
              <a:gd name="adj" fmla="val 3261"/>
            </a:avLst>
          </a:prstGeom>
          <a:solidFill xmlns:a="http://schemas.openxmlformats.org/drawingml/2006/main">
            <a:srgbClr val="FFFFFF"/>
          </a:solidFill>
          <a:ln xmlns:a="http://schemas.openxmlformats.org/drawingml/2006/main" w="9525">
            <a:solidFill>
              <a:srgbClr val="CFD8D2"/>
            </a:solidFill>
            <a:prstDash val="solid"/>
          </a:ln>
        </p:spPr>
      </p:sp>
      <p:sp>
        <p:nvSpPr>
          <p:cNvPr id="12" name="">
            <a:extLst xmlns:a="http://schemas.openxmlformats.org/drawingml/2006/main">
              <a:ext uri="{FF2B5EF4-FFF2-40B4-BE49-F238E27FC236}">
                <a16:creationId xmlns:a16="http://schemas.microsoft.com/office/drawing/2014/main" id="{DBAEC510-CFB5-42E4-8EBD-7AF9E1D7AF1D}"/>
              </a:ext>
            </a:extLst>
          </p:cNvPr>
          <p:cNvSpPr>
            <a:spLocks xmlns:a="http://schemas.openxmlformats.org/drawingml/2006/main" noGrp="1"/>
          </p:cNvSpPr>
          <p:nvPr/>
        </p:nvSpPr>
        <p:spPr>
          <a:xfrm xmlns:a="http://schemas.openxmlformats.org/drawingml/2006/main">
            <a:off x="7410450" y="1524000"/>
            <a:ext cx="3886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0C5554"/>
                </a:solidFill>
                <a:latin typeface="Arial"/>
                <a:ea typeface="Arial"/>
                <a:cs typeface="Arial"/>
              </a:defRPr>
            </a:pPr>
            <a:r>
              <a:rPr sz="1425" b="1">
                <a:solidFill>
                  <a:srgbClr val="0C5554"/>
                </a:solidFill>
                <a:latin typeface="Arial"/>
                <a:ea typeface="Arial"/>
                <a:cs typeface="Arial"/>
              </a:rPr>
              <a:t>PREDICTABLE LABELS BUILD A PATH</a:t>
            </a:r>
          </a:p>
        </p:txBody>
      </p:sp>
      <p:sp>
        <p:nvSpPr>
          <p:cNvPr id="13" name="">
            <a:extLst xmlns:a="http://schemas.openxmlformats.org/drawingml/2006/main">
              <a:ext uri="{FF2B5EF4-FFF2-40B4-BE49-F238E27FC236}">
                <a16:creationId xmlns:a16="http://schemas.microsoft.com/office/drawing/2014/main" id="{0A893C3D-B56A-4F40-A6DB-DD5A6443A277}"/>
              </a:ext>
            </a:extLst>
          </p:cNvPr>
          <p:cNvSpPr>
            <a:spLocks xmlns:a="http://schemas.openxmlformats.org/drawingml/2006/main" noGrp="1"/>
          </p:cNvSpPr>
          <p:nvPr/>
        </p:nvSpPr>
        <p:spPr>
          <a:xfrm xmlns:a="http://schemas.openxmlformats.org/drawingml/2006/main">
            <a:off x="7696200" y="2009775"/>
            <a:ext cx="3314700" cy="571500"/>
          </a:xfrm>
          <a:prstGeom xmlns:a="http://schemas.openxmlformats.org/drawingml/2006/main" prst="roundRect">
            <a:avLst>
              <a:gd name="adj" fmla="val 13333"/>
            </a:avLst>
          </a:prstGeom>
          <a:solidFill xmlns:a="http://schemas.openxmlformats.org/drawingml/2006/main">
            <a:srgbClr val="0C5554"/>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650" b="1">
                <a:solidFill>
                  <a:srgbClr val="FFFFFF"/>
                </a:solidFill>
                <a:latin typeface="Arial"/>
                <a:ea typeface="Arial"/>
                <a:cs typeface="Arial"/>
              </a:defRPr>
            </a:pPr>
            <a:r>
              <a:rPr sz="1650" b="1">
                <a:solidFill>
                  <a:srgbClr val="FFFFFF"/>
                </a:solidFill>
                <a:latin typeface="Arial"/>
                <a:ea typeface="Arial"/>
                <a:cs typeface="Arial"/>
              </a:rPr>
              <a:t>HOME</a:t>
            </a:r>
          </a:p>
        </p:txBody>
      </p:sp>
      <p:sp>
        <p:nvSpPr>
          <p:cNvPr id="14" name="">
            <a:extLst xmlns:a="http://schemas.openxmlformats.org/drawingml/2006/main">
              <a:ext uri="{FF2B5EF4-FFF2-40B4-BE49-F238E27FC236}">
                <a16:creationId xmlns:a16="http://schemas.microsoft.com/office/drawing/2014/main" id="{18102751-B21E-4F9B-B3FC-6525BB15B29E}"/>
              </a:ext>
            </a:extLst>
          </p:cNvPr>
          <p:cNvSpPr>
            <a:spLocks xmlns:a="http://schemas.openxmlformats.org/drawingml/2006/main" noGrp="1"/>
          </p:cNvSpPr>
          <p:nvPr/>
        </p:nvSpPr>
        <p:spPr>
          <a:xfrm xmlns:a="http://schemas.openxmlformats.org/drawingml/2006/main">
            <a:off x="9182100" y="2581275"/>
            <a:ext cx="342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88235"/>
          </a:bodyPr>
          <a:lstStyle xmlns:a="http://schemas.openxmlformats.org/drawingml/2006/main"/>
          <a:p xmlns:a="http://schemas.openxmlformats.org/drawingml/2006/main">
            <a:pPr algn="ctr">
              <a:defRPr sz="1275" b="1">
                <a:solidFill>
                  <a:srgbClr val="64706B"/>
                </a:solidFill>
                <a:latin typeface="Arial"/>
                <a:ea typeface="Arial"/>
                <a:cs typeface="Arial"/>
              </a:defRPr>
            </a:pPr>
            <a:r>
              <a:rPr sz="1275" b="1">
                <a:solidFill>
                  <a:srgbClr val="64706B"/>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0F255675-4BCF-4B92-9A50-00334333D495}"/>
              </a:ext>
            </a:extLst>
          </p:cNvPr>
          <p:cNvSpPr>
            <a:spLocks xmlns:a="http://schemas.openxmlformats.org/drawingml/2006/main" noGrp="1"/>
          </p:cNvSpPr>
          <p:nvPr/>
        </p:nvSpPr>
        <p:spPr>
          <a:xfrm xmlns:a="http://schemas.openxmlformats.org/drawingml/2006/main">
            <a:off x="7696200" y="2752725"/>
            <a:ext cx="3314700" cy="571500"/>
          </a:xfrm>
          <a:prstGeom xmlns:a="http://schemas.openxmlformats.org/drawingml/2006/main" prst="roundRect">
            <a:avLst>
              <a:gd name="adj" fmla="val 13333"/>
            </a:avLst>
          </a:prstGeom>
          <a:solidFill xmlns:a="http://schemas.openxmlformats.org/drawingml/2006/main">
            <a:srgbClr val="E8674B"/>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650" b="1">
                <a:solidFill>
                  <a:srgbClr val="FFFFFF"/>
                </a:solidFill>
                <a:latin typeface="Arial"/>
                <a:ea typeface="Arial"/>
                <a:cs typeface="Arial"/>
              </a:defRPr>
            </a:pPr>
            <a:r>
              <a:rPr sz="1650" b="1">
                <a:solidFill>
                  <a:srgbClr val="FFFFFF"/>
                </a:solidFill>
                <a:latin typeface="Arial"/>
                <a:ea typeface="Arial"/>
                <a:cs typeface="Arial"/>
              </a:rPr>
              <a:t>PRODUCTS</a:t>
            </a:r>
          </a:p>
        </p:txBody>
      </p:sp>
      <p:sp>
        <p:nvSpPr>
          <p:cNvPr id="16" name="">
            <a:extLst xmlns:a="http://schemas.openxmlformats.org/drawingml/2006/main">
              <a:ext uri="{FF2B5EF4-FFF2-40B4-BE49-F238E27FC236}">
                <a16:creationId xmlns:a16="http://schemas.microsoft.com/office/drawing/2014/main" id="{DB3648BE-E199-4D9D-A62E-5BD01221FD10}"/>
              </a:ext>
            </a:extLst>
          </p:cNvPr>
          <p:cNvSpPr>
            <a:spLocks xmlns:a="http://schemas.openxmlformats.org/drawingml/2006/main" noGrp="1"/>
          </p:cNvSpPr>
          <p:nvPr/>
        </p:nvSpPr>
        <p:spPr>
          <a:xfrm xmlns:a="http://schemas.openxmlformats.org/drawingml/2006/main">
            <a:off x="9182100" y="3324225"/>
            <a:ext cx="342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88235"/>
          </a:bodyPr>
          <a:lstStyle xmlns:a="http://schemas.openxmlformats.org/drawingml/2006/main"/>
          <a:p xmlns:a="http://schemas.openxmlformats.org/drawingml/2006/main">
            <a:pPr algn="ctr">
              <a:defRPr sz="1275" b="1">
                <a:solidFill>
                  <a:srgbClr val="64706B"/>
                </a:solidFill>
                <a:latin typeface="Arial"/>
                <a:ea typeface="Arial"/>
                <a:cs typeface="Arial"/>
              </a:defRPr>
            </a:pPr>
            <a:r>
              <a:rPr sz="1275" b="1">
                <a:solidFill>
                  <a:srgbClr val="64706B"/>
                </a:solidFill>
                <a:latin typeface="Arial"/>
                <a:ea typeface="Arial"/>
                <a:cs typeface="Arial"/>
              </a:rPr>
              <a:t>↓</a:t>
            </a:r>
          </a:p>
        </p:txBody>
      </p:sp>
      <p:sp>
        <p:nvSpPr>
          <p:cNvPr id="17" name="">
            <a:extLst xmlns:a="http://schemas.openxmlformats.org/drawingml/2006/main">
              <a:ext uri="{FF2B5EF4-FFF2-40B4-BE49-F238E27FC236}">
                <a16:creationId xmlns:a16="http://schemas.microsoft.com/office/drawing/2014/main" id="{E80BC0D3-746C-42A7-9924-211C6F7AE403}"/>
              </a:ext>
            </a:extLst>
          </p:cNvPr>
          <p:cNvSpPr>
            <a:spLocks xmlns:a="http://schemas.openxmlformats.org/drawingml/2006/main" noGrp="1"/>
          </p:cNvSpPr>
          <p:nvPr/>
        </p:nvSpPr>
        <p:spPr>
          <a:xfrm xmlns:a="http://schemas.openxmlformats.org/drawingml/2006/main">
            <a:off x="7696200" y="3495675"/>
            <a:ext cx="3314700" cy="571500"/>
          </a:xfrm>
          <a:prstGeom xmlns:a="http://schemas.openxmlformats.org/drawingml/2006/main" prst="roundRect">
            <a:avLst>
              <a:gd name="adj" fmla="val 13333"/>
            </a:avLst>
          </a:prstGeom>
          <a:solidFill xmlns:a="http://schemas.openxmlformats.org/drawingml/2006/main">
            <a:srgbClr val="17756F"/>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650" b="1">
                <a:solidFill>
                  <a:srgbClr val="FFFFFF"/>
                </a:solidFill>
                <a:latin typeface="Arial"/>
                <a:ea typeface="Arial"/>
                <a:cs typeface="Arial"/>
              </a:defRPr>
            </a:pPr>
            <a:r>
              <a:rPr sz="1650" b="1">
                <a:solidFill>
                  <a:srgbClr val="FFFFFF"/>
                </a:solidFill>
                <a:latin typeface="Arial"/>
                <a:ea typeface="Arial"/>
                <a:cs typeface="Arial"/>
              </a:rPr>
              <a:t>CONTACT US</a:t>
            </a:r>
          </a:p>
        </p:txBody>
      </p:sp>
      <p:sp>
        <p:nvSpPr>
          <p:cNvPr id="18" name="">
            <a:extLst xmlns:a="http://schemas.openxmlformats.org/drawingml/2006/main">
              <a:ext uri="{FF2B5EF4-FFF2-40B4-BE49-F238E27FC236}">
                <a16:creationId xmlns:a16="http://schemas.microsoft.com/office/drawing/2014/main" id="{47FF566A-96FE-4B75-875F-4CBA8EB9E1AB}"/>
              </a:ext>
            </a:extLst>
          </p:cNvPr>
          <p:cNvSpPr>
            <a:spLocks xmlns:a="http://schemas.openxmlformats.org/drawingml/2006/main" noGrp="1"/>
          </p:cNvSpPr>
          <p:nvPr/>
        </p:nvSpPr>
        <p:spPr>
          <a:xfrm xmlns:a="http://schemas.openxmlformats.org/drawingml/2006/main">
            <a:off x="7429500" y="4343400"/>
            <a:ext cx="3848100" cy="361950"/>
          </a:xfrm>
          <a:prstGeom xmlns:a="http://schemas.openxmlformats.org/drawingml/2006/main" prst="roundRect">
            <a:avLst>
              <a:gd name="adj" fmla="val 2105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95250" tIns="47625" rIns="95250" bIns="47625" anchor="ctr">
            <a:normAutofit fontScale="74128"/>
          </a:bodyPr>
          <a:lstStyle xmlns:a="http://schemas.openxmlformats.org/drawingml/2006/main"/>
          <a:p xmlns:a="http://schemas.openxmlformats.org/drawingml/2006/main">
            <a:pPr algn="ctr">
              <a:defRPr sz="1200" b="1">
                <a:solidFill>
                  <a:srgbClr val="17342C"/>
                </a:solidFill>
                <a:latin typeface="Arial"/>
                <a:ea typeface="Arial"/>
                <a:cs typeface="Arial"/>
              </a:defRPr>
            </a:pPr>
            <a:r>
              <a:rPr sz="1200" b="1">
                <a:solidFill>
                  <a:srgbClr val="17342C"/>
                </a:solidFill>
                <a:latin typeface="Arial"/>
                <a:ea typeface="Arial"/>
                <a:cs typeface="Arial"/>
              </a:rPr>
              <a:t>Each page label should match the content a visitor expects to find.</a:t>
            </a:r>
          </a:p>
        </p:txBody>
      </p:sp>
      <p:sp>
        <p:nvSpPr>
          <p:cNvPr id="19" name="">
            <a:extLst xmlns:a="http://schemas.openxmlformats.org/drawingml/2006/main">
              <a:ext uri="{FF2B5EF4-FFF2-40B4-BE49-F238E27FC236}">
                <a16:creationId xmlns:a16="http://schemas.microsoft.com/office/drawing/2014/main" id="{FBA845A3-0F3A-43EE-ABE1-65664DFC6652}"/>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20" name="">
            <a:extLst xmlns:a="http://schemas.openxmlformats.org/drawingml/2006/main">
              <a:ext uri="{FF2B5EF4-FFF2-40B4-BE49-F238E27FC236}">
                <a16:creationId xmlns:a16="http://schemas.microsoft.com/office/drawing/2014/main" id="{AB10E0F7-02E0-44C8-B3E9-8A8CDCD91F58}"/>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Which page structure is shown in the source demonstration?</a:t>
            </a:r>
          </a:p>
        </p:txBody>
      </p:sp>
      <p:sp>
        <p:nvSpPr>
          <p:cNvPr id="21" name="">
            <a:extLst xmlns:a="http://schemas.openxmlformats.org/drawingml/2006/main">
              <a:ext uri="{FF2B5EF4-FFF2-40B4-BE49-F238E27FC236}">
                <a16:creationId xmlns:a16="http://schemas.microsoft.com/office/drawing/2014/main" id="{6062DFEA-4C90-4322-A1C4-0D6AC257DEF7}"/>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09  •  WEB PORTFOLIO</a:t>
            </a:r>
          </a:p>
        </p:txBody>
      </p:sp>
      <p:sp>
        <p:nvSpPr>
          <p:cNvPr id="22" name="">
            <a:extLst xmlns:a="http://schemas.openxmlformats.org/drawingml/2006/main">
              <a:ext uri="{FF2B5EF4-FFF2-40B4-BE49-F238E27FC236}">
                <a16:creationId xmlns:a16="http://schemas.microsoft.com/office/drawing/2014/main" id="{B411D2B6-F0A7-47E3-B377-7F650B6B07A3}"/>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03</a:t>
            </a:r>
          </a:p>
        </p:txBody>
      </p:sp>
    </p:spTree>
    <p:extLst>
      <p:ext uri="{BB962C8B-B14F-4D97-AF65-F5344CB8AC3E}">
        <p14:creationId xmlns:p14="http://schemas.microsoft.com/office/powerpoint/2010/main" val="866215916"/>
      </p:ext>
    </p:extLst>
  </p:cSld>
</p:sld>
</file>

<file path=ppt/slides/slide4.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6AED44A-7534-4C9E-B67E-B5E1B6563BFF}"/>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F592901-6219-454F-8F11-1B096358A67E}"/>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9.2  PREPARING AND EMBEDDING MEDIA</a:t>
            </a:r>
          </a:p>
        </p:txBody>
      </p:sp>
      <p:sp>
        <p:nvSpPr>
          <p:cNvPr id="3" name="">
            <a:extLst xmlns:a="http://schemas.openxmlformats.org/drawingml/2006/main">
              <a:ext uri="{FF2B5EF4-FFF2-40B4-BE49-F238E27FC236}">
                <a16:creationId xmlns:a16="http://schemas.microsoft.com/office/drawing/2014/main" id="{459FB503-5BC8-4068-9077-DC24FE715FDF}"/>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Preparing and embedding media</a:t>
            </a:r>
          </a:p>
        </p:txBody>
      </p:sp>
      <p:sp>
        <p:nvSpPr>
          <p:cNvPr id="4" name="">
            <a:extLst xmlns:a="http://schemas.openxmlformats.org/drawingml/2006/main">
              <a:ext uri="{FF2B5EF4-FFF2-40B4-BE49-F238E27FC236}">
                <a16:creationId xmlns:a16="http://schemas.microsoft.com/office/drawing/2014/main" id="{28EBD9A1-2413-48A7-B045-DE2B2218342C}"/>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37BD19FF-2146-4F8D-ABF6-06267863D8AD}"/>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F3B418F-6481-4C5B-ABF8-0402D9DDE62B}"/>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Preserve originals and prepare fit-for-purpose copies.</a:t>
            </a:r>
          </a:p>
        </p:txBody>
      </p:sp>
      <p:sp>
        <p:nvSpPr>
          <p:cNvPr id="7" name="">
            <a:extLst xmlns:a="http://schemas.openxmlformats.org/drawingml/2006/main">
              <a:ext uri="{FF2B5EF4-FFF2-40B4-BE49-F238E27FC236}">
                <a16:creationId xmlns:a16="http://schemas.microsoft.com/office/drawing/2014/main" id="{DDE21CA7-1C74-4BD1-9DA3-E3F0BD7465CA}"/>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BD418D4-FB5E-424C-97B2-62D7EDE4713A}"/>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Alternative text describes meaningful visible content.</a:t>
            </a:r>
          </a:p>
        </p:txBody>
      </p:sp>
      <p:sp>
        <p:nvSpPr>
          <p:cNvPr id="9" name="">
            <a:extLst xmlns:a="http://schemas.openxmlformats.org/drawingml/2006/main">
              <a:ext uri="{FF2B5EF4-FFF2-40B4-BE49-F238E27FC236}">
                <a16:creationId xmlns:a16="http://schemas.microsoft.com/office/drawing/2014/main" id="{231C99ED-3204-4433-8E08-DA490838EC63}"/>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98EB3F9-5F5A-4739-BFE2-D1C66AE4DB54}"/>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Embeds inherit access rules and require independent-viewer testing.</a:t>
            </a:r>
          </a:p>
        </p:txBody>
      </p:sp>
      <p:sp>
        <p:nvSpPr>
          <p:cNvPr id="11" name="">
            <a:extLst xmlns:a="http://schemas.openxmlformats.org/drawingml/2006/main">
              <a:ext uri="{FF2B5EF4-FFF2-40B4-BE49-F238E27FC236}">
                <a16:creationId xmlns:a16="http://schemas.microsoft.com/office/drawing/2014/main" id="{25899BD5-11AB-4CF0-85E4-A21A0E407750}"/>
              </a:ext>
            </a:extLst>
          </p:cNvPr>
          <p:cNvSpPr>
            <a:spLocks xmlns:a="http://schemas.openxmlformats.org/drawingml/2006/main" noGrp="1"/>
          </p:cNvSpPr>
          <p:nvPr/>
        </p:nvSpPr>
        <p:spPr>
          <a:xfrm xmlns:a="http://schemas.openxmlformats.org/drawingml/2006/main">
            <a:off x="7200900" y="1352550"/>
            <a:ext cx="4305300" cy="3505200"/>
          </a:xfrm>
          <a:prstGeom xmlns:a="http://schemas.openxmlformats.org/drawingml/2006/main" prst="roundRect">
            <a:avLst>
              <a:gd name="adj" fmla="val 3261"/>
            </a:avLst>
          </a:prstGeom>
          <a:solidFill xmlns:a="http://schemas.openxmlformats.org/drawingml/2006/main">
            <a:srgbClr val="FFFFFF"/>
          </a:solidFill>
          <a:ln xmlns:a="http://schemas.openxmlformats.org/drawingml/2006/main" w="9525">
            <a:solidFill>
              <a:srgbClr val="CFD8D2"/>
            </a:solidFill>
            <a:prstDash val="solid"/>
          </a:ln>
        </p:spPr>
      </p:sp>
      <p:pic>
        <p:nvPicPr>
          <p:cNvPr id="29" name="Google Sites Demonstration.mp4" title="Google Sites Demonstration.mp4" descr="Custom privacy-safe poster for Google Sites Demonstration.mp4, duration 8:55.">
            <a:hlinkClick xmlns:a="http://schemas.openxmlformats.org/drawingml/2006/main" xmlns:r="http://schemas.openxmlformats.org/officeDocument/2006/relationships" r:id="RStage07Hyperlink4_1"/>
          </p:cNvPr>
          <p:cNvPicPr>
            <a:picLocks xmlns:a="http://schemas.openxmlformats.org/drawingml/2006/main" noChangeAspect="1"/>
          </p:cNvPicPr>
          <p:nvPr/>
        </p:nvPicPr>
        <p:blipFill>
          <a:blip xmlns:r="http://schemas.openxmlformats.org/officeDocument/2006/relationships" xmlns:a="http://schemas.openxmlformats.org/drawingml/2006/main" r:embed="R528ab5b206284deb"/>
          <a:stretch xmlns:a="http://schemas.openxmlformats.org/drawingml/2006/main"/>
        </p:blipFill>
        <p:spPr>
          <a:xfrm xmlns:a="http://schemas.openxmlformats.org/drawingml/2006/main">
            <a:off x="7200900" y="1893686"/>
            <a:ext cx="4305300" cy="2422927"/>
          </a:xfrm>
          <a:prstGeom xmlns:a="http://schemas.openxmlformats.org/drawingml/2006/main" prst="roundRect">
            <a:avLst>
              <a:gd name="adj" fmla="val 3261"/>
            </a:avLst>
          </a:prstGeom>
        </p:spPr>
      </p:pic>
      <p:sp>
        <p:nvSpPr>
          <p:cNvPr id="13" name="">
            <a:extLst xmlns:a="http://schemas.openxmlformats.org/drawingml/2006/main">
              <a:ext uri="{FF2B5EF4-FFF2-40B4-BE49-F238E27FC236}">
                <a16:creationId xmlns:a16="http://schemas.microsoft.com/office/drawing/2014/main" id="{3946A815-3747-4428-BD5E-D23C4D9B6419}"/>
              </a:ext>
            </a:extLst>
          </p:cNvPr>
          <p:cNvSpPr>
            <a:spLocks xmlns:a="http://schemas.openxmlformats.org/drawingml/2006/main" noGrp="1"/>
          </p:cNvSpPr>
          <p:nvPr/>
        </p:nvSpPr>
        <p:spPr>
          <a:xfrm xmlns:a="http://schemas.openxmlformats.org/drawingml/2006/main">
            <a:off x="7200900" y="4914900"/>
            <a:ext cx="4305300" cy="266700"/>
          </a:xfrm>
          <a:prstGeom xmlns:a="http://schemas.openxmlformats.org/drawingml/2006/main" prst="roundRect">
            <a:avLst>
              <a:gd name="adj" fmla="val 28571"/>
            </a:avLst>
          </a:prstGeom>
          <a:solidFill xmlns:a="http://schemas.openxmlformats.org/drawingml/2006/main">
            <a:srgbClr val="FCF4D8"/>
          </a:solidFill>
          <a:ln xmlns:a="http://schemas.openxmlformats.org/drawingml/2006/main" w="0">
            <a:noFill/>
            <a:prstDash val="solid"/>
          </a:ln>
        </p:spPr>
        <p:txBody>
          <a:bodyPr xmlns:a="http://schemas.openxmlformats.org/drawingml/2006/main" lIns="66675" tIns="28575" rIns="66675" bIns="28575" anchor="ctr">
            <a:normAutofit fontScale="96188"/>
          </a:bodyPr>
          <a:lstStyle xmlns:a="http://schemas.openxmlformats.org/drawingml/2006/main"/>
          <a:p xmlns:a="http://schemas.openxmlformats.org/drawingml/2006/main">
            <a:pPr algn="ctr">
              <a:defRPr sz="1125" b="1">
                <a:solidFill>
                  <a:srgbClr val="0C5554"/>
                </a:solidFill>
                <a:latin typeface="Arial"/>
                <a:ea typeface="Arial"/>
                <a:cs typeface="Arial"/>
              </a:defRPr>
            </a:pPr>
            <a:r>
              <a:rPr sz="1125" b="1">
                <a:solidFill>
                  <a:srgbClr val="0C5554"/>
                </a:solidFill>
                <a:latin typeface="Arial"/>
                <a:ea typeface="Arial"/>
                <a:cs typeface="Arial"/>
              </a:rPr>
              <a:t>TEACHER: CTRL+CLICK POSTER TO OPEN DRIVE  •  8:55</a:t>
            </a:r>
          </a:p>
        </p:txBody>
      </p:sp>
      <p:sp>
        <p:nvSpPr>
          <p:cNvPr id="14" name="">
            <a:extLst xmlns:a="http://schemas.openxmlformats.org/drawingml/2006/main">
              <a:ext uri="{FF2B5EF4-FFF2-40B4-BE49-F238E27FC236}">
                <a16:creationId xmlns:a16="http://schemas.microsoft.com/office/drawing/2014/main" id="{17DDE648-8476-4827-A9E2-94922623F866}"/>
              </a:ext>
            </a:extLst>
          </p:cNvPr>
          <p:cNvSpPr>
            <a:spLocks xmlns:a="http://schemas.openxmlformats.org/drawingml/2006/main" noGrp="1"/>
          </p:cNvSpPr>
          <p:nvPr/>
        </p:nvSpPr>
        <p:spPr>
          <a:xfrm xmlns:a="http://schemas.openxmlformats.org/drawingml/2006/main">
            <a:off x="7200900" y="52387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15" name="">
            <a:extLst xmlns:a="http://schemas.openxmlformats.org/drawingml/2006/main">
              <a:ext uri="{FF2B5EF4-FFF2-40B4-BE49-F238E27FC236}">
                <a16:creationId xmlns:a16="http://schemas.microsoft.com/office/drawing/2014/main" id="{9E8846F4-E60D-4FB1-88E3-EFD775542C21}"/>
              </a:ext>
            </a:extLst>
          </p:cNvPr>
          <p:cNvSpPr>
            <a:spLocks xmlns:a="http://schemas.openxmlformats.org/drawingml/2006/main" noGrp="1"/>
          </p:cNvSpPr>
          <p:nvPr/>
        </p:nvSpPr>
        <p:spPr>
          <a:xfrm xmlns:a="http://schemas.openxmlformats.org/drawingml/2006/main">
            <a:off x="7200900" y="5448300"/>
            <a:ext cx="4305300" cy="781050"/>
          </a:xfrm>
          <a:prstGeom xmlns:a="http://schemas.openxmlformats.org/drawingml/2006/main" prst="roundRect">
            <a:avLst>
              <a:gd name="adj" fmla="val 9756"/>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should alternative text do?</a:t>
            </a:r>
          </a:p>
        </p:txBody>
      </p:sp>
      <p:sp>
        <p:nvSpPr>
          <p:cNvPr id="16" name="">
            <a:extLst xmlns:a="http://schemas.openxmlformats.org/drawingml/2006/main">
              <a:ext uri="{FF2B5EF4-FFF2-40B4-BE49-F238E27FC236}">
                <a16:creationId xmlns:a16="http://schemas.microsoft.com/office/drawing/2014/main" id="{D2FD8A3B-79B5-4077-9476-4255DF90374A}"/>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09  •  WEB PORTFOLIO</a:t>
            </a:r>
          </a:p>
        </p:txBody>
      </p:sp>
      <p:sp>
        <p:nvSpPr>
          <p:cNvPr id="17" name="">
            <a:extLst xmlns:a="http://schemas.openxmlformats.org/drawingml/2006/main">
              <a:ext uri="{FF2B5EF4-FFF2-40B4-BE49-F238E27FC236}">
                <a16:creationId xmlns:a16="http://schemas.microsoft.com/office/drawing/2014/main" id="{63369769-C51E-4020-8215-1A1313F40912}"/>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04</a:t>
            </a:r>
          </a:p>
        </p:txBody>
      </p:sp>
    </p:spTree>
    <p:extLst>
      <p:ext uri="{BB962C8B-B14F-4D97-AF65-F5344CB8AC3E}">
        <p14:creationId xmlns:p14="http://schemas.microsoft.com/office/powerpoint/2010/main" val="925363672"/>
      </p:ext>
    </p:extLst>
  </p:cSld>
</p:sld>
</file>

<file path=ppt/slides/slide5.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4A1CB555-AA19-455F-A6C6-F588A45CD7DD}"/>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AF2D52E-5255-4C72-B097-72F023F1F1BD}"/>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9.3  PUBLISHING, ACCESS AND SUBMISSION</a:t>
            </a:r>
          </a:p>
        </p:txBody>
      </p:sp>
      <p:sp>
        <p:nvSpPr>
          <p:cNvPr id="3" name="">
            <a:extLst xmlns:a="http://schemas.openxmlformats.org/drawingml/2006/main">
              <a:ext uri="{FF2B5EF4-FFF2-40B4-BE49-F238E27FC236}">
                <a16:creationId xmlns:a16="http://schemas.microsoft.com/office/drawing/2014/main" id="{6004326B-5236-45B2-83C0-36AC60EBAACF}"/>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Publishing, access and submission</a:t>
            </a:r>
          </a:p>
        </p:txBody>
      </p:sp>
      <p:sp>
        <p:nvSpPr>
          <p:cNvPr id="4" name="">
            <a:extLst xmlns:a="http://schemas.openxmlformats.org/drawingml/2006/main">
              <a:ext uri="{FF2B5EF4-FFF2-40B4-BE49-F238E27FC236}">
                <a16:creationId xmlns:a16="http://schemas.microsoft.com/office/drawing/2014/main" id="{BCB0E8FA-5354-4AE5-8C4B-19A2A6D62B4C}"/>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AFC9DAD3-03EE-4470-9893-67D857468803}"/>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2650CFD-2CB6-4F2E-8AA4-293EC14D5538}"/>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Preview, publish, access and submission are separate states.</a:t>
            </a:r>
          </a:p>
        </p:txBody>
      </p:sp>
      <p:sp>
        <p:nvSpPr>
          <p:cNvPr id="7" name="">
            <a:extLst xmlns:a="http://schemas.openxmlformats.org/drawingml/2006/main">
              <a:ext uri="{FF2B5EF4-FFF2-40B4-BE49-F238E27FC236}">
                <a16:creationId xmlns:a16="http://schemas.microsoft.com/office/drawing/2014/main" id="{3DB7728D-EACD-421F-A313-AD46485C9112}"/>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C2578CC-FF5E-486D-9365-DC547C058411}"/>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Use only the audience setting directed by the teacher.</a:t>
            </a:r>
          </a:p>
        </p:txBody>
      </p:sp>
      <p:sp>
        <p:nvSpPr>
          <p:cNvPr id="9" name="">
            <a:extLst xmlns:a="http://schemas.openxmlformats.org/drawingml/2006/main">
              <a:ext uri="{FF2B5EF4-FFF2-40B4-BE49-F238E27FC236}">
                <a16:creationId xmlns:a16="http://schemas.microsoft.com/office/drawing/2014/main" id="{FEA4BE4B-C6D0-4490-BD0C-5814B8BC8E8E}"/>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12336F0-13ED-486A-9681-F5DC958FD0AA}"/>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Local save preserves a draft but does not transmit it.</a:t>
            </a:r>
          </a:p>
        </p:txBody>
      </p:sp>
      <p:sp>
        <p:nvSpPr>
          <p:cNvPr id="11" name="">
            <a:extLst xmlns:a="http://schemas.openxmlformats.org/drawingml/2006/main">
              <a:ext uri="{FF2B5EF4-FFF2-40B4-BE49-F238E27FC236}">
                <a16:creationId xmlns:a16="http://schemas.microsoft.com/office/drawing/2014/main" id="{FF2BEC9C-625B-4D76-8ECC-BE843ED1384B}"/>
              </a:ext>
            </a:extLst>
          </p:cNvPr>
          <p:cNvSpPr>
            <a:spLocks xmlns:a="http://schemas.openxmlformats.org/drawingml/2006/main" noGrp="1"/>
          </p:cNvSpPr>
          <p:nvPr/>
        </p:nvSpPr>
        <p:spPr>
          <a:xfrm xmlns:a="http://schemas.openxmlformats.org/drawingml/2006/main">
            <a:off x="7200900" y="1352550"/>
            <a:ext cx="4305300" cy="3505200"/>
          </a:xfrm>
          <a:prstGeom xmlns:a="http://schemas.openxmlformats.org/drawingml/2006/main" prst="roundRect">
            <a:avLst>
              <a:gd name="adj" fmla="val 3261"/>
            </a:avLst>
          </a:prstGeom>
          <a:solidFill xmlns:a="http://schemas.openxmlformats.org/drawingml/2006/main">
            <a:srgbClr val="FFFFFF"/>
          </a:solidFill>
          <a:ln xmlns:a="http://schemas.openxmlformats.org/drawingml/2006/main" w="9525">
            <a:solidFill>
              <a:srgbClr val="CFD8D2"/>
            </a:solidFill>
            <a:prstDash val="solid"/>
          </a:ln>
        </p:spPr>
      </p:sp>
      <p:sp>
        <p:nvSpPr>
          <p:cNvPr id="12" name="">
            <a:extLst xmlns:a="http://schemas.openxmlformats.org/drawingml/2006/main">
              <a:ext uri="{FF2B5EF4-FFF2-40B4-BE49-F238E27FC236}">
                <a16:creationId xmlns:a16="http://schemas.microsoft.com/office/drawing/2014/main" id="{920CCFB2-4DE9-4B03-B3B0-4B49EA3A3B28}"/>
              </a:ext>
            </a:extLst>
          </p:cNvPr>
          <p:cNvSpPr>
            <a:spLocks xmlns:a="http://schemas.openxmlformats.org/drawingml/2006/main" noGrp="1"/>
          </p:cNvSpPr>
          <p:nvPr/>
        </p:nvSpPr>
        <p:spPr>
          <a:xfrm xmlns:a="http://schemas.openxmlformats.org/drawingml/2006/main">
            <a:off x="7410450" y="1524000"/>
            <a:ext cx="3886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0C5554"/>
                </a:solidFill>
                <a:latin typeface="Arial"/>
                <a:ea typeface="Arial"/>
                <a:cs typeface="Arial"/>
              </a:defRPr>
            </a:pPr>
            <a:r>
              <a:rPr sz="1425" b="1">
                <a:solidFill>
                  <a:srgbClr val="0C5554"/>
                </a:solidFill>
                <a:latin typeface="Arial"/>
                <a:ea typeface="Arial"/>
                <a:cs typeface="Arial"/>
              </a:rPr>
              <a:t>KEEP WEBSITE STATES SEPARATE</a:t>
            </a:r>
          </a:p>
        </p:txBody>
      </p:sp>
      <p:sp>
        <p:nvSpPr>
          <p:cNvPr id="13" name="">
            <a:extLst xmlns:a="http://schemas.openxmlformats.org/drawingml/2006/main">
              <a:ext uri="{FF2B5EF4-FFF2-40B4-BE49-F238E27FC236}">
                <a16:creationId xmlns:a16="http://schemas.microsoft.com/office/drawing/2014/main" id="{7F3D242A-B67B-442B-96FA-8679F7B31D86}"/>
              </a:ext>
            </a:extLst>
          </p:cNvPr>
          <p:cNvSpPr>
            <a:spLocks xmlns:a="http://schemas.openxmlformats.org/drawingml/2006/main" noGrp="1"/>
          </p:cNvSpPr>
          <p:nvPr/>
        </p:nvSpPr>
        <p:spPr>
          <a:xfrm xmlns:a="http://schemas.openxmlformats.org/drawingml/2006/main">
            <a:off x="7696200" y="1924050"/>
            <a:ext cx="3314700" cy="428625"/>
          </a:xfrm>
          <a:prstGeom xmlns:a="http://schemas.openxmlformats.org/drawingml/2006/main" prst="roundRect">
            <a:avLst>
              <a:gd name="adj" fmla="val 17778"/>
            </a:avLst>
          </a:prstGeom>
          <a:solidFill xmlns:a="http://schemas.openxmlformats.org/drawingml/2006/main">
            <a:srgbClr val="0C5554"/>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PREVIEW</a:t>
            </a:r>
          </a:p>
        </p:txBody>
      </p:sp>
      <p:sp>
        <p:nvSpPr>
          <p:cNvPr id="14" name="">
            <a:extLst xmlns:a="http://schemas.openxmlformats.org/drawingml/2006/main">
              <a:ext uri="{FF2B5EF4-FFF2-40B4-BE49-F238E27FC236}">
                <a16:creationId xmlns:a16="http://schemas.microsoft.com/office/drawing/2014/main" id="{5B8FD873-ABC2-4A15-B8F0-74D89006418F}"/>
              </a:ext>
            </a:extLst>
          </p:cNvPr>
          <p:cNvSpPr>
            <a:spLocks xmlns:a="http://schemas.openxmlformats.org/drawingml/2006/main" noGrp="1"/>
          </p:cNvSpPr>
          <p:nvPr/>
        </p:nvSpPr>
        <p:spPr>
          <a:xfrm xmlns:a="http://schemas.openxmlformats.org/drawingml/2006/main">
            <a:off x="9182100" y="2352675"/>
            <a:ext cx="3429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71429"/>
          </a:bodyPr>
          <a:lstStyle xmlns:a="http://schemas.openxmlformats.org/drawingml/2006/main"/>
          <a:p xmlns:a="http://schemas.openxmlformats.org/drawingml/2006/main">
            <a:pPr algn="ctr">
              <a:defRPr sz="1050" b="1">
                <a:solidFill>
                  <a:srgbClr val="64706B"/>
                </a:solidFill>
                <a:latin typeface="Arial"/>
                <a:ea typeface="Arial"/>
                <a:cs typeface="Arial"/>
              </a:defRPr>
            </a:pPr>
            <a:r>
              <a:rPr sz="1050" b="1">
                <a:solidFill>
                  <a:srgbClr val="64706B"/>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0CA4A1AF-3F77-4325-AC2D-E27654EDA359}"/>
              </a:ext>
            </a:extLst>
          </p:cNvPr>
          <p:cNvSpPr>
            <a:spLocks xmlns:a="http://schemas.openxmlformats.org/drawingml/2006/main" noGrp="1"/>
          </p:cNvSpPr>
          <p:nvPr/>
        </p:nvSpPr>
        <p:spPr>
          <a:xfrm xmlns:a="http://schemas.openxmlformats.org/drawingml/2006/main">
            <a:off x="7696200" y="2466975"/>
            <a:ext cx="3314700" cy="428625"/>
          </a:xfrm>
          <a:prstGeom xmlns:a="http://schemas.openxmlformats.org/drawingml/2006/main" prst="roundRect">
            <a:avLst>
              <a:gd name="adj" fmla="val 17778"/>
            </a:avLst>
          </a:prstGeom>
          <a:solidFill xmlns:a="http://schemas.openxmlformats.org/drawingml/2006/main">
            <a:srgbClr val="F2BD3C"/>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17342C"/>
                </a:solidFill>
                <a:latin typeface="Arial"/>
                <a:ea typeface="Arial"/>
                <a:cs typeface="Arial"/>
              </a:defRPr>
            </a:pPr>
            <a:r>
              <a:rPr sz="1425" b="1">
                <a:solidFill>
                  <a:srgbClr val="17342C"/>
                </a:solidFill>
                <a:latin typeface="Arial"/>
                <a:ea typeface="Arial"/>
                <a:cs typeface="Arial"/>
              </a:rPr>
              <a:t>PUBLISH</a:t>
            </a:r>
          </a:p>
        </p:txBody>
      </p:sp>
      <p:sp>
        <p:nvSpPr>
          <p:cNvPr id="16" name="">
            <a:extLst xmlns:a="http://schemas.openxmlformats.org/drawingml/2006/main">
              <a:ext uri="{FF2B5EF4-FFF2-40B4-BE49-F238E27FC236}">
                <a16:creationId xmlns:a16="http://schemas.microsoft.com/office/drawing/2014/main" id="{33E9C747-DBCA-4A15-9A3F-343154140317}"/>
              </a:ext>
            </a:extLst>
          </p:cNvPr>
          <p:cNvSpPr>
            <a:spLocks xmlns:a="http://schemas.openxmlformats.org/drawingml/2006/main" noGrp="1"/>
          </p:cNvSpPr>
          <p:nvPr/>
        </p:nvSpPr>
        <p:spPr>
          <a:xfrm xmlns:a="http://schemas.openxmlformats.org/drawingml/2006/main">
            <a:off x="9182100" y="2895600"/>
            <a:ext cx="3429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71429"/>
          </a:bodyPr>
          <a:lstStyle xmlns:a="http://schemas.openxmlformats.org/drawingml/2006/main"/>
          <a:p xmlns:a="http://schemas.openxmlformats.org/drawingml/2006/main">
            <a:pPr algn="ctr">
              <a:defRPr sz="1050" b="1">
                <a:solidFill>
                  <a:srgbClr val="64706B"/>
                </a:solidFill>
                <a:latin typeface="Arial"/>
                <a:ea typeface="Arial"/>
                <a:cs typeface="Arial"/>
              </a:defRPr>
            </a:pPr>
            <a:r>
              <a:rPr sz="1050" b="1">
                <a:solidFill>
                  <a:srgbClr val="64706B"/>
                </a:solidFill>
                <a:latin typeface="Arial"/>
                <a:ea typeface="Arial"/>
                <a:cs typeface="Arial"/>
              </a:rPr>
              <a:t>↓</a:t>
            </a:r>
          </a:p>
        </p:txBody>
      </p:sp>
      <p:sp>
        <p:nvSpPr>
          <p:cNvPr id="17" name="">
            <a:extLst xmlns:a="http://schemas.openxmlformats.org/drawingml/2006/main">
              <a:ext uri="{FF2B5EF4-FFF2-40B4-BE49-F238E27FC236}">
                <a16:creationId xmlns:a16="http://schemas.microsoft.com/office/drawing/2014/main" id="{7B9BA062-B014-4A89-818E-CD78ECD0E2F5}"/>
              </a:ext>
            </a:extLst>
          </p:cNvPr>
          <p:cNvSpPr>
            <a:spLocks xmlns:a="http://schemas.openxmlformats.org/drawingml/2006/main" noGrp="1"/>
          </p:cNvSpPr>
          <p:nvPr/>
        </p:nvSpPr>
        <p:spPr>
          <a:xfrm xmlns:a="http://schemas.openxmlformats.org/drawingml/2006/main">
            <a:off x="7696200" y="3009900"/>
            <a:ext cx="3314700" cy="428625"/>
          </a:xfrm>
          <a:prstGeom xmlns:a="http://schemas.openxmlformats.org/drawingml/2006/main" prst="roundRect">
            <a:avLst>
              <a:gd name="adj" fmla="val 17778"/>
            </a:avLst>
          </a:prstGeom>
          <a:solidFill xmlns:a="http://schemas.openxmlformats.org/drawingml/2006/main">
            <a:srgbClr val="17756F"/>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ACCESS TEST</a:t>
            </a:r>
          </a:p>
        </p:txBody>
      </p:sp>
      <p:sp>
        <p:nvSpPr>
          <p:cNvPr id="18" name="">
            <a:extLst xmlns:a="http://schemas.openxmlformats.org/drawingml/2006/main">
              <a:ext uri="{FF2B5EF4-FFF2-40B4-BE49-F238E27FC236}">
                <a16:creationId xmlns:a16="http://schemas.microsoft.com/office/drawing/2014/main" id="{3C1CB81A-A8B0-4C62-A992-D2D0757B5F8D}"/>
              </a:ext>
            </a:extLst>
          </p:cNvPr>
          <p:cNvSpPr>
            <a:spLocks xmlns:a="http://schemas.openxmlformats.org/drawingml/2006/main" noGrp="1"/>
          </p:cNvSpPr>
          <p:nvPr/>
        </p:nvSpPr>
        <p:spPr>
          <a:xfrm xmlns:a="http://schemas.openxmlformats.org/drawingml/2006/main">
            <a:off x="9182100" y="3438525"/>
            <a:ext cx="3429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71429"/>
          </a:bodyPr>
          <a:lstStyle xmlns:a="http://schemas.openxmlformats.org/drawingml/2006/main"/>
          <a:p xmlns:a="http://schemas.openxmlformats.org/drawingml/2006/main">
            <a:pPr algn="ctr">
              <a:defRPr sz="1050" b="1">
                <a:solidFill>
                  <a:srgbClr val="64706B"/>
                </a:solidFill>
                <a:latin typeface="Arial"/>
                <a:ea typeface="Arial"/>
                <a:cs typeface="Arial"/>
              </a:defRPr>
            </a:pPr>
            <a:r>
              <a:rPr sz="1050" b="1">
                <a:solidFill>
                  <a:srgbClr val="64706B"/>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F7AB49A2-B554-4EEC-89D9-EF91EDCEBEB5}"/>
              </a:ext>
            </a:extLst>
          </p:cNvPr>
          <p:cNvSpPr>
            <a:spLocks xmlns:a="http://schemas.openxmlformats.org/drawingml/2006/main" noGrp="1"/>
          </p:cNvSpPr>
          <p:nvPr/>
        </p:nvSpPr>
        <p:spPr>
          <a:xfrm xmlns:a="http://schemas.openxmlformats.org/drawingml/2006/main">
            <a:off x="7696200" y="3552825"/>
            <a:ext cx="3314700" cy="428625"/>
          </a:xfrm>
          <a:prstGeom xmlns:a="http://schemas.openxmlformats.org/drawingml/2006/main" prst="roundRect">
            <a:avLst>
              <a:gd name="adj" fmla="val 17778"/>
            </a:avLst>
          </a:prstGeom>
          <a:solidFill xmlns:a="http://schemas.openxmlformats.org/drawingml/2006/main">
            <a:srgbClr val="6A57C8"/>
          </a:solidFill>
          <a:ln xmlns:a="http://schemas.openxmlformats.org/drawingml/2006/main" w="0">
            <a:noFill/>
            <a:prstDash val="solid"/>
          </a:ln>
        </p:spPr>
        <p:txBody>
          <a:bodyPr xmlns:a="http://schemas.openxmlformats.org/drawingml/2006/main" lIns="76200" tIns="47625" rIns="76200" bIns="47625" anchor="ctr">
            <a:normAutofit fontScale="100000"/>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SUBMIT</a:t>
            </a:r>
          </a:p>
        </p:txBody>
      </p:sp>
      <p:sp>
        <p:nvSpPr>
          <p:cNvPr id="20" name="">
            <a:extLst xmlns:a="http://schemas.openxmlformats.org/drawingml/2006/main">
              <a:ext uri="{FF2B5EF4-FFF2-40B4-BE49-F238E27FC236}">
                <a16:creationId xmlns:a16="http://schemas.microsoft.com/office/drawing/2014/main" id="{3D108913-4928-4ABA-B67F-6F4E0DF1B0F3}"/>
              </a:ext>
            </a:extLst>
          </p:cNvPr>
          <p:cNvSpPr>
            <a:spLocks xmlns:a="http://schemas.openxmlformats.org/drawingml/2006/main" noGrp="1"/>
          </p:cNvSpPr>
          <p:nvPr/>
        </p:nvSpPr>
        <p:spPr>
          <a:xfrm xmlns:a="http://schemas.openxmlformats.org/drawingml/2006/main">
            <a:off x="7429500" y="4343400"/>
            <a:ext cx="3848100" cy="361950"/>
          </a:xfrm>
          <a:prstGeom xmlns:a="http://schemas.openxmlformats.org/drawingml/2006/main" prst="roundRect">
            <a:avLst>
              <a:gd name="adj" fmla="val 2105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95250" tIns="47625" rIns="95250" bIns="47625" anchor="ctr">
            <a:normAutofit fontScale="75847"/>
          </a:bodyPr>
          <a:lstStyle xmlns:a="http://schemas.openxmlformats.org/drawingml/2006/main"/>
          <a:p xmlns:a="http://schemas.openxmlformats.org/drawingml/2006/main">
            <a:pPr algn="ctr">
              <a:defRPr sz="1200" b="1">
                <a:solidFill>
                  <a:srgbClr val="17342C"/>
                </a:solidFill>
                <a:latin typeface="Arial"/>
                <a:ea typeface="Arial"/>
                <a:cs typeface="Arial"/>
              </a:defRPr>
            </a:pPr>
            <a:r>
              <a:rPr sz="1200" b="1">
                <a:solidFill>
                  <a:srgbClr val="17342C"/>
                </a:solidFill>
                <a:latin typeface="Arial"/>
                <a:ea typeface="Arial"/>
                <a:cs typeface="Arial"/>
              </a:rPr>
              <a:t>A successful publish is not proof that another person can open it.</a:t>
            </a:r>
          </a:p>
        </p:txBody>
      </p:sp>
      <p:sp>
        <p:nvSpPr>
          <p:cNvPr id="21" name="">
            <a:extLst xmlns:a="http://schemas.openxmlformats.org/drawingml/2006/main">
              <a:ext uri="{FF2B5EF4-FFF2-40B4-BE49-F238E27FC236}">
                <a16:creationId xmlns:a16="http://schemas.microsoft.com/office/drawing/2014/main" id="{4A0238E3-302F-4D22-8B50-BFE55A8F1B69}"/>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22" name="">
            <a:extLst xmlns:a="http://schemas.openxmlformats.org/drawingml/2006/main">
              <a:ext uri="{FF2B5EF4-FFF2-40B4-BE49-F238E27FC236}">
                <a16:creationId xmlns:a16="http://schemas.microsoft.com/office/drawing/2014/main" id="{099FBD58-C564-4B6A-BCDA-B0AED57604E8}"/>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Which statement is accurate?</a:t>
            </a:r>
          </a:p>
        </p:txBody>
      </p:sp>
      <p:sp>
        <p:nvSpPr>
          <p:cNvPr id="23" name="">
            <a:extLst xmlns:a="http://schemas.openxmlformats.org/drawingml/2006/main">
              <a:ext uri="{FF2B5EF4-FFF2-40B4-BE49-F238E27FC236}">
                <a16:creationId xmlns:a16="http://schemas.microsoft.com/office/drawing/2014/main" id="{94922B87-A56B-4547-8AA4-7B79C159BABB}"/>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09  •  WEB PORTFOLIO</a:t>
            </a:r>
          </a:p>
        </p:txBody>
      </p:sp>
      <p:sp>
        <p:nvSpPr>
          <p:cNvPr id="24" name="">
            <a:extLst xmlns:a="http://schemas.openxmlformats.org/drawingml/2006/main">
              <a:ext uri="{FF2B5EF4-FFF2-40B4-BE49-F238E27FC236}">
                <a16:creationId xmlns:a16="http://schemas.microsoft.com/office/drawing/2014/main" id="{8AF0CA87-AE81-48FC-BEBE-CC39DA4AE4DD}"/>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05</a:t>
            </a:r>
          </a:p>
        </p:txBody>
      </p:sp>
    </p:spTree>
    <p:extLst>
      <p:ext uri="{BB962C8B-B14F-4D97-AF65-F5344CB8AC3E}">
        <p14:creationId xmlns:p14="http://schemas.microsoft.com/office/powerpoint/2010/main" val="943453305"/>
      </p:ext>
    </p:extLst>
  </p:cSld>
</p:sld>
</file>

<file path=ppt/slides/slide6.xml><?xml version="1.0" encoding="utf-8"?>
<p:sld xmlns:p="http://schemas.openxmlformats.org/presentationml/2006/main">
  <p:cSld>
    <p:bg>
      <p:bgPr>
        <a:solidFill xmlns:a="http://schemas.openxmlformats.org/drawingml/2006/main">
          <a:srgbClr val="17342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889D4A6-ECBD-432E-89A1-7D58F8130C33}"/>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614624A-F580-427C-8B84-29A81DC1AB09}"/>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F2BD3C"/>
                </a:solidFill>
                <a:latin typeface="Arial"/>
                <a:ea typeface="Arial"/>
                <a:cs typeface="Arial"/>
              </a:defRPr>
            </a:pPr>
            <a:r>
              <a:rPr sz="975" b="1">
                <a:solidFill>
                  <a:srgbClr val="F2BD3C"/>
                </a:solidFill>
                <a:latin typeface="Arial"/>
                <a:ea typeface="Arial"/>
                <a:cs typeface="Arial"/>
              </a:rPr>
              <a:t>CHECK FOR UNDERSTANDING</a:t>
            </a:r>
          </a:p>
        </p:txBody>
      </p:sp>
      <p:sp>
        <p:nvSpPr>
          <p:cNvPr id="3" name="">
            <a:extLst xmlns:a="http://schemas.openxmlformats.org/drawingml/2006/main">
              <a:ext uri="{FF2B5EF4-FFF2-40B4-BE49-F238E27FC236}">
                <a16:creationId xmlns:a16="http://schemas.microsoft.com/office/drawing/2014/main" id="{C18566B8-A119-4B8F-BE23-499494F1A712}"/>
              </a:ext>
            </a:extLst>
          </p:cNvPr>
          <p:cNvSpPr>
            <a:spLocks xmlns:a="http://schemas.openxmlformats.org/drawingml/2006/main" noGrp="1"/>
          </p:cNvSpPr>
          <p:nvPr/>
        </p:nvSpPr>
        <p:spPr>
          <a:xfrm xmlns:a="http://schemas.openxmlformats.org/drawingml/2006/main">
            <a:off x="685800" y="914400"/>
            <a:ext cx="685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075" b="1">
                <a:solidFill>
                  <a:srgbClr val="FFFFFF"/>
                </a:solidFill>
                <a:latin typeface="Arial"/>
                <a:ea typeface="Arial"/>
                <a:cs typeface="Arial"/>
              </a:defRPr>
            </a:pPr>
            <a:r>
              <a:rPr sz="3075" b="1">
                <a:solidFill>
                  <a:srgbClr val="FFFFFF"/>
                </a:solidFill>
                <a:latin typeface="Arial"/>
                <a:ea typeface="Arial"/>
                <a:cs typeface="Arial"/>
              </a:rPr>
              <a:t>Stop. Think. Explain.</a:t>
            </a:r>
          </a:p>
        </p:txBody>
      </p:sp>
      <p:sp>
        <p:nvSpPr>
          <p:cNvPr id="4" name="">
            <a:extLst xmlns:a="http://schemas.openxmlformats.org/drawingml/2006/main">
              <a:ext uri="{FF2B5EF4-FFF2-40B4-BE49-F238E27FC236}">
                <a16:creationId xmlns:a16="http://schemas.microsoft.com/office/drawing/2014/main" id="{9859A94E-C8AF-4EDA-8B9A-1E3EBDD7F2A4}"/>
              </a:ext>
            </a:extLst>
          </p:cNvPr>
          <p:cNvSpPr>
            <a:spLocks xmlns:a="http://schemas.openxmlformats.org/drawingml/2006/main" noGrp="1"/>
          </p:cNvSpPr>
          <p:nvPr/>
        </p:nvSpPr>
        <p:spPr>
          <a:xfrm xmlns:a="http://schemas.openxmlformats.org/drawingml/2006/main">
            <a:off x="685800" y="1657350"/>
            <a:ext cx="781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DCE8E2"/>
                </a:solidFill>
                <a:latin typeface="Arial"/>
                <a:ea typeface="Arial"/>
                <a:cs typeface="Arial"/>
              </a:defRPr>
            </a:pPr>
            <a:r>
              <a:rPr sz="1425" b="0">
                <a:solidFill>
                  <a:srgbClr val="DCE8E2"/>
                </a:solidFill>
                <a:latin typeface="Arial"/>
                <a:ea typeface="Arial"/>
                <a:cs typeface="Arial"/>
              </a:rPr>
              <a:t>Answer silently first, then justify with a partner.</a:t>
            </a:r>
          </a:p>
        </p:txBody>
      </p:sp>
      <p:sp>
        <p:nvSpPr>
          <p:cNvPr id="5" name="">
            <a:extLst xmlns:a="http://schemas.openxmlformats.org/drawingml/2006/main">
              <a:ext uri="{FF2B5EF4-FFF2-40B4-BE49-F238E27FC236}">
                <a16:creationId xmlns:a16="http://schemas.microsoft.com/office/drawing/2014/main" id="{F2A3A624-3C04-4489-8AC6-067F60DCA34C}"/>
              </a:ext>
            </a:extLst>
          </p:cNvPr>
          <p:cNvSpPr>
            <a:spLocks xmlns:a="http://schemas.openxmlformats.org/drawingml/2006/main" noGrp="1"/>
          </p:cNvSpPr>
          <p:nvPr/>
        </p:nvSpPr>
        <p:spPr>
          <a:xfrm xmlns:a="http://schemas.openxmlformats.org/drawingml/2006/main">
            <a:off x="685800" y="23241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6" name="">
            <a:extLst xmlns:a="http://schemas.openxmlformats.org/drawingml/2006/main">
              <a:ext uri="{FF2B5EF4-FFF2-40B4-BE49-F238E27FC236}">
                <a16:creationId xmlns:a16="http://schemas.microsoft.com/office/drawing/2014/main" id="{3FD9E6BB-FDFB-48E7-A910-997CBF2186C3}"/>
              </a:ext>
            </a:extLst>
          </p:cNvPr>
          <p:cNvSpPr>
            <a:spLocks xmlns:a="http://schemas.openxmlformats.org/drawingml/2006/main" noGrp="1"/>
          </p:cNvSpPr>
          <p:nvPr/>
        </p:nvSpPr>
        <p:spPr>
          <a:xfrm xmlns:a="http://schemas.openxmlformats.org/drawingml/2006/main">
            <a:off x="1028700" y="25527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B0C2E2B5-6E68-451B-8BCE-1FDBE2C07D3C}"/>
              </a:ext>
            </a:extLst>
          </p:cNvPr>
          <p:cNvSpPr>
            <a:spLocks xmlns:a="http://schemas.openxmlformats.org/drawingml/2006/main" noGrp="1"/>
          </p:cNvSpPr>
          <p:nvPr/>
        </p:nvSpPr>
        <p:spPr>
          <a:xfrm xmlns:a="http://schemas.openxmlformats.org/drawingml/2006/main">
            <a:off x="1676400" y="24574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Which page structure is shown in the source demonstration?</a:t>
            </a:r>
          </a:p>
        </p:txBody>
      </p:sp>
      <p:sp>
        <p:nvSpPr>
          <p:cNvPr id="8" name="">
            <a:extLst xmlns:a="http://schemas.openxmlformats.org/drawingml/2006/main">
              <a:ext uri="{FF2B5EF4-FFF2-40B4-BE49-F238E27FC236}">
                <a16:creationId xmlns:a16="http://schemas.microsoft.com/office/drawing/2014/main" id="{6A546EA0-CB51-4F9A-8B61-375764144524}"/>
              </a:ext>
            </a:extLst>
          </p:cNvPr>
          <p:cNvSpPr>
            <a:spLocks xmlns:a="http://schemas.openxmlformats.org/drawingml/2006/main" noGrp="1"/>
          </p:cNvSpPr>
          <p:nvPr/>
        </p:nvSpPr>
        <p:spPr>
          <a:xfrm xmlns:a="http://schemas.openxmlformats.org/drawingml/2006/main">
            <a:off x="685800" y="352425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9" name="">
            <a:extLst xmlns:a="http://schemas.openxmlformats.org/drawingml/2006/main">
              <a:ext uri="{FF2B5EF4-FFF2-40B4-BE49-F238E27FC236}">
                <a16:creationId xmlns:a16="http://schemas.microsoft.com/office/drawing/2014/main" id="{791E5238-78E2-4651-85BF-14ACD9507ED9}"/>
              </a:ext>
            </a:extLst>
          </p:cNvPr>
          <p:cNvSpPr>
            <a:spLocks xmlns:a="http://schemas.openxmlformats.org/drawingml/2006/main" noGrp="1"/>
          </p:cNvSpPr>
          <p:nvPr/>
        </p:nvSpPr>
        <p:spPr>
          <a:xfrm xmlns:a="http://schemas.openxmlformats.org/drawingml/2006/main">
            <a:off x="1028700" y="37528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2</a:t>
            </a:r>
          </a:p>
        </p:txBody>
      </p:sp>
      <p:sp>
        <p:nvSpPr>
          <p:cNvPr id="10" name="">
            <a:extLst xmlns:a="http://schemas.openxmlformats.org/drawingml/2006/main">
              <a:ext uri="{FF2B5EF4-FFF2-40B4-BE49-F238E27FC236}">
                <a16:creationId xmlns:a16="http://schemas.microsoft.com/office/drawing/2014/main" id="{FF5CAB83-436F-4B6F-9ADD-8E17748A0876}"/>
              </a:ext>
            </a:extLst>
          </p:cNvPr>
          <p:cNvSpPr>
            <a:spLocks xmlns:a="http://schemas.openxmlformats.org/drawingml/2006/main" noGrp="1"/>
          </p:cNvSpPr>
          <p:nvPr/>
        </p:nvSpPr>
        <p:spPr>
          <a:xfrm xmlns:a="http://schemas.openxmlformats.org/drawingml/2006/main">
            <a:off x="1676400" y="365760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should alternative text do?</a:t>
            </a:r>
          </a:p>
        </p:txBody>
      </p:sp>
      <p:sp>
        <p:nvSpPr>
          <p:cNvPr id="11" name="">
            <a:extLst xmlns:a="http://schemas.openxmlformats.org/drawingml/2006/main">
              <a:ext uri="{FF2B5EF4-FFF2-40B4-BE49-F238E27FC236}">
                <a16:creationId xmlns:a16="http://schemas.microsoft.com/office/drawing/2014/main" id="{29803302-B5F7-4EB5-8E5C-75E12EA1C4AF}"/>
              </a:ext>
            </a:extLst>
          </p:cNvPr>
          <p:cNvSpPr>
            <a:spLocks xmlns:a="http://schemas.openxmlformats.org/drawingml/2006/main" noGrp="1"/>
          </p:cNvSpPr>
          <p:nvPr/>
        </p:nvSpPr>
        <p:spPr>
          <a:xfrm xmlns:a="http://schemas.openxmlformats.org/drawingml/2006/main">
            <a:off x="685800" y="47244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12" name="">
            <a:extLst xmlns:a="http://schemas.openxmlformats.org/drawingml/2006/main">
              <a:ext uri="{FF2B5EF4-FFF2-40B4-BE49-F238E27FC236}">
                <a16:creationId xmlns:a16="http://schemas.microsoft.com/office/drawing/2014/main" id="{051CA640-DA81-4383-AC46-ABD708161673}"/>
              </a:ext>
            </a:extLst>
          </p:cNvPr>
          <p:cNvSpPr>
            <a:spLocks xmlns:a="http://schemas.openxmlformats.org/drawingml/2006/main" noGrp="1"/>
          </p:cNvSpPr>
          <p:nvPr/>
        </p:nvSpPr>
        <p:spPr>
          <a:xfrm xmlns:a="http://schemas.openxmlformats.org/drawingml/2006/main">
            <a:off x="1028700" y="49530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3</a:t>
            </a:r>
          </a:p>
        </p:txBody>
      </p:sp>
      <p:sp>
        <p:nvSpPr>
          <p:cNvPr id="13" name="">
            <a:extLst xmlns:a="http://schemas.openxmlformats.org/drawingml/2006/main">
              <a:ext uri="{FF2B5EF4-FFF2-40B4-BE49-F238E27FC236}">
                <a16:creationId xmlns:a16="http://schemas.microsoft.com/office/drawing/2014/main" id="{069A5545-0FBA-4775-A757-0B4EEC9DB056}"/>
              </a:ext>
            </a:extLst>
          </p:cNvPr>
          <p:cNvSpPr>
            <a:spLocks xmlns:a="http://schemas.openxmlformats.org/drawingml/2006/main" noGrp="1"/>
          </p:cNvSpPr>
          <p:nvPr/>
        </p:nvSpPr>
        <p:spPr>
          <a:xfrm xmlns:a="http://schemas.openxmlformats.org/drawingml/2006/main">
            <a:off x="1676400" y="48577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Which statement is accurate?</a:t>
            </a:r>
          </a:p>
        </p:txBody>
      </p:sp>
      <p:sp>
        <p:nvSpPr>
          <p:cNvPr id="14" name="">
            <a:extLst xmlns:a="http://schemas.openxmlformats.org/drawingml/2006/main">
              <a:ext uri="{FF2B5EF4-FFF2-40B4-BE49-F238E27FC236}">
                <a16:creationId xmlns:a16="http://schemas.microsoft.com/office/drawing/2014/main" id="{9D5DEB61-735D-4375-860E-F8C9DBD507BC}"/>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09  •  WEB PORTFOLIO</a:t>
            </a:r>
          </a:p>
        </p:txBody>
      </p:sp>
      <p:sp>
        <p:nvSpPr>
          <p:cNvPr id="15" name="">
            <a:extLst xmlns:a="http://schemas.openxmlformats.org/drawingml/2006/main">
              <a:ext uri="{FF2B5EF4-FFF2-40B4-BE49-F238E27FC236}">
                <a16:creationId xmlns:a16="http://schemas.microsoft.com/office/drawing/2014/main" id="{19D9B7DF-C15C-4675-81F9-57A9918ECB42}"/>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06</a:t>
            </a:r>
          </a:p>
        </p:txBody>
      </p:sp>
    </p:spTree>
    <p:extLst>
      <p:ext uri="{BB962C8B-B14F-4D97-AF65-F5344CB8AC3E}">
        <p14:creationId xmlns:p14="http://schemas.microsoft.com/office/powerpoint/2010/main" val="1103751325"/>
      </p:ext>
    </p:extLst>
  </p:cSld>
</p:sld>
</file>

<file path=ppt/slides/slide7.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C7107EFC-3590-4465-BE7A-77F12FE4E124}"/>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FORMATIVE LEARNING EVIDENCE</a:t>
            </a:r>
          </a:p>
        </p:txBody>
      </p:sp>
      <p:sp>
        <p:nvSpPr>
          <p:cNvPr id="2" name="">
            <a:extLst xmlns:a="http://schemas.openxmlformats.org/drawingml/2006/main">
              <a:ext uri="{FF2B5EF4-FFF2-40B4-BE49-F238E27FC236}">
                <a16:creationId xmlns:a16="http://schemas.microsoft.com/office/drawing/2014/main" id="{44F81F17-38BA-4582-AFCB-A5A87D542375}"/>
              </a:ext>
            </a:extLst>
          </p:cNvPr>
          <p:cNvSpPr>
            <a:spLocks xmlns:a="http://schemas.openxmlformats.org/drawingml/2006/main" noGrp="1"/>
          </p:cNvSpPr>
          <p:nvPr/>
        </p:nvSpPr>
        <p:spPr>
          <a:xfrm xmlns:a="http://schemas.openxmlformats.org/drawingml/2006/main">
            <a:off x="685800" y="895350"/>
            <a:ext cx="9906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Read → Select → Explain → Check</a:t>
            </a:r>
          </a:p>
        </p:txBody>
      </p:sp>
      <p:sp>
        <p:nvSpPr>
          <p:cNvPr id="3" name="">
            <a:extLst xmlns:a="http://schemas.openxmlformats.org/drawingml/2006/main">
              <a:ext uri="{FF2B5EF4-FFF2-40B4-BE49-F238E27FC236}">
                <a16:creationId xmlns:a16="http://schemas.microsoft.com/office/drawing/2014/main" id="{1BB91CB6-DB17-47B4-9C43-67512F83F4CF}"/>
              </a:ext>
            </a:extLst>
          </p:cNvPr>
          <p:cNvSpPr>
            <a:spLocks xmlns:a="http://schemas.openxmlformats.org/drawingml/2006/main" noGrp="1"/>
          </p:cNvSpPr>
          <p:nvPr/>
        </p:nvSpPr>
        <p:spPr>
          <a:xfrm xmlns:a="http://schemas.openxmlformats.org/drawingml/2006/main">
            <a:off x="685800" y="1752600"/>
            <a:ext cx="5905500" cy="2019300"/>
          </a:xfrm>
          <a:prstGeom xmlns:a="http://schemas.openxmlformats.org/drawingml/2006/main" prst="roundRect">
            <a:avLst>
              <a:gd name="adj" fmla="val 5660"/>
            </a:avLst>
          </a:prstGeom>
          <a:solidFill xmlns:a="http://schemas.openxmlformats.org/drawingml/2006/main">
            <a:srgbClr val="FFFFFF"/>
          </a:solidFill>
          <a:ln xmlns:a="http://schemas.openxmlformats.org/drawingml/2006/main" w="9525">
            <a:solidFill>
              <a:srgbClr val="CFD8D2"/>
            </a:solidFill>
            <a:prstDash val="solid"/>
          </a:ln>
        </p:spPr>
      </p:sp>
      <p:sp>
        <p:nvSpPr>
          <p:cNvPr id="4" name="">
            <a:extLst xmlns:a="http://schemas.openxmlformats.org/drawingml/2006/main">
              <a:ext uri="{FF2B5EF4-FFF2-40B4-BE49-F238E27FC236}">
                <a16:creationId xmlns:a16="http://schemas.microsoft.com/office/drawing/2014/main" id="{0B42A71E-866D-456C-B0FA-22D867878238}"/>
              </a:ext>
            </a:extLst>
          </p:cNvPr>
          <p:cNvSpPr>
            <a:spLocks xmlns:a="http://schemas.openxmlformats.org/drawingml/2006/main" noGrp="1"/>
          </p:cNvSpPr>
          <p:nvPr/>
        </p:nvSpPr>
        <p:spPr>
          <a:xfrm xmlns:a="http://schemas.openxmlformats.org/drawingml/2006/main">
            <a:off x="6896100" y="1752600"/>
            <a:ext cx="4610100" cy="2019300"/>
          </a:xfrm>
          <a:prstGeom xmlns:a="http://schemas.openxmlformats.org/drawingml/2006/main" prst="roundRect">
            <a:avLst>
              <a:gd name="adj" fmla="val 5660"/>
            </a:avLst>
          </a:prstGeom>
          <a:solidFill xmlns:a="http://schemas.openxmlformats.org/drawingml/2006/main">
            <a:srgbClr val="E7F0E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F0CB8F5-E320-4D2A-AC57-B545C0FF63B1}"/>
              </a:ext>
            </a:extLst>
          </p:cNvPr>
          <p:cNvSpPr>
            <a:spLocks xmlns:a="http://schemas.openxmlformats.org/drawingml/2006/main" noGrp="1"/>
          </p:cNvSpPr>
          <p:nvPr/>
        </p:nvSpPr>
        <p:spPr>
          <a:xfrm xmlns:a="http://schemas.openxmlformats.org/drawingml/2006/main">
            <a:off x="952500" y="18859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THE QUESTION</a:t>
            </a:r>
          </a:p>
        </p:txBody>
      </p:sp>
      <p:sp>
        <p:nvSpPr>
          <p:cNvPr id="6" name="">
            <a:extLst xmlns:a="http://schemas.openxmlformats.org/drawingml/2006/main">
              <a:ext uri="{FF2B5EF4-FFF2-40B4-BE49-F238E27FC236}">
                <a16:creationId xmlns:a16="http://schemas.microsoft.com/office/drawing/2014/main" id="{E8DB0BBC-64F3-41CB-B5AA-F695C42DD8D0}"/>
              </a:ext>
            </a:extLst>
          </p:cNvPr>
          <p:cNvSpPr>
            <a:spLocks xmlns:a="http://schemas.openxmlformats.org/drawingml/2006/main" noGrp="1"/>
          </p:cNvSpPr>
          <p:nvPr/>
        </p:nvSpPr>
        <p:spPr>
          <a:xfrm xmlns:a="http://schemas.openxmlformats.org/drawingml/2006/main">
            <a:off x="952500" y="2266950"/>
            <a:ext cx="523875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7342C"/>
                </a:solidFill>
                <a:latin typeface="Arial"/>
                <a:ea typeface="Arial"/>
                <a:cs typeface="Arial"/>
              </a:defRPr>
            </a:pPr>
            <a:r>
              <a:rPr sz="1575" b="1">
                <a:solidFill>
                  <a:srgbClr val="17342C"/>
                </a:solidFill>
                <a:latin typeface="Arial"/>
                <a:ea typeface="Arial"/>
                <a:cs typeface="Arial"/>
              </a:rPr>
              <a:t>Create a three-page content map and a media preflight, then report preview, publish, access test and submission as separate states.</a:t>
            </a:r>
          </a:p>
        </p:txBody>
      </p:sp>
      <p:sp>
        <p:nvSpPr>
          <p:cNvPr id="7" name="">
            <a:extLst xmlns:a="http://schemas.openxmlformats.org/drawingml/2006/main">
              <a:ext uri="{FF2B5EF4-FFF2-40B4-BE49-F238E27FC236}">
                <a16:creationId xmlns:a16="http://schemas.microsoft.com/office/drawing/2014/main" id="{1CCAC5BC-6799-4CEC-BF15-27078F12E9A3}"/>
              </a:ext>
            </a:extLst>
          </p:cNvPr>
          <p:cNvSpPr>
            <a:spLocks xmlns:a="http://schemas.openxmlformats.org/drawingml/2006/main" noGrp="1"/>
          </p:cNvSpPr>
          <p:nvPr/>
        </p:nvSpPr>
        <p:spPr>
          <a:xfrm xmlns:a="http://schemas.openxmlformats.org/drawingml/2006/main">
            <a:off x="7181850" y="1885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WHAT THIS IS ASKING</a:t>
            </a:r>
          </a:p>
        </p:txBody>
      </p:sp>
      <p:sp>
        <p:nvSpPr>
          <p:cNvPr id="8" name="">
            <a:extLst xmlns:a="http://schemas.openxmlformats.org/drawingml/2006/main">
              <a:ext uri="{FF2B5EF4-FFF2-40B4-BE49-F238E27FC236}">
                <a16:creationId xmlns:a16="http://schemas.microsoft.com/office/drawing/2014/main" id="{6E9C5FC2-1BE4-4C8C-8E18-49E2D888A393}"/>
              </a:ext>
            </a:extLst>
          </p:cNvPr>
          <p:cNvSpPr>
            <a:spLocks xmlns:a="http://schemas.openxmlformats.org/drawingml/2006/main" noGrp="1"/>
          </p:cNvSpPr>
          <p:nvPr/>
        </p:nvSpPr>
        <p:spPr>
          <a:xfrm xmlns:a="http://schemas.openxmlformats.org/drawingml/2006/main">
            <a:off x="7219950" y="2324100"/>
            <a:ext cx="114300" cy="114300"/>
          </a:xfrm>
          <a:prstGeom xmlns:a="http://schemas.openxmlformats.org/drawingml/2006/main" prst="ellipse">
            <a:avLst/>
          </a:prstGeom>
          <a:solidFill xmlns:a="http://schemas.openxmlformats.org/drawingml/2006/main">
            <a:srgbClr val="0C555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F3777E2-DBB3-4E94-8F91-861C83F31FD0}"/>
              </a:ext>
            </a:extLst>
          </p:cNvPr>
          <p:cNvSpPr>
            <a:spLocks xmlns:a="http://schemas.openxmlformats.org/drawingml/2006/main" noGrp="1"/>
          </p:cNvSpPr>
          <p:nvPr/>
        </p:nvSpPr>
        <p:spPr>
          <a:xfrm xmlns:a="http://schemas.openxmlformats.org/drawingml/2006/main">
            <a:off x="7524750" y="22288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Use predictable labels</a:t>
            </a:r>
          </a:p>
        </p:txBody>
      </p:sp>
      <p:sp>
        <p:nvSpPr>
          <p:cNvPr id="10" name="">
            <a:extLst xmlns:a="http://schemas.openxmlformats.org/drawingml/2006/main">
              <a:ext uri="{FF2B5EF4-FFF2-40B4-BE49-F238E27FC236}">
                <a16:creationId xmlns:a16="http://schemas.microsoft.com/office/drawing/2014/main" id="{7228158D-E6EC-4505-99AF-B915C937DC41}"/>
              </a:ext>
            </a:extLst>
          </p:cNvPr>
          <p:cNvSpPr>
            <a:spLocks xmlns:a="http://schemas.openxmlformats.org/drawingml/2006/main" noGrp="1"/>
          </p:cNvSpPr>
          <p:nvPr/>
        </p:nvSpPr>
        <p:spPr>
          <a:xfrm xmlns:a="http://schemas.openxmlformats.org/drawingml/2006/main">
            <a:off x="7219950" y="2771775"/>
            <a:ext cx="114300" cy="11430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5F50DD3-4C13-48FA-ADC9-1946FC4B35C9}"/>
              </a:ext>
            </a:extLst>
          </p:cNvPr>
          <p:cNvSpPr>
            <a:spLocks xmlns:a="http://schemas.openxmlformats.org/drawingml/2006/main" noGrp="1"/>
          </p:cNvSpPr>
          <p:nvPr/>
        </p:nvSpPr>
        <p:spPr>
          <a:xfrm xmlns:a="http://schemas.openxmlformats.org/drawingml/2006/main">
            <a:off x="7524750" y="267652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Prepare media and alternatives</a:t>
            </a:r>
          </a:p>
        </p:txBody>
      </p:sp>
      <p:sp>
        <p:nvSpPr>
          <p:cNvPr id="12" name="">
            <a:extLst xmlns:a="http://schemas.openxmlformats.org/drawingml/2006/main">
              <a:ext uri="{FF2B5EF4-FFF2-40B4-BE49-F238E27FC236}">
                <a16:creationId xmlns:a16="http://schemas.microsoft.com/office/drawing/2014/main" id="{B571D691-BFE7-46C0-8CCA-2179F5AFFF75}"/>
              </a:ext>
            </a:extLst>
          </p:cNvPr>
          <p:cNvSpPr>
            <a:spLocks xmlns:a="http://schemas.openxmlformats.org/drawingml/2006/main" noGrp="1"/>
          </p:cNvSpPr>
          <p:nvPr/>
        </p:nvSpPr>
        <p:spPr>
          <a:xfrm xmlns:a="http://schemas.openxmlformats.org/drawingml/2006/main">
            <a:off x="7219950" y="3219450"/>
            <a:ext cx="114300" cy="114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3AC95F6-CAAA-461F-B7B0-ADB44AAFD8B2}"/>
              </a:ext>
            </a:extLst>
          </p:cNvPr>
          <p:cNvSpPr>
            <a:spLocks xmlns:a="http://schemas.openxmlformats.org/drawingml/2006/main" noGrp="1"/>
          </p:cNvSpPr>
          <p:nvPr/>
        </p:nvSpPr>
        <p:spPr>
          <a:xfrm xmlns:a="http://schemas.openxmlformats.org/drawingml/2006/main">
            <a:off x="7524750" y="31242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Test access independently</a:t>
            </a:r>
          </a:p>
        </p:txBody>
      </p:sp>
      <p:sp>
        <p:nvSpPr>
          <p:cNvPr id="14" name="">
            <a:extLst xmlns:a="http://schemas.openxmlformats.org/drawingml/2006/main">
              <a:ext uri="{FF2B5EF4-FFF2-40B4-BE49-F238E27FC236}">
                <a16:creationId xmlns:a16="http://schemas.microsoft.com/office/drawing/2014/main" id="{AD5F8DE6-64E5-4138-A2BE-2BC1CCED7B87}"/>
              </a:ext>
            </a:extLst>
          </p:cNvPr>
          <p:cNvSpPr>
            <a:spLocks xmlns:a="http://schemas.openxmlformats.org/drawingml/2006/main" noGrp="1"/>
          </p:cNvSpPr>
          <p:nvPr/>
        </p:nvSpPr>
        <p:spPr>
          <a:xfrm xmlns:a="http://schemas.openxmlformats.org/drawingml/2006/main">
            <a:off x="685800" y="4095750"/>
            <a:ext cx="3333750" cy="1466850"/>
          </a:xfrm>
          <a:prstGeom xmlns:a="http://schemas.openxmlformats.org/drawingml/2006/main" prst="roundRect">
            <a:avLst>
              <a:gd name="adj" fmla="val 7792"/>
            </a:avLst>
          </a:prstGeom>
          <a:solidFill xmlns:a="http://schemas.openxmlformats.org/drawingml/2006/main">
            <a:srgbClr val="17342C"/>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EC8BCF5-CE73-4D4E-ACBA-E1624C174700}"/>
              </a:ext>
            </a:extLst>
          </p:cNvPr>
          <p:cNvSpPr>
            <a:spLocks xmlns:a="http://schemas.openxmlformats.org/drawingml/2006/main" noGrp="1"/>
          </p:cNvSpPr>
          <p:nvPr/>
        </p:nvSpPr>
        <p:spPr>
          <a:xfrm xmlns:a="http://schemas.openxmlformats.org/drawingml/2006/main">
            <a:off x="8953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1  SELECT</a:t>
            </a:r>
          </a:p>
        </p:txBody>
      </p:sp>
      <p:sp>
        <p:nvSpPr>
          <p:cNvPr id="16" name="">
            <a:extLst xmlns:a="http://schemas.openxmlformats.org/drawingml/2006/main">
              <a:ext uri="{FF2B5EF4-FFF2-40B4-BE49-F238E27FC236}">
                <a16:creationId xmlns:a16="http://schemas.microsoft.com/office/drawing/2014/main" id="{408598E9-7C1F-4219-8939-4D37704CE255}"/>
              </a:ext>
            </a:extLst>
          </p:cNvPr>
          <p:cNvSpPr>
            <a:spLocks xmlns:a="http://schemas.openxmlformats.org/drawingml/2006/main" noGrp="1"/>
          </p:cNvSpPr>
          <p:nvPr/>
        </p:nvSpPr>
        <p:spPr>
          <a:xfrm xmlns:a="http://schemas.openxmlformats.org/drawingml/2006/main">
            <a:off x="8953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Choose precise theory and examples that answer the question.</a:t>
            </a:r>
          </a:p>
        </p:txBody>
      </p:sp>
      <p:sp>
        <p:nvSpPr>
          <p:cNvPr id="17" name="">
            <a:extLst xmlns:a="http://schemas.openxmlformats.org/drawingml/2006/main">
              <a:ext uri="{FF2B5EF4-FFF2-40B4-BE49-F238E27FC236}">
                <a16:creationId xmlns:a16="http://schemas.microsoft.com/office/drawing/2014/main" id="{D12F76CE-B439-4C95-B957-7C6F7CF0B300}"/>
              </a:ext>
            </a:extLst>
          </p:cNvPr>
          <p:cNvSpPr>
            <a:spLocks xmlns:a="http://schemas.openxmlformats.org/drawingml/2006/main" noGrp="1"/>
          </p:cNvSpPr>
          <p:nvPr/>
        </p:nvSpPr>
        <p:spPr>
          <a:xfrm xmlns:a="http://schemas.openxmlformats.org/drawingml/2006/main">
            <a:off x="4362450" y="4095750"/>
            <a:ext cx="3333750" cy="1466850"/>
          </a:xfrm>
          <a:prstGeom xmlns:a="http://schemas.openxmlformats.org/drawingml/2006/main" prst="roundRect">
            <a:avLst>
              <a:gd name="adj" fmla="val 7792"/>
            </a:avLst>
          </a:prstGeom>
          <a:solidFill xmlns:a="http://schemas.openxmlformats.org/drawingml/2006/main">
            <a:srgbClr val="F2BD3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6CEE6E3-F6C5-413D-81C3-C68DAD6BE1E1}"/>
              </a:ext>
            </a:extLst>
          </p:cNvPr>
          <p:cNvSpPr>
            <a:spLocks xmlns:a="http://schemas.openxmlformats.org/drawingml/2006/main" noGrp="1"/>
          </p:cNvSpPr>
          <p:nvPr/>
        </p:nvSpPr>
        <p:spPr>
          <a:xfrm xmlns:a="http://schemas.openxmlformats.org/drawingml/2006/main">
            <a:off x="457200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2  EXPLAIN</a:t>
            </a:r>
          </a:p>
        </p:txBody>
      </p:sp>
      <p:sp>
        <p:nvSpPr>
          <p:cNvPr id="19" name="">
            <a:extLst xmlns:a="http://schemas.openxmlformats.org/drawingml/2006/main">
              <a:ext uri="{FF2B5EF4-FFF2-40B4-BE49-F238E27FC236}">
                <a16:creationId xmlns:a16="http://schemas.microsoft.com/office/drawing/2014/main" id="{AE4FBC2F-A4DD-46EF-B3BE-FD8221C232B0}"/>
              </a:ext>
            </a:extLst>
          </p:cNvPr>
          <p:cNvSpPr>
            <a:spLocks xmlns:a="http://schemas.openxmlformats.org/drawingml/2006/main" noGrp="1"/>
          </p:cNvSpPr>
          <p:nvPr/>
        </p:nvSpPr>
        <p:spPr>
          <a:xfrm xmlns:a="http://schemas.openxmlformats.org/drawingml/2006/main">
            <a:off x="457200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Link ideas with because, so or therefore.</a:t>
            </a:r>
          </a:p>
        </p:txBody>
      </p:sp>
      <p:sp>
        <p:nvSpPr>
          <p:cNvPr id="20" name="">
            <a:extLst xmlns:a="http://schemas.openxmlformats.org/drawingml/2006/main">
              <a:ext uri="{FF2B5EF4-FFF2-40B4-BE49-F238E27FC236}">
                <a16:creationId xmlns:a16="http://schemas.microsoft.com/office/drawing/2014/main" id="{D78446FB-C1CB-43CB-8852-DD1B5D691C88}"/>
              </a:ext>
            </a:extLst>
          </p:cNvPr>
          <p:cNvSpPr>
            <a:spLocks xmlns:a="http://schemas.openxmlformats.org/drawingml/2006/main" noGrp="1"/>
          </p:cNvSpPr>
          <p:nvPr/>
        </p:nvSpPr>
        <p:spPr>
          <a:xfrm xmlns:a="http://schemas.openxmlformats.org/drawingml/2006/main">
            <a:off x="8039100" y="4095750"/>
            <a:ext cx="3333750" cy="1466850"/>
          </a:xfrm>
          <a:prstGeom xmlns:a="http://schemas.openxmlformats.org/drawingml/2006/main" prst="roundRect">
            <a:avLst>
              <a:gd name="adj" fmla="val 7792"/>
            </a:avLst>
          </a:prstGeom>
          <a:solidFill xmlns:a="http://schemas.openxmlformats.org/drawingml/2006/main">
            <a:srgbClr val="0C555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A1AB67D-EDE6-4A1E-9F30-0C4371396580}"/>
              </a:ext>
            </a:extLst>
          </p:cNvPr>
          <p:cNvSpPr>
            <a:spLocks xmlns:a="http://schemas.openxmlformats.org/drawingml/2006/main" noGrp="1"/>
          </p:cNvSpPr>
          <p:nvPr/>
        </p:nvSpPr>
        <p:spPr>
          <a:xfrm xmlns:a="http://schemas.openxmlformats.org/drawingml/2006/main">
            <a:off x="82486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3  CHECK</a:t>
            </a:r>
          </a:p>
        </p:txBody>
      </p:sp>
      <p:sp>
        <p:nvSpPr>
          <p:cNvPr id="22" name="">
            <a:extLst xmlns:a="http://schemas.openxmlformats.org/drawingml/2006/main">
              <a:ext uri="{FF2B5EF4-FFF2-40B4-BE49-F238E27FC236}">
                <a16:creationId xmlns:a16="http://schemas.microsoft.com/office/drawing/2014/main" id="{0D0FF9B4-0E85-4327-9D4C-466F20C904A4}"/>
              </a:ext>
            </a:extLst>
          </p:cNvPr>
          <p:cNvSpPr>
            <a:spLocks xmlns:a="http://schemas.openxmlformats.org/drawingml/2006/main" noGrp="1"/>
          </p:cNvSpPr>
          <p:nvPr/>
        </p:nvSpPr>
        <p:spPr>
          <a:xfrm xmlns:a="http://schemas.openxmlformats.org/drawingml/2006/main">
            <a:off x="82486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Answer every part; keep claims specific and source-safe.</a:t>
            </a:r>
          </a:p>
        </p:txBody>
      </p:sp>
      <p:sp>
        <p:nvSpPr>
          <p:cNvPr id="23" name="">
            <a:extLst xmlns:a="http://schemas.openxmlformats.org/drawingml/2006/main">
              <a:ext uri="{FF2B5EF4-FFF2-40B4-BE49-F238E27FC236}">
                <a16:creationId xmlns:a16="http://schemas.microsoft.com/office/drawing/2014/main" id="{A1C8E9AC-A4B5-4F05-AD8D-CE56DA105F22}"/>
              </a:ext>
            </a:extLst>
          </p:cNvPr>
          <p:cNvSpPr>
            <a:spLocks xmlns:a="http://schemas.openxmlformats.org/drawingml/2006/main" noGrp="1"/>
          </p:cNvSpPr>
          <p:nvPr/>
        </p:nvSpPr>
        <p:spPr>
          <a:xfrm xmlns:a="http://schemas.openxmlformats.org/drawingml/2006/main">
            <a:off x="685800" y="5810250"/>
            <a:ext cx="1076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E8674B"/>
                </a:solidFill>
                <a:latin typeface="Arial"/>
                <a:ea typeface="Arial"/>
                <a:cs typeface="Arial"/>
              </a:defRPr>
            </a:pPr>
            <a:r>
              <a:rPr sz="1200" b="1">
                <a:solidFill>
                  <a:srgbClr val="E8674B"/>
                </a:solidFill>
                <a:latin typeface="Arial"/>
                <a:ea typeface="Arial"/>
                <a:cs typeface="Arial"/>
              </a:rPr>
              <a:t>Sentence starter: I placed… on… because… The current website state is… and still needs…</a:t>
            </a:r>
          </a:p>
        </p:txBody>
      </p:sp>
      <p:sp>
        <p:nvSpPr>
          <p:cNvPr id="24" name="">
            <a:extLst xmlns:a="http://schemas.openxmlformats.org/drawingml/2006/main">
              <a:ext uri="{FF2B5EF4-FFF2-40B4-BE49-F238E27FC236}">
                <a16:creationId xmlns:a16="http://schemas.microsoft.com/office/drawing/2014/main" id="{181A3185-81D3-46F3-AC14-6B8B1FB89E16}"/>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09  •  WEB PORTFOLIO</a:t>
            </a:r>
          </a:p>
        </p:txBody>
      </p:sp>
      <p:sp>
        <p:nvSpPr>
          <p:cNvPr id="25" name="">
            <a:extLst xmlns:a="http://schemas.openxmlformats.org/drawingml/2006/main">
              <a:ext uri="{FF2B5EF4-FFF2-40B4-BE49-F238E27FC236}">
                <a16:creationId xmlns:a16="http://schemas.microsoft.com/office/drawing/2014/main" id="{E1304AAD-19AC-401B-B905-B3718B98C0CF}"/>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07</a:t>
            </a:r>
          </a:p>
        </p:txBody>
      </p:sp>
    </p:spTree>
    <p:extLst>
      <p:ext uri="{BB962C8B-B14F-4D97-AF65-F5344CB8AC3E}">
        <p14:creationId xmlns:p14="http://schemas.microsoft.com/office/powerpoint/2010/main" val="529224908"/>
      </p:ext>
    </p:extLst>
  </p:cSld>
</p:sld>
</file>

<file path=ppt/slides/slide8.xml><?xml version="1.0" encoding="utf-8"?>
<p:sld xmlns:p="http://schemas.openxmlformats.org/presentationml/2006/main">
  <p:cSld>
    <p:bg>
      <p:bgPr>
        <a:solidFill xmlns:a="http://schemas.openxmlformats.org/drawingml/2006/main">
          <a:srgbClr val="E8674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D81F0D-10A9-4191-B472-EB7024836E4B}"/>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D5FFA39-C1CF-4CE7-A463-450399BDB0AF}"/>
              </a:ext>
            </a:extLst>
          </p:cNvPr>
          <p:cNvSpPr>
            <a:spLocks xmlns:a="http://schemas.openxmlformats.org/drawingml/2006/main" noGrp="1"/>
          </p:cNvSpPr>
          <p:nvPr/>
        </p:nvSpPr>
        <p:spPr>
          <a:xfrm xmlns:a="http://schemas.openxmlformats.org/drawingml/2006/main">
            <a:off x="685800" y="838200"/>
            <a:ext cx="666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150" b="1">
                <a:solidFill>
                  <a:srgbClr val="FFFFFF"/>
                </a:solidFill>
                <a:latin typeface="Arial"/>
                <a:ea typeface="Arial"/>
                <a:cs typeface="Arial"/>
              </a:defRPr>
            </a:pPr>
            <a:r>
              <a:rPr sz="3150" b="1">
                <a:solidFill>
                  <a:srgbClr val="FFFFFF"/>
                </a:solidFill>
                <a:latin typeface="Arial"/>
                <a:ea typeface="Arial"/>
                <a:cs typeface="Arial"/>
              </a:rPr>
              <a:t>Before you pack up…</a:t>
            </a:r>
          </a:p>
        </p:txBody>
      </p:sp>
      <p:sp>
        <p:nvSpPr>
          <p:cNvPr id="3" name="">
            <a:extLst xmlns:a="http://schemas.openxmlformats.org/drawingml/2006/main">
              <a:ext uri="{FF2B5EF4-FFF2-40B4-BE49-F238E27FC236}">
                <a16:creationId xmlns:a16="http://schemas.microsoft.com/office/drawing/2014/main" id="{5500F603-05A8-4376-98AC-ACE1CD85CF29}"/>
              </a:ext>
            </a:extLst>
          </p:cNvPr>
          <p:cNvSpPr>
            <a:spLocks xmlns:a="http://schemas.openxmlformats.org/drawingml/2006/main" noGrp="1"/>
          </p:cNvSpPr>
          <p:nvPr/>
        </p:nvSpPr>
        <p:spPr>
          <a:xfrm xmlns:a="http://schemas.openxmlformats.org/drawingml/2006/main">
            <a:off x="685800" y="19621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1. One idea I can now explain is…</a:t>
            </a:r>
          </a:p>
        </p:txBody>
      </p:sp>
      <p:sp>
        <p:nvSpPr>
          <p:cNvPr id="4" name="">
            <a:extLst xmlns:a="http://schemas.openxmlformats.org/drawingml/2006/main">
              <a:ext uri="{FF2B5EF4-FFF2-40B4-BE49-F238E27FC236}">
                <a16:creationId xmlns:a16="http://schemas.microsoft.com/office/drawing/2014/main" id="{57E7DFE3-9704-41FA-A0D4-A4294FD1B5C1}"/>
              </a:ext>
            </a:extLst>
          </p:cNvPr>
          <p:cNvSpPr>
            <a:spLocks xmlns:a="http://schemas.openxmlformats.org/drawingml/2006/main" noGrp="1"/>
          </p:cNvSpPr>
          <p:nvPr/>
        </p:nvSpPr>
        <p:spPr>
          <a:xfrm xmlns:a="http://schemas.openxmlformats.org/drawingml/2006/main">
            <a:off x="685800" y="308610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2. One design decision or practical action this changes is…</a:t>
            </a:r>
          </a:p>
        </p:txBody>
      </p:sp>
      <p:sp>
        <p:nvSpPr>
          <p:cNvPr id="5" name="">
            <a:extLst xmlns:a="http://schemas.openxmlformats.org/drawingml/2006/main">
              <a:ext uri="{FF2B5EF4-FFF2-40B4-BE49-F238E27FC236}">
                <a16:creationId xmlns:a16="http://schemas.microsoft.com/office/drawing/2014/main" id="{2C53B1D5-DF5D-43EA-B055-42C66E4F9007}"/>
              </a:ext>
            </a:extLst>
          </p:cNvPr>
          <p:cNvSpPr>
            <a:spLocks xmlns:a="http://schemas.openxmlformats.org/drawingml/2006/main" noGrp="1"/>
          </p:cNvSpPr>
          <p:nvPr/>
        </p:nvSpPr>
        <p:spPr>
          <a:xfrm xmlns:a="http://schemas.openxmlformats.org/drawingml/2006/main">
            <a:off x="685800" y="42100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3. One question I still need answered is…</a:t>
            </a:r>
          </a:p>
        </p:txBody>
      </p:sp>
      <p:sp>
        <p:nvSpPr>
          <p:cNvPr id="6" name="">
            <a:extLst xmlns:a="http://schemas.openxmlformats.org/drawingml/2006/main">
              <a:ext uri="{FF2B5EF4-FFF2-40B4-BE49-F238E27FC236}">
                <a16:creationId xmlns:a16="http://schemas.microsoft.com/office/drawing/2014/main" id="{FC2D79C6-0626-44D8-BABC-DCBC67FF24F6}"/>
              </a:ext>
            </a:extLst>
          </p:cNvPr>
          <p:cNvSpPr>
            <a:spLocks xmlns:a="http://schemas.openxmlformats.org/drawingml/2006/main" noGrp="1"/>
          </p:cNvSpPr>
          <p:nvPr/>
        </p:nvSpPr>
        <p:spPr>
          <a:xfrm xmlns:a="http://schemas.openxmlformats.org/drawingml/2006/main">
            <a:off x="9810750" y="2609850"/>
            <a:ext cx="1638300" cy="1638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C43D200-4ECA-4999-8093-6FFEC62117A6}"/>
              </a:ext>
            </a:extLst>
          </p:cNvPr>
          <p:cNvSpPr>
            <a:spLocks xmlns:a="http://schemas.openxmlformats.org/drawingml/2006/main" noGrp="1"/>
          </p:cNvSpPr>
          <p:nvPr/>
        </p:nvSpPr>
        <p:spPr>
          <a:xfrm xmlns:a="http://schemas.openxmlformats.org/drawingml/2006/main">
            <a:off x="9944100" y="2876550"/>
            <a:ext cx="13716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SAVE</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YOUR</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EVIDENCE</a:t>
            </a:r>
          </a:p>
        </p:txBody>
      </p:sp>
      <p:sp>
        <p:nvSpPr>
          <p:cNvPr id="8" name="">
            <a:extLst xmlns:a="http://schemas.openxmlformats.org/drawingml/2006/main">
              <a:ext uri="{FF2B5EF4-FFF2-40B4-BE49-F238E27FC236}">
                <a16:creationId xmlns:a16="http://schemas.microsoft.com/office/drawing/2014/main" id="{71EEACEC-5879-4ED2-9E68-AB5006ED8B9E}"/>
              </a:ext>
            </a:extLst>
          </p:cNvPr>
          <p:cNvSpPr>
            <a:spLocks xmlns:a="http://schemas.openxmlformats.org/drawingml/2006/main" noGrp="1"/>
          </p:cNvSpPr>
          <p:nvPr/>
        </p:nvSpPr>
        <p:spPr>
          <a:xfrm xmlns:a="http://schemas.openxmlformats.org/drawingml/2006/main">
            <a:off x="685800" y="575310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a:solidFill>
                  <a:srgbClr val="FFFFFF"/>
                </a:solidFill>
                <a:latin typeface="Arial"/>
                <a:ea typeface="Arial"/>
                <a:cs typeface="Arial"/>
              </a:defRPr>
            </a:pPr>
            <a:r>
              <a:rPr sz="1200" b="1">
                <a:solidFill>
                  <a:srgbClr val="FFFFFF"/>
                </a:solidFill>
                <a:latin typeface="Arial"/>
                <a:ea typeface="Arial"/>
                <a:cs typeface="Arial"/>
              </a:rPr>
              <a:t>Save in the matching course module. Local save is not submission.</a:t>
            </a:r>
          </a:p>
        </p:txBody>
      </p:sp>
      <p:sp>
        <p:nvSpPr>
          <p:cNvPr id="9" name="">
            <a:extLst xmlns:a="http://schemas.openxmlformats.org/drawingml/2006/main">
              <a:ext uri="{FF2B5EF4-FFF2-40B4-BE49-F238E27FC236}">
                <a16:creationId xmlns:a16="http://schemas.microsoft.com/office/drawing/2014/main" id="{6A6C8490-5CA6-4BEC-AB3E-563BC8C77851}"/>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09  •  WEB PORTFOLIO</a:t>
            </a:r>
          </a:p>
        </p:txBody>
      </p:sp>
      <p:sp>
        <p:nvSpPr>
          <p:cNvPr id="10" name="">
            <a:extLst xmlns:a="http://schemas.openxmlformats.org/drawingml/2006/main">
              <a:ext uri="{FF2B5EF4-FFF2-40B4-BE49-F238E27FC236}">
                <a16:creationId xmlns:a16="http://schemas.microsoft.com/office/drawing/2014/main" id="{2EC4CCF5-9714-4DF4-9588-5F2AE800A030}"/>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08</a:t>
            </a:r>
          </a:p>
        </p:txBody>
      </p:sp>
    </p:spTree>
    <p:extLst>
      <p:ext uri="{BB962C8B-B14F-4D97-AF65-F5344CB8AC3E}">
        <p14:creationId xmlns:p14="http://schemas.microsoft.com/office/powerpoint/2010/main" val="17735286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2026-08-24T00:54:07.5070000Z</dcterms:created>
  <dcterms:modified xsi:type="dcterms:W3CDTF">2026-08-24T00:54:07.5070000Z</dcterms:modified>
</coreProperties>
</file>