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849a2d08ce460f" /><Relationship Type="http://schemas.openxmlformats.org/officeDocument/2006/relationships/extended-properties" Target="/docProps/app.xml" Id="Rfa1c77df3ccf448a" /><Relationship Type="http://schemas.openxmlformats.org/officeDocument/2006/relationships/officeDocument" Target="/ppt/presentation.xml" Id="R28293c935cc741a7" /></Relationships>
</file>

<file path=ppt/presentation.xml><?xml version="1.0" encoding="utf-8"?>
<p:presentation xmlns:p="http://schemas.openxmlformats.org/presentationml/2006/main">
  <p:sldMasterIdLst>
    <p:sldMasterId xmlns:r="http://schemas.openxmlformats.org/officeDocument/2006/relationships" id="2147483648" r:id="Red39728408554eb5"/>
  </p:sldMasterIdLst>
  <p:notesMasterIdLst>
    <p:notesMasterId xmlns:r="http://schemas.openxmlformats.org/officeDocument/2006/relationships" r:id="R093162ae3d324a0e"/>
  </p:notesMasterIdLst>
  <p:sldIdLst>
    <p:sldId xmlns:r="http://schemas.openxmlformats.org/officeDocument/2006/relationships" id="256" r:id="R72b756e7c0944c63"/>
    <p:sldId xmlns:r="http://schemas.openxmlformats.org/officeDocument/2006/relationships" id="257" r:id="R778d9e63173d4cb0"/>
    <p:sldId xmlns:r="http://schemas.openxmlformats.org/officeDocument/2006/relationships" id="258" r:id="R9db798b3a8a549a9"/>
    <p:sldId xmlns:r="http://schemas.openxmlformats.org/officeDocument/2006/relationships" id="259" r:id="R039a50b338a84dbb"/>
    <p:sldId xmlns:r="http://schemas.openxmlformats.org/officeDocument/2006/relationships" id="260" r:id="R539c1fe5fc044775"/>
    <p:sldId xmlns:r="http://schemas.openxmlformats.org/officeDocument/2006/relationships" id="261" r:id="R2e884e29a2244489"/>
    <p:sldId xmlns:r="http://schemas.openxmlformats.org/officeDocument/2006/relationships" id="262" r:id="R24e14e86c9664b50"/>
    <p:sldId xmlns:r="http://schemas.openxmlformats.org/officeDocument/2006/relationships" id="263" r:id="R66be8b4073b146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74de74bdc24367" /><Relationship Type="http://schemas.openxmlformats.org/officeDocument/2006/relationships/slideMaster" Target="/ppt/slideMasters/slideMaster1.xml" Id="Red39728408554eb5" /><Relationship Type="http://schemas.openxmlformats.org/officeDocument/2006/relationships/notesMaster" Target="/ppt/notesMasters/notesMaster1.xml" Id="R093162ae3d324a0e" /><Relationship Type="http://schemas.openxmlformats.org/officeDocument/2006/relationships/presProps" Target="/ppt/presProps.xml" Id="R3d769f47bd114461" /><Relationship Type="http://schemas.openxmlformats.org/officeDocument/2006/relationships/tableStyles" Target="/ppt/tableStyles.xml" Id="R8b34dc8310b544eb" /><Relationship Type="http://schemas.openxmlformats.org/officeDocument/2006/relationships/slide" Target="/ppt/slides/slide1.xml" Id="R72b756e7c0944c63" /><Relationship Type="http://schemas.openxmlformats.org/officeDocument/2006/relationships/slide" Target="/ppt/slides/slide2.xml" Id="R778d9e63173d4cb0" /><Relationship Type="http://schemas.openxmlformats.org/officeDocument/2006/relationships/slide" Target="/ppt/slides/slide3.xml" Id="R9db798b3a8a549a9" /><Relationship Type="http://schemas.openxmlformats.org/officeDocument/2006/relationships/slide" Target="/ppt/slides/slide4.xml" Id="R039a50b338a84dbb" /><Relationship Type="http://schemas.openxmlformats.org/officeDocument/2006/relationships/slide" Target="/ppt/slides/slide5.xml" Id="R539c1fe5fc044775" /><Relationship Type="http://schemas.openxmlformats.org/officeDocument/2006/relationships/slide" Target="/ppt/slides/slide6.xml" Id="R2e884e29a2244489" /><Relationship Type="http://schemas.openxmlformats.org/officeDocument/2006/relationships/slide" Target="/ppt/slides/slide7.xml" Id="R24e14e86c9664b50" /><Relationship Type="http://schemas.openxmlformats.org/officeDocument/2006/relationships/slide" Target="/ppt/slides/slide8.xml" Id="R66be8b4073b146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eddf9d07dd4a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dcb7e7ff834f97" /><Relationship Type="http://schemas.openxmlformats.org/officeDocument/2006/relationships/notesMaster" Target="/ppt/notesMasters/notesMaster1.xml" Id="R47b625d12ba546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467a4a14464b5c" /><Relationship Type="http://schemas.openxmlformats.org/officeDocument/2006/relationships/notesMaster" Target="/ppt/notesMasters/notesMaster1.xml" Id="R6b8c885504c045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8952a84feb40bc" /><Relationship Type="http://schemas.openxmlformats.org/officeDocument/2006/relationships/notesMaster" Target="/ppt/notesMasters/notesMaster1.xml" Id="R4ebb7f1c6f3f4b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39a4a774ba4c2c" /><Relationship Type="http://schemas.openxmlformats.org/officeDocument/2006/relationships/notesMaster" Target="/ppt/notesMasters/notesMaster1.xml" Id="Rd53e4267b21942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b6dade91b44c62" /><Relationship Type="http://schemas.openxmlformats.org/officeDocument/2006/relationships/notesMaster" Target="/ppt/notesMasters/notesMaster1.xml" Id="R8c36aff4af4848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82333017834acd" /><Relationship Type="http://schemas.openxmlformats.org/officeDocument/2006/relationships/notesMaster" Target="/ppt/notesMasters/notesMaster1.xml" Id="R49c241cc1fc348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c2072a85844af6" /><Relationship Type="http://schemas.openxmlformats.org/officeDocument/2006/relationships/notesMaster" Target="/ppt/notesMasters/notesMaster1.xml" Id="R1d6e1f65e18649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55b2830d934479" /><Relationship Type="http://schemas.openxmlformats.org/officeDocument/2006/relationships/notesMaster" Target="/ppt/notesMasters/notesMaster1.xml" Id="R2f44656fc79e4a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Structure and publish a connected Google Sites portfolio.</a:t>
            </a:r>
          </a:p>
          <a:p xmlns:a="http://schemas.openxmlformats.org/drawingml/2006/main">
            <a:r>
              <a:t>Prompt: What should a visitor predict from the labels Home, Products and Contact Us?</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9.</a:t>
            </a:r>
          </a:p>
          <a:p xmlns:a="http://schemas.openxmlformats.org/drawingml/2006/main">
            <a:r>
              <a:t>- Theory: data/course-content.js, m09-s01, m09-s02, m09-s03.</a:t>
            </a:r>
          </a:p>
          <a:p xmlns:a="http://schemas.openxmlformats.org/drawingml/2006/main">
            <a:r>
              <a:t>- Visual: assets/visuals/generated-m09-site-structure-planning-v2.png.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What should a visitor predict from the labels Home, Products and Contact Us?</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Site structure and navigation.</a:t>
            </a:r>
          </a:p>
          <a:p xmlns:a="http://schemas.openxmlformats.org/drawingml/2006/main">
            <a:r>
              <a:t/>
            </a:r>
          </a:p>
          <a:p xmlns:a="http://schemas.openxmlformats.org/drawingml/2006/main">
            <a:r>
              <a:t>[Sources]</a:t>
            </a:r>
          </a:p>
          <a:p xmlns:a="http://schemas.openxmlformats.org/drawingml/2006/main">
            <a:r>
              <a:t>- Theory sequence: data/course-content.js, m09-s01, m09-s02, m09-s03.</a:t>
            </a:r>
          </a:p>
          <a:p xmlns:a="http://schemas.openxmlformats.org/drawingml/2006/main">
            <a:r>
              <a:t>- Module summary: data/course-map.js, Module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Organise a small portfolio so users can predict where to find the brand story, products and contact information.</a:t>
            </a:r>
          </a:p>
          <a:p xmlns:a="http://schemas.openxmlformats.org/drawingml/2006/main">
            <a:r>
              <a:t>Explain: A site structure groups related information into pages and sets a useful order. The Drive demonstration shows a blank Google Site developed with Home, Products and Contact Us pages. This is verified source workflow for the unit. Home establishes identity and orientation, Products presents relevant brand outputs, and Contact Us provides the intended contact area. Any real contact details must follow teacher-approved privacy arrangements.</a:t>
            </a:r>
          </a:p>
          <a:p xmlns:a="http://schemas.openxmlformats.org/drawingml/2006/main">
            <a:r>
              <a:t>Clarify: Navigation labels should match page content and remain consistent. Users need to know where they are, what each link means and how to return. A page called “Stuff” gives weaker guidance than “Products”. Avoid dead ends, duplicate pages and links whose visible label does not match the destination. Test every main link from more than one page and at phone width.</a:t>
            </a:r>
          </a:p>
          <a:p xmlns:a="http://schemas.openxmlformats.org/drawingml/2006/main">
            <a:r>
              <a:t>Worked example: Cards labelled logo story, poster, motion advertisement, product information, brand introduction and approved contact pathway are sorted under the three demonstrated pages. The logo story and introduction fit Home; product information and media fit Products; the approved pathway fits Contact Us. One card could fit two places, so a short link points to the main location instead of duplicating content. A peer predicts each destination before opening it.</a:t>
            </a:r>
          </a:p>
          <a:p xmlns:a="http://schemas.openxmlformats.org/drawingml/2006/main">
            <a:r>
              <a:t>Ask: Which page structure is shown in the source demonstration?</a:t>
            </a:r>
          </a:p>
          <a:p xmlns:a="http://schemas.openxmlformats.org/drawingml/2006/main">
            <a:r>
              <a:t>Listen for: Home, Products and Contact Us. Correct. These are visible in the verified workflow.</a:t>
            </a:r>
          </a:p>
          <a:p xmlns:a="http://schemas.openxmlformats.org/drawingml/2006/main">
            <a:r>
              <a:t>Misconception to correct: A navigation menu is successful if every link works technically. → Links must also be understandable, predictable and usable across devices.</a:t>
            </a:r>
          </a:p>
          <a:p xmlns:a="http://schemas.openxmlformats.org/drawingml/2006/main">
            <a:r>
              <a:t>Transition: Connect this idea to Preparing and embedding media.</a:t>
            </a:r>
          </a:p>
          <a:p xmlns:a="http://schemas.openxmlformats.org/drawingml/2006/main">
            <a:r>
              <a:t/>
            </a:r>
          </a:p>
          <a:p xmlns:a="http://schemas.openxmlformats.org/drawingml/2006/main">
            <a:r>
              <a:t>[Sources]</a:t>
            </a:r>
          </a:p>
          <a:p xmlns:a="http://schemas.openxmlformats.org/drawingml/2006/main">
            <a:r>
              <a:t>- Theory and check: data/course-content.js, m09-s01 and m09-s01-q01.</a:t>
            </a:r>
          </a:p>
          <a:p xmlns:a="http://schemas.openxmlformats.org/drawingml/2006/main">
            <a:r>
              <a:t>- Image-first teaching visual: assets/visuals/generated-m09-site-structure-planning-v2.png. AI-generated with the built-in OpenAI image creator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Prepare images and video so the portfolio remains clear, accessible and honest about source and access.</a:t>
            </a:r>
          </a:p>
          <a:p xmlns:a="http://schemas.openxmlformats.org/drawingml/2006/main">
            <a:r>
              <a:t>Explain: Choose the correct file, crop only working copies, check resolution and use meaningful file names. Compress a copy when needed so pages do not carry unnecessarily large files, while preserving the best-quality original. Add concise alternative text that describes the important visible content. Captions can explain the design purpose or identify a mock-up as a simulated context.</a:t>
            </a:r>
          </a:p>
          <a:p xmlns:a="http://schemas.openxmlformats.org/drawingml/2006/main">
            <a:r>
              <a:t>Clarify: The source demonstration shows inserting posters and Drive video into Google Sites. Embedded media still depends on its sharing and privacy settings. A teacher-visible Drive file is not automatically public, and an embed that works for the owner may fail for another viewer. Use the approved access setting, provide a clear fallback when authorised and avoid exposing account details or signed-in interface frames.</a:t>
            </a:r>
          </a:p>
          <a:p xmlns:a="http://schemas.openxmlformats.org/drawingml/2006/main">
            <a:r>
              <a:t>Worked example: The site owner sees an embedded MP4, but a reviewer using a different approved view sees an access message. The student does not change sharing without permission. They record the failed test, ask which access level is authorised and prepare a clear placeholder or teacher-approved fallback. An image also lacks alt text, so it is revised to describe the actual poster rather than saying only “poster image”.</a:t>
            </a:r>
          </a:p>
          <a:p xmlns:a="http://schemas.openxmlformats.org/drawingml/2006/main">
            <a:r>
              <a:t>Ask: What should alternative text do?</a:t>
            </a:r>
          </a:p>
          <a:p xmlns:a="http://schemas.openxmlformats.org/drawingml/2006/main">
            <a:r>
              <a:t>Listen for: Describe the important content and function of the image. Correct. This supports users who cannot rely on the image.</a:t>
            </a:r>
          </a:p>
          <a:p xmlns:a="http://schemas.openxmlformats.org/drawingml/2006/main">
            <a:r>
              <a:t>Misconception to correct: If the owner can view an embed, every authorised viewer can view it. → Owner access may hide sharing problems; test from an independent approved view.</a:t>
            </a:r>
          </a:p>
          <a:p xmlns:a="http://schemas.openxmlformats.org/drawingml/2006/main">
            <a:r>
              <a:t>Transition: Connect this idea to Publishing, access and submission.</a:t>
            </a:r>
          </a:p>
          <a:p xmlns:a="http://schemas.openxmlformats.org/drawingml/2006/main">
            <a:r>
              <a:t/>
            </a:r>
          </a:p>
          <a:p xmlns:a="http://schemas.openxmlformats.org/drawingml/2006/main">
            <a:r>
              <a:t>[Sources]</a:t>
            </a:r>
          </a:p>
          <a:p xmlns:a="http://schemas.openxmlformats.org/drawingml/2006/main">
            <a:r>
              <a:t>- Theory and check: data/course-content.js, m09-s02 and m09-s02-q01.</a:t>
            </a:r>
          </a:p>
          <a:p xmlns:a="http://schemas.openxmlformats.org/drawingml/2006/main">
            <a:r>
              <a:t>- Image-first teaching visual: assets/visuals/generated-responsive-portfolio-check.png. AI-generated with the built-in image tool on 24 August 2026; no source or student image used; a rejected text-error variant was not retained in the course.</a:t>
            </a:r>
          </a:p>
          <a:p xmlns:a="http://schemas.openxmlformats.org/drawingml/2006/main">
            <a:r>
              <a:t>- Google Drive source: Google Sites Demonstration.mp4, Drive ID 1PV_O58qVIZ7AtoJrjfTLl9R_xML1JcqP, 8:55.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Distinguish preview, publication, authorised access, local saving and final link submission.</a:t>
            </a:r>
          </a:p>
          <a:p xmlns:a="http://schemas.openxmlformats.org/drawingml/2006/main">
            <a:r>
              <a:t>Explain: Preview shows how the site may appear before publication. Publishing creates or updates an accessible site version under selected settings. Access determines who can view it. The source demonstration includes preview, publish and link checking, but the permitted audience setting is not supplied in the course source. Follow the teacher’s direction and never broaden access merely to make a link easier to open.</a:t>
            </a:r>
          </a:p>
          <a:p xmlns:a="http://schemas.openxmlformats.org/drawingml/2006/main">
            <a:r>
              <a:t>Clarify: The verified Website Link prompt asks for a website link. A complete link record should identify the intended site and be checked from an approved viewer context. Saving it in this local course browser preserves a working draft only; it does not send the link to a teacher. Follow the teacher’s nominated submission pathway when supplied and avoid placing edit links or private account information in a public location.</a:t>
            </a:r>
          </a:p>
          <a:p xmlns:a="http://schemas.openxmlformats.org/drawingml/2006/main">
            <a:r>
              <a:t>Worked example: A student previews the site and saves its address locally, but the approved viewer still receives an access request. The honest status is “previewed and link recorded; viewer access not yet confirmed”. It is not “submitted” or “public”. The student checks for an accidental edit URL, records the issue and waits for the teacher’s access direction. Precise state language prevents false confidence and unsafe permission changes.</a:t>
            </a:r>
          </a:p>
          <a:p xmlns:a="http://schemas.openxmlformats.org/drawingml/2006/main">
            <a:r>
              <a:t>Ask: Which statement is accurate?</a:t>
            </a:r>
          </a:p>
          <a:p xmlns:a="http://schemas.openxmlformats.org/drawingml/2006/main">
            <a:r>
              <a:t>Listen for: A preview does not prove publication or viewer access. Correct. These are separate states.</a:t>
            </a:r>
          </a:p>
          <a:p xmlns:a="http://schemas.openxmlformats.org/drawingml/2006/main">
            <a:r>
              <a:t>Misconception to correct: If a URL exists, the site has been submitted and everyone can view it. → A URL can exist before authorised access or submission is complete.</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m09-s03 and m09-s03-q01.</a:t>
            </a:r>
          </a:p>
          <a:p xmlns:a="http://schemas.openxmlformats.org/drawingml/2006/main">
            <a:r>
              <a:t>- Image-first teaching visual: assets/visuals/generated-m09-publish-access-test-v2.png. AI-generated with the built-in OpenAI image creator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Home, Products and Contact Us. Feedback: Correct. These are visible in the verified workflow.</a:t>
            </a:r>
          </a:p>
          <a:p xmlns:a="http://schemas.openxmlformats.org/drawingml/2006/main">
            <a:r>
              <a:t>Question 2: Describe the important content and function of the image. Feedback: Correct. This supports users who cannot rely on the image.</a:t>
            </a:r>
          </a:p>
          <a:p xmlns:a="http://schemas.openxmlformats.org/drawingml/2006/main">
            <a:r>
              <a:t>Question 3: A preview does not prove publication or viewer access. Feedback: Correct. These are separate states.</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m09-s01-q01, m09-s02-q01, m09-s03-q01.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m09-s01-capstone, m09-s02-capstone, m09-s03-capstone.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m09-s01, m09-s02, m09-s03.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ef2b4924fd4f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e2f747610d4345" /><Relationship Type="http://schemas.openxmlformats.org/officeDocument/2006/relationships/slideLayout" Target="/ppt/slideLayouts/slideLayout1.xml" Id="R103376df37a64b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3376df37a64b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10a2813b9041f3" /><Relationship Type="http://schemas.openxmlformats.org/officeDocument/2006/relationships/image" Target="/ppt/media/image.png" Id="Rca61159c75b44a3d" /><Relationship Type="http://schemas.openxmlformats.org/officeDocument/2006/relationships/notesSlide" Target="/ppt/notesSlides/notesSlide1.xml" Id="R837d2b2a7e044d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1648ca87fa4999" /><Relationship Type="http://schemas.openxmlformats.org/officeDocument/2006/relationships/notesSlide" Target="/ppt/notesSlides/notesSlide2.xml" Id="Rb692e4d8a30448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b0a2e8ba084720" /><Relationship Type="http://schemas.openxmlformats.org/officeDocument/2006/relationships/image" Target="/ppt/media/image2.png" Id="R8aed249a32594a65" /><Relationship Type="http://schemas.openxmlformats.org/officeDocument/2006/relationships/notesSlide" Target="/ppt/notesSlides/notesSlide3.xml" Id="R89b6d35125a147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6c35b6888e44e5" /><Relationship Type="http://schemas.openxmlformats.org/officeDocument/2006/relationships/image" Target="/ppt/media/image3.png" Id="R23db72b4648d4d3f" /><Relationship Type="http://schemas.openxmlformats.org/officeDocument/2006/relationships/image" Target="/ppt/media/image4.png" Id="R6ac97131d56c4fc4" /><Relationship Type="http://schemas.openxmlformats.org/officeDocument/2006/relationships/notesSlide" Target="/ppt/notesSlides/notesSlide4.xml" Id="R0302c082df9943c1" /><Relationship Type="http://schemas.openxmlformats.org/officeDocument/2006/relationships/hyperlink" Target="https://drive.google.com/file/d/1PV_O58qVIZ7AtoJrjfTLl9R_xML1JcqP/view" TargetMode="External" Id="RStage07Hyperlink4_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3fafd421bc4d8f" /><Relationship Type="http://schemas.openxmlformats.org/officeDocument/2006/relationships/image" Target="/ppt/media/image5.png" Id="R3d552a07576a400b" /><Relationship Type="http://schemas.openxmlformats.org/officeDocument/2006/relationships/notesSlide" Target="/ppt/notesSlides/notesSlide5.xml" Id="Ra0c5957e843d48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2f9388ec0340cc" /><Relationship Type="http://schemas.openxmlformats.org/officeDocument/2006/relationships/notesSlide" Target="/ppt/notesSlides/notesSlide6.xml" Id="Rd117e2777e824a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9249f5e6be4481" /><Relationship Type="http://schemas.openxmlformats.org/officeDocument/2006/relationships/notesSlide" Target="/ppt/notesSlides/notesSlide7.xml" Id="R5806d92fc3d743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dd23fb11574670" /><Relationship Type="http://schemas.openxmlformats.org/officeDocument/2006/relationships/notesSlide" Target="/ppt/notesSlides/notesSlide8.xml" Id="R0f25e7d76e2246f6"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A08D6ED-CFF6-4DD5-887D-E7F82C11A899}"/>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522D77-6139-41C2-A659-42E0A0041B2A}"/>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58DA0E-01F9-4F7E-82F4-F319F6D949B7}"/>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09</a:t>
            </a:r>
          </a:p>
        </p:txBody>
      </p:sp>
      <p:sp>
        <p:nvSpPr>
          <p:cNvPr id="4" name="">
            <a:extLst xmlns:a="http://schemas.openxmlformats.org/drawingml/2006/main">
              <a:ext uri="{FF2B5EF4-FFF2-40B4-BE49-F238E27FC236}">
                <a16:creationId xmlns:a16="http://schemas.microsoft.com/office/drawing/2014/main" id="{46889B92-BFD6-4828-9E4A-DBD58AFB13F8}"/>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Web portfolio</a:t>
            </a:r>
          </a:p>
        </p:txBody>
      </p:sp>
      <p:sp>
        <p:nvSpPr>
          <p:cNvPr id="5" name="">
            <a:extLst xmlns:a="http://schemas.openxmlformats.org/drawingml/2006/main">
              <a:ext uri="{FF2B5EF4-FFF2-40B4-BE49-F238E27FC236}">
                <a16:creationId xmlns:a16="http://schemas.microsoft.com/office/drawing/2014/main" id="{FD72791C-ADA0-4DAE-AF77-D9EE36C95569}"/>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Structure and publish a connected Google Sites portfolio.</a:t>
            </a:r>
          </a:p>
        </p:txBody>
      </p:sp>
      <p:sp>
        <p:nvSpPr>
          <p:cNvPr id="6" name="">
            <a:extLst xmlns:a="http://schemas.openxmlformats.org/drawingml/2006/main">
              <a:ext uri="{FF2B5EF4-FFF2-40B4-BE49-F238E27FC236}">
                <a16:creationId xmlns:a16="http://schemas.microsoft.com/office/drawing/2014/main" id="{BD2E7C05-98AF-4807-B58D-9FCB7171F0A0}"/>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57CCF6A4-24FE-4A0C-98B7-44C4E656CDD2}"/>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What should a visitor predict from the labels Home, Products and Contact Us?</a:t>
            </a:r>
          </a:p>
        </p:txBody>
      </p:sp>
      <p:sp>
        <p:nvSpPr>
          <p:cNvPr id="8" name="">
            <a:extLst xmlns:a="http://schemas.openxmlformats.org/drawingml/2006/main">
              <a:ext uri="{FF2B5EF4-FFF2-40B4-BE49-F238E27FC236}">
                <a16:creationId xmlns:a16="http://schemas.microsoft.com/office/drawing/2014/main" id="{3D6D342F-3671-4450-A709-9595B3879954}"/>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Site Structure Map" title="Site Structure Map" descr="Tabletop site-planning cards labelled Home, Products and Contact Us connected to blank content thumbnails."/>
          <p:cNvPicPr>
            <a:picLocks xmlns:a="http://schemas.openxmlformats.org/drawingml/2006/main" noChangeAspect="1"/>
          </p:cNvPicPr>
          <p:nvPr/>
        </p:nvPicPr>
        <p:blipFill>
          <a:blip xmlns:r="http://schemas.openxmlformats.org/officeDocument/2006/relationships" xmlns:a="http://schemas.openxmlformats.org/drawingml/2006/main" r:embed="Rca61159c75b44a3d"/>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D67D382E-976C-4F49-AC09-A22AAC18630B}"/>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09  •  WEB PORTFOLIO</a:t>
            </a:r>
          </a:p>
        </p:txBody>
      </p:sp>
      <p:sp>
        <p:nvSpPr>
          <p:cNvPr id="11" name="">
            <a:extLst xmlns:a="http://schemas.openxmlformats.org/drawingml/2006/main">
              <a:ext uri="{FF2B5EF4-FFF2-40B4-BE49-F238E27FC236}">
                <a16:creationId xmlns:a16="http://schemas.microsoft.com/office/drawing/2014/main" id="{4C436161-854A-486A-ADC1-37E7C022BE13}"/>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664936933"/>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931715-09F8-4E6A-B9FD-A94DEF374BF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7577FE-7B64-4F84-A7F2-76C3B9C8B099}"/>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1FA4DAFE-C62B-47AB-A67F-EB7454D0F833}"/>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0104BF78-C007-4581-A518-0C868060BA54}"/>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6AD4A6D9-A11A-4D9A-A45B-3FE05BD54F49}"/>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95A72FC-A656-46AD-849B-2DBB7BFBAB8B}"/>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D2EEB445-2A37-433D-87A4-6162A6133FBE}"/>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Site structure and navigation</a:t>
            </a:r>
          </a:p>
        </p:txBody>
      </p:sp>
      <p:sp>
        <p:nvSpPr>
          <p:cNvPr id="8" name="">
            <a:extLst xmlns:a="http://schemas.openxmlformats.org/drawingml/2006/main">
              <a:ext uri="{FF2B5EF4-FFF2-40B4-BE49-F238E27FC236}">
                <a16:creationId xmlns:a16="http://schemas.microsoft.com/office/drawing/2014/main" id="{3ACADC79-71E8-4A7D-B96F-91B33843594D}"/>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35BC0C2B-0A03-407A-8A01-E2FE42AA4F42}"/>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5E65FF-E84C-40A2-9BDC-8B64314210BB}"/>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BB37E04D-F688-4393-8C22-697FC5FE83CD}"/>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Preparing and embedding media</a:t>
            </a:r>
          </a:p>
        </p:txBody>
      </p:sp>
      <p:sp>
        <p:nvSpPr>
          <p:cNvPr id="12" name="">
            <a:extLst xmlns:a="http://schemas.openxmlformats.org/drawingml/2006/main">
              <a:ext uri="{FF2B5EF4-FFF2-40B4-BE49-F238E27FC236}">
                <a16:creationId xmlns:a16="http://schemas.microsoft.com/office/drawing/2014/main" id="{BE20ADFC-E6ED-4B21-B096-1047516B61F1}"/>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D5F331CA-C287-4716-B549-90A38A3B2323}"/>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9C6750-510E-4E03-867A-B29855B3BAD7}"/>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CE11FEB0-BD80-4931-BE59-A51FC10F91B9}"/>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Publishing, access and submission</a:t>
            </a:r>
          </a:p>
        </p:txBody>
      </p:sp>
      <p:sp>
        <p:nvSpPr>
          <p:cNvPr id="16" name="">
            <a:extLst xmlns:a="http://schemas.openxmlformats.org/drawingml/2006/main">
              <a:ext uri="{FF2B5EF4-FFF2-40B4-BE49-F238E27FC236}">
                <a16:creationId xmlns:a16="http://schemas.microsoft.com/office/drawing/2014/main" id="{DD5C424B-CD13-4FD6-A449-88D7ADA79BB8}"/>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1456391B-316E-44D7-B368-51A313489701}"/>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79142"/>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What should a visitor predict from the labels Home, Products and Contact Us?</a:t>
            </a:r>
          </a:p>
        </p:txBody>
      </p:sp>
      <p:sp>
        <p:nvSpPr>
          <p:cNvPr id="18" name="">
            <a:extLst xmlns:a="http://schemas.openxmlformats.org/drawingml/2006/main">
              <a:ext uri="{FF2B5EF4-FFF2-40B4-BE49-F238E27FC236}">
                <a16:creationId xmlns:a16="http://schemas.microsoft.com/office/drawing/2014/main" id="{B49FFE96-23F2-43B7-AAC4-AC166368B220}"/>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17703C01-BDAF-4BDB-95AB-E58B629E8DA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09  •  WEB PORTFOLIO</a:t>
            </a:r>
          </a:p>
        </p:txBody>
      </p:sp>
      <p:sp>
        <p:nvSpPr>
          <p:cNvPr id="20" name="">
            <a:extLst xmlns:a="http://schemas.openxmlformats.org/drawingml/2006/main">
              <a:ext uri="{FF2B5EF4-FFF2-40B4-BE49-F238E27FC236}">
                <a16:creationId xmlns:a16="http://schemas.microsoft.com/office/drawing/2014/main" id="{B162D320-2669-40CB-BBBA-FAC78DF8E661}"/>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2001459106"/>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23004B-FFCB-47AF-8085-50B43BFCC2A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BC9E0D-3D65-4840-BCB7-752868445E7A}"/>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9.1  SITE STRUCTURE AND NAVIGATION</a:t>
            </a:r>
          </a:p>
        </p:txBody>
      </p:sp>
      <p:sp>
        <p:nvSpPr>
          <p:cNvPr id="3" name="">
            <a:extLst xmlns:a="http://schemas.openxmlformats.org/drawingml/2006/main">
              <a:ext uri="{FF2B5EF4-FFF2-40B4-BE49-F238E27FC236}">
                <a16:creationId xmlns:a16="http://schemas.microsoft.com/office/drawing/2014/main" id="{333A8452-2551-4254-B09A-B5A5D58AE701}"/>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Site structure and navigation</a:t>
            </a:r>
          </a:p>
        </p:txBody>
      </p:sp>
      <p:sp>
        <p:nvSpPr>
          <p:cNvPr id="4" name="">
            <a:extLst xmlns:a="http://schemas.openxmlformats.org/drawingml/2006/main">
              <a:ext uri="{FF2B5EF4-FFF2-40B4-BE49-F238E27FC236}">
                <a16:creationId xmlns:a16="http://schemas.microsoft.com/office/drawing/2014/main" id="{8EE13172-55A7-4E26-9E9D-A39119A5704E}"/>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F1FEE360-6B4F-472C-B549-9072D95A12AC}"/>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3BA1C6-ECD2-4258-9886-31D3203A1642}"/>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The source demonstrates Home, Products and Contact Us.</a:t>
            </a:r>
          </a:p>
        </p:txBody>
      </p:sp>
      <p:sp>
        <p:nvSpPr>
          <p:cNvPr id="7" name="">
            <a:extLst xmlns:a="http://schemas.openxmlformats.org/drawingml/2006/main">
              <a:ext uri="{FF2B5EF4-FFF2-40B4-BE49-F238E27FC236}">
                <a16:creationId xmlns:a16="http://schemas.microsoft.com/office/drawing/2014/main" id="{52B5C00E-002E-430B-98B0-0C5B73127608}"/>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B2BC6D-406C-4A09-8145-1213D4E89A50}"/>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Labels should predict destination content.</a:t>
            </a:r>
          </a:p>
        </p:txBody>
      </p:sp>
      <p:sp>
        <p:nvSpPr>
          <p:cNvPr id="9" name="">
            <a:extLst xmlns:a="http://schemas.openxmlformats.org/drawingml/2006/main">
              <a:ext uri="{FF2B5EF4-FFF2-40B4-BE49-F238E27FC236}">
                <a16:creationId xmlns:a16="http://schemas.microsoft.com/office/drawing/2014/main" id="{AE9EBD75-BD17-4A16-9A91-1B60E3374B73}"/>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15EF7BF-0A76-42EE-BEBD-783EE27D1FAC}"/>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Real contact information requires privacy-safe teacher direction.</a:t>
            </a:r>
          </a:p>
        </p:txBody>
      </p:sp>
      <p:sp>
        <p:nvSpPr>
          <p:cNvPr id="11" name="">
            <a:extLst xmlns:a="http://schemas.openxmlformats.org/drawingml/2006/main">
              <a:ext uri="{FF2B5EF4-FFF2-40B4-BE49-F238E27FC236}">
                <a16:creationId xmlns:a16="http://schemas.microsoft.com/office/drawing/2014/main" id="{10971E6B-1CAF-44BE-8DF4-D49BC5B81EE1}"/>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Site Structure Map" title="Site Structure Map" descr="Tabletop site-planning cards labelled Home, Products and Contact Us connected to blank content thumbnails."/>
          <p:cNvPicPr>
            <a:picLocks xmlns:a="http://schemas.openxmlformats.org/drawingml/2006/main" noChangeAspect="1"/>
          </p:cNvPicPr>
          <p:nvPr/>
        </p:nvPicPr>
        <p:blipFill>
          <a:blip xmlns:r="http://schemas.openxmlformats.org/officeDocument/2006/relationships" xmlns:a="http://schemas.openxmlformats.org/drawingml/2006/main" r:embed="R8aed249a32594a65"/>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D0C867B9-7CFF-48E2-86BB-735CFB98E4CF}"/>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A tabletop site map makes the relationship among Home, Products and Contact Us visible before building begins.</a:t>
            </a:r>
          </a:p>
        </p:txBody>
      </p:sp>
      <p:sp>
        <p:nvSpPr>
          <p:cNvPr id="14" name="">
            <a:extLst xmlns:a="http://schemas.openxmlformats.org/drawingml/2006/main">
              <a:ext uri="{FF2B5EF4-FFF2-40B4-BE49-F238E27FC236}">
                <a16:creationId xmlns:a16="http://schemas.microsoft.com/office/drawing/2014/main" id="{32996810-F2E0-4B0E-BDDA-63F42B951E1A}"/>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Can a visitor predict what belongs on each page from the path and labels?</a:t>
            </a:r>
          </a:p>
        </p:txBody>
      </p:sp>
      <p:sp>
        <p:nvSpPr>
          <p:cNvPr id="15" name="">
            <a:extLst xmlns:a="http://schemas.openxmlformats.org/drawingml/2006/main">
              <a:ext uri="{FF2B5EF4-FFF2-40B4-BE49-F238E27FC236}">
                <a16:creationId xmlns:a16="http://schemas.microsoft.com/office/drawing/2014/main" id="{43A73678-B251-42B2-8982-5F9B3C15D8A0}"/>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BE339E55-CC3C-42CE-A1EE-92E2028B4510}"/>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page structure is shown in the source demonstration?</a:t>
            </a:r>
          </a:p>
        </p:txBody>
      </p:sp>
      <p:sp>
        <p:nvSpPr>
          <p:cNvPr id="17" name="">
            <a:extLst xmlns:a="http://schemas.openxmlformats.org/drawingml/2006/main">
              <a:ext uri="{FF2B5EF4-FFF2-40B4-BE49-F238E27FC236}">
                <a16:creationId xmlns:a16="http://schemas.microsoft.com/office/drawing/2014/main" id="{947D9D1F-915C-4194-92E8-909C2F42070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09  •  WEB PORTFOLIO</a:t>
            </a:r>
          </a:p>
        </p:txBody>
      </p:sp>
      <p:sp>
        <p:nvSpPr>
          <p:cNvPr id="18" name="">
            <a:extLst xmlns:a="http://schemas.openxmlformats.org/drawingml/2006/main">
              <a:ext uri="{FF2B5EF4-FFF2-40B4-BE49-F238E27FC236}">
                <a16:creationId xmlns:a16="http://schemas.microsoft.com/office/drawing/2014/main" id="{8673AF78-3FB1-4913-98B1-5EDC26C9DEE1}"/>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1879056704"/>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071C951-9CC1-4C5B-8D49-E759AE9BF85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103A7E-941A-4F44-99AB-B5555147D017}"/>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9.2  PREPARING AND EMBEDDING MEDIA</a:t>
            </a:r>
          </a:p>
        </p:txBody>
      </p:sp>
      <p:sp>
        <p:nvSpPr>
          <p:cNvPr id="3" name="">
            <a:extLst xmlns:a="http://schemas.openxmlformats.org/drawingml/2006/main">
              <a:ext uri="{FF2B5EF4-FFF2-40B4-BE49-F238E27FC236}">
                <a16:creationId xmlns:a16="http://schemas.microsoft.com/office/drawing/2014/main" id="{891DC085-A493-4CBC-BCD1-00A25CDE8511}"/>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Preparing and embedding media</a:t>
            </a:r>
          </a:p>
        </p:txBody>
      </p:sp>
      <p:sp>
        <p:nvSpPr>
          <p:cNvPr id="4" name="">
            <a:extLst xmlns:a="http://schemas.openxmlformats.org/drawingml/2006/main">
              <a:ext uri="{FF2B5EF4-FFF2-40B4-BE49-F238E27FC236}">
                <a16:creationId xmlns:a16="http://schemas.microsoft.com/office/drawing/2014/main" id="{7AB970B3-108D-4E7D-BB6D-0FA33F92707F}"/>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BF5E86F0-27BA-4D6F-90EC-6FD2EAD50765}"/>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2512B6-B841-477F-9A2D-F7C61AD88789}"/>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Preserve originals and prepare fit-for-purpose copies.</a:t>
            </a:r>
          </a:p>
        </p:txBody>
      </p:sp>
      <p:sp>
        <p:nvSpPr>
          <p:cNvPr id="7" name="">
            <a:extLst xmlns:a="http://schemas.openxmlformats.org/drawingml/2006/main">
              <a:ext uri="{FF2B5EF4-FFF2-40B4-BE49-F238E27FC236}">
                <a16:creationId xmlns:a16="http://schemas.microsoft.com/office/drawing/2014/main" id="{09FFAEA6-B772-4E06-94C6-C7AF075AB00B}"/>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B552D5-0A3A-41F8-8B27-89AA5F531663}"/>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Alternative text describes meaningful visible content.</a:t>
            </a:r>
          </a:p>
        </p:txBody>
      </p:sp>
      <p:sp>
        <p:nvSpPr>
          <p:cNvPr id="9" name="">
            <a:extLst xmlns:a="http://schemas.openxmlformats.org/drawingml/2006/main">
              <a:ext uri="{FF2B5EF4-FFF2-40B4-BE49-F238E27FC236}">
                <a16:creationId xmlns:a16="http://schemas.microsoft.com/office/drawing/2014/main" id="{79761B6C-80E5-438D-91D8-418CBA3B2139}"/>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F988AD-16CF-4ADE-BDE9-59DD8E13B82D}"/>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Embeds inherit access rules and require independent-viewer testing.</a:t>
            </a:r>
          </a:p>
        </p:txBody>
      </p:sp>
      <p:sp>
        <p:nvSpPr>
          <p:cNvPr id="11" name="">
            <a:extLst xmlns:a="http://schemas.openxmlformats.org/drawingml/2006/main">
              <a:ext uri="{FF2B5EF4-FFF2-40B4-BE49-F238E27FC236}">
                <a16:creationId xmlns:a16="http://schemas.microsoft.com/office/drawing/2014/main" id="{5007AF2C-446F-4713-9BB0-B0AF56DBC22D}"/>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4" name="Responsive Portfolio Check" title="Responsive Portfolio Check" descr="Photographic desk with laptop and phone showing matching fictional fast-food portfolio pages labelled Home, Products and Contact."/>
          <p:cNvPicPr>
            <a:picLocks xmlns:a="http://schemas.openxmlformats.org/drawingml/2006/main" noChangeAspect="1"/>
          </p:cNvPicPr>
          <p:nvPr/>
        </p:nvPicPr>
        <p:blipFill>
          <a:blip xmlns:r="http://schemas.openxmlformats.org/officeDocument/2006/relationships" xmlns:a="http://schemas.openxmlformats.org/drawingml/2006/main" r:embed="R23db72b4648d4d3f"/>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F9BD1770-E903-429C-92B1-AA42B74B5917}"/>
              </a:ext>
            </a:extLst>
          </p:cNvPr>
          <p:cNvSpPr>
            <a:spLocks xmlns:a="http://schemas.openxmlformats.org/drawingml/2006/main" noGrp="1"/>
          </p:cNvSpPr>
          <p:nvPr/>
        </p:nvSpPr>
        <p:spPr>
          <a:xfrm xmlns:a="http://schemas.openxmlformats.org/drawingml/2006/main">
            <a:off x="7200900" y="381000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744"/>
          </a:bodyPr>
          <a:lstStyle xmlns:a="http://schemas.openxmlformats.org/drawingml/2006/main"/>
          <a:p xmlns:a="http://schemas.openxmlformats.org/drawingml/2006/main">
            <a:pPr algn="l">
              <a:defRPr sz="975" b="1">
                <a:solidFill>
                  <a:srgbClr val="17342C"/>
                </a:solidFill>
                <a:latin typeface="Arial"/>
                <a:ea typeface="Arial"/>
                <a:cs typeface="Arial"/>
              </a:defRPr>
            </a:pPr>
            <a:r>
              <a:rPr sz="975" b="1">
                <a:solidFill>
                  <a:srgbClr val="17342C"/>
                </a:solidFill>
                <a:latin typeface="Arial"/>
                <a:ea typeface="Arial"/>
                <a:cs typeface="Arial"/>
              </a:rPr>
              <a:t>The same fictional portfolio keeps its identity, navigation and media hierarchy when the layout changes from laptop to phone.</a:t>
            </a:r>
          </a:p>
        </p:txBody>
      </p:sp>
      <p:sp>
        <p:nvSpPr>
          <p:cNvPr id="14" name="">
            <a:extLst xmlns:a="http://schemas.openxmlformats.org/drawingml/2006/main">
              <a:ext uri="{FF2B5EF4-FFF2-40B4-BE49-F238E27FC236}">
                <a16:creationId xmlns:a16="http://schemas.microsoft.com/office/drawing/2014/main" id="{D1A6BAF3-E0F7-4847-A19D-5BF8F2380BF0}"/>
              </a:ext>
            </a:extLst>
          </p:cNvPr>
          <p:cNvSpPr>
            <a:spLocks xmlns:a="http://schemas.openxmlformats.org/drawingml/2006/main" noGrp="1"/>
          </p:cNvSpPr>
          <p:nvPr/>
        </p:nvSpPr>
        <p:spPr>
          <a:xfrm xmlns:a="http://schemas.openxmlformats.org/drawingml/2006/main">
            <a:off x="7200900" y="4133850"/>
            <a:ext cx="4305300" cy="400050"/>
          </a:xfrm>
          <a:prstGeom xmlns:a="http://schemas.openxmlformats.org/drawingml/2006/main" prst="roundRect">
            <a:avLst>
              <a:gd name="adj" fmla="val 19048"/>
            </a:avLst>
          </a:prstGeom>
          <a:solidFill xmlns:a="http://schemas.openxmlformats.org/drawingml/2006/main">
            <a:srgbClr val="FCF4D8"/>
          </a:solidFill>
          <a:ln xmlns:a="http://schemas.openxmlformats.org/drawingml/2006/main" w="0">
            <a:noFill/>
            <a:prstDash val="solid"/>
          </a:ln>
        </p:spPr>
        <p:txBody>
          <a:bodyPr xmlns:a="http://schemas.openxmlformats.org/drawingml/2006/main" lIns="85725" tIns="47625" rIns="85725" bIns="47625" anchor="ctr">
            <a:normAutofit fontScale="87544"/>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Notice: What stays consistent across both screens, and what changes to make the smaller view easier to use?</a:t>
            </a:r>
          </a:p>
        </p:txBody>
      </p:sp>
      <p:sp>
        <p:nvSpPr>
          <p:cNvPr id="15" name="">
            <a:extLst xmlns:a="http://schemas.openxmlformats.org/drawingml/2006/main">
              <a:ext uri="{FF2B5EF4-FFF2-40B4-BE49-F238E27FC236}">
                <a16:creationId xmlns:a16="http://schemas.microsoft.com/office/drawing/2014/main" id="{95BB406F-C9CE-4568-9A0D-E8A991B232A4}"/>
              </a:ext>
            </a:extLst>
          </p:cNvPr>
          <p:cNvSpPr>
            <a:spLocks xmlns:a="http://schemas.openxmlformats.org/drawingml/2006/main" noGrp="1"/>
          </p:cNvSpPr>
          <p:nvPr/>
        </p:nvSpPr>
        <p:spPr>
          <a:xfrm xmlns:a="http://schemas.openxmlformats.org/drawingml/2006/main">
            <a:off x="7200900" y="4610100"/>
            <a:ext cx="1123950" cy="628650"/>
          </a:xfrm>
          <a:prstGeom xmlns:a="http://schemas.openxmlformats.org/drawingml/2006/main" prst="roundRect">
            <a:avLst>
              <a:gd name="adj" fmla="val 18182"/>
            </a:avLst>
          </a:prstGeom>
          <a:solidFill xmlns:a="http://schemas.openxmlformats.org/drawingml/2006/main">
            <a:srgbClr val="0C5554"/>
          </a:solidFill>
          <a:ln xmlns:a="http://schemas.openxmlformats.org/drawingml/2006/main" w="9525">
            <a:solidFill>
              <a:srgbClr val="CFD8D2"/>
            </a:solidFill>
            <a:prstDash val="solid"/>
          </a:ln>
        </p:spPr>
      </p:sp>
      <p:pic>
        <p:nvPicPr>
          <p:cNvPr id="38" name="Drive video poster — Google Sites Demonstration.mp4" title="Drive video poster — Google Sites Demonstration.mp4" descr="Custom privacy-safe poster for Google Sites Demonstration.mp4, duration 8:55. Ctrl+click the poster to open the authorised Drive video.">
            <a:hlinkClick xmlns:a="http://schemas.openxmlformats.org/drawingml/2006/main" xmlns:r="http://schemas.openxmlformats.org/officeDocument/2006/relationships" r:id="RStage07Hyperlink4_2"/>
          </p:cNvPr>
          <p:cNvPicPr>
            <a:picLocks xmlns:a="http://schemas.openxmlformats.org/drawingml/2006/main" noChangeAspect="1"/>
          </p:cNvPicPr>
          <p:nvPr/>
        </p:nvPicPr>
        <p:blipFill>
          <a:blip xmlns:r="http://schemas.openxmlformats.org/officeDocument/2006/relationships" xmlns:a="http://schemas.openxmlformats.org/drawingml/2006/main" r:embed="R6ac97131d56c4fc4"/>
          <a:stretch xmlns:a="http://schemas.openxmlformats.org/drawingml/2006/main"/>
        </p:blipFill>
        <p:spPr>
          <a:xfrm xmlns:a="http://schemas.openxmlformats.org/drawingml/2006/main">
            <a:off x="7204351" y="4610100"/>
            <a:ext cx="1117048" cy="628650"/>
          </a:xfrm>
          <a:prstGeom xmlns:a="http://schemas.openxmlformats.org/drawingml/2006/main" prst="roundRect">
            <a:avLst>
              <a:gd name="adj" fmla="val 18182"/>
            </a:avLst>
          </a:prstGeom>
        </p:spPr>
      </p:pic>
      <p:sp>
        <p:nvSpPr>
          <p:cNvPr id="17" name="">
            <a:extLst xmlns:a="http://schemas.openxmlformats.org/drawingml/2006/main">
              <a:ext uri="{FF2B5EF4-FFF2-40B4-BE49-F238E27FC236}">
                <a16:creationId xmlns:a16="http://schemas.microsoft.com/office/drawing/2014/main" id="{0CDA9CD2-210C-4DC5-8BC9-DAA852419DAD}"/>
              </a:ext>
            </a:extLst>
          </p:cNvPr>
          <p:cNvSpPr>
            <a:spLocks xmlns:a="http://schemas.openxmlformats.org/drawingml/2006/main" noGrp="1"/>
          </p:cNvSpPr>
          <p:nvPr/>
        </p:nvSpPr>
        <p:spPr>
          <a:xfrm xmlns:a="http://schemas.openxmlformats.org/drawingml/2006/main">
            <a:off x="8439150" y="4610100"/>
            <a:ext cx="3067050" cy="247650"/>
          </a:xfrm>
          <a:prstGeom xmlns:a="http://schemas.openxmlformats.org/drawingml/2006/main" prst="roundRect">
            <a:avLst>
              <a:gd name="adj" fmla="val 30769"/>
            </a:avLst>
          </a:prstGeom>
          <a:solidFill xmlns:a="http://schemas.openxmlformats.org/drawingml/2006/main">
            <a:srgbClr val="FCF4D8"/>
          </a:solidFill>
          <a:ln xmlns:a="http://schemas.openxmlformats.org/drawingml/2006/main" w="0">
            <a:no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defRPr sz="825" b="1">
                <a:solidFill>
                  <a:srgbClr val="0C5554"/>
                </a:solidFill>
                <a:latin typeface="Arial"/>
                <a:ea typeface="Arial"/>
                <a:cs typeface="Arial"/>
              </a:defRPr>
            </a:pPr>
            <a:r>
              <a:rPr sz="825" b="1">
                <a:solidFill>
                  <a:srgbClr val="0C5554"/>
                </a:solidFill>
                <a:latin typeface="Arial"/>
                <a:ea typeface="Arial"/>
                <a:cs typeface="Arial"/>
              </a:rPr>
              <a:t>TEACHER: CTRL+CLICK POSTER TO OPEN DRIVE  •  8:55</a:t>
            </a:r>
          </a:p>
        </p:txBody>
      </p:sp>
      <p:sp>
        <p:nvSpPr>
          <p:cNvPr id="18" name="">
            <a:extLst xmlns:a="http://schemas.openxmlformats.org/drawingml/2006/main">
              <a:ext uri="{FF2B5EF4-FFF2-40B4-BE49-F238E27FC236}">
                <a16:creationId xmlns:a16="http://schemas.microsoft.com/office/drawing/2014/main" id="{2E71212C-74BD-4EFE-8676-415EACFBAAAC}"/>
              </a:ext>
            </a:extLst>
          </p:cNvPr>
          <p:cNvSpPr>
            <a:spLocks xmlns:a="http://schemas.openxmlformats.org/drawingml/2006/main" noGrp="1"/>
          </p:cNvSpPr>
          <p:nvPr/>
        </p:nvSpPr>
        <p:spPr>
          <a:xfrm xmlns:a="http://schemas.openxmlformats.org/drawingml/2006/main">
            <a:off x="8439150" y="4895850"/>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21"/>
          </a:bodyPr>
          <a:lstStyle xmlns:a="http://schemas.openxmlformats.org/drawingml/2006/main"/>
          <a:p xmlns:a="http://schemas.openxmlformats.org/drawingml/2006/main">
            <a:pPr algn="l">
              <a:defRPr sz="900" b="1">
                <a:solidFill>
                  <a:srgbClr val="17342C"/>
                </a:solidFill>
                <a:latin typeface="Arial"/>
                <a:ea typeface="Arial"/>
                <a:cs typeface="Arial"/>
              </a:defRPr>
            </a:pPr>
            <a:r>
              <a:rPr sz="900" b="1">
                <a:solidFill>
                  <a:srgbClr val="17342C"/>
                </a:solidFill>
                <a:latin typeface="Arial"/>
                <a:ea typeface="Arial"/>
                <a:cs typeface="Arial"/>
              </a:rPr>
              <a:t>WATCH FOR: Where is each media item placed, and what must be checked before the final site link is submitted?</a:t>
            </a:r>
          </a:p>
        </p:txBody>
      </p:sp>
      <p:sp>
        <p:nvSpPr>
          <p:cNvPr id="19" name="">
            <a:extLst xmlns:a="http://schemas.openxmlformats.org/drawingml/2006/main">
              <a:ext uri="{FF2B5EF4-FFF2-40B4-BE49-F238E27FC236}">
                <a16:creationId xmlns:a16="http://schemas.microsoft.com/office/drawing/2014/main" id="{F6BAA51D-31CE-408F-9152-7A434931B46D}"/>
              </a:ext>
            </a:extLst>
          </p:cNvPr>
          <p:cNvSpPr>
            <a:spLocks xmlns:a="http://schemas.openxmlformats.org/drawingml/2006/main" noGrp="1"/>
          </p:cNvSpPr>
          <p:nvPr/>
        </p:nvSpPr>
        <p:spPr>
          <a:xfrm xmlns:a="http://schemas.openxmlformats.org/drawingml/2006/main">
            <a:off x="7200900" y="53149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0" name="">
            <a:extLst xmlns:a="http://schemas.openxmlformats.org/drawingml/2006/main">
              <a:ext uri="{FF2B5EF4-FFF2-40B4-BE49-F238E27FC236}">
                <a16:creationId xmlns:a16="http://schemas.microsoft.com/office/drawing/2014/main" id="{2FC2A1DE-1F90-4EA9-AB45-67CE149847F1}"/>
              </a:ext>
            </a:extLst>
          </p:cNvPr>
          <p:cNvSpPr>
            <a:spLocks xmlns:a="http://schemas.openxmlformats.org/drawingml/2006/main" noGrp="1"/>
          </p:cNvSpPr>
          <p:nvPr/>
        </p:nvSpPr>
        <p:spPr>
          <a:xfrm xmlns:a="http://schemas.openxmlformats.org/drawingml/2006/main">
            <a:off x="7200900" y="5524500"/>
            <a:ext cx="4305300" cy="666750"/>
          </a:xfrm>
          <a:prstGeom xmlns:a="http://schemas.openxmlformats.org/drawingml/2006/main" prst="roundRect">
            <a:avLst>
              <a:gd name="adj" fmla="val 11429"/>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should alternative text do?</a:t>
            </a:r>
          </a:p>
        </p:txBody>
      </p:sp>
      <p:sp>
        <p:nvSpPr>
          <p:cNvPr id="21" name="">
            <a:extLst xmlns:a="http://schemas.openxmlformats.org/drawingml/2006/main">
              <a:ext uri="{FF2B5EF4-FFF2-40B4-BE49-F238E27FC236}">
                <a16:creationId xmlns:a16="http://schemas.microsoft.com/office/drawing/2014/main" id="{630765EF-3AD7-449B-92A3-D2438ACF903D}"/>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09  •  WEB PORTFOLIO</a:t>
            </a:r>
          </a:p>
        </p:txBody>
      </p:sp>
      <p:sp>
        <p:nvSpPr>
          <p:cNvPr id="22" name="">
            <a:extLst xmlns:a="http://schemas.openxmlformats.org/drawingml/2006/main">
              <a:ext uri="{FF2B5EF4-FFF2-40B4-BE49-F238E27FC236}">
                <a16:creationId xmlns:a16="http://schemas.microsoft.com/office/drawing/2014/main" id="{9D48AE5A-E1F3-4DE6-B0A8-F342FDFF9A9D}"/>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1359680683"/>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0F9BE5-FE47-4EE6-A4ED-FF7654F4BD4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175DF4-374C-4199-83F3-3F26F5D98F5A}"/>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9.3  PUBLISHING, ACCESS AND SUBMISSION</a:t>
            </a:r>
          </a:p>
        </p:txBody>
      </p:sp>
      <p:sp>
        <p:nvSpPr>
          <p:cNvPr id="3" name="">
            <a:extLst xmlns:a="http://schemas.openxmlformats.org/drawingml/2006/main">
              <a:ext uri="{FF2B5EF4-FFF2-40B4-BE49-F238E27FC236}">
                <a16:creationId xmlns:a16="http://schemas.microsoft.com/office/drawing/2014/main" id="{8B914AB7-8792-4994-9747-843AE0E99B76}"/>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Publishing, access and submission</a:t>
            </a:r>
          </a:p>
        </p:txBody>
      </p:sp>
      <p:sp>
        <p:nvSpPr>
          <p:cNvPr id="4" name="">
            <a:extLst xmlns:a="http://schemas.openxmlformats.org/drawingml/2006/main">
              <a:ext uri="{FF2B5EF4-FFF2-40B4-BE49-F238E27FC236}">
                <a16:creationId xmlns:a16="http://schemas.microsoft.com/office/drawing/2014/main" id="{91DC5ECA-5AAE-48B9-A810-ACEB9965CE94}"/>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8599BF3B-5DFB-43E7-B44B-D68B544CB357}"/>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3F9F3DE-490B-4E2F-BA19-B715995090E5}"/>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Preview, publish, access and submission are separate states.</a:t>
            </a:r>
          </a:p>
        </p:txBody>
      </p:sp>
      <p:sp>
        <p:nvSpPr>
          <p:cNvPr id="7" name="">
            <a:extLst xmlns:a="http://schemas.openxmlformats.org/drawingml/2006/main">
              <a:ext uri="{FF2B5EF4-FFF2-40B4-BE49-F238E27FC236}">
                <a16:creationId xmlns:a16="http://schemas.microsoft.com/office/drawing/2014/main" id="{8D327C07-DF78-4699-A7AA-91131CE29573}"/>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F0FCD7-812C-48F0-A5FF-3A9B3D534ACD}"/>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Use only the audience setting directed by the teacher.</a:t>
            </a:r>
          </a:p>
        </p:txBody>
      </p:sp>
      <p:sp>
        <p:nvSpPr>
          <p:cNvPr id="9" name="">
            <a:extLst xmlns:a="http://schemas.openxmlformats.org/drawingml/2006/main">
              <a:ext uri="{FF2B5EF4-FFF2-40B4-BE49-F238E27FC236}">
                <a16:creationId xmlns:a16="http://schemas.microsoft.com/office/drawing/2014/main" id="{2357B722-F8CA-4BCC-B09E-EA37B94C30A5}"/>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AB97CC-D176-4994-92F3-53064E02AC3C}"/>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Local save preserves a draft but does not transmit it.</a:t>
            </a:r>
          </a:p>
        </p:txBody>
      </p:sp>
      <p:sp>
        <p:nvSpPr>
          <p:cNvPr id="11" name="">
            <a:extLst xmlns:a="http://schemas.openxmlformats.org/drawingml/2006/main">
              <a:ext uri="{FF2B5EF4-FFF2-40B4-BE49-F238E27FC236}">
                <a16:creationId xmlns:a16="http://schemas.microsoft.com/office/drawing/2014/main" id="{399E87A6-DFF9-4C09-B4F0-3EE6ED2C2245}"/>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Publish Access Check" title="Publish Access Check" descr="Four-device website release check showing distinct preview, publication, external access and handoff states without readable interface text."/>
          <p:cNvPicPr>
            <a:picLocks xmlns:a="http://schemas.openxmlformats.org/drawingml/2006/main" noChangeAspect="1"/>
          </p:cNvPicPr>
          <p:nvPr/>
        </p:nvPicPr>
        <p:blipFill>
          <a:blip xmlns:r="http://schemas.openxmlformats.org/officeDocument/2006/relationships" xmlns:a="http://schemas.openxmlformats.org/drawingml/2006/main" r:embed="R3d552a07576a400b"/>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ACD7C4A6-1848-40CD-8B3E-7532175F2A2D}"/>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Preview, publish, independent access and submission are separate states that require separate checks.</a:t>
            </a:r>
          </a:p>
        </p:txBody>
      </p:sp>
      <p:sp>
        <p:nvSpPr>
          <p:cNvPr id="14" name="">
            <a:extLst xmlns:a="http://schemas.openxmlformats.org/drawingml/2006/main">
              <a:ext uri="{FF2B5EF4-FFF2-40B4-BE49-F238E27FC236}">
                <a16:creationId xmlns:a16="http://schemas.microsoft.com/office/drawing/2014/main" id="{FFFD5142-F6A4-4580-9ACD-0FFB08649F72}"/>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Which screen proves each state, and which assumption still needs a real access test?</a:t>
            </a:r>
          </a:p>
        </p:txBody>
      </p:sp>
      <p:sp>
        <p:nvSpPr>
          <p:cNvPr id="15" name="">
            <a:extLst xmlns:a="http://schemas.openxmlformats.org/drawingml/2006/main">
              <a:ext uri="{FF2B5EF4-FFF2-40B4-BE49-F238E27FC236}">
                <a16:creationId xmlns:a16="http://schemas.microsoft.com/office/drawing/2014/main" id="{40A697F3-8506-4D0B-8434-6982A429E2F2}"/>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E5C74D47-5241-49B5-8918-10272A4DB0F4}"/>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statement is accurate?</a:t>
            </a:r>
          </a:p>
        </p:txBody>
      </p:sp>
      <p:sp>
        <p:nvSpPr>
          <p:cNvPr id="17" name="">
            <a:extLst xmlns:a="http://schemas.openxmlformats.org/drawingml/2006/main">
              <a:ext uri="{FF2B5EF4-FFF2-40B4-BE49-F238E27FC236}">
                <a16:creationId xmlns:a16="http://schemas.microsoft.com/office/drawing/2014/main" id="{5AF18596-2C1E-4691-9F7E-A6650B6A2254}"/>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09  •  WEB PORTFOLIO</a:t>
            </a:r>
          </a:p>
        </p:txBody>
      </p:sp>
      <p:sp>
        <p:nvSpPr>
          <p:cNvPr id="18" name="">
            <a:extLst xmlns:a="http://schemas.openxmlformats.org/drawingml/2006/main">
              <a:ext uri="{FF2B5EF4-FFF2-40B4-BE49-F238E27FC236}">
                <a16:creationId xmlns:a16="http://schemas.microsoft.com/office/drawing/2014/main" id="{7BE8BCF0-D1DD-4F42-A8C6-05D24ACB5E16}"/>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147547731"/>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0C88889-152A-4C70-9C6C-50461A0A593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CA5C2C-DCD3-4DB8-A4E4-47A112D6BF5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23ECBE20-318C-459B-ADEC-95BA5223DB83}"/>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96CCBD80-37DC-464F-943A-33C4486F4F48}"/>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13059245-5900-4B70-8E49-7A088351AB47}"/>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EBFEC2F9-75BA-4634-A8EC-6443D96DE6D2}"/>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7E478F6-C7CC-4C4C-A1D7-0FEC195EAA94}"/>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page structure is shown in the source demonstration?</a:t>
            </a:r>
          </a:p>
        </p:txBody>
      </p:sp>
      <p:sp>
        <p:nvSpPr>
          <p:cNvPr id="8" name="">
            <a:extLst xmlns:a="http://schemas.openxmlformats.org/drawingml/2006/main">
              <a:ext uri="{FF2B5EF4-FFF2-40B4-BE49-F238E27FC236}">
                <a16:creationId xmlns:a16="http://schemas.microsoft.com/office/drawing/2014/main" id="{03FAAB55-88FC-4383-A377-FFA954BB4F03}"/>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8FF23CF1-D3F2-496A-922E-F37CEFEEDC1B}"/>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3A79744C-20EF-454C-8F5A-1BE1DA5FA593}"/>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should alternative text do?</a:t>
            </a:r>
          </a:p>
        </p:txBody>
      </p:sp>
      <p:sp>
        <p:nvSpPr>
          <p:cNvPr id="11" name="">
            <a:extLst xmlns:a="http://schemas.openxmlformats.org/drawingml/2006/main">
              <a:ext uri="{FF2B5EF4-FFF2-40B4-BE49-F238E27FC236}">
                <a16:creationId xmlns:a16="http://schemas.microsoft.com/office/drawing/2014/main" id="{B14C4B8F-1D6B-40E9-9F34-BF42B4C6F43A}"/>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9325E4F3-5CF2-43C5-87AE-657E9CF26D25}"/>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43B6FA12-DE35-4BD6-BB37-34D4E7E40768}"/>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statement is accurate?</a:t>
            </a:r>
          </a:p>
        </p:txBody>
      </p:sp>
      <p:sp>
        <p:nvSpPr>
          <p:cNvPr id="14" name="">
            <a:extLst xmlns:a="http://schemas.openxmlformats.org/drawingml/2006/main">
              <a:ext uri="{FF2B5EF4-FFF2-40B4-BE49-F238E27FC236}">
                <a16:creationId xmlns:a16="http://schemas.microsoft.com/office/drawing/2014/main" id="{51E5455B-50C1-4770-AC52-C67FAA777E65}"/>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09  •  WEB PORTFOLIO</a:t>
            </a:r>
          </a:p>
        </p:txBody>
      </p:sp>
      <p:sp>
        <p:nvSpPr>
          <p:cNvPr id="15" name="">
            <a:extLst xmlns:a="http://schemas.openxmlformats.org/drawingml/2006/main">
              <a:ext uri="{FF2B5EF4-FFF2-40B4-BE49-F238E27FC236}">
                <a16:creationId xmlns:a16="http://schemas.microsoft.com/office/drawing/2014/main" id="{0D8AF4D4-23DC-44C1-B0AB-9CF9C9162EE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2106554183"/>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FF261F5-B268-4AF3-9711-896912F392D1}"/>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BF667EDC-63B1-4750-960C-4920617C587D}"/>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508B9969-A551-4C09-8638-667B87BB0940}"/>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AA2B793A-2286-4C6D-9185-085C968F45BD}"/>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5AD62B-596D-4783-8EA0-8D49DCE61ECE}"/>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2B8465D9-0E45-4C4E-BE48-F1714C28132B}"/>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Create a three-page content map and a media preflight, then report preview, publish, access test and submission as separate states.</a:t>
            </a:r>
          </a:p>
        </p:txBody>
      </p:sp>
      <p:sp>
        <p:nvSpPr>
          <p:cNvPr id="7" name="">
            <a:extLst xmlns:a="http://schemas.openxmlformats.org/drawingml/2006/main">
              <a:ext uri="{FF2B5EF4-FFF2-40B4-BE49-F238E27FC236}">
                <a16:creationId xmlns:a16="http://schemas.microsoft.com/office/drawing/2014/main" id="{BCF952A1-CA99-4E26-B275-CF2F13DF41C1}"/>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C677BF4B-91AD-4A8C-92BA-AA60A85C613F}"/>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24CE2A5-7BE5-4B3D-9017-8DFFAA01913C}"/>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Use predictable labels</a:t>
            </a:r>
          </a:p>
        </p:txBody>
      </p:sp>
      <p:sp>
        <p:nvSpPr>
          <p:cNvPr id="10" name="">
            <a:extLst xmlns:a="http://schemas.openxmlformats.org/drawingml/2006/main">
              <a:ext uri="{FF2B5EF4-FFF2-40B4-BE49-F238E27FC236}">
                <a16:creationId xmlns:a16="http://schemas.microsoft.com/office/drawing/2014/main" id="{BD0ABE7C-C3BF-46D6-9D57-FE39816E7AD5}"/>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6E294E-42A6-430E-92F3-1AFC4D89F826}"/>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Prepare media and alternatives</a:t>
            </a:r>
          </a:p>
        </p:txBody>
      </p:sp>
      <p:sp>
        <p:nvSpPr>
          <p:cNvPr id="12" name="">
            <a:extLst xmlns:a="http://schemas.openxmlformats.org/drawingml/2006/main">
              <a:ext uri="{FF2B5EF4-FFF2-40B4-BE49-F238E27FC236}">
                <a16:creationId xmlns:a16="http://schemas.microsoft.com/office/drawing/2014/main" id="{76F94FAE-31E1-442F-916F-0E8BFFB05406}"/>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1AD3636-AFC2-4BEE-ACD4-37DD45A5552E}"/>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Test access independently</a:t>
            </a:r>
          </a:p>
        </p:txBody>
      </p:sp>
      <p:sp>
        <p:nvSpPr>
          <p:cNvPr id="14" name="">
            <a:extLst xmlns:a="http://schemas.openxmlformats.org/drawingml/2006/main">
              <a:ext uri="{FF2B5EF4-FFF2-40B4-BE49-F238E27FC236}">
                <a16:creationId xmlns:a16="http://schemas.microsoft.com/office/drawing/2014/main" id="{9EECD6BC-5783-4C1A-ADB9-2E151FD72CB0}"/>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E6A6747-741D-46F6-8B25-3C0C6B0795FC}"/>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8F4F9B03-7607-4E4C-BB11-719AA45F2FF9}"/>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05AB481F-39E4-4EB4-8FBA-BB2A9E1E67D2}"/>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67AB747-765F-4C70-810B-73CBD6D93356}"/>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CFC87E4E-5486-4115-A587-FB2373A06990}"/>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E9FAC0B5-E7D7-4F63-8793-C7CBBCABBDE7}"/>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98D4CF1-17BE-4902-882B-9A17ABAA35A6}"/>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2AF029DC-1CFD-4B22-AB8B-746142262FD5}"/>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9C311830-DC5B-4546-8E14-79BD7E286829}"/>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I placed… on… because… The current website state is… and still needs…</a:t>
            </a:r>
          </a:p>
        </p:txBody>
      </p:sp>
      <p:sp>
        <p:nvSpPr>
          <p:cNvPr id="24" name="">
            <a:extLst xmlns:a="http://schemas.openxmlformats.org/drawingml/2006/main">
              <a:ext uri="{FF2B5EF4-FFF2-40B4-BE49-F238E27FC236}">
                <a16:creationId xmlns:a16="http://schemas.microsoft.com/office/drawing/2014/main" id="{6147364F-B2A9-424C-9461-8D37264EE2D8}"/>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09  •  WEB PORTFOLIO</a:t>
            </a:r>
          </a:p>
        </p:txBody>
      </p:sp>
      <p:sp>
        <p:nvSpPr>
          <p:cNvPr id="25" name="">
            <a:extLst xmlns:a="http://schemas.openxmlformats.org/drawingml/2006/main">
              <a:ext uri="{FF2B5EF4-FFF2-40B4-BE49-F238E27FC236}">
                <a16:creationId xmlns:a16="http://schemas.microsoft.com/office/drawing/2014/main" id="{15F3A314-8264-4272-9186-B24ED09C2C1C}"/>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581101231"/>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5D6E08-86B8-4410-AB43-47C475255B6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DDA5F1-06EB-49C5-877D-0682AB139937}"/>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90F33BB2-CC82-4C49-BDF0-F937AC86FB68}"/>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39E23915-2AC0-4D05-A2D3-2B95E805ADAD}"/>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37A08EC0-C8F8-4855-BC37-E44F2727AF5C}"/>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FF93D6F5-741F-47F5-B210-FC1269E11E00}"/>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31B31C-CC45-4652-B203-CE2EAFB4F2A1}"/>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862F0A2D-94D2-4985-BD6B-A97B28626A1B}"/>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4BCCEAAE-9053-46AA-8334-8AA7836D74C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09  •  WEB PORTFOLIO</a:t>
            </a:r>
          </a:p>
        </p:txBody>
      </p:sp>
      <p:sp>
        <p:nvSpPr>
          <p:cNvPr id="10" name="">
            <a:extLst xmlns:a="http://schemas.openxmlformats.org/drawingml/2006/main">
              <a:ext uri="{FF2B5EF4-FFF2-40B4-BE49-F238E27FC236}">
                <a16:creationId xmlns:a16="http://schemas.microsoft.com/office/drawing/2014/main" id="{E4AE5FB5-815A-44A1-8FD5-416EA54D22B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64567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2026-08-24T09:10:34.7480000Z</dcterms:created>
  <dcterms:modified xsi:type="dcterms:W3CDTF">2026-08-24T09:10:34.7480000Z</dcterms:modified>
</coreProperties>
</file>