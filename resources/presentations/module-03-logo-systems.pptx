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529ef9496645cc" /><Relationship Type="http://schemas.openxmlformats.org/officeDocument/2006/relationships/extended-properties" Target="/docProps/app.xml" Id="R4e15adb3f72d4f17" /><Relationship Type="http://schemas.openxmlformats.org/officeDocument/2006/relationships/officeDocument" Target="/ppt/presentation.xml" Id="R4fbc8ef16e1c42e1" /></Relationships>
</file>

<file path=ppt/presentation.xml><?xml version="1.0" encoding="utf-8"?>
<p:presentation xmlns:p="http://schemas.openxmlformats.org/presentationml/2006/main">
  <p:sldMasterIdLst>
    <p:sldMasterId xmlns:r="http://schemas.openxmlformats.org/officeDocument/2006/relationships" id="2147483648" r:id="R0e4da2944f434952"/>
  </p:sldMasterIdLst>
  <p:notesMasterIdLst>
    <p:notesMasterId xmlns:r="http://schemas.openxmlformats.org/officeDocument/2006/relationships" r:id="Rcc12110431e049ad"/>
  </p:notesMasterIdLst>
  <p:sldIdLst>
    <p:sldId xmlns:r="http://schemas.openxmlformats.org/officeDocument/2006/relationships" id="256" r:id="Rc125dba55883487c"/>
    <p:sldId xmlns:r="http://schemas.openxmlformats.org/officeDocument/2006/relationships" id="257" r:id="Rc50da80ba7114cb9"/>
    <p:sldId xmlns:r="http://schemas.openxmlformats.org/officeDocument/2006/relationships" id="258" r:id="R83ea380f321b440d"/>
    <p:sldId xmlns:r="http://schemas.openxmlformats.org/officeDocument/2006/relationships" id="259" r:id="R615b3156ab36462e"/>
    <p:sldId xmlns:r="http://schemas.openxmlformats.org/officeDocument/2006/relationships" id="260" r:id="R5e55f45f5ae548df"/>
    <p:sldId xmlns:r="http://schemas.openxmlformats.org/officeDocument/2006/relationships" id="261" r:id="Rff8d4bc738064d36"/>
    <p:sldId xmlns:r="http://schemas.openxmlformats.org/officeDocument/2006/relationships" id="262" r:id="R2d60bf9158d94767"/>
    <p:sldId xmlns:r="http://schemas.openxmlformats.org/officeDocument/2006/relationships" id="263" r:id="Re880efc3c59a4c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ec6dc0391e466f" /><Relationship Type="http://schemas.openxmlformats.org/officeDocument/2006/relationships/slideMaster" Target="/ppt/slideMasters/slideMaster1.xml" Id="R0e4da2944f434952" /><Relationship Type="http://schemas.openxmlformats.org/officeDocument/2006/relationships/notesMaster" Target="/ppt/notesMasters/notesMaster1.xml" Id="Rcc12110431e049ad" /><Relationship Type="http://schemas.openxmlformats.org/officeDocument/2006/relationships/presProps" Target="/ppt/presProps.xml" Id="R7b534bc780a047ff" /><Relationship Type="http://schemas.openxmlformats.org/officeDocument/2006/relationships/tableStyles" Target="/ppt/tableStyles.xml" Id="R7666b5310b02426c" /><Relationship Type="http://schemas.openxmlformats.org/officeDocument/2006/relationships/slide" Target="/ppt/slides/slide1.xml" Id="Rc125dba55883487c" /><Relationship Type="http://schemas.openxmlformats.org/officeDocument/2006/relationships/slide" Target="/ppt/slides/slide2.xml" Id="Rc50da80ba7114cb9" /><Relationship Type="http://schemas.openxmlformats.org/officeDocument/2006/relationships/slide" Target="/ppt/slides/slide3.xml" Id="R83ea380f321b440d" /><Relationship Type="http://schemas.openxmlformats.org/officeDocument/2006/relationships/slide" Target="/ppt/slides/slide4.xml" Id="R615b3156ab36462e" /><Relationship Type="http://schemas.openxmlformats.org/officeDocument/2006/relationships/slide" Target="/ppt/slides/slide5.xml" Id="R5e55f45f5ae548df" /><Relationship Type="http://schemas.openxmlformats.org/officeDocument/2006/relationships/slide" Target="/ppt/slides/slide6.xml" Id="Rff8d4bc738064d36" /><Relationship Type="http://schemas.openxmlformats.org/officeDocument/2006/relationships/slide" Target="/ppt/slides/slide7.xml" Id="R2d60bf9158d94767" /><Relationship Type="http://schemas.openxmlformats.org/officeDocument/2006/relationships/slide" Target="/ppt/slides/slide8.xml" Id="Re880efc3c59a4c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d6ab0b0cef41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dfc92b9d974ca4" /><Relationship Type="http://schemas.openxmlformats.org/officeDocument/2006/relationships/notesMaster" Target="/ppt/notesMasters/notesMaster1.xml" Id="R392002e0ce7542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9e65471e034573" /><Relationship Type="http://schemas.openxmlformats.org/officeDocument/2006/relationships/notesMaster" Target="/ppt/notesMasters/notesMaster1.xml" Id="R73a757fd600d46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ad50b28bdf4a7a" /><Relationship Type="http://schemas.openxmlformats.org/officeDocument/2006/relationships/notesMaster" Target="/ppt/notesMasters/notesMaster1.xml" Id="Reb57378dd9e742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1ebc15ae63440d" /><Relationship Type="http://schemas.openxmlformats.org/officeDocument/2006/relationships/notesMaster" Target="/ppt/notesMasters/notesMaster1.xml" Id="Rc2ffd43c2d324f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931f309728450b" /><Relationship Type="http://schemas.openxmlformats.org/officeDocument/2006/relationships/notesMaster" Target="/ppt/notesMasters/notesMaster1.xml" Id="R6c46714527c546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5e3fd708fe4065" /><Relationship Type="http://schemas.openxmlformats.org/officeDocument/2006/relationships/notesMaster" Target="/ppt/notesMasters/notesMaster1.xml" Id="R835bb4dd2dea45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66412bd7784095" /><Relationship Type="http://schemas.openxmlformats.org/officeDocument/2006/relationships/notesMaster" Target="/ppt/notesMasters/notesMaster1.xml" Id="R3ef8ac1252bc42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e2ddb7918549d3" /><Relationship Type="http://schemas.openxmlformats.org/officeDocument/2006/relationships/notesMaster" Target="/ppt/notesMasters/notesMaster1.xml" Id="R409d9aed643444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Develop a recognisable logo that works at different sizes.</a:t>
            </a:r>
          </a:p>
          <a:p xmlns:a="http://schemas.openxmlformats.org/drawingml/2006/main">
            <a:r>
              <a:t>Prompt: What must a logo still do when it becomes very small?</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3.</a:t>
            </a:r>
          </a:p>
          <a:p xmlns:a="http://schemas.openxmlformats.org/drawingml/2006/main">
            <a:r>
              <a:t>- Theory: data/course-content.js, m03-s01, m03-s02, m03-s03.</a:t>
            </a:r>
          </a:p>
          <a:p xmlns:a="http://schemas.openxmlformats.org/drawingml/2006/main">
            <a:r>
              <a:t>- Visual: assets/visuals/generated-m03-symbol-concept-exploration-v2.png.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What must a logo still do when it becomes very small?</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Symbols and recognition.</a:t>
            </a:r>
          </a:p>
          <a:p xmlns:a="http://schemas.openxmlformats.org/drawingml/2006/main">
            <a:r>
              <a:t/>
            </a:r>
          </a:p>
          <a:p xmlns:a="http://schemas.openxmlformats.org/drawingml/2006/main">
            <a:r>
              <a:t>[Sources]</a:t>
            </a:r>
          </a:p>
          <a:p xmlns:a="http://schemas.openxmlformats.org/drawingml/2006/main">
            <a:r>
              <a:t>- Theory sequence: data/course-content.js, m03-s01, m03-s02, m03-s03.</a:t>
            </a:r>
          </a:p>
          <a:p xmlns:a="http://schemas.openxmlformats.org/drawingml/2006/main">
            <a:r>
              <a:t>- Module summary: data/course-map.js, Module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Develop a distinctive mark whose shapes and words help the intended audience recognise the brand.</a:t>
            </a:r>
          </a:p>
          <a:p xmlns:a="http://schemas.openxmlformats.org/drawingml/2006/main">
            <a:r>
              <a:t>Explain: A logo is a compact identifier used across brand applications. It might be a wordmark, symbol or combination, but its main job is recognition rather than telling the whole business story. A useful concept grows from the brief: a shape, letterform or relationship can connect to the business name, tone or audience. Packing every product, message and effect into one mark usually weakens quick recognition.</a:t>
            </a:r>
          </a:p>
          <a:p xmlns:a="http://schemas.openxmlformats.org/drawingml/2006/main">
            <a:r>
              <a:t>Clarify: Simple shapes can feel familiar, but they must still be developed into a distinctive response. Changing the colour of a famous logo or tracing its shape does not create original work. Compare concepts by silhouette, name connection and likely confusion with existing brands. Keep sketches and decision notes so the development from source idea to student-made mark remains visible.</a:t>
            </a:r>
          </a:p>
          <a:p xmlns:a="http://schemas.openxmlformats.org/drawingml/2006/main">
            <a:r>
              <a:t>Worked example: “Orbit Bites” begins as a detailed drawing of a meal, stars, a planet and three text lines. The designer finds the strongest relationship: a circular bite can also suggest an orbit. They sketch several versions, combine the best symbol with an original wordmark and remove details that vanish at small size. Simplicity is useful when it makes the intended relationship easier to recognise and distinguish.</a:t>
            </a:r>
          </a:p>
          <a:p xmlns:a="http://schemas.openxmlformats.org/drawingml/2006/main">
            <a:r>
              <a:t>Ask: What is a logo’s main role?</a:t>
            </a:r>
          </a:p>
          <a:p xmlns:a="http://schemas.openxmlformats.org/drawingml/2006/main">
            <a:r>
              <a:t>Listen for: Help people recognise the brand. Correct. A logo is a compact identifier.</a:t>
            </a:r>
          </a:p>
          <a:p xmlns:a="http://schemas.openxmlformats.org/drawingml/2006/main">
            <a:r>
              <a:t>Misconception to correct: A detailed drawing must make a stronger logo. → Extra detail can weaken quick recognition; every element needs an identifying job.</a:t>
            </a:r>
          </a:p>
          <a:p xmlns:a="http://schemas.openxmlformats.org/drawingml/2006/main">
            <a:r>
              <a:t>Transition: Connect this idea to Scale, contrast and simplicity.</a:t>
            </a:r>
          </a:p>
          <a:p xmlns:a="http://schemas.openxmlformats.org/drawingml/2006/main">
            <a:r>
              <a:t/>
            </a:r>
          </a:p>
          <a:p xmlns:a="http://schemas.openxmlformats.org/drawingml/2006/main">
            <a:r>
              <a:t>[Sources]</a:t>
            </a:r>
          </a:p>
          <a:p xmlns:a="http://schemas.openxmlformats.org/drawingml/2006/main">
            <a:r>
              <a:t>- Theory and check: data/course-content.js, m03-s01 and m03-s01-q01.</a:t>
            </a:r>
          </a:p>
          <a:p xmlns:a="http://schemas.openxmlformats.org/drawingml/2006/main">
            <a:r>
              <a:t>- Image-first teaching visual: assets/visuals/generated-logo-scale-context.png. AI-generated with the built-in image tool on 24 August 2026; no source or student image used.</a:t>
            </a:r>
          </a:p>
          <a:p xmlns:a="http://schemas.openxmlformats.org/drawingml/2006/main">
            <a:r>
              <a:t>- Google Drive source: Creating a Logo in Canva Demo Video.mp4, Drive ID 1QwBddmlZ8KtJ_e1HzQFyY5EM-IpedPRg,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Test whether a logo stays recognisable across size, colour and background changes.</a:t>
            </a:r>
          </a:p>
          <a:p xmlns:a="http://schemas.openxmlformats.org/drawingml/2006/main">
            <a:r>
              <a:t>Explain: A logo that works on a large poster may fail as a small site icon or uniform mark. Scale testing reveals thin lines, tiny gaps and small text that disappear. View the mark at realistic output sizes instead of assuming that screen zoom proves success. The identifying shape should remain clear even if supporting detail is reduced. The test provides evidence for actual uses; it does not invent one compulsory minimum size.</a:t>
            </a:r>
          </a:p>
          <a:p xmlns:a="http://schemas.openxmlformats.org/drawingml/2006/main">
            <a:r>
              <a:t>Clarify: A full-colour logo can depend too heavily on one background. Test light, dark and visually busy contexts, plus a one-colour version that preserves the key silhouette. If a photograph interferes, a controlled clear area or alternate version may be stronger than several shadows and outlines. Contrast should separate the mark without burying its shape in effects.</a:t>
            </a:r>
          </a:p>
          <a:p xmlns:a="http://schemas.openxmlformats.org/drawingml/2006/main">
            <a:r>
              <a:t>Worked example: Orbit Bites is tested as a large poster mark, a phone header and a one-colour stamp. The slogan disappears on the phone, so the compact version removes it. The planet edge is lost over a busy photograph, so a simple high-contrast holding shape is used. The circular bite remains in every version. These are controlled variants of one identity, not unrelated replacement logos.</a:t>
            </a:r>
          </a:p>
          <a:p xmlns:a="http://schemas.openxmlformats.org/drawingml/2006/main">
            <a:r>
              <a:t>Ask: What does a small-size test reveal?</a:t>
            </a:r>
          </a:p>
          <a:p xmlns:a="http://schemas.openxmlformats.org/drawingml/2006/main">
            <a:r>
              <a:t>Listen for: Whether thin lines, gaps and small text remain recognisable. Correct. It exposes visual loss.</a:t>
            </a:r>
          </a:p>
          <a:p xmlns:a="http://schemas.openxmlformats.org/drawingml/2006/main">
            <a:r>
              <a:t>Misconception to correct: A high-resolution file guarantees small-size readability. → Technical sharpness cannot make visually tiny details easy to distinguish.</a:t>
            </a:r>
          </a:p>
          <a:p xmlns:a="http://schemas.openxmlformats.org/drawingml/2006/main">
            <a:r>
              <a:t>Transition: Connect this idea to Logo variants and critique.</a:t>
            </a:r>
          </a:p>
          <a:p xmlns:a="http://schemas.openxmlformats.org/drawingml/2006/main">
            <a:r>
              <a:t/>
            </a:r>
          </a:p>
          <a:p xmlns:a="http://schemas.openxmlformats.org/drawingml/2006/main">
            <a:r>
              <a:t>[Sources]</a:t>
            </a:r>
          </a:p>
          <a:p xmlns:a="http://schemas.openxmlformats.org/drawingml/2006/main">
            <a:r>
              <a:t>- Theory and check: data/course-content.js, m03-s02 and m03-s02-q01.</a:t>
            </a:r>
          </a:p>
          <a:p xmlns:a="http://schemas.openxmlformats.org/drawingml/2006/main">
            <a:r>
              <a:t>- Image-first teaching visual: assets/visuals/generated-m03-logo-simplicity-scale-test-v2.png. AI-generated with the built-in OpenAI image creator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Use criteria and specific feedback to select and refine a coherent logo family.</a:t>
            </a:r>
          </a:p>
          <a:p xmlns:a="http://schemas.openxmlformats.org/drawingml/2006/main">
            <a:r>
              <a:t>Explain: A primary logo may include the full name and symbol. A compact version can rearrange or remove supporting text for a narrow space, while a one-colour version suits limited-colour contexts. Versions should share a core shape, type relationship or other identifying feature. A collection of unrelated marks is not a system because the audience must relearn the identity each time.</a:t>
            </a:r>
          </a:p>
          <a:p xmlns:a="http://schemas.openxmlformats.org/drawingml/2006/main">
            <a:r>
              <a:t>Clarify: Useful critique describes observable evidence, links it to a criterion and suggests a question or action. “I don’t like it” gives no direction. “The name is difficult to read at phone size; could the compact version increase spacing or remove the slogan?” identifies context and a test. The designer records feedback and explains what was accepted, adapted or rejected against the brief.</a:t>
            </a:r>
          </a:p>
          <a:p xmlns:a="http://schemas.openxmlformats.org/drawingml/2006/main">
            <a:r>
              <a:t>Worked example: Three concepts appear at identical sizes on the same light and dark backgrounds. Reviewers consider recognition, brief connection, originality and readability. Concept B is popular but resembles an existing brand. Concept C has a clearer name connection and lower confusion risk, so it is selected and its small-size spacing refined. Selection follows relevant evidence rather than a vote alone.</a:t>
            </a:r>
          </a:p>
          <a:p xmlns:a="http://schemas.openxmlformats.org/drawingml/2006/main">
            <a:r>
              <a:t>Ask: What makes variants a coherent family?</a:t>
            </a:r>
          </a:p>
          <a:p xmlns:a="http://schemas.openxmlformats.org/drawingml/2006/main">
            <a:r>
              <a:t>Listen for: They preserve a core while adapting to context. Correct. Controlled change supports fit and recognition.</a:t>
            </a:r>
          </a:p>
          <a:p xmlns:a="http://schemas.openxmlformats.org/drawingml/2006/main">
            <a:r>
              <a:t>Misconception to correct: The most popular concept is automatically best. → Preference is one input; brief fit, recognition, originality and access still matter.</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m03-s03 and m03-s03-q01.</a:t>
            </a:r>
          </a:p>
          <a:p xmlns:a="http://schemas.openxmlformats.org/drawingml/2006/main">
            <a:r>
              <a:t>- Image-first teaching visual: assets/visuals/generated-m03-logo-variant-family-v2.png. AI-generated with the built-in OpenAI image creator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Help people recognise the brand. Feedback: Correct. A logo is a compact identifier.</a:t>
            </a:r>
          </a:p>
          <a:p xmlns:a="http://schemas.openxmlformats.org/drawingml/2006/main">
            <a:r>
              <a:t>Question 2: Whether thin lines, gaps and small text remain recognisable. Feedback: Correct. It exposes visual loss.</a:t>
            </a:r>
          </a:p>
          <a:p xmlns:a="http://schemas.openxmlformats.org/drawingml/2006/main">
            <a:r>
              <a:t>Question 3: They preserve a core while adapting to context. Feedback: Correct. Controlled change supports fit and recognition.</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m03-s01-q01, m03-s02-q01, m03-s03-q01.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m03-s01-capstone, m03-s02-capstone, m03-s03-capstone.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m03-s01, m03-s02, m03-s03.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e61b8b7d8b4d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aace4d6e384149" /><Relationship Type="http://schemas.openxmlformats.org/officeDocument/2006/relationships/slideLayout" Target="/ppt/slideLayouts/slideLayout1.xml" Id="Rcdee078e4ead4a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ee078e4ead4a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32cc8b2d8242a9" /><Relationship Type="http://schemas.openxmlformats.org/officeDocument/2006/relationships/image" Target="/ppt/media/image.png" Id="R3a4a3e67547a4ca7" /><Relationship Type="http://schemas.openxmlformats.org/officeDocument/2006/relationships/notesSlide" Target="/ppt/notesSlides/notesSlide1.xml" Id="R4cd2b2b5f2e641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3f83afbafe4cae" /><Relationship Type="http://schemas.openxmlformats.org/officeDocument/2006/relationships/notesSlide" Target="/ppt/notesSlides/notesSlide2.xml" Id="R465f35b969404b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0b60ad95414414" /><Relationship Type="http://schemas.openxmlformats.org/officeDocument/2006/relationships/image" Target="/ppt/media/image2.png" Id="R468d15bbe2b94fb9" /><Relationship Type="http://schemas.openxmlformats.org/officeDocument/2006/relationships/image" Target="/ppt/media/image3.png" Id="R2b54e96f2a9e4a5e" /><Relationship Type="http://schemas.openxmlformats.org/officeDocument/2006/relationships/notesSlide" Target="/ppt/notesSlides/notesSlide3.xml" Id="R0ee4b0cb781d4e97" /><Relationship Type="http://schemas.openxmlformats.org/officeDocument/2006/relationships/hyperlink" Target="https://drive.google.com/file/d/1QwBddmlZ8KtJ_e1HzQFyY5EM-IpedPRg/view" TargetMode="External" Id="RStage07Hyperlink3_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9b879aec474763" /><Relationship Type="http://schemas.openxmlformats.org/officeDocument/2006/relationships/image" Target="/ppt/media/image4.png" Id="Rc58b036f8f9f424e" /><Relationship Type="http://schemas.openxmlformats.org/officeDocument/2006/relationships/notesSlide" Target="/ppt/notesSlides/notesSlide4.xml" Id="R30cabe303ea94b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6546802a7d42f3" /><Relationship Type="http://schemas.openxmlformats.org/officeDocument/2006/relationships/image" Target="/ppt/media/image5.png" Id="R5127a84f496d4e83" /><Relationship Type="http://schemas.openxmlformats.org/officeDocument/2006/relationships/notesSlide" Target="/ppt/notesSlides/notesSlide5.xml" Id="R72779cbbbe8f49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f39279ebcc455b" /><Relationship Type="http://schemas.openxmlformats.org/officeDocument/2006/relationships/notesSlide" Target="/ppt/notesSlides/notesSlide6.xml" Id="R60a15ddc95fa43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c15fb735274d48" /><Relationship Type="http://schemas.openxmlformats.org/officeDocument/2006/relationships/notesSlide" Target="/ppt/notesSlides/notesSlide7.xml" Id="Rfb55d0409c6f4c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33e79a93da4d1d" /><Relationship Type="http://schemas.openxmlformats.org/officeDocument/2006/relationships/notesSlide" Target="/ppt/notesSlides/notesSlide8.xml" Id="Rd756fa592e1041a0"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EFF957A-2CD7-45AD-B835-4B4351F62B90}"/>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CDFEB0-D5B5-456A-A3F0-00C97BFC39FB}"/>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B67806-AFBD-4DE3-AE25-FC58035D5E18}"/>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03</a:t>
            </a:r>
          </a:p>
        </p:txBody>
      </p:sp>
      <p:sp>
        <p:nvSpPr>
          <p:cNvPr id="4" name="">
            <a:extLst xmlns:a="http://schemas.openxmlformats.org/drawingml/2006/main">
              <a:ext uri="{FF2B5EF4-FFF2-40B4-BE49-F238E27FC236}">
                <a16:creationId xmlns:a16="http://schemas.microsoft.com/office/drawing/2014/main" id="{E272E4DF-A0CE-467D-A769-2764D050ADD1}"/>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Logo systems</a:t>
            </a:r>
          </a:p>
        </p:txBody>
      </p:sp>
      <p:sp>
        <p:nvSpPr>
          <p:cNvPr id="5" name="">
            <a:extLst xmlns:a="http://schemas.openxmlformats.org/drawingml/2006/main">
              <a:ext uri="{FF2B5EF4-FFF2-40B4-BE49-F238E27FC236}">
                <a16:creationId xmlns:a16="http://schemas.microsoft.com/office/drawing/2014/main" id="{F0988CA7-742E-4FD8-98E1-30B9ABF4AFAC}"/>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Develop a recognisable logo that works at different sizes.</a:t>
            </a:r>
          </a:p>
        </p:txBody>
      </p:sp>
      <p:sp>
        <p:nvSpPr>
          <p:cNvPr id="6" name="">
            <a:extLst xmlns:a="http://schemas.openxmlformats.org/drawingml/2006/main">
              <a:ext uri="{FF2B5EF4-FFF2-40B4-BE49-F238E27FC236}">
                <a16:creationId xmlns:a16="http://schemas.microsoft.com/office/drawing/2014/main" id="{C4AA9B3A-6F3B-4B0A-AF0E-439DCD0902AC}"/>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7ABE9650-77E6-439B-BA94-A88CC77A2A35}"/>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What must a logo still do when it becomes very small?</a:t>
            </a:r>
          </a:p>
        </p:txBody>
      </p:sp>
      <p:sp>
        <p:nvSpPr>
          <p:cNvPr id="8" name="">
            <a:extLst xmlns:a="http://schemas.openxmlformats.org/drawingml/2006/main">
              <a:ext uri="{FF2B5EF4-FFF2-40B4-BE49-F238E27FC236}">
                <a16:creationId xmlns:a16="http://schemas.microsoft.com/office/drawing/2014/main" id="{DB3EB7D0-C8C4-44A7-B9DA-19E5770988B8}"/>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Symbol Concept Exploration" title="Symbol Concept Exploration" descr="Overhead design workspace with several abstract cut-paper symbol concepts, blank critique tokens and drawing tools."/>
          <p:cNvPicPr>
            <a:picLocks xmlns:a="http://schemas.openxmlformats.org/drawingml/2006/main" noChangeAspect="1"/>
          </p:cNvPicPr>
          <p:nvPr/>
        </p:nvPicPr>
        <p:blipFill>
          <a:blip xmlns:r="http://schemas.openxmlformats.org/officeDocument/2006/relationships" xmlns:a="http://schemas.openxmlformats.org/drawingml/2006/main" r:embed="R3a4a3e67547a4ca7"/>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D123C566-F4FE-43DD-BE31-AC2EC05DAF0A}"/>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03  •  LOGO SYSTEMS</a:t>
            </a:r>
          </a:p>
        </p:txBody>
      </p:sp>
      <p:sp>
        <p:nvSpPr>
          <p:cNvPr id="11" name="">
            <a:extLst xmlns:a="http://schemas.openxmlformats.org/drawingml/2006/main">
              <a:ext uri="{FF2B5EF4-FFF2-40B4-BE49-F238E27FC236}">
                <a16:creationId xmlns:a16="http://schemas.microsoft.com/office/drawing/2014/main" id="{B8FCBB93-46FF-4680-A873-8CC7C0605E39}"/>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1389633791"/>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673434-E907-4382-867C-2F9910ABFC8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DAEF97-147B-46D9-88DF-9B9B0DABB08F}"/>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FB396F87-48B7-4AD1-9EE3-CB1601FE04CB}"/>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3C303409-671C-4A5F-AC7D-C53C15B23003}"/>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3E5FC50D-18B8-452C-B7C0-30C7199C02FC}"/>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4C86B9F-D59C-4B48-B00E-2D755737E08D}"/>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3CF93E0-8108-41B6-8F29-21730B746832}"/>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Symbols and recognition</a:t>
            </a:r>
          </a:p>
        </p:txBody>
      </p:sp>
      <p:sp>
        <p:nvSpPr>
          <p:cNvPr id="8" name="">
            <a:extLst xmlns:a="http://schemas.openxmlformats.org/drawingml/2006/main">
              <a:ext uri="{FF2B5EF4-FFF2-40B4-BE49-F238E27FC236}">
                <a16:creationId xmlns:a16="http://schemas.microsoft.com/office/drawing/2014/main" id="{2FE7D7A8-7989-4474-8638-D30A401934AA}"/>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18F4D34A-FBEC-444E-83FB-0AEE08D50945}"/>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291B95-3E83-4119-89D6-27003DF19D76}"/>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820931C-E87A-4E5E-A52B-24F0CBE09149}"/>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Scale, contrast and simplicity</a:t>
            </a:r>
          </a:p>
        </p:txBody>
      </p:sp>
      <p:sp>
        <p:nvSpPr>
          <p:cNvPr id="12" name="">
            <a:extLst xmlns:a="http://schemas.openxmlformats.org/drawingml/2006/main">
              <a:ext uri="{FF2B5EF4-FFF2-40B4-BE49-F238E27FC236}">
                <a16:creationId xmlns:a16="http://schemas.microsoft.com/office/drawing/2014/main" id="{E854677D-699A-4A25-8FA1-AD36EB0FA57A}"/>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D978BB6D-DA02-4E1D-BB46-885C9D138BD6}"/>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938A3C-5676-47FD-A8FA-6588F928B55E}"/>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3ED9CA8C-6086-41C4-9402-93F8923D0D1B}"/>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Logo variants and critique</a:t>
            </a:r>
          </a:p>
        </p:txBody>
      </p:sp>
      <p:sp>
        <p:nvSpPr>
          <p:cNvPr id="16" name="">
            <a:extLst xmlns:a="http://schemas.openxmlformats.org/drawingml/2006/main">
              <a:ext uri="{FF2B5EF4-FFF2-40B4-BE49-F238E27FC236}">
                <a16:creationId xmlns:a16="http://schemas.microsoft.com/office/drawing/2014/main" id="{58C8771F-A469-41D8-8E61-13FE06442853}"/>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1979A017-3854-45F0-8C8C-5F0B2E4FC20D}"/>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What must a logo still do when it becomes very small?</a:t>
            </a:r>
          </a:p>
        </p:txBody>
      </p:sp>
      <p:sp>
        <p:nvSpPr>
          <p:cNvPr id="18" name="">
            <a:extLst xmlns:a="http://schemas.openxmlformats.org/drawingml/2006/main">
              <a:ext uri="{FF2B5EF4-FFF2-40B4-BE49-F238E27FC236}">
                <a16:creationId xmlns:a16="http://schemas.microsoft.com/office/drawing/2014/main" id="{380CCDFA-7BFC-401D-ACA0-ADFECF9352D2}"/>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C134C35B-7436-4094-9B52-866DD7495954}"/>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03  •  LOGO SYSTEMS</a:t>
            </a:r>
          </a:p>
        </p:txBody>
      </p:sp>
      <p:sp>
        <p:nvSpPr>
          <p:cNvPr id="20" name="">
            <a:extLst xmlns:a="http://schemas.openxmlformats.org/drawingml/2006/main">
              <a:ext uri="{FF2B5EF4-FFF2-40B4-BE49-F238E27FC236}">
                <a16:creationId xmlns:a16="http://schemas.microsoft.com/office/drawing/2014/main" id="{FB4BFA81-6E5D-4C4E-B3F6-16855F6A3D9C}"/>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1363213874"/>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6EA625-3A43-4A36-AC4B-2A088AFA04C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F232D5-8D30-4995-93BD-9AC974AC413F}"/>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3.1  SYMBOLS AND RECOGNITION</a:t>
            </a:r>
          </a:p>
        </p:txBody>
      </p:sp>
      <p:sp>
        <p:nvSpPr>
          <p:cNvPr id="3" name="">
            <a:extLst xmlns:a="http://schemas.openxmlformats.org/drawingml/2006/main">
              <a:ext uri="{FF2B5EF4-FFF2-40B4-BE49-F238E27FC236}">
                <a16:creationId xmlns:a16="http://schemas.microsoft.com/office/drawing/2014/main" id="{6222C85A-AA0D-45CF-830A-D6A6C1AC88D7}"/>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Symbols and recognition</a:t>
            </a:r>
          </a:p>
        </p:txBody>
      </p:sp>
      <p:sp>
        <p:nvSpPr>
          <p:cNvPr id="4" name="">
            <a:extLst xmlns:a="http://schemas.openxmlformats.org/drawingml/2006/main">
              <a:ext uri="{FF2B5EF4-FFF2-40B4-BE49-F238E27FC236}">
                <a16:creationId xmlns:a16="http://schemas.microsoft.com/office/drawing/2014/main" id="{43FF0227-F73F-4901-B39E-1B2824D12978}"/>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03DA0675-BF39-4DF4-A9F4-90D0D62E8830}"/>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3FB246-F34F-43D0-A782-F12B96A53DE8}"/>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logo is an identifier, not a complete advertisement.</a:t>
            </a:r>
          </a:p>
        </p:txBody>
      </p:sp>
      <p:sp>
        <p:nvSpPr>
          <p:cNvPr id="7" name="">
            <a:extLst xmlns:a="http://schemas.openxmlformats.org/drawingml/2006/main">
              <a:ext uri="{FF2B5EF4-FFF2-40B4-BE49-F238E27FC236}">
                <a16:creationId xmlns:a16="http://schemas.microsoft.com/office/drawing/2014/main" id="{B26E0B93-E630-4FF5-A672-9E8BBBAF3827}"/>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4DD526-45FD-4E4D-AE54-330D3D9A07F0}"/>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Distinctiveness requires development beyond copying.</a:t>
            </a:r>
          </a:p>
        </p:txBody>
      </p:sp>
      <p:sp>
        <p:nvSpPr>
          <p:cNvPr id="9" name="">
            <a:extLst xmlns:a="http://schemas.openxmlformats.org/drawingml/2006/main">
              <a:ext uri="{FF2B5EF4-FFF2-40B4-BE49-F238E27FC236}">
                <a16:creationId xmlns:a16="http://schemas.microsoft.com/office/drawing/2014/main" id="{57CEDECD-F138-452D-B90B-B07C8B3D0C21}"/>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A90D4FD-FD5C-4115-A05A-B4ED72500F17}"/>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Recognition must be tested in context.</a:t>
            </a:r>
          </a:p>
        </p:txBody>
      </p:sp>
      <p:sp>
        <p:nvSpPr>
          <p:cNvPr id="11" name="">
            <a:extLst xmlns:a="http://schemas.openxmlformats.org/drawingml/2006/main">
              <a:ext uri="{FF2B5EF4-FFF2-40B4-BE49-F238E27FC236}">
                <a16:creationId xmlns:a16="http://schemas.microsoft.com/office/drawing/2014/main" id="{57177229-C404-42DF-BA95-229862372A0A}"/>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4" name="Logo Scale Context" title="Logo Scale Context" descr="Photographic takeaway mock-up showing the same black, orange and white geometric mark on a wall sign, cup and small app tile."/>
          <p:cNvPicPr>
            <a:picLocks xmlns:a="http://schemas.openxmlformats.org/drawingml/2006/main" noChangeAspect="1"/>
          </p:cNvPicPr>
          <p:nvPr/>
        </p:nvPicPr>
        <p:blipFill>
          <a:blip xmlns:r="http://schemas.openxmlformats.org/officeDocument/2006/relationships" xmlns:a="http://schemas.openxmlformats.org/drawingml/2006/main" r:embed="R468d15bbe2b94fb9"/>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2441EBD6-44F8-4473-BB69-D06313DE3587}"/>
              </a:ext>
            </a:extLst>
          </p:cNvPr>
          <p:cNvSpPr>
            <a:spLocks xmlns:a="http://schemas.openxmlformats.org/drawingml/2006/main" noGrp="1"/>
          </p:cNvSpPr>
          <p:nvPr/>
        </p:nvSpPr>
        <p:spPr>
          <a:xfrm xmlns:a="http://schemas.openxmlformats.org/drawingml/2006/main">
            <a:off x="7200900" y="381000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744"/>
          </a:bodyPr>
          <a:lstStyle xmlns:a="http://schemas.openxmlformats.org/drawingml/2006/main"/>
          <a:p xmlns:a="http://schemas.openxmlformats.org/drawingml/2006/main">
            <a:pPr algn="l">
              <a:defRPr sz="975" b="1">
                <a:solidFill>
                  <a:srgbClr val="17342C"/>
                </a:solidFill>
                <a:latin typeface="Arial"/>
                <a:ea typeface="Arial"/>
                <a:cs typeface="Arial"/>
              </a:defRPr>
            </a:pPr>
            <a:r>
              <a:rPr sz="975" b="1">
                <a:solidFill>
                  <a:srgbClr val="17342C"/>
                </a:solidFill>
                <a:latin typeface="Arial"/>
                <a:ea typeface="Arial"/>
                <a:cs typeface="Arial"/>
              </a:rPr>
              <a:t>The same fictional two-shape mark remains consistent on a large sign, medium cup and small app tile.</a:t>
            </a:r>
          </a:p>
        </p:txBody>
      </p:sp>
      <p:sp>
        <p:nvSpPr>
          <p:cNvPr id="14" name="">
            <a:extLst xmlns:a="http://schemas.openxmlformats.org/drawingml/2006/main">
              <a:ext uri="{FF2B5EF4-FFF2-40B4-BE49-F238E27FC236}">
                <a16:creationId xmlns:a16="http://schemas.microsoft.com/office/drawing/2014/main" id="{4454BD17-5A07-4033-9102-AE8BE6195067}"/>
              </a:ext>
            </a:extLst>
          </p:cNvPr>
          <p:cNvSpPr>
            <a:spLocks xmlns:a="http://schemas.openxmlformats.org/drawingml/2006/main" noGrp="1"/>
          </p:cNvSpPr>
          <p:nvPr/>
        </p:nvSpPr>
        <p:spPr>
          <a:xfrm xmlns:a="http://schemas.openxmlformats.org/drawingml/2006/main">
            <a:off x="7200900" y="4133850"/>
            <a:ext cx="4305300" cy="400050"/>
          </a:xfrm>
          <a:prstGeom xmlns:a="http://schemas.openxmlformats.org/drawingml/2006/main" prst="roundRect">
            <a:avLst>
              <a:gd name="adj" fmla="val 19048"/>
            </a:avLst>
          </a:prstGeom>
          <a:solidFill xmlns:a="http://schemas.openxmlformats.org/drawingml/2006/main">
            <a:srgbClr val="FCF4D8"/>
          </a:solidFill>
          <a:ln xmlns:a="http://schemas.openxmlformats.org/drawingml/2006/main" w="0">
            <a:noFill/>
            <a:prstDash val="solid"/>
          </a:ln>
        </p:spPr>
        <p:txBody>
          <a:bodyPr xmlns:a="http://schemas.openxmlformats.org/drawingml/2006/main" lIns="85725" tIns="47625" rIns="85725" bIns="47625" anchor="ctr">
            <a:normAutofit fontScale="87544"/>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Notice: Which details survive at the smallest size, and which extra detail would become a problem?</a:t>
            </a:r>
          </a:p>
        </p:txBody>
      </p:sp>
      <p:sp>
        <p:nvSpPr>
          <p:cNvPr id="15" name="">
            <a:extLst xmlns:a="http://schemas.openxmlformats.org/drawingml/2006/main">
              <a:ext uri="{FF2B5EF4-FFF2-40B4-BE49-F238E27FC236}">
                <a16:creationId xmlns:a16="http://schemas.microsoft.com/office/drawing/2014/main" id="{0C164830-B607-4139-BEB9-C549DD3049DA}"/>
              </a:ext>
            </a:extLst>
          </p:cNvPr>
          <p:cNvSpPr>
            <a:spLocks xmlns:a="http://schemas.openxmlformats.org/drawingml/2006/main" noGrp="1"/>
          </p:cNvSpPr>
          <p:nvPr/>
        </p:nvSpPr>
        <p:spPr>
          <a:xfrm xmlns:a="http://schemas.openxmlformats.org/drawingml/2006/main">
            <a:off x="7200900" y="4610100"/>
            <a:ext cx="1123950" cy="628650"/>
          </a:xfrm>
          <a:prstGeom xmlns:a="http://schemas.openxmlformats.org/drawingml/2006/main" prst="roundRect">
            <a:avLst>
              <a:gd name="adj" fmla="val 18182"/>
            </a:avLst>
          </a:prstGeom>
          <a:solidFill xmlns:a="http://schemas.openxmlformats.org/drawingml/2006/main">
            <a:srgbClr val="0C5554"/>
          </a:solidFill>
          <a:ln xmlns:a="http://schemas.openxmlformats.org/drawingml/2006/main" w="9525">
            <a:solidFill>
              <a:srgbClr val="CFD8D2"/>
            </a:solidFill>
            <a:prstDash val="solid"/>
          </a:ln>
        </p:spPr>
      </p:sp>
      <p:pic>
        <p:nvPicPr>
          <p:cNvPr id="38" name="Drive video poster — Creating a Logo in Canva Demo Video.mp4" title="Drive video poster — Creating a Logo in Canva Demo Video.mp4" descr="Custom privacy-safe poster for Creating a Logo in Canva Demo Video.mp4, duration 3:15. Ctrl+click the poster to open the authorised Drive video.">
            <a:hlinkClick xmlns:a="http://schemas.openxmlformats.org/drawingml/2006/main" xmlns:r="http://schemas.openxmlformats.org/officeDocument/2006/relationships" r:id="RStage07Hyperlink3_2"/>
          </p:cNvPr>
          <p:cNvPicPr>
            <a:picLocks xmlns:a="http://schemas.openxmlformats.org/drawingml/2006/main" noChangeAspect="1"/>
          </p:cNvPicPr>
          <p:nvPr/>
        </p:nvPicPr>
        <p:blipFill>
          <a:blip xmlns:r="http://schemas.openxmlformats.org/officeDocument/2006/relationships" xmlns:a="http://schemas.openxmlformats.org/drawingml/2006/main" r:embed="R2b54e96f2a9e4a5e"/>
          <a:stretch xmlns:a="http://schemas.openxmlformats.org/drawingml/2006/main"/>
        </p:blipFill>
        <p:spPr>
          <a:xfrm xmlns:a="http://schemas.openxmlformats.org/drawingml/2006/main">
            <a:off x="7204351" y="4610100"/>
            <a:ext cx="1117048" cy="628650"/>
          </a:xfrm>
          <a:prstGeom xmlns:a="http://schemas.openxmlformats.org/drawingml/2006/main" prst="roundRect">
            <a:avLst>
              <a:gd name="adj" fmla="val 18182"/>
            </a:avLst>
          </a:prstGeom>
        </p:spPr>
      </p:pic>
      <p:sp>
        <p:nvSpPr>
          <p:cNvPr id="17" name="">
            <a:extLst xmlns:a="http://schemas.openxmlformats.org/drawingml/2006/main">
              <a:ext uri="{FF2B5EF4-FFF2-40B4-BE49-F238E27FC236}">
                <a16:creationId xmlns:a16="http://schemas.microsoft.com/office/drawing/2014/main" id="{7CC7DC93-F2A4-4566-814B-8900A94305C3}"/>
              </a:ext>
            </a:extLst>
          </p:cNvPr>
          <p:cNvSpPr>
            <a:spLocks xmlns:a="http://schemas.openxmlformats.org/drawingml/2006/main" noGrp="1"/>
          </p:cNvSpPr>
          <p:nvPr/>
        </p:nvSpPr>
        <p:spPr>
          <a:xfrm xmlns:a="http://schemas.openxmlformats.org/drawingml/2006/main">
            <a:off x="8439150" y="4610100"/>
            <a:ext cx="3067050" cy="247650"/>
          </a:xfrm>
          <a:prstGeom xmlns:a="http://schemas.openxmlformats.org/drawingml/2006/main" prst="roundRect">
            <a:avLst>
              <a:gd name="adj" fmla="val 30769"/>
            </a:avLst>
          </a:prstGeom>
          <a:solidFill xmlns:a="http://schemas.openxmlformats.org/drawingml/2006/main">
            <a:srgbClr val="FCF4D8"/>
          </a:solidFill>
          <a:ln xmlns:a="http://schemas.openxmlformats.org/drawingml/2006/main" w="0">
            <a:no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defRPr sz="825" b="1">
                <a:solidFill>
                  <a:srgbClr val="0C5554"/>
                </a:solidFill>
                <a:latin typeface="Arial"/>
                <a:ea typeface="Arial"/>
                <a:cs typeface="Arial"/>
              </a:defRPr>
            </a:pPr>
            <a:r>
              <a:rPr sz="825" b="1">
                <a:solidFill>
                  <a:srgbClr val="0C5554"/>
                </a:solidFill>
                <a:latin typeface="Arial"/>
                <a:ea typeface="Arial"/>
                <a:cs typeface="Arial"/>
              </a:rPr>
              <a:t>TEACHER: CTRL+CLICK POSTER TO OPEN DRIVE  •  3:15</a:t>
            </a:r>
          </a:p>
        </p:txBody>
      </p:sp>
      <p:sp>
        <p:nvSpPr>
          <p:cNvPr id="18" name="">
            <a:extLst xmlns:a="http://schemas.openxmlformats.org/drawingml/2006/main">
              <a:ext uri="{FF2B5EF4-FFF2-40B4-BE49-F238E27FC236}">
                <a16:creationId xmlns:a16="http://schemas.microsoft.com/office/drawing/2014/main" id="{A7BD000E-7879-42A3-9B6D-42885B38F681}"/>
              </a:ext>
            </a:extLst>
          </p:cNvPr>
          <p:cNvSpPr>
            <a:spLocks xmlns:a="http://schemas.openxmlformats.org/drawingml/2006/main" noGrp="1"/>
          </p:cNvSpPr>
          <p:nvPr/>
        </p:nvSpPr>
        <p:spPr>
          <a:xfrm xmlns:a="http://schemas.openxmlformats.org/drawingml/2006/main">
            <a:off x="8439150" y="4895850"/>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333"/>
          </a:bodyPr>
          <a:lstStyle xmlns:a="http://schemas.openxmlformats.org/drawingml/2006/main"/>
          <a:p xmlns:a="http://schemas.openxmlformats.org/drawingml/2006/main">
            <a:pPr algn="l">
              <a:defRPr sz="900" b="1">
                <a:solidFill>
                  <a:srgbClr val="17342C"/>
                </a:solidFill>
                <a:latin typeface="Arial"/>
                <a:ea typeface="Arial"/>
                <a:cs typeface="Arial"/>
              </a:defRPr>
            </a:pPr>
            <a:r>
              <a:rPr sz="900" b="1">
                <a:solidFill>
                  <a:srgbClr val="17342C"/>
                </a:solidFill>
                <a:latin typeface="Arial"/>
                <a:ea typeface="Arial"/>
                <a:cs typeface="Arial"/>
              </a:rPr>
              <a:t>WATCH FOR: Which visible editing decision improves control or recognition, and when should you stop to test the mark at small size?</a:t>
            </a:r>
          </a:p>
        </p:txBody>
      </p:sp>
      <p:sp>
        <p:nvSpPr>
          <p:cNvPr id="19" name="">
            <a:extLst xmlns:a="http://schemas.openxmlformats.org/drawingml/2006/main">
              <a:ext uri="{FF2B5EF4-FFF2-40B4-BE49-F238E27FC236}">
                <a16:creationId xmlns:a16="http://schemas.microsoft.com/office/drawing/2014/main" id="{31BA43F9-7F58-44D1-9CAF-0F9011EA00B2}"/>
              </a:ext>
            </a:extLst>
          </p:cNvPr>
          <p:cNvSpPr>
            <a:spLocks xmlns:a="http://schemas.openxmlformats.org/drawingml/2006/main" noGrp="1"/>
          </p:cNvSpPr>
          <p:nvPr/>
        </p:nvSpPr>
        <p:spPr>
          <a:xfrm xmlns:a="http://schemas.openxmlformats.org/drawingml/2006/main">
            <a:off x="7200900" y="53149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0" name="">
            <a:extLst xmlns:a="http://schemas.openxmlformats.org/drawingml/2006/main">
              <a:ext uri="{FF2B5EF4-FFF2-40B4-BE49-F238E27FC236}">
                <a16:creationId xmlns:a16="http://schemas.microsoft.com/office/drawing/2014/main" id="{E77DE54A-D886-410D-823A-B358189EF0F9}"/>
              </a:ext>
            </a:extLst>
          </p:cNvPr>
          <p:cNvSpPr>
            <a:spLocks xmlns:a="http://schemas.openxmlformats.org/drawingml/2006/main" noGrp="1"/>
          </p:cNvSpPr>
          <p:nvPr/>
        </p:nvSpPr>
        <p:spPr>
          <a:xfrm xmlns:a="http://schemas.openxmlformats.org/drawingml/2006/main">
            <a:off x="7200900" y="5524500"/>
            <a:ext cx="4305300" cy="666750"/>
          </a:xfrm>
          <a:prstGeom xmlns:a="http://schemas.openxmlformats.org/drawingml/2006/main" prst="roundRect">
            <a:avLst>
              <a:gd name="adj" fmla="val 11429"/>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is a logo’s main role?</a:t>
            </a:r>
          </a:p>
        </p:txBody>
      </p:sp>
      <p:sp>
        <p:nvSpPr>
          <p:cNvPr id="21" name="">
            <a:extLst xmlns:a="http://schemas.openxmlformats.org/drawingml/2006/main">
              <a:ext uri="{FF2B5EF4-FFF2-40B4-BE49-F238E27FC236}">
                <a16:creationId xmlns:a16="http://schemas.microsoft.com/office/drawing/2014/main" id="{31ABE89D-4A57-4B92-BC54-2701BE3A3DCC}"/>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03  •  LOGO SYSTEMS</a:t>
            </a:r>
          </a:p>
        </p:txBody>
      </p:sp>
      <p:sp>
        <p:nvSpPr>
          <p:cNvPr id="22" name="">
            <a:extLst xmlns:a="http://schemas.openxmlformats.org/drawingml/2006/main">
              <a:ext uri="{FF2B5EF4-FFF2-40B4-BE49-F238E27FC236}">
                <a16:creationId xmlns:a16="http://schemas.microsoft.com/office/drawing/2014/main" id="{128B9E66-6320-4747-9B6B-6DA9F9CA5E1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727959889"/>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CE1EED-5F42-4C89-8AC6-01C23559740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AD49B8-35D5-4699-AA82-66E48A9D458E}"/>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3.2  SCALE, CONTRAST AND SIMPLICITY</a:t>
            </a:r>
          </a:p>
        </p:txBody>
      </p:sp>
      <p:sp>
        <p:nvSpPr>
          <p:cNvPr id="3" name="">
            <a:extLst xmlns:a="http://schemas.openxmlformats.org/drawingml/2006/main">
              <a:ext uri="{FF2B5EF4-FFF2-40B4-BE49-F238E27FC236}">
                <a16:creationId xmlns:a16="http://schemas.microsoft.com/office/drawing/2014/main" id="{C9506B12-881D-4D09-90FD-08CC4B8122C6}"/>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Scale, contrast and simplicity</a:t>
            </a:r>
          </a:p>
        </p:txBody>
      </p:sp>
      <p:sp>
        <p:nvSpPr>
          <p:cNvPr id="4" name="">
            <a:extLst xmlns:a="http://schemas.openxmlformats.org/drawingml/2006/main">
              <a:ext uri="{FF2B5EF4-FFF2-40B4-BE49-F238E27FC236}">
                <a16:creationId xmlns:a16="http://schemas.microsoft.com/office/drawing/2014/main" id="{58F2DCA7-2466-49FB-B38C-B906C7B91C60}"/>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C3C61185-64CE-45E7-B070-740CC389C84B}"/>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D572E0-DD75-4694-AEBE-8D38A34F18D3}"/>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Realistic-size tests expose lost detail.</a:t>
            </a:r>
          </a:p>
        </p:txBody>
      </p:sp>
      <p:sp>
        <p:nvSpPr>
          <p:cNvPr id="7" name="">
            <a:extLst xmlns:a="http://schemas.openxmlformats.org/drawingml/2006/main">
              <a:ext uri="{FF2B5EF4-FFF2-40B4-BE49-F238E27FC236}">
                <a16:creationId xmlns:a16="http://schemas.microsoft.com/office/drawing/2014/main" id="{6CF825A1-D659-499F-A70A-7D62FB7BE90D}"/>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207F370-7D68-49A8-B598-30D1B76472B8}"/>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one-colour test checks identifying structure.</a:t>
            </a:r>
          </a:p>
        </p:txBody>
      </p:sp>
      <p:sp>
        <p:nvSpPr>
          <p:cNvPr id="9" name="">
            <a:extLst xmlns:a="http://schemas.openxmlformats.org/drawingml/2006/main">
              <a:ext uri="{FF2B5EF4-FFF2-40B4-BE49-F238E27FC236}">
                <a16:creationId xmlns:a16="http://schemas.microsoft.com/office/drawing/2014/main" id="{248E5B16-50B7-444F-A49F-15C83F61A202}"/>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5AD3F0-8584-458B-AF78-C0F10F0F2711}"/>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Variants preserve a recognisable core.</a:t>
            </a:r>
          </a:p>
        </p:txBody>
      </p:sp>
      <p:sp>
        <p:nvSpPr>
          <p:cNvPr id="11" name="">
            <a:extLst xmlns:a="http://schemas.openxmlformats.org/drawingml/2006/main">
              <a:ext uri="{FF2B5EF4-FFF2-40B4-BE49-F238E27FC236}">
                <a16:creationId xmlns:a16="http://schemas.microsoft.com/office/drawing/2014/main" id="{FE54CB03-3DE3-41AE-938B-2FACCDDCFF32}"/>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Logo Simplicity Test" title="Logo Simplicity Test" descr="Design desk with one abstract logo concept repeated as progressively simpler and smaller physical proofs."/>
          <p:cNvPicPr>
            <a:picLocks xmlns:a="http://schemas.openxmlformats.org/drawingml/2006/main" noChangeAspect="1"/>
          </p:cNvPicPr>
          <p:nvPr/>
        </p:nvPicPr>
        <p:blipFill>
          <a:blip xmlns:r="http://schemas.openxmlformats.org/officeDocument/2006/relationships" xmlns:a="http://schemas.openxmlformats.org/drawingml/2006/main" r:embed="Rc58b036f8f9f424e"/>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59304D9A-DB39-433B-B425-EB778D63192E}"/>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A logo earns simplicity when its recognisable core survives reduction and small-scale use.</a:t>
            </a:r>
          </a:p>
        </p:txBody>
      </p:sp>
      <p:sp>
        <p:nvSpPr>
          <p:cNvPr id="14" name="">
            <a:extLst xmlns:a="http://schemas.openxmlformats.org/drawingml/2006/main">
              <a:ext uri="{FF2B5EF4-FFF2-40B4-BE49-F238E27FC236}">
                <a16:creationId xmlns:a16="http://schemas.microsoft.com/office/drawing/2014/main" id="{CDFEB25A-6397-418F-A0C6-7EC5FF0F5147}"/>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Which details disappear first, and which shape still carries recognition?</a:t>
            </a:r>
          </a:p>
        </p:txBody>
      </p:sp>
      <p:sp>
        <p:nvSpPr>
          <p:cNvPr id="15" name="">
            <a:extLst xmlns:a="http://schemas.openxmlformats.org/drawingml/2006/main">
              <a:ext uri="{FF2B5EF4-FFF2-40B4-BE49-F238E27FC236}">
                <a16:creationId xmlns:a16="http://schemas.microsoft.com/office/drawing/2014/main" id="{EDE4F895-7E7E-4D0A-8577-29606B841DD7}"/>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A97DCEB9-8E25-47A9-8123-30DC84338D8C}"/>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does a small-size test reveal?</a:t>
            </a:r>
          </a:p>
        </p:txBody>
      </p:sp>
      <p:sp>
        <p:nvSpPr>
          <p:cNvPr id="17" name="">
            <a:extLst xmlns:a="http://schemas.openxmlformats.org/drawingml/2006/main">
              <a:ext uri="{FF2B5EF4-FFF2-40B4-BE49-F238E27FC236}">
                <a16:creationId xmlns:a16="http://schemas.microsoft.com/office/drawing/2014/main" id="{3000B773-5A68-4274-8191-255951196320}"/>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03  •  LOGO SYSTEMS</a:t>
            </a:r>
          </a:p>
        </p:txBody>
      </p:sp>
      <p:sp>
        <p:nvSpPr>
          <p:cNvPr id="18" name="">
            <a:extLst xmlns:a="http://schemas.openxmlformats.org/drawingml/2006/main">
              <a:ext uri="{FF2B5EF4-FFF2-40B4-BE49-F238E27FC236}">
                <a16:creationId xmlns:a16="http://schemas.microsoft.com/office/drawing/2014/main" id="{3189F3F7-146F-4196-8051-BC6B3B90F905}"/>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1263115106"/>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F6C9420-AE46-4A53-949B-0DC8239C163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48B894-C5D0-4DF2-AB48-D11BCB850B97}"/>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3.3  LOGO VARIANTS AND CRITIQUE</a:t>
            </a:r>
          </a:p>
        </p:txBody>
      </p:sp>
      <p:sp>
        <p:nvSpPr>
          <p:cNvPr id="3" name="">
            <a:extLst xmlns:a="http://schemas.openxmlformats.org/drawingml/2006/main">
              <a:ext uri="{FF2B5EF4-FFF2-40B4-BE49-F238E27FC236}">
                <a16:creationId xmlns:a16="http://schemas.microsoft.com/office/drawing/2014/main" id="{2F58829F-EA15-4C2B-8640-BF3AB68592ED}"/>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Logo variants and critique</a:t>
            </a:r>
          </a:p>
        </p:txBody>
      </p:sp>
      <p:sp>
        <p:nvSpPr>
          <p:cNvPr id="4" name="">
            <a:extLst xmlns:a="http://schemas.openxmlformats.org/drawingml/2006/main">
              <a:ext uri="{FF2B5EF4-FFF2-40B4-BE49-F238E27FC236}">
                <a16:creationId xmlns:a16="http://schemas.microsoft.com/office/drawing/2014/main" id="{01B5D33A-B1D8-46C5-9E1C-7816FFDB9681}"/>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0597138F-7636-4EBB-A9C5-DFD8BB254CD6}"/>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EC436D-CEB9-4347-A38B-E4952C8B1C2C}"/>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Variants adapt while preserving a core.</a:t>
            </a:r>
          </a:p>
        </p:txBody>
      </p:sp>
      <p:sp>
        <p:nvSpPr>
          <p:cNvPr id="7" name="">
            <a:extLst xmlns:a="http://schemas.openxmlformats.org/drawingml/2006/main">
              <a:ext uri="{FF2B5EF4-FFF2-40B4-BE49-F238E27FC236}">
                <a16:creationId xmlns:a16="http://schemas.microsoft.com/office/drawing/2014/main" id="{658A614B-CE50-46A2-AE0A-3D1F44753469}"/>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662FB4-7A08-4DF7-8FE6-4399E0BDD7D6}"/>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Feedback needs evidence, a criterion and useful action.</a:t>
            </a:r>
          </a:p>
        </p:txBody>
      </p:sp>
      <p:sp>
        <p:nvSpPr>
          <p:cNvPr id="9" name="">
            <a:extLst xmlns:a="http://schemas.openxmlformats.org/drawingml/2006/main">
              <a:ext uri="{FF2B5EF4-FFF2-40B4-BE49-F238E27FC236}">
                <a16:creationId xmlns:a16="http://schemas.microsoft.com/office/drawing/2014/main" id="{AA0694F4-C48D-4A23-8998-EA465D94D2FC}"/>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222D0E-15A5-46E3-B1B1-969B760A9312}"/>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The designer decides how feedback serves the brief.</a:t>
            </a:r>
          </a:p>
        </p:txBody>
      </p:sp>
      <p:sp>
        <p:nvSpPr>
          <p:cNvPr id="11" name="">
            <a:extLst xmlns:a="http://schemas.openxmlformats.org/drawingml/2006/main">
              <a:ext uri="{FF2B5EF4-FFF2-40B4-BE49-F238E27FC236}">
                <a16:creationId xmlns:a16="http://schemas.microsoft.com/office/drawing/2014/main" id="{C658DA83-89DA-4DD6-91FD-3016902962D6}"/>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Logo Variant System" title="Logo Variant System" descr="Studio board displaying a coherent family of abstract stacked, horizontal and icon logo variants on blank applications."/>
          <p:cNvPicPr>
            <a:picLocks xmlns:a="http://schemas.openxmlformats.org/drawingml/2006/main" noChangeAspect="1"/>
          </p:cNvPicPr>
          <p:nvPr/>
        </p:nvPicPr>
        <p:blipFill>
          <a:blip xmlns:r="http://schemas.openxmlformats.org/officeDocument/2006/relationships" xmlns:a="http://schemas.openxmlformats.org/drawingml/2006/main" r:embed="R5127a84f496d4e83"/>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C8B919EA-5EE0-4B98-9B6E-16A3C897E7B0}"/>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Controlled variants adapt one identity without losing its core shape and colour relationships.</a:t>
            </a:r>
          </a:p>
        </p:txBody>
      </p:sp>
      <p:sp>
        <p:nvSpPr>
          <p:cNvPr id="14" name="">
            <a:extLst xmlns:a="http://schemas.openxmlformats.org/drawingml/2006/main">
              <a:ext uri="{FF2B5EF4-FFF2-40B4-BE49-F238E27FC236}">
                <a16:creationId xmlns:a16="http://schemas.microsoft.com/office/drawing/2014/main" id="{20CE4286-4E5D-41A2-A1DA-13990EBD8F82}"/>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Find the elements that stay stable across the stacked, horizontal and icon applications.</a:t>
            </a:r>
          </a:p>
        </p:txBody>
      </p:sp>
      <p:sp>
        <p:nvSpPr>
          <p:cNvPr id="15" name="">
            <a:extLst xmlns:a="http://schemas.openxmlformats.org/drawingml/2006/main">
              <a:ext uri="{FF2B5EF4-FFF2-40B4-BE49-F238E27FC236}">
                <a16:creationId xmlns:a16="http://schemas.microsoft.com/office/drawing/2014/main" id="{6FC1FDD3-6B8E-40C2-A1DB-F36A270873AA}"/>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57240B62-B001-45C9-8C89-FE2F7754754C}"/>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makes variants a coherent family?</a:t>
            </a:r>
          </a:p>
        </p:txBody>
      </p:sp>
      <p:sp>
        <p:nvSpPr>
          <p:cNvPr id="17" name="">
            <a:extLst xmlns:a="http://schemas.openxmlformats.org/drawingml/2006/main">
              <a:ext uri="{FF2B5EF4-FFF2-40B4-BE49-F238E27FC236}">
                <a16:creationId xmlns:a16="http://schemas.microsoft.com/office/drawing/2014/main" id="{CB1C044F-76C0-4428-B038-BC9AD123704B}"/>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03  •  LOGO SYSTEMS</a:t>
            </a:r>
          </a:p>
        </p:txBody>
      </p:sp>
      <p:sp>
        <p:nvSpPr>
          <p:cNvPr id="18" name="">
            <a:extLst xmlns:a="http://schemas.openxmlformats.org/drawingml/2006/main">
              <a:ext uri="{FF2B5EF4-FFF2-40B4-BE49-F238E27FC236}">
                <a16:creationId xmlns:a16="http://schemas.microsoft.com/office/drawing/2014/main" id="{6FB1F32A-24F4-436D-A734-7DD4866D8AB3}"/>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79395529"/>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79AA7D-442C-4EA0-8FDD-ACDA011BBD6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C89DAF-8C13-4B31-8BF0-21F025785478}"/>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05720C51-D76B-41DE-AE01-F559ADDB1DBF}"/>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54B54B5C-51B0-4276-B144-10204F6C2B98}"/>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31DA4C3A-5C1E-432B-9E98-254CE7C32DB9}"/>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5D78600D-E7A0-489D-9EFB-558B373FCEB4}"/>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88C0A95F-8AB7-4139-AC4D-D6E994E0072D}"/>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is a logo’s main role?</a:t>
            </a:r>
          </a:p>
        </p:txBody>
      </p:sp>
      <p:sp>
        <p:nvSpPr>
          <p:cNvPr id="8" name="">
            <a:extLst xmlns:a="http://schemas.openxmlformats.org/drawingml/2006/main">
              <a:ext uri="{FF2B5EF4-FFF2-40B4-BE49-F238E27FC236}">
                <a16:creationId xmlns:a16="http://schemas.microsoft.com/office/drawing/2014/main" id="{0710D671-9D21-4802-8FC6-7D1F26408627}"/>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CC49854C-86A0-4C48-9B72-DEAC4AC708F0}"/>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4E5C3736-124C-4C2C-B57F-45E428B4FF02}"/>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does a small-size test reveal?</a:t>
            </a:r>
          </a:p>
        </p:txBody>
      </p:sp>
      <p:sp>
        <p:nvSpPr>
          <p:cNvPr id="11" name="">
            <a:extLst xmlns:a="http://schemas.openxmlformats.org/drawingml/2006/main">
              <a:ext uri="{FF2B5EF4-FFF2-40B4-BE49-F238E27FC236}">
                <a16:creationId xmlns:a16="http://schemas.microsoft.com/office/drawing/2014/main" id="{B5AF223D-5C8E-4884-A882-82BC8D0CE428}"/>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DCD5F0E4-19B6-4FDF-8680-6D2844F78A05}"/>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EC50CDA8-3AEE-4551-8887-04D9E13B6E8B}"/>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makes variants a coherent family?</a:t>
            </a:r>
          </a:p>
        </p:txBody>
      </p:sp>
      <p:sp>
        <p:nvSpPr>
          <p:cNvPr id="14" name="">
            <a:extLst xmlns:a="http://schemas.openxmlformats.org/drawingml/2006/main">
              <a:ext uri="{FF2B5EF4-FFF2-40B4-BE49-F238E27FC236}">
                <a16:creationId xmlns:a16="http://schemas.microsoft.com/office/drawing/2014/main" id="{5319ECFA-EA3A-4EB2-AC56-CC939C4DA189}"/>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03  •  LOGO SYSTEMS</a:t>
            </a:r>
          </a:p>
        </p:txBody>
      </p:sp>
      <p:sp>
        <p:nvSpPr>
          <p:cNvPr id="15" name="">
            <a:extLst xmlns:a="http://schemas.openxmlformats.org/drawingml/2006/main">
              <a:ext uri="{FF2B5EF4-FFF2-40B4-BE49-F238E27FC236}">
                <a16:creationId xmlns:a16="http://schemas.microsoft.com/office/drawing/2014/main" id="{BABD84DB-8946-4F33-8AB3-35E6B2965F20}"/>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1316066306"/>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D8F1B93-D734-4216-81B5-5B331ADD40A0}"/>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3AF10ED4-64A6-4FB3-BE72-4342F4BD7CDC}"/>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5859C702-465D-492E-A23A-723A5FE8DE98}"/>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FEA47506-EF89-46DC-9EE2-919B34C162D2}"/>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BA2870-6602-448E-8150-EFCF26C9A7D5}"/>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59A4C8E1-B548-4AB2-99E4-02D9D61636F3}"/>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Compare two logo concepts, select one with evidence and plan controlled variants that preserve the same recognisable core.</a:t>
            </a:r>
          </a:p>
        </p:txBody>
      </p:sp>
      <p:sp>
        <p:nvSpPr>
          <p:cNvPr id="7" name="">
            <a:extLst xmlns:a="http://schemas.openxmlformats.org/drawingml/2006/main">
              <a:ext uri="{FF2B5EF4-FFF2-40B4-BE49-F238E27FC236}">
                <a16:creationId xmlns:a16="http://schemas.microsoft.com/office/drawing/2014/main" id="{B46D0269-2E3F-4786-A9AB-00F0D19ADA56}"/>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27B21903-CF74-4D68-8658-4D4BF0711411}"/>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8671A7E-D661-4256-AC83-9A7DE3D6FAD5}"/>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Explain the identifying idea</a:t>
            </a:r>
          </a:p>
        </p:txBody>
      </p:sp>
      <p:sp>
        <p:nvSpPr>
          <p:cNvPr id="10" name="">
            <a:extLst xmlns:a="http://schemas.openxmlformats.org/drawingml/2006/main">
              <a:ext uri="{FF2B5EF4-FFF2-40B4-BE49-F238E27FC236}">
                <a16:creationId xmlns:a16="http://schemas.microsoft.com/office/drawing/2014/main" id="{0B7B125A-398A-4505-BD26-F5D7E2FEDF44}"/>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79A9876-71BF-417E-A901-A09D50F5AC84}"/>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Test scale and contrast</a:t>
            </a:r>
          </a:p>
        </p:txBody>
      </p:sp>
      <p:sp>
        <p:nvSpPr>
          <p:cNvPr id="12" name="">
            <a:extLst xmlns:a="http://schemas.openxmlformats.org/drawingml/2006/main">
              <a:ext uri="{FF2B5EF4-FFF2-40B4-BE49-F238E27FC236}">
                <a16:creationId xmlns:a16="http://schemas.microsoft.com/office/drawing/2014/main" id="{4B83863B-F6B5-4498-800C-DB8542A01970}"/>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B16538-0E0C-48D9-BD9B-53B69D93075E}"/>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Use critique against criteria</a:t>
            </a:r>
          </a:p>
        </p:txBody>
      </p:sp>
      <p:sp>
        <p:nvSpPr>
          <p:cNvPr id="14" name="">
            <a:extLst xmlns:a="http://schemas.openxmlformats.org/drawingml/2006/main">
              <a:ext uri="{FF2B5EF4-FFF2-40B4-BE49-F238E27FC236}">
                <a16:creationId xmlns:a16="http://schemas.microsoft.com/office/drawing/2014/main" id="{68EEEABA-221F-42CA-A8AC-D4FB4252E95A}"/>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C131981-BF48-4651-9661-C1B8CD701FF0}"/>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2A638F3F-2773-40C0-AE03-3AFA8835BF96}"/>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B87FF816-43EF-4507-97FF-853ED6C11C35}"/>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B90D418-EB91-4735-80F5-4F223DBAF5E9}"/>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34931A72-7387-41EB-9256-58D4B0AC031C}"/>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D8AA91BF-7CA5-410F-985C-1D1CD521A479}"/>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63B8C4D-9394-43B0-90DF-215EF96C211E}"/>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89CEBFD9-CA57-48C4-850B-43343CA0B403}"/>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7CB0BC72-41D1-4962-B509-2324BC4042AE}"/>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Concept… is stronger because… The core feature I will preserve is…</a:t>
            </a:r>
          </a:p>
        </p:txBody>
      </p:sp>
      <p:sp>
        <p:nvSpPr>
          <p:cNvPr id="24" name="">
            <a:extLst xmlns:a="http://schemas.openxmlformats.org/drawingml/2006/main">
              <a:ext uri="{FF2B5EF4-FFF2-40B4-BE49-F238E27FC236}">
                <a16:creationId xmlns:a16="http://schemas.microsoft.com/office/drawing/2014/main" id="{DB3D605A-7DB3-408B-9BA6-D2749F5D7AB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03  •  LOGO SYSTEMS</a:t>
            </a:r>
          </a:p>
        </p:txBody>
      </p:sp>
      <p:sp>
        <p:nvSpPr>
          <p:cNvPr id="25" name="">
            <a:extLst xmlns:a="http://schemas.openxmlformats.org/drawingml/2006/main">
              <a:ext uri="{FF2B5EF4-FFF2-40B4-BE49-F238E27FC236}">
                <a16:creationId xmlns:a16="http://schemas.microsoft.com/office/drawing/2014/main" id="{63A23B2E-450E-47C1-9509-164DF1BF560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429063334"/>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E60B26-B3A2-4CCC-8804-7B5FCA0C077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FF91AA-FF1F-4F8C-95EC-10027BC6DE3B}"/>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293F87D2-C2B3-4E00-A3D0-BE47465A85CD}"/>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E25F1316-9E4B-4CF6-92AF-219BBD8517E5}"/>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8D6841F0-43D6-4963-9D71-DCD535209A07}"/>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122EEABB-E1A5-4FB2-AFD1-54BD26637E50}"/>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7115A7-9575-41FB-A907-3D61329764B1}"/>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DABBDE21-E29E-4A71-A6AA-E151F8CFEF2F}"/>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60AB0260-5BA0-4C46-BC20-30849D222E57}"/>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03  •  LOGO SYSTEMS</a:t>
            </a:r>
          </a:p>
        </p:txBody>
      </p:sp>
      <p:sp>
        <p:nvSpPr>
          <p:cNvPr id="10" name="">
            <a:extLst xmlns:a="http://schemas.openxmlformats.org/drawingml/2006/main">
              <a:ext uri="{FF2B5EF4-FFF2-40B4-BE49-F238E27FC236}">
                <a16:creationId xmlns:a16="http://schemas.microsoft.com/office/drawing/2014/main" id="{237A4216-6237-44B5-A104-D928EE377C75}"/>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1604496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2026-08-24T09:10:22.6790000Z</dcterms:created>
  <dcterms:modified xsi:type="dcterms:W3CDTF">2026-08-24T09:10:22.6790000Z</dcterms:modified>
</coreProperties>
</file>