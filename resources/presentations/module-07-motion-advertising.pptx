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1ed827aa3b43a6" /><Relationship Type="http://schemas.openxmlformats.org/officeDocument/2006/relationships/extended-properties" Target="/docProps/app.xml" Id="R5d8631f3a9f14a61" /><Relationship Type="http://schemas.openxmlformats.org/officeDocument/2006/relationships/officeDocument" Target="/ppt/presentation.xml" Id="R748c2026ad5a45ec" /></Relationships>
</file>

<file path=ppt/presentation.xml><?xml version="1.0" encoding="utf-8"?>
<p:presentation xmlns:p="http://schemas.openxmlformats.org/presentationml/2006/main">
  <p:sldMasterIdLst>
    <p:sldMasterId xmlns:r="http://schemas.openxmlformats.org/officeDocument/2006/relationships" id="2147483648" r:id="R4a9e7fd9c5694746"/>
  </p:sldMasterIdLst>
  <p:notesMasterIdLst>
    <p:notesMasterId xmlns:r="http://schemas.openxmlformats.org/officeDocument/2006/relationships" r:id="R3b0bf567369843cb"/>
  </p:notesMasterIdLst>
  <p:sldIdLst>
    <p:sldId xmlns:r="http://schemas.openxmlformats.org/officeDocument/2006/relationships" id="256" r:id="Rb1985bba443b42f6"/>
    <p:sldId xmlns:r="http://schemas.openxmlformats.org/officeDocument/2006/relationships" id="257" r:id="Rf02c602916724fbe"/>
    <p:sldId xmlns:r="http://schemas.openxmlformats.org/officeDocument/2006/relationships" id="258" r:id="R5e93a6c03a3f4a5e"/>
    <p:sldId xmlns:r="http://schemas.openxmlformats.org/officeDocument/2006/relationships" id="259" r:id="R8b64b4dce2b84ff5"/>
    <p:sldId xmlns:r="http://schemas.openxmlformats.org/officeDocument/2006/relationships" id="260" r:id="R9dad29b6d7114d3f"/>
    <p:sldId xmlns:r="http://schemas.openxmlformats.org/officeDocument/2006/relationships" id="261" r:id="R5488d9f061be43b9"/>
    <p:sldId xmlns:r="http://schemas.openxmlformats.org/officeDocument/2006/relationships" id="262" r:id="Rcd146643a1b54e0e"/>
    <p:sldId xmlns:r="http://schemas.openxmlformats.org/officeDocument/2006/relationships" id="263" r:id="R594af970e09e42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936d55a6e944a0" /><Relationship Type="http://schemas.openxmlformats.org/officeDocument/2006/relationships/slideMaster" Target="/ppt/slideMasters/slideMaster1.xml" Id="R4a9e7fd9c5694746" /><Relationship Type="http://schemas.openxmlformats.org/officeDocument/2006/relationships/notesMaster" Target="/ppt/notesMasters/notesMaster1.xml" Id="R3b0bf567369843cb" /><Relationship Type="http://schemas.openxmlformats.org/officeDocument/2006/relationships/presProps" Target="/ppt/presProps.xml" Id="Rfb93de7e5bbc4327" /><Relationship Type="http://schemas.openxmlformats.org/officeDocument/2006/relationships/tableStyles" Target="/ppt/tableStyles.xml" Id="Rbcaa2230f7284155" /><Relationship Type="http://schemas.openxmlformats.org/officeDocument/2006/relationships/slide" Target="/ppt/slides/slide1.xml" Id="Rb1985bba443b42f6" /><Relationship Type="http://schemas.openxmlformats.org/officeDocument/2006/relationships/slide" Target="/ppt/slides/slide2.xml" Id="Rf02c602916724fbe" /><Relationship Type="http://schemas.openxmlformats.org/officeDocument/2006/relationships/slide" Target="/ppt/slides/slide3.xml" Id="R5e93a6c03a3f4a5e" /><Relationship Type="http://schemas.openxmlformats.org/officeDocument/2006/relationships/slide" Target="/ppt/slides/slide4.xml" Id="R8b64b4dce2b84ff5" /><Relationship Type="http://schemas.openxmlformats.org/officeDocument/2006/relationships/slide" Target="/ppt/slides/slide5.xml" Id="R9dad29b6d7114d3f" /><Relationship Type="http://schemas.openxmlformats.org/officeDocument/2006/relationships/slide" Target="/ppt/slides/slide6.xml" Id="R5488d9f061be43b9" /><Relationship Type="http://schemas.openxmlformats.org/officeDocument/2006/relationships/slide" Target="/ppt/slides/slide7.xml" Id="Rcd146643a1b54e0e" /><Relationship Type="http://schemas.openxmlformats.org/officeDocument/2006/relationships/slide" Target="/ppt/slides/slide8.xml" Id="R594af970e09e42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46d90d64a041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efb07998c64da3" /><Relationship Type="http://schemas.openxmlformats.org/officeDocument/2006/relationships/notesMaster" Target="/ppt/notesMasters/notesMaster1.xml" Id="R8dbb1c7f30c245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f923f4676e48d5" /><Relationship Type="http://schemas.openxmlformats.org/officeDocument/2006/relationships/notesMaster" Target="/ppt/notesMasters/notesMaster1.xml" Id="R5b38b0c9df054a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38a14ad2a54393" /><Relationship Type="http://schemas.openxmlformats.org/officeDocument/2006/relationships/notesMaster" Target="/ppt/notesMasters/notesMaster1.xml" Id="Rdc4ab67b27e142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b789f6074b44e5" /><Relationship Type="http://schemas.openxmlformats.org/officeDocument/2006/relationships/notesMaster" Target="/ppt/notesMasters/notesMaster1.xml" Id="R82c5145c095a49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d982b8c4c64ee0" /><Relationship Type="http://schemas.openxmlformats.org/officeDocument/2006/relationships/notesMaster" Target="/ppt/notesMasters/notesMaster1.xml" Id="Ra4cee9cab3bf47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b5cbe27ed9462a" /><Relationship Type="http://schemas.openxmlformats.org/officeDocument/2006/relationships/notesMaster" Target="/ppt/notesMasters/notesMaster1.xml" Id="R2ba7d8fa61b642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80cc5d667a47c6" /><Relationship Type="http://schemas.openxmlformats.org/officeDocument/2006/relationships/notesMaster" Target="/ppt/notesMasters/notesMaster1.xml" Id="R7304161f964048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c6226bab51d416b" /><Relationship Type="http://schemas.openxmlformats.org/officeDocument/2006/relationships/notesMaster" Target="/ppt/notesMasters/notesMaster1.xml" Id="R5f5af4876c1146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Introduce the module as one connected learning package, not a list of software clicks.</a:t>
            </a:r>
          </a:p>
          <a:p xmlns:a="http://schemas.openxmlformats.org/drawingml/2006/main">
            <a:r>
              <a:t>State the outcome: Plan, animate and export a Match and Move advertisement.</a:t>
            </a:r>
          </a:p>
          <a:p xmlns:a="http://schemas.openxmlformats.org/drawingml/2006/main">
            <a:r>
              <a:t>Prompt: What needs to stay connected when one visual state changes into another?</a:t>
            </a:r>
          </a:p>
          <a:p xmlns:a="http://schemas.openxmlformats.org/drawingml/2006/main">
            <a:r>
              <a:t>Listen for a purposeful link to audience, evidence or communication.</a:t>
            </a:r>
          </a:p>
          <a:p xmlns:a="http://schemas.openxmlformats.org/drawingml/2006/main">
            <a:r>
              <a:t>Transition: Preview the three named sections on the next slide.</a:t>
            </a:r>
          </a:p>
          <a:p xmlns:a="http://schemas.openxmlformats.org/drawingml/2006/main">
            <a:r>
              <a:t/>
            </a:r>
          </a:p>
          <a:p xmlns:a="http://schemas.openxmlformats.org/drawingml/2006/main">
            <a:r>
              <a:t>[Sources]</a:t>
            </a:r>
          </a:p>
          <a:p xmlns:a="http://schemas.openxmlformats.org/drawingml/2006/main">
            <a:r>
              <a:t>- Course sequence: data/course-map.js, Module 7.</a:t>
            </a:r>
          </a:p>
          <a:p xmlns:a="http://schemas.openxmlformats.org/drawingml/2006/main">
            <a:r>
              <a:t>- Theory: data/course-content.js, m07-s01, m07-s02, m07-s03.</a:t>
            </a:r>
          </a:p>
          <a:p xmlns:a="http://schemas.openxmlformats.org/drawingml/2006/main">
            <a:r>
              <a:t>- Drive video poster: assets/video-posters/match-and-move-demo.svg.</a:t>
            </a:r>
          </a:p>
          <a:p xmlns:a="http://schemas.openxmlformats.org/drawingml/2006/main">
            <a:r>
              <a:t>- Google Drive source: Match and Move.mp4, Drive ID 1yRWtqn_jBI_IyJRJ8yyJ3KL1Fp1L8vgt.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Read the three section titles aloud and explain how each one prepares the next.</a:t>
            </a:r>
          </a:p>
          <a:p xmlns:a="http://schemas.openxmlformats.org/drawingml/2006/main">
            <a:r>
              <a:t>Warm-up: What needs to stay connected when one visual state changes into another?</a:t>
            </a:r>
          </a:p>
          <a:p xmlns:a="http://schemas.openxmlformats.org/drawingml/2006/main">
            <a:r>
              <a:t>Give silent thinking time before pair discussion.</a:t>
            </a:r>
          </a:p>
          <a:p xmlns:a="http://schemas.openxmlformats.org/drawingml/2006/main">
            <a:r>
              <a:t>Listen for: a reason, not only a preference.</a:t>
            </a:r>
          </a:p>
          <a:p xmlns:a="http://schemas.openxmlformats.org/drawingml/2006/main">
            <a:r>
              <a:t>Transition: Start with Frames, states and transitions.</a:t>
            </a:r>
          </a:p>
          <a:p xmlns:a="http://schemas.openxmlformats.org/drawingml/2006/main">
            <a:r>
              <a:t/>
            </a:r>
          </a:p>
          <a:p xmlns:a="http://schemas.openxmlformats.org/drawingml/2006/main">
            <a:r>
              <a:t>[Sources]</a:t>
            </a:r>
          </a:p>
          <a:p xmlns:a="http://schemas.openxmlformats.org/drawingml/2006/main">
            <a:r>
              <a:t>- Theory sequence: data/course-content.js, m07-s01, m07-s02, m07-s03.</a:t>
            </a:r>
          </a:p>
          <a:p xmlns:a="http://schemas.openxmlformats.org/drawingml/2006/main">
            <a:r>
              <a:t>- Module summary: data/course-map.js, Module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Plan motion as a purposeful change between visual states rather than movement added for decoration.</a:t>
            </a:r>
          </a:p>
          <a:p xmlns:a="http://schemas.openxmlformats.org/drawingml/2006/main">
            <a:r>
              <a:t>Explain: A state is one planned arrangement of elements at a point in an animation. The start and end states show what changes: an image may move, a logo may scale or a message may enter. A transition creates the visible change between states. Clear planning begins with what the audience should notice before, during and after the movement, not with choosing the most dramatic effect.</a:t>
            </a:r>
          </a:p>
          <a:p xmlns:a="http://schemas.openxmlformats.org/drawingml/2006/main">
            <a:r>
              <a:t>Clarify: Viewers follow motion more easily when the same element remains recognisable across states. Sudden unrelated changes can break attention or hide the message. Direction, distance, scale and order affect meaning. Keep essential text on screen long enough to perceive and avoid simultaneous movement that competes with the focal message. Motion should strengthen hierarchy rather than reset it every second.</a:t>
            </a:r>
          </a:p>
          <a:p xmlns:a="http://schemas.openxmlformats.org/drawingml/2006/main">
            <a:r>
              <a:t>Worked example: State 1 establishes the product image and background. State 2 moves the product to make room for the logo and slogan. State 3 introduces the price element and action while the logo remains stable. Arrows show movement and notes explain the attention goal. The storyboard can be checked before software work, reducing random experimentation and giving the finished MP4 an evidence-based plan. The supplied 16-second Drive clip does not show a finished animation, so it cannot be used as the comparison exemplar.</a:t>
            </a:r>
          </a:p>
          <a:p xmlns:a="http://schemas.openxmlformats.org/drawingml/2006/main">
            <a:r>
              <a:t>Ask: What is a state in an animation?</a:t>
            </a:r>
          </a:p>
          <a:p xmlns:a="http://schemas.openxmlformats.org/drawingml/2006/main">
            <a:r>
              <a:t>Listen for: An arrangement of elements at one point in time. Correct. States define what is visible before transitions.</a:t>
            </a:r>
          </a:p>
          <a:p xmlns:a="http://schemas.openxmlformats.org/drawingml/2006/main">
            <a:r>
              <a:t>Misconception to correct: More moving elements always make an advertisement more engaging. → Competing movement can reduce attention, readability and message recall.</a:t>
            </a:r>
          </a:p>
          <a:p xmlns:a="http://schemas.openxmlformats.org/drawingml/2006/main">
            <a:r>
              <a:t>Transition: Connect this idea to Match and Move.</a:t>
            </a:r>
          </a:p>
          <a:p xmlns:a="http://schemas.openxmlformats.org/drawingml/2006/main">
            <a:r>
              <a:t/>
            </a:r>
          </a:p>
          <a:p xmlns:a="http://schemas.openxmlformats.org/drawingml/2006/main">
            <a:r>
              <a:t>[Sources]</a:t>
            </a:r>
          </a:p>
          <a:p xmlns:a="http://schemas.openxmlformats.org/drawingml/2006/main">
            <a:r>
              <a:t>- Theory and check: data/course-content.js, m07-s01 and m07-s01-q01.</a:t>
            </a:r>
          </a:p>
          <a:p xmlns:a="http://schemas.openxmlformats.org/drawingml/2006/main">
            <a:r>
              <a:t>- Native projection-scale diagram adapted from approved visual motion-state-sequence and its source-grounded learning purpose.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Explain how duplicated states and changed element properties create a connected Match and Move transition.</a:t>
            </a:r>
          </a:p>
          <a:p xmlns:a="http://schemas.openxmlformats.org/drawingml/2006/main">
            <a:r>
              <a:t>Explain: The Drive demonstration shows a 1080 × 1920 portrait advertisement with background or gradient, selected imagery, logo, slogan and price element. It duplicates states, changes element positions or sizes, applies Match and Move, adjusts timing and exports MP4. These are verified features of the demonstration. The canvas size is demonstrated rather than a universal rule unless the teacher confirms it for the class output.</a:t>
            </a:r>
          </a:p>
          <a:p xmlns:a="http://schemas.openxmlformats.org/drawingml/2006/main">
            <a:r>
              <a:t>Clarify: Match and Move works best when the software can recognise corresponding elements in the before and after states. Duplicating a state helps preserve that relationship. Move or resize only what serves the planned transition, and check which elements should remain stable. If an object is replaced by a different one, the result may behave differently from a continuous move. Preview after each meaningful change.</a:t>
            </a:r>
          </a:p>
          <a:p xmlns:a="http://schemas.openxmlformats.org/drawingml/2006/main">
            <a:r>
              <a:t>Worked example: A product image should slide left and shrink, but it fades out and a second image appears. The student checks the two states and finds that the image was deleted and reinserted instead of carried across the duplicate. They restore the shared element, change its position and scale, and preview again. The corrected transition communicates one object changing state rather than two unrelated objects swapping.</a:t>
            </a:r>
          </a:p>
          <a:p xmlns:a="http://schemas.openxmlformats.org/drawingml/2006/main">
            <a:r>
              <a:t>Ask: Which action helps preserve element correspondence?</a:t>
            </a:r>
          </a:p>
          <a:p xmlns:a="http://schemas.openxmlformats.org/drawingml/2006/main">
            <a:r>
              <a:t>Listen for: Duplicate the state before moving or resizing the element. Correct. The shared element is easier to match.</a:t>
            </a:r>
          </a:p>
          <a:p xmlns:a="http://schemas.openxmlformats.org/drawingml/2006/main">
            <a:r>
              <a:t>Misconception to correct: Match and Move invents a good animation automatically. → It connects planned states; the designer remains responsible for hierarchy, timing and meaning.</a:t>
            </a:r>
          </a:p>
          <a:p xmlns:a="http://schemas.openxmlformats.org/drawingml/2006/main">
            <a:r>
              <a:t>Transition: Connect this idea to Timing, export and quality checks.</a:t>
            </a:r>
          </a:p>
          <a:p xmlns:a="http://schemas.openxmlformats.org/drawingml/2006/main">
            <a:r>
              <a:t/>
            </a:r>
          </a:p>
          <a:p xmlns:a="http://schemas.openxmlformats.org/drawingml/2006/main">
            <a:r>
              <a:t>[Sources]</a:t>
            </a:r>
          </a:p>
          <a:p xmlns:a="http://schemas.openxmlformats.org/drawingml/2006/main">
            <a:r>
              <a:t>- Theory and check: data/course-content.js, m07-s02 and m07-s02-q01.</a:t>
            </a:r>
          </a:p>
          <a:p xmlns:a="http://schemas.openxmlformats.org/drawingml/2006/main">
            <a:r>
              <a:t>- Native projection-scale process diagram adapted from approved visual match-move-continuity; source asset assets/visuals/match-move-continuity.svg.</a:t>
            </a:r>
          </a:p>
          <a:p xmlns:a="http://schemas.openxmlformats.org/drawingml/2006/main">
            <a:r>
              <a:t>- Google Drive source: Match and Move.mp4, Drive ID 1yRWtqn_jBI_IyJRJ8yyJ3KL1Fp1L8vgt, 6:21.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Control pace, inspect the complete animation and export an MP4 record without confusing local save with submission.</a:t>
            </a:r>
          </a:p>
          <a:p xmlns:a="http://schemas.openxmlformats.org/drawingml/2006/main">
            <a:r>
              <a:t>Explain: Timing includes how long a state remains visible and how quickly a transition occurs. Fast motion can create energy but may prevent reading; slow motion can weaken urgency. Test the complete sequence without pausing and ask what a viewer can recall. Essential text needs enough time to be perceived. Avoid flashing or rapid effects that add discomfort without a clear communication purpose.</a:t>
            </a:r>
          </a:p>
          <a:p xmlns:a="http://schemas.openxmlformats.org/drawingml/2006/main">
            <a:r>
              <a:t>Clarify: Before export, check order, crop, spelling, logo consistency, text contrast, safe-area placement and whether the final state gives a clear ending. Preview at the intended screen shape. Keep an editable working file as well as the exported version, use a meaningful file name and confirm the MP4 opens. Saving or exporting on one device does not submit the file to a teacher.</a:t>
            </a:r>
          </a:p>
          <a:p xmlns:a="http://schemas.openxmlformats.org/drawingml/2006/main">
            <a:r>
              <a:t>Worked example: The storyboard expects the slogan to remain visible while the price enters. In the exported preview, the slogan vanishes too early and the last state ends abruptly. The designer extends the slogan state, adds a brief final hold and exports again. They compare the new MP4 with the plan and record the change. The supplied 0:16 clip only opens a blank A4 Canva document, so the verified tutorial, storyboard and the student's own playback check provide the useful comparison evidence.</a:t>
            </a:r>
          </a:p>
          <a:p xmlns:a="http://schemas.openxmlformats.org/drawingml/2006/main">
            <a:r>
              <a:t>Ask: What should a preflight check include?</a:t>
            </a:r>
          </a:p>
          <a:p xmlns:a="http://schemas.openxmlformats.org/drawingml/2006/main">
            <a:r>
              <a:t>Listen for: Order, crop, spelling, contrast, ending and file opening. Correct. These checks cover communication and output integrity.</a:t>
            </a:r>
          </a:p>
          <a:p xmlns:a="http://schemas.openxmlformats.org/drawingml/2006/main">
            <a:r>
              <a:t>Misconception to correct: A successful MP4 export proves the advertisement is effective. → The file may open correctly while timing, hierarchy or truthfulness still need improvement.</a:t>
            </a:r>
          </a:p>
          <a:p xmlns:a="http://schemas.openxmlformats.org/drawingml/2006/main">
            <a:r>
              <a:t>Transition: Connect this idea to the retrieval check.</a:t>
            </a:r>
          </a:p>
          <a:p xmlns:a="http://schemas.openxmlformats.org/drawingml/2006/main">
            <a:r>
              <a:t/>
            </a:r>
          </a:p>
          <a:p xmlns:a="http://schemas.openxmlformats.org/drawingml/2006/main">
            <a:r>
              <a:t>[Sources]</a:t>
            </a:r>
          </a:p>
          <a:p xmlns:a="http://schemas.openxmlformats.org/drawingml/2006/main">
            <a:r>
              <a:t>- Theory and check: data/course-content.js, m07-s03 and m07-s03-q01.</a:t>
            </a:r>
          </a:p>
          <a:p xmlns:a="http://schemas.openxmlformats.org/drawingml/2006/main">
            <a:r>
              <a:t>- Native projection-scale diagram adapted from approved visual export-quality-check and its source-grounded learning purpose.</a:t>
            </a:r>
          </a:p>
          <a:p xmlns:a="http://schemas.openxmlformats.org/drawingml/2006/main">
            <a:r>
              <a:t>- Source status: data/media-data.js, match-and-move-advertising outcome REWORK.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routine: 60 seconds silent retrieval, pair justification, then whole-class feedback.</a:t>
            </a:r>
          </a:p>
          <a:p xmlns:a="http://schemas.openxmlformats.org/drawingml/2006/main">
            <a:r>
              <a:t>Question 1: An arrangement of elements at one point in time. Feedback: Correct. States define what is visible before transitions.</a:t>
            </a:r>
          </a:p>
          <a:p xmlns:a="http://schemas.openxmlformats.org/drawingml/2006/main">
            <a:r>
              <a:t>Question 2: Duplicate the state before moving or resizing the element. Feedback: Correct. The shared element is easier to match.</a:t>
            </a:r>
          </a:p>
          <a:p xmlns:a="http://schemas.openxmlformats.org/drawingml/2006/main">
            <a:r>
              <a:t>Question 3: Order, crop, spelling, contrast, ending and file opening. Feedback: Correct. These checks cover communication and output integrity.</a:t>
            </a:r>
          </a:p>
          <a:p xmlns:a="http://schemas.openxmlformats.org/drawingml/2006/main">
            <a:r>
              <a:t>Do not score this as a formal assessment. Use responses to decide whether to reteach or continue.</a:t>
            </a:r>
          </a:p>
          <a:p xmlns:a="http://schemas.openxmlformats.org/drawingml/2006/main">
            <a:r>
              <a:t>Transition: Model how the same knowledge becomes a longer written explanation.</a:t>
            </a:r>
          </a:p>
          <a:p xmlns:a="http://schemas.openxmlformats.org/drawingml/2006/main">
            <a:r>
              <a:t/>
            </a:r>
          </a:p>
          <a:p xmlns:a="http://schemas.openxmlformats.org/drawingml/2006/main">
            <a:r>
              <a:t>[Sources]</a:t>
            </a:r>
          </a:p>
          <a:p xmlns:a="http://schemas.openxmlformats.org/drawingml/2006/main">
            <a:r>
              <a:t>- Formative checks: data/course-content.js, m07-s01-q01, m07-s02-q01, m07-s03-q01.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Read the prompt once, then unpack it using Select, Explain and Check.</a:t>
            </a:r>
          </a:p>
          <a:p xmlns:a="http://schemas.openxmlformats.org/drawingml/2006/main">
            <a:r>
              <a:t>Model one sentence aloud using the supplied starter.</a:t>
            </a:r>
          </a:p>
          <a:p xmlns:a="http://schemas.openxmlformats.org/drawingml/2006/main">
            <a:r>
              <a:t>Prompt: Which section provides the strongest evidence for each part of the question?</a:t>
            </a:r>
          </a:p>
          <a:p xmlns:a="http://schemas.openxmlformats.org/drawingml/2006/main">
            <a:r>
              <a:t>Remind students: this is formative learning evidence. A local save is not a submission.</a:t>
            </a:r>
          </a:p>
          <a:p xmlns:a="http://schemas.openxmlformats.org/drawingml/2006/main">
            <a:r>
              <a:t>Transition: Finish with a three-part exit ticket and save the response in the matching module.</a:t>
            </a:r>
          </a:p>
          <a:p xmlns:a="http://schemas.openxmlformats.org/drawingml/2006/main">
            <a:r>
              <a:t/>
            </a:r>
          </a:p>
          <a:p xmlns:a="http://schemas.openxmlformats.org/drawingml/2006/main">
            <a:r>
              <a:t>[Sources]</a:t>
            </a:r>
          </a:p>
          <a:p xmlns:a="http://schemas.openxmlformats.org/drawingml/2006/main">
            <a:r>
              <a:t>- Section capstones: data/course-content.js, m07-s01-capstone, m07-s02-capstone, m07-s03-capstone.</a:t>
            </a:r>
          </a:p>
          <a:p xmlns:a="http://schemas.openxmlformats.org/drawingml/2006/main">
            <a:r>
              <a:t>- Integrated prompt: Stage 07 synthesis of the three source-grounded section capstones.</a:t>
            </a:r>
          </a:p>
          <a:p xmlns:a="http://schemas.openxmlformats.org/drawingml/2006/main">
            <a:r>
              <a:t>- Evidence boundary: data/course-content.js evidenceLabel, saveNotice and moduleEvidenceKey.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routine: Ask students to answer all three prompts in the matching module response box.</a:t>
            </a:r>
          </a:p>
          <a:p xmlns:a="http://schemas.openxmlformats.org/drawingml/2006/main">
            <a:r>
              <a:t>Invite one voluntary share for the first prompt.</a:t>
            </a:r>
          </a:p>
          <a:p xmlns:a="http://schemas.openxmlformats.org/drawingml/2006/main">
            <a:r>
              <a:t>Use the final question to plan the next explanation or support.</a:t>
            </a:r>
          </a:p>
          <a:p xmlns:a="http://schemas.openxmlformats.org/drawingml/2006/main">
            <a:r>
              <a:t>Remind students that browser-local saving preserves a draft on this device; it does not submit work.</a:t>
            </a:r>
          </a:p>
          <a:p xmlns:a="http://schemas.openxmlformats.org/drawingml/2006/main">
            <a:r>
              <a:t/>
            </a:r>
          </a:p>
          <a:p xmlns:a="http://schemas.openxmlformats.org/drawingml/2006/main">
            <a:r>
              <a:t>[Sources]</a:t>
            </a:r>
          </a:p>
          <a:p xmlns:a="http://schemas.openxmlformats.org/drawingml/2006/main">
            <a:r>
              <a:t>- Exit-ticket structure and evidence boundary: data/course-content.js saveNotice, savedMessage and evidenceDestination.</a:t>
            </a:r>
          </a:p>
          <a:p xmlns:a="http://schemas.openxmlformats.org/drawingml/2006/main">
            <a:r>
              <a:t>- Module theory: data/course-content.js, m07-s01, m07-s02, m07-s03.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e6b3e7f7f940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ed96a4297d4a98" /><Relationship Type="http://schemas.openxmlformats.org/officeDocument/2006/relationships/slideLayout" Target="/ppt/slideLayouts/slideLayout1.xml" Id="R579b1023d8264f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9b1023d8264f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2b46441e9ab462a" /><Relationship Type="http://schemas.openxmlformats.org/officeDocument/2006/relationships/image" Target="/ppt/media/image.png" Id="Rd04765498efa4a44" /><Relationship Type="http://schemas.openxmlformats.org/officeDocument/2006/relationships/notesSlide" Target="/ppt/notesSlides/notesSlide1.xml" Id="R89efebdad0ee4037" /><Relationship Type="http://schemas.openxmlformats.org/officeDocument/2006/relationships/hyperlink" Target="https://drive.google.com/file/d/1yRWtqn_jBI_IyJRJ8yyJ3KL1Fp1L8vgt/view" TargetMode="External" Id="RStage07Hyperlink1_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2be4efabfa74cfd" /><Relationship Type="http://schemas.openxmlformats.org/officeDocument/2006/relationships/notesSlide" Target="/ppt/notesSlides/notesSlide2.xml" Id="Rbd5f05576c3e49d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f692d0ec60d4f11" /><Relationship Type="http://schemas.openxmlformats.org/officeDocument/2006/relationships/notesSlide" Target="/ppt/notesSlides/notesSlide3.xml" Id="Rbb313b8caf2642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5b4f35c24df4060" /><Relationship Type="http://schemas.openxmlformats.org/officeDocument/2006/relationships/image" Target="/ppt/media/image2.png" Id="Rb59d905051a14bd3" /><Relationship Type="http://schemas.openxmlformats.org/officeDocument/2006/relationships/notesSlide" Target="/ppt/notesSlides/notesSlide4.xml" Id="Ra13a28bd41b84fa5" /><Relationship Type="http://schemas.openxmlformats.org/officeDocument/2006/relationships/hyperlink" Target="https://drive.google.com/file/d/1yRWtqn_jBI_IyJRJ8yyJ3KL1Fp1L8vgt/view" TargetMode="External" Id="RStage07Hyperlink4_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abdec6250e4456d" /><Relationship Type="http://schemas.openxmlformats.org/officeDocument/2006/relationships/notesSlide" Target="/ppt/notesSlides/notesSlide5.xml" Id="Rc20387bb924d42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3e232dcc288458e" /><Relationship Type="http://schemas.openxmlformats.org/officeDocument/2006/relationships/notesSlide" Target="/ppt/notesSlides/notesSlide6.xml" Id="R78db6706415a4b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8ac83994d514ae0" /><Relationship Type="http://schemas.openxmlformats.org/officeDocument/2006/relationships/notesSlide" Target="/ppt/notesSlides/notesSlide7.xml" Id="R64425da98d9740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212b0ed47b24dc4" /><Relationship Type="http://schemas.openxmlformats.org/officeDocument/2006/relationships/notesSlide" Target="/ppt/notesSlides/notesSlide8.xml" Id="R20c3ebc5ac5049a1" /></Relationships>
</file>

<file path=ppt/slides/slide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3B78A40-0A1E-4B29-8806-CDFB0C449644}"/>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1734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DCA9BF3-3E61-4989-8D0C-B6A2DC770EF0}"/>
              </a:ext>
            </a:extLst>
          </p:cNvPr>
          <p:cNvSpPr>
            <a:spLocks xmlns:a="http://schemas.openxmlformats.org/drawingml/2006/main" noGrp="1"/>
          </p:cNvSpPr>
          <p:nvPr/>
        </p:nvSpPr>
        <p:spPr>
          <a:xfrm xmlns:a="http://schemas.openxmlformats.org/drawingml/2006/main">
            <a:off x="685800" y="723900"/>
            <a:ext cx="933450" cy="952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2E0D412-FE7E-499E-A334-608641E840FA}"/>
              </a:ext>
            </a:extLst>
          </p:cNvPr>
          <p:cNvSpPr>
            <a:spLocks xmlns:a="http://schemas.openxmlformats.org/drawingml/2006/main" noGrp="1"/>
          </p:cNvSpPr>
          <p:nvPr/>
        </p:nvSpPr>
        <p:spPr>
          <a:xfrm xmlns:a="http://schemas.openxmlformats.org/drawingml/2006/main">
            <a:off x="685800" y="1123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F2BD3C"/>
                </a:solidFill>
                <a:latin typeface="Arial"/>
                <a:ea typeface="Arial"/>
                <a:cs typeface="Arial"/>
              </a:defRPr>
            </a:pPr>
            <a:r>
              <a:rPr sz="1350" b="1">
                <a:solidFill>
                  <a:srgbClr val="F2BD3C"/>
                </a:solidFill>
                <a:latin typeface="Arial"/>
                <a:ea typeface="Arial"/>
                <a:cs typeface="Arial"/>
              </a:rPr>
              <a:t>MODULE 07</a:t>
            </a:r>
          </a:p>
        </p:txBody>
      </p:sp>
      <p:sp>
        <p:nvSpPr>
          <p:cNvPr id="4" name="">
            <a:extLst xmlns:a="http://schemas.openxmlformats.org/drawingml/2006/main">
              <a:ext uri="{FF2B5EF4-FFF2-40B4-BE49-F238E27FC236}">
                <a16:creationId xmlns:a16="http://schemas.microsoft.com/office/drawing/2014/main" id="{744B5DAA-7950-4722-8E1B-778CC0F1FFDF}"/>
              </a:ext>
            </a:extLst>
          </p:cNvPr>
          <p:cNvSpPr>
            <a:spLocks xmlns:a="http://schemas.openxmlformats.org/drawingml/2006/main" noGrp="1"/>
          </p:cNvSpPr>
          <p:nvPr/>
        </p:nvSpPr>
        <p:spPr>
          <a:xfrm xmlns:a="http://schemas.openxmlformats.org/drawingml/2006/main">
            <a:off x="685800" y="1790700"/>
            <a:ext cx="447675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675" b="1">
                <a:solidFill>
                  <a:srgbClr val="FFFFFF"/>
                </a:solidFill>
                <a:latin typeface="Arial"/>
                <a:ea typeface="Arial"/>
                <a:cs typeface="Arial"/>
              </a:defRPr>
            </a:pPr>
            <a:r>
              <a:rPr sz="3675" b="1">
                <a:solidFill>
                  <a:srgbClr val="FFFFFF"/>
                </a:solidFill>
                <a:latin typeface="Arial"/>
                <a:ea typeface="Arial"/>
                <a:cs typeface="Arial"/>
              </a:rPr>
              <a:t>Motion advertising</a:t>
            </a:r>
          </a:p>
        </p:txBody>
      </p:sp>
      <p:sp>
        <p:nvSpPr>
          <p:cNvPr id="5" name="">
            <a:extLst xmlns:a="http://schemas.openxmlformats.org/drawingml/2006/main">
              <a:ext uri="{FF2B5EF4-FFF2-40B4-BE49-F238E27FC236}">
                <a16:creationId xmlns:a16="http://schemas.microsoft.com/office/drawing/2014/main" id="{D20B4CFD-9AF9-4268-ADCE-9D39DE793B06}"/>
              </a:ext>
            </a:extLst>
          </p:cNvPr>
          <p:cNvSpPr>
            <a:spLocks xmlns:a="http://schemas.openxmlformats.org/drawingml/2006/main" noGrp="1"/>
          </p:cNvSpPr>
          <p:nvPr/>
        </p:nvSpPr>
        <p:spPr>
          <a:xfrm xmlns:a="http://schemas.openxmlformats.org/drawingml/2006/main">
            <a:off x="685800" y="3676650"/>
            <a:ext cx="43338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0">
                <a:solidFill>
                  <a:srgbClr val="E6EEE9"/>
                </a:solidFill>
                <a:latin typeface="Arial"/>
                <a:ea typeface="Arial"/>
                <a:cs typeface="Arial"/>
              </a:defRPr>
            </a:pPr>
            <a:r>
              <a:rPr sz="1650" b="0">
                <a:solidFill>
                  <a:srgbClr val="E6EEE9"/>
                </a:solidFill>
                <a:latin typeface="Arial"/>
                <a:ea typeface="Arial"/>
                <a:cs typeface="Arial"/>
              </a:rPr>
              <a:t>Plan, animate and export a Match and Move advertisement.</a:t>
            </a:r>
          </a:p>
        </p:txBody>
      </p:sp>
      <p:sp>
        <p:nvSpPr>
          <p:cNvPr id="6" name="">
            <a:extLst xmlns:a="http://schemas.openxmlformats.org/drawingml/2006/main">
              <a:ext uri="{FF2B5EF4-FFF2-40B4-BE49-F238E27FC236}">
                <a16:creationId xmlns:a16="http://schemas.microsoft.com/office/drawing/2014/main" id="{EF9221CC-2ECF-4BCF-8C45-5234E685FC03}"/>
              </a:ext>
            </a:extLst>
          </p:cNvPr>
          <p:cNvSpPr>
            <a:spLocks xmlns:a="http://schemas.openxmlformats.org/drawingml/2006/main" noGrp="1"/>
          </p:cNvSpPr>
          <p:nvPr/>
        </p:nvSpPr>
        <p:spPr>
          <a:xfrm xmlns:a="http://schemas.openxmlformats.org/drawingml/2006/main">
            <a:off x="685800" y="5010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E8674B"/>
                </a:solidFill>
                <a:latin typeface="Arial"/>
                <a:ea typeface="Arial"/>
                <a:cs typeface="Arial"/>
              </a:defRPr>
            </a:pPr>
            <a:r>
              <a:rPr sz="900" b="1">
                <a:solidFill>
                  <a:srgbClr val="E8674B"/>
                </a:solidFill>
                <a:latin typeface="Arial"/>
                <a:ea typeface="Arial"/>
                <a:cs typeface="Arial"/>
              </a:rPr>
              <a:t>TEACHING QUESTION</a:t>
            </a:r>
          </a:p>
        </p:txBody>
      </p:sp>
      <p:sp>
        <p:nvSpPr>
          <p:cNvPr id="7" name="">
            <a:extLst xmlns:a="http://schemas.openxmlformats.org/drawingml/2006/main">
              <a:ext uri="{FF2B5EF4-FFF2-40B4-BE49-F238E27FC236}">
                <a16:creationId xmlns:a16="http://schemas.microsoft.com/office/drawing/2014/main" id="{3E4B0DC8-4159-4E26-B327-A74C0C051A75}"/>
              </a:ext>
            </a:extLst>
          </p:cNvPr>
          <p:cNvSpPr>
            <a:spLocks xmlns:a="http://schemas.openxmlformats.org/drawingml/2006/main" noGrp="1"/>
          </p:cNvSpPr>
          <p:nvPr/>
        </p:nvSpPr>
        <p:spPr>
          <a:xfrm xmlns:a="http://schemas.openxmlformats.org/drawingml/2006/main">
            <a:off x="685800" y="5295900"/>
            <a:ext cx="4362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What needs to stay connected when one visual state changes into another?</a:t>
            </a:r>
          </a:p>
        </p:txBody>
      </p:sp>
      <p:sp>
        <p:nvSpPr>
          <p:cNvPr id="8" name="">
            <a:extLst xmlns:a="http://schemas.openxmlformats.org/drawingml/2006/main">
              <a:ext uri="{FF2B5EF4-FFF2-40B4-BE49-F238E27FC236}">
                <a16:creationId xmlns:a16="http://schemas.microsoft.com/office/drawing/2014/main" id="{DE8321F0-0CCF-48ED-9C2C-99FAF8F0B00C}"/>
              </a:ext>
            </a:extLst>
          </p:cNvPr>
          <p:cNvSpPr>
            <a:spLocks xmlns:a="http://schemas.openxmlformats.org/drawingml/2006/main" noGrp="1"/>
          </p:cNvSpPr>
          <p:nvPr/>
        </p:nvSpPr>
        <p:spPr>
          <a:xfrm xmlns:a="http://schemas.openxmlformats.org/drawingml/2006/main">
            <a:off x="6191250" y="514350"/>
            <a:ext cx="5334000" cy="5372100"/>
          </a:xfrm>
          <a:prstGeom xmlns:a="http://schemas.openxmlformats.org/drawingml/2006/main" prst="roundRect">
            <a:avLst>
              <a:gd name="adj" fmla="val 2143"/>
            </a:avLst>
          </a:prstGeom>
          <a:solidFill xmlns:a="http://schemas.openxmlformats.org/drawingml/2006/main">
            <a:srgbClr val="FFFFFF"/>
          </a:solidFill>
          <a:ln xmlns:a="http://schemas.openxmlformats.org/drawingml/2006/main" w="9525">
            <a:solidFill>
              <a:srgbClr val="CFD8D2"/>
            </a:solidFill>
            <a:prstDash val="solid"/>
          </a:ln>
        </p:spPr>
      </p:sp>
      <p:pic>
        <p:nvPicPr>
          <p:cNvPr id="21" name="Match and Move.mp4" title="Match and Move.mp4" descr="Custom privacy-safe poster for Match and Move.mp4, duration 6:21.">
            <a:hlinkClick xmlns:a="http://schemas.openxmlformats.org/drawingml/2006/main" xmlns:r="http://schemas.openxmlformats.org/officeDocument/2006/relationships" r:id="RStage07Hyperlink1_1"/>
          </p:cNvPr>
          <p:cNvPicPr>
            <a:picLocks xmlns:a="http://schemas.openxmlformats.org/drawingml/2006/main" noChangeAspect="1"/>
          </p:cNvPicPr>
          <p:nvPr/>
        </p:nvPicPr>
        <p:blipFill>
          <a:blip xmlns:r="http://schemas.openxmlformats.org/officeDocument/2006/relationships" xmlns:a="http://schemas.openxmlformats.org/drawingml/2006/main" r:embed="Rd04765498efa4a44"/>
          <a:stretch xmlns:a="http://schemas.openxmlformats.org/drawingml/2006/main"/>
        </p:blipFill>
        <p:spPr>
          <a:xfrm xmlns:a="http://schemas.openxmlformats.org/drawingml/2006/main">
            <a:off x="6191250" y="1699472"/>
            <a:ext cx="5334000" cy="3001857"/>
          </a:xfrm>
          <a:prstGeom xmlns:a="http://schemas.openxmlformats.org/drawingml/2006/main" prst="roundRect">
            <a:avLst>
              <a:gd name="adj" fmla="val 2143"/>
            </a:avLst>
          </a:prstGeom>
        </p:spPr>
      </p:pic>
      <p:sp>
        <p:nvSpPr>
          <p:cNvPr id="10" name="">
            <a:extLst xmlns:a="http://schemas.openxmlformats.org/drawingml/2006/main">
              <a:ext uri="{FF2B5EF4-FFF2-40B4-BE49-F238E27FC236}">
                <a16:creationId xmlns:a16="http://schemas.microsoft.com/office/drawing/2014/main" id="{1585550B-01A9-4EB7-BE4C-967F249AC3F3}"/>
              </a:ext>
            </a:extLst>
          </p:cNvPr>
          <p:cNvSpPr>
            <a:spLocks xmlns:a="http://schemas.openxmlformats.org/drawingml/2006/main" noGrp="1"/>
          </p:cNvSpPr>
          <p:nvPr/>
        </p:nvSpPr>
        <p:spPr>
          <a:xfrm xmlns:a="http://schemas.openxmlformats.org/drawingml/2006/main">
            <a:off x="6419850" y="5505450"/>
            <a:ext cx="4857750" cy="381000"/>
          </a:xfrm>
          <a:prstGeom xmlns:a="http://schemas.openxmlformats.org/drawingml/2006/main" prst="roundRect">
            <a:avLst>
              <a:gd name="adj" fmla="val 20000"/>
            </a:avLst>
          </a:prstGeom>
          <a:solidFill xmlns:a="http://schemas.openxmlformats.org/drawingml/2006/main">
            <a:srgbClr val="FCF4D8"/>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200" b="1">
                <a:solidFill>
                  <a:srgbClr val="0C5554"/>
                </a:solidFill>
                <a:latin typeface="Arial"/>
                <a:ea typeface="Arial"/>
                <a:cs typeface="Arial"/>
              </a:defRPr>
            </a:pPr>
            <a:r>
              <a:rPr sz="1200" b="1">
                <a:solidFill>
                  <a:srgbClr val="0C5554"/>
                </a:solidFill>
                <a:latin typeface="Arial"/>
                <a:ea typeface="Arial"/>
                <a:cs typeface="Arial"/>
              </a:rPr>
              <a:t>TEACHER: CTRL+CLICK POSTER TO OPEN DRIVE  •  6:21</a:t>
            </a:r>
          </a:p>
        </p:txBody>
      </p:sp>
      <p:sp>
        <p:nvSpPr>
          <p:cNvPr id="11" name="">
            <a:extLst xmlns:a="http://schemas.openxmlformats.org/drawingml/2006/main">
              <a:ext uri="{FF2B5EF4-FFF2-40B4-BE49-F238E27FC236}">
                <a16:creationId xmlns:a16="http://schemas.microsoft.com/office/drawing/2014/main" id="{BB8A6A5C-CB71-4F5D-B463-3C053D524A31}"/>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07  •  MOTION ADVERTISING</a:t>
            </a:r>
          </a:p>
        </p:txBody>
      </p:sp>
      <p:sp>
        <p:nvSpPr>
          <p:cNvPr id="12" name="">
            <a:extLst xmlns:a="http://schemas.openxmlformats.org/drawingml/2006/main">
              <a:ext uri="{FF2B5EF4-FFF2-40B4-BE49-F238E27FC236}">
                <a16:creationId xmlns:a16="http://schemas.microsoft.com/office/drawing/2014/main" id="{C3A13250-19C8-45BF-B7B4-4B6BB6E9D854}"/>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01</a:t>
            </a:r>
          </a:p>
        </p:txBody>
      </p:sp>
    </p:spTree>
    <p:extLst>
      <p:ext uri="{BB962C8B-B14F-4D97-AF65-F5344CB8AC3E}">
        <p14:creationId xmlns:p14="http://schemas.microsoft.com/office/powerpoint/2010/main" val="1723015646"/>
      </p:ext>
    </p:extLst>
  </p:cSld>
</p:sld>
</file>

<file path=ppt/slides/slide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A8CEAA7-20B6-4A39-9DD5-F262E54E8F15}"/>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A84EBE3-B9EF-41BC-BDFB-31E3990D8C88}"/>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TODAY'S LEARNING PATH</a:t>
            </a:r>
          </a:p>
        </p:txBody>
      </p:sp>
      <p:sp>
        <p:nvSpPr>
          <p:cNvPr id="3" name="">
            <a:extLst xmlns:a="http://schemas.openxmlformats.org/drawingml/2006/main">
              <a:ext uri="{FF2B5EF4-FFF2-40B4-BE49-F238E27FC236}">
                <a16:creationId xmlns:a16="http://schemas.microsoft.com/office/drawing/2014/main" id="{20627677-2FE5-4ACA-8C3D-E7540C8CFBA4}"/>
              </a:ext>
            </a:extLst>
          </p:cNvPr>
          <p:cNvSpPr>
            <a:spLocks xmlns:a="http://schemas.openxmlformats.org/drawingml/2006/main" noGrp="1"/>
          </p:cNvSpPr>
          <p:nvPr/>
        </p:nvSpPr>
        <p:spPr>
          <a:xfrm xmlns:a="http://schemas.openxmlformats.org/drawingml/2006/main">
            <a:off x="685800" y="895350"/>
            <a:ext cx="742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925" b="1">
                <a:solidFill>
                  <a:srgbClr val="17342C"/>
                </a:solidFill>
                <a:latin typeface="Arial"/>
                <a:ea typeface="Arial"/>
                <a:cs typeface="Arial"/>
              </a:defRPr>
            </a:pPr>
            <a:r>
              <a:rPr sz="2925" b="1">
                <a:solidFill>
                  <a:srgbClr val="17342C"/>
                </a:solidFill>
                <a:latin typeface="Arial"/>
                <a:ea typeface="Arial"/>
                <a:cs typeface="Arial"/>
              </a:rPr>
              <a:t>Where are we going?</a:t>
            </a:r>
          </a:p>
        </p:txBody>
      </p:sp>
      <p:sp>
        <p:nvSpPr>
          <p:cNvPr id="4" name="">
            <a:extLst xmlns:a="http://schemas.openxmlformats.org/drawingml/2006/main">
              <a:ext uri="{FF2B5EF4-FFF2-40B4-BE49-F238E27FC236}">
                <a16:creationId xmlns:a16="http://schemas.microsoft.com/office/drawing/2014/main" id="{1E820CD0-AFE3-4D17-9583-AC431256D4AF}"/>
              </a:ext>
            </a:extLst>
          </p:cNvPr>
          <p:cNvSpPr>
            <a:spLocks xmlns:a="http://schemas.openxmlformats.org/drawingml/2006/main" noGrp="1"/>
          </p:cNvSpPr>
          <p:nvPr/>
        </p:nvSpPr>
        <p:spPr>
          <a:xfrm xmlns:a="http://schemas.openxmlformats.org/drawingml/2006/main">
            <a:off x="685800" y="19526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5" name="">
            <a:extLst xmlns:a="http://schemas.openxmlformats.org/drawingml/2006/main">
              <a:ext uri="{FF2B5EF4-FFF2-40B4-BE49-F238E27FC236}">
                <a16:creationId xmlns:a16="http://schemas.microsoft.com/office/drawing/2014/main" id="{341E8EB0-42FA-4E96-8E60-BA06736CBA76}"/>
              </a:ext>
            </a:extLst>
          </p:cNvPr>
          <p:cNvSpPr>
            <a:spLocks xmlns:a="http://schemas.openxmlformats.org/drawingml/2006/main" noGrp="1"/>
          </p:cNvSpPr>
          <p:nvPr/>
        </p:nvSpPr>
        <p:spPr>
          <a:xfrm xmlns:a="http://schemas.openxmlformats.org/drawingml/2006/main">
            <a:off x="933450" y="2162175"/>
            <a:ext cx="476250" cy="476250"/>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C7B4FF5-D6A3-4586-819F-2016649E2584}"/>
              </a:ext>
            </a:extLst>
          </p:cNvPr>
          <p:cNvSpPr>
            <a:spLocks xmlns:a="http://schemas.openxmlformats.org/drawingml/2006/main" noGrp="1"/>
          </p:cNvSpPr>
          <p:nvPr/>
        </p:nvSpPr>
        <p:spPr>
          <a:xfrm xmlns:a="http://schemas.openxmlformats.org/drawingml/2006/main">
            <a:off x="933450" y="21621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6475CA56-2A89-4982-9B66-2C2F142AAF54}"/>
              </a:ext>
            </a:extLst>
          </p:cNvPr>
          <p:cNvSpPr>
            <a:spLocks xmlns:a="http://schemas.openxmlformats.org/drawingml/2006/main" noGrp="1"/>
          </p:cNvSpPr>
          <p:nvPr/>
        </p:nvSpPr>
        <p:spPr>
          <a:xfrm xmlns:a="http://schemas.openxmlformats.org/drawingml/2006/main">
            <a:off x="1733550" y="21431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Frames, states and transitions</a:t>
            </a:r>
          </a:p>
        </p:txBody>
      </p:sp>
      <p:sp>
        <p:nvSpPr>
          <p:cNvPr id="8" name="">
            <a:extLst xmlns:a="http://schemas.openxmlformats.org/drawingml/2006/main">
              <a:ext uri="{FF2B5EF4-FFF2-40B4-BE49-F238E27FC236}">
                <a16:creationId xmlns:a16="http://schemas.microsoft.com/office/drawing/2014/main" id="{52E92BB4-4ABB-4B1D-8F48-4080590B73CD}"/>
              </a:ext>
            </a:extLst>
          </p:cNvPr>
          <p:cNvSpPr>
            <a:spLocks xmlns:a="http://schemas.openxmlformats.org/drawingml/2006/main" noGrp="1"/>
          </p:cNvSpPr>
          <p:nvPr/>
        </p:nvSpPr>
        <p:spPr>
          <a:xfrm xmlns:a="http://schemas.openxmlformats.org/drawingml/2006/main">
            <a:off x="685800" y="32099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9" name="">
            <a:extLst xmlns:a="http://schemas.openxmlformats.org/drawingml/2006/main">
              <a:ext uri="{FF2B5EF4-FFF2-40B4-BE49-F238E27FC236}">
                <a16:creationId xmlns:a16="http://schemas.microsoft.com/office/drawing/2014/main" id="{83669FDA-62F9-45AB-9A62-D15C896C5F01}"/>
              </a:ext>
            </a:extLst>
          </p:cNvPr>
          <p:cNvSpPr>
            <a:spLocks xmlns:a="http://schemas.openxmlformats.org/drawingml/2006/main" noGrp="1"/>
          </p:cNvSpPr>
          <p:nvPr/>
        </p:nvSpPr>
        <p:spPr>
          <a:xfrm xmlns:a="http://schemas.openxmlformats.org/drawingml/2006/main">
            <a:off x="933450" y="3419475"/>
            <a:ext cx="476250" cy="47625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1E98BCD-2CC7-47BF-A7E2-7146A45B26E7}"/>
              </a:ext>
            </a:extLst>
          </p:cNvPr>
          <p:cNvSpPr>
            <a:spLocks xmlns:a="http://schemas.openxmlformats.org/drawingml/2006/main" noGrp="1"/>
          </p:cNvSpPr>
          <p:nvPr/>
        </p:nvSpPr>
        <p:spPr>
          <a:xfrm xmlns:a="http://schemas.openxmlformats.org/drawingml/2006/main">
            <a:off x="933450" y="34194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17342C"/>
                </a:solidFill>
                <a:latin typeface="Arial"/>
                <a:ea typeface="Arial"/>
                <a:cs typeface="Arial"/>
              </a:defRPr>
            </a:pPr>
            <a:r>
              <a:rPr sz="1500" b="1">
                <a:solidFill>
                  <a:srgbClr val="17342C"/>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9C21BB35-C64C-42A8-A779-395B25764522}"/>
              </a:ext>
            </a:extLst>
          </p:cNvPr>
          <p:cNvSpPr>
            <a:spLocks xmlns:a="http://schemas.openxmlformats.org/drawingml/2006/main" noGrp="1"/>
          </p:cNvSpPr>
          <p:nvPr/>
        </p:nvSpPr>
        <p:spPr>
          <a:xfrm xmlns:a="http://schemas.openxmlformats.org/drawingml/2006/main">
            <a:off x="1733550" y="34004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Match and Move</a:t>
            </a:r>
          </a:p>
        </p:txBody>
      </p:sp>
      <p:sp>
        <p:nvSpPr>
          <p:cNvPr id="12" name="">
            <a:extLst xmlns:a="http://schemas.openxmlformats.org/drawingml/2006/main">
              <a:ext uri="{FF2B5EF4-FFF2-40B4-BE49-F238E27FC236}">
                <a16:creationId xmlns:a16="http://schemas.microsoft.com/office/drawing/2014/main" id="{21305CFA-402B-44D4-9779-48A1FF291841}"/>
              </a:ext>
            </a:extLst>
          </p:cNvPr>
          <p:cNvSpPr>
            <a:spLocks xmlns:a="http://schemas.openxmlformats.org/drawingml/2006/main" noGrp="1"/>
          </p:cNvSpPr>
          <p:nvPr/>
        </p:nvSpPr>
        <p:spPr>
          <a:xfrm xmlns:a="http://schemas.openxmlformats.org/drawingml/2006/main">
            <a:off x="685800" y="44672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13" name="">
            <a:extLst xmlns:a="http://schemas.openxmlformats.org/drawingml/2006/main">
              <a:ext uri="{FF2B5EF4-FFF2-40B4-BE49-F238E27FC236}">
                <a16:creationId xmlns:a16="http://schemas.microsoft.com/office/drawing/2014/main" id="{8FE2939E-E782-4BBE-AE97-4D742063D31D}"/>
              </a:ext>
            </a:extLst>
          </p:cNvPr>
          <p:cNvSpPr>
            <a:spLocks xmlns:a="http://schemas.openxmlformats.org/drawingml/2006/main" noGrp="1"/>
          </p:cNvSpPr>
          <p:nvPr/>
        </p:nvSpPr>
        <p:spPr>
          <a:xfrm xmlns:a="http://schemas.openxmlformats.org/drawingml/2006/main">
            <a:off x="933450" y="4676775"/>
            <a:ext cx="476250" cy="476250"/>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C24F3E5-EC1C-4619-A4D5-D5F1075FECE1}"/>
              </a:ext>
            </a:extLst>
          </p:cNvPr>
          <p:cNvSpPr>
            <a:spLocks xmlns:a="http://schemas.openxmlformats.org/drawingml/2006/main" noGrp="1"/>
          </p:cNvSpPr>
          <p:nvPr/>
        </p:nvSpPr>
        <p:spPr>
          <a:xfrm xmlns:a="http://schemas.openxmlformats.org/drawingml/2006/main">
            <a:off x="933450" y="46767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E996BC71-EE7F-4D2C-A3BF-8EC91CEAD43A}"/>
              </a:ext>
            </a:extLst>
          </p:cNvPr>
          <p:cNvSpPr>
            <a:spLocks xmlns:a="http://schemas.openxmlformats.org/drawingml/2006/main" noGrp="1"/>
          </p:cNvSpPr>
          <p:nvPr/>
        </p:nvSpPr>
        <p:spPr>
          <a:xfrm xmlns:a="http://schemas.openxmlformats.org/drawingml/2006/main">
            <a:off x="1733550" y="46577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Timing, export and quality checks</a:t>
            </a:r>
          </a:p>
        </p:txBody>
      </p:sp>
      <p:sp>
        <p:nvSpPr>
          <p:cNvPr id="16" name="">
            <a:extLst xmlns:a="http://schemas.openxmlformats.org/drawingml/2006/main">
              <a:ext uri="{FF2B5EF4-FFF2-40B4-BE49-F238E27FC236}">
                <a16:creationId xmlns:a16="http://schemas.microsoft.com/office/drawing/2014/main" id="{3C14D8BD-5DEC-40DF-B62C-C03B444FDE4F}"/>
              </a:ext>
            </a:extLst>
          </p:cNvPr>
          <p:cNvSpPr>
            <a:spLocks xmlns:a="http://schemas.openxmlformats.org/drawingml/2006/main" noGrp="1"/>
          </p:cNvSpPr>
          <p:nvPr/>
        </p:nvSpPr>
        <p:spPr>
          <a:xfrm xmlns:a="http://schemas.openxmlformats.org/drawingml/2006/main">
            <a:off x="8191500" y="20764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2BD3C"/>
                </a:solidFill>
                <a:latin typeface="Arial"/>
                <a:ea typeface="Arial"/>
                <a:cs typeface="Arial"/>
              </a:defRPr>
            </a:pPr>
            <a:r>
              <a:rPr sz="1050" b="1">
                <a:solidFill>
                  <a:srgbClr val="F2BD3C"/>
                </a:solidFill>
                <a:latin typeface="Arial"/>
                <a:ea typeface="Arial"/>
                <a:cs typeface="Arial"/>
              </a:rPr>
              <a:t>RETRIEVAL WARM-UP</a:t>
            </a:r>
          </a:p>
        </p:txBody>
      </p:sp>
      <p:sp>
        <p:nvSpPr>
          <p:cNvPr id="17" name="">
            <a:extLst xmlns:a="http://schemas.openxmlformats.org/drawingml/2006/main">
              <a:ext uri="{FF2B5EF4-FFF2-40B4-BE49-F238E27FC236}">
                <a16:creationId xmlns:a16="http://schemas.microsoft.com/office/drawing/2014/main" id="{5643B50C-73E3-46A5-AE3A-F4B7CBCD1C1B}"/>
              </a:ext>
            </a:extLst>
          </p:cNvPr>
          <p:cNvSpPr>
            <a:spLocks xmlns:a="http://schemas.openxmlformats.org/drawingml/2006/main" noGrp="1"/>
          </p:cNvSpPr>
          <p:nvPr/>
        </p:nvSpPr>
        <p:spPr>
          <a:xfrm xmlns:a="http://schemas.openxmlformats.org/drawingml/2006/main">
            <a:off x="8191500" y="2609850"/>
            <a:ext cx="2952750" cy="1390650"/>
          </a:xfrm>
          <a:prstGeom xmlns:a="http://schemas.openxmlformats.org/drawingml/2006/main" prst="roundRect">
            <a:avLst>
              <a:gd name="adj" fmla="val 8219"/>
            </a:avLst>
          </a:prstGeom>
          <a:solidFill xmlns:a="http://schemas.openxmlformats.org/drawingml/2006/main">
            <a:srgbClr val="17342C"/>
          </a:solidFill>
          <a:ln xmlns:a="http://schemas.openxmlformats.org/drawingml/2006/main" w="0">
            <a:noFill/>
            <a:prstDash val="solid"/>
          </a:ln>
        </p:spPr>
        <p:txBody>
          <a:bodyPr xmlns:a="http://schemas.openxmlformats.org/drawingml/2006/main" lIns="209550" tIns="209550" rIns="209550" bIns="209550" anchor="ctr">
            <a:normAutofit fontScale="79142"/>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What needs to stay connected when one visual state changes into another?</a:t>
            </a:r>
          </a:p>
        </p:txBody>
      </p:sp>
      <p:sp>
        <p:nvSpPr>
          <p:cNvPr id="18" name="">
            <a:extLst xmlns:a="http://schemas.openxmlformats.org/drawingml/2006/main">
              <a:ext uri="{FF2B5EF4-FFF2-40B4-BE49-F238E27FC236}">
                <a16:creationId xmlns:a16="http://schemas.microsoft.com/office/drawing/2014/main" id="{E64B5F30-51F2-430D-AF38-54B759C914D0}"/>
              </a:ext>
            </a:extLst>
          </p:cNvPr>
          <p:cNvSpPr>
            <a:spLocks xmlns:a="http://schemas.openxmlformats.org/drawingml/2006/main" noGrp="1"/>
          </p:cNvSpPr>
          <p:nvPr/>
        </p:nvSpPr>
        <p:spPr>
          <a:xfrm xmlns:a="http://schemas.openxmlformats.org/drawingml/2006/main">
            <a:off x="8191500" y="4229100"/>
            <a:ext cx="295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17342C"/>
                </a:solidFill>
                <a:latin typeface="Arial"/>
                <a:ea typeface="Arial"/>
                <a:cs typeface="Arial"/>
              </a:defRPr>
            </a:pPr>
            <a:r>
              <a:rPr sz="1275" b="0">
                <a:solidFill>
                  <a:srgbClr val="17342C"/>
                </a:solidFill>
                <a:latin typeface="Arial"/>
                <a:ea typeface="Arial"/>
                <a:cs typeface="Arial"/>
              </a:rPr>
              <a:t>Think silently → pair → share one reason.</a:t>
            </a:r>
          </a:p>
        </p:txBody>
      </p:sp>
      <p:sp>
        <p:nvSpPr>
          <p:cNvPr id="19" name="">
            <a:extLst xmlns:a="http://schemas.openxmlformats.org/drawingml/2006/main">
              <a:ext uri="{FF2B5EF4-FFF2-40B4-BE49-F238E27FC236}">
                <a16:creationId xmlns:a16="http://schemas.microsoft.com/office/drawing/2014/main" id="{4CC6D0B7-FA37-489C-B442-517427EA1B43}"/>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07  •  MOTION ADVERTISING</a:t>
            </a:r>
          </a:p>
        </p:txBody>
      </p:sp>
      <p:sp>
        <p:nvSpPr>
          <p:cNvPr id="20" name="">
            <a:extLst xmlns:a="http://schemas.openxmlformats.org/drawingml/2006/main">
              <a:ext uri="{FF2B5EF4-FFF2-40B4-BE49-F238E27FC236}">
                <a16:creationId xmlns:a16="http://schemas.microsoft.com/office/drawing/2014/main" id="{655B3DBA-9151-4DC3-9C68-411F1251B38C}"/>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02</a:t>
            </a:r>
          </a:p>
        </p:txBody>
      </p:sp>
    </p:spTree>
    <p:extLst>
      <p:ext uri="{BB962C8B-B14F-4D97-AF65-F5344CB8AC3E}">
        <p14:creationId xmlns:p14="http://schemas.microsoft.com/office/powerpoint/2010/main" val="504919327"/>
      </p:ext>
    </p:extLst>
  </p:cSld>
</p:sld>
</file>

<file path=ppt/slides/slide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17018CD-38EE-4DD0-9323-5AD0F1229386}"/>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F501C51-6D45-4846-AD93-2E412AFD7CE6}"/>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7.1  FRAMES, STATES AND TRANSITIONS</a:t>
            </a:r>
          </a:p>
        </p:txBody>
      </p:sp>
      <p:sp>
        <p:nvSpPr>
          <p:cNvPr id="3" name="">
            <a:extLst xmlns:a="http://schemas.openxmlformats.org/drawingml/2006/main">
              <a:ext uri="{FF2B5EF4-FFF2-40B4-BE49-F238E27FC236}">
                <a16:creationId xmlns:a16="http://schemas.microsoft.com/office/drawing/2014/main" id="{1DDE3D8E-2736-4600-85FC-6F9C25B67838}"/>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Frames, states and transitions</a:t>
            </a:r>
          </a:p>
        </p:txBody>
      </p:sp>
      <p:sp>
        <p:nvSpPr>
          <p:cNvPr id="4" name="">
            <a:extLst xmlns:a="http://schemas.openxmlformats.org/drawingml/2006/main">
              <a:ext uri="{FF2B5EF4-FFF2-40B4-BE49-F238E27FC236}">
                <a16:creationId xmlns:a16="http://schemas.microsoft.com/office/drawing/2014/main" id="{BE4DB737-4B93-42D4-8497-E95834D96B85}"/>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A7B3F9AC-2686-46DE-AC45-A9B8CD46C70C}"/>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713E436-5FD0-42E1-8F51-E1E9D3897020}"/>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A state is a planned arrangement at one point in time.</a:t>
            </a:r>
          </a:p>
        </p:txBody>
      </p:sp>
      <p:sp>
        <p:nvSpPr>
          <p:cNvPr id="7" name="">
            <a:extLst xmlns:a="http://schemas.openxmlformats.org/drawingml/2006/main">
              <a:ext uri="{FF2B5EF4-FFF2-40B4-BE49-F238E27FC236}">
                <a16:creationId xmlns:a16="http://schemas.microsoft.com/office/drawing/2014/main" id="{C6C028F1-0694-4081-BAD7-71C5637E8D05}"/>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F867327-86F3-429B-8A66-E000A1854179}"/>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A transition connects states.</a:t>
            </a:r>
          </a:p>
        </p:txBody>
      </p:sp>
      <p:sp>
        <p:nvSpPr>
          <p:cNvPr id="9" name="">
            <a:extLst xmlns:a="http://schemas.openxmlformats.org/drawingml/2006/main">
              <a:ext uri="{FF2B5EF4-FFF2-40B4-BE49-F238E27FC236}">
                <a16:creationId xmlns:a16="http://schemas.microsoft.com/office/drawing/2014/main" id="{F0DAAC94-24E6-4A10-8BFB-5D02D12FE043}"/>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9BAB10B-8908-433F-885F-E65ABFA4335F}"/>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Motion should support hierarchy and recognition.</a:t>
            </a:r>
          </a:p>
        </p:txBody>
      </p:sp>
      <p:sp>
        <p:nvSpPr>
          <p:cNvPr id="11" name="">
            <a:extLst xmlns:a="http://schemas.openxmlformats.org/drawingml/2006/main">
              <a:ext uri="{FF2B5EF4-FFF2-40B4-BE49-F238E27FC236}">
                <a16:creationId xmlns:a16="http://schemas.microsoft.com/office/drawing/2014/main" id="{DA65E83E-1C2F-4B48-BC85-9A1B1A695F78}"/>
              </a:ext>
            </a:extLst>
          </p:cNvPr>
          <p:cNvSpPr>
            <a:spLocks xmlns:a="http://schemas.openxmlformats.org/drawingml/2006/main" noGrp="1"/>
          </p:cNvSpPr>
          <p:nvPr/>
        </p:nvSpPr>
        <p:spPr>
          <a:xfrm xmlns:a="http://schemas.openxmlformats.org/drawingml/2006/main">
            <a:off x="7200900" y="1352550"/>
            <a:ext cx="43053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FD8D2"/>
            </a:solidFill>
            <a:prstDash val="solid"/>
          </a:ln>
        </p:spPr>
      </p:sp>
      <p:sp>
        <p:nvSpPr>
          <p:cNvPr id="12" name="">
            <a:extLst xmlns:a="http://schemas.openxmlformats.org/drawingml/2006/main">
              <a:ext uri="{FF2B5EF4-FFF2-40B4-BE49-F238E27FC236}">
                <a16:creationId xmlns:a16="http://schemas.microsoft.com/office/drawing/2014/main" id="{E92246C9-4D81-484B-A83A-F7188B7FF40E}"/>
              </a:ext>
            </a:extLst>
          </p:cNvPr>
          <p:cNvSpPr>
            <a:spLocks xmlns:a="http://schemas.openxmlformats.org/drawingml/2006/main" noGrp="1"/>
          </p:cNvSpPr>
          <p:nvPr/>
        </p:nvSpPr>
        <p:spPr>
          <a:xfrm xmlns:a="http://schemas.openxmlformats.org/drawingml/2006/main">
            <a:off x="7410450" y="1524000"/>
            <a:ext cx="3886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0C5554"/>
                </a:solidFill>
                <a:latin typeface="Arial"/>
                <a:ea typeface="Arial"/>
                <a:cs typeface="Arial"/>
              </a:defRPr>
            </a:pPr>
            <a:r>
              <a:rPr sz="1425" b="1">
                <a:solidFill>
                  <a:srgbClr val="0C5554"/>
                </a:solidFill>
                <a:latin typeface="Arial"/>
                <a:ea typeface="Arial"/>
                <a:cs typeface="Arial"/>
              </a:rPr>
              <a:t>PLAN PURPOSEFUL STATES</a:t>
            </a:r>
          </a:p>
        </p:txBody>
      </p:sp>
      <p:sp>
        <p:nvSpPr>
          <p:cNvPr id="13" name="">
            <a:extLst xmlns:a="http://schemas.openxmlformats.org/drawingml/2006/main">
              <a:ext uri="{FF2B5EF4-FFF2-40B4-BE49-F238E27FC236}">
                <a16:creationId xmlns:a16="http://schemas.microsoft.com/office/drawing/2014/main" id="{E1362DBA-937E-4621-8EAC-6D440D4C036D}"/>
              </a:ext>
            </a:extLst>
          </p:cNvPr>
          <p:cNvSpPr>
            <a:spLocks xmlns:a="http://schemas.openxmlformats.org/drawingml/2006/main" noGrp="1"/>
          </p:cNvSpPr>
          <p:nvPr/>
        </p:nvSpPr>
        <p:spPr>
          <a:xfrm xmlns:a="http://schemas.openxmlformats.org/drawingml/2006/main">
            <a:off x="7696200" y="1924050"/>
            <a:ext cx="3314700" cy="428625"/>
          </a:xfrm>
          <a:prstGeom xmlns:a="http://schemas.openxmlformats.org/drawingml/2006/main" prst="roundRect">
            <a:avLst>
              <a:gd name="adj" fmla="val 17778"/>
            </a:avLst>
          </a:prstGeom>
          <a:solidFill xmlns:a="http://schemas.openxmlformats.org/drawingml/2006/main">
            <a:srgbClr val="0C5554"/>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STATE A</a:t>
            </a:r>
          </a:p>
        </p:txBody>
      </p:sp>
      <p:sp>
        <p:nvSpPr>
          <p:cNvPr id="14" name="">
            <a:extLst xmlns:a="http://schemas.openxmlformats.org/drawingml/2006/main">
              <a:ext uri="{FF2B5EF4-FFF2-40B4-BE49-F238E27FC236}">
                <a16:creationId xmlns:a16="http://schemas.microsoft.com/office/drawing/2014/main" id="{F916EE6F-F454-4EA0-8A24-EE1151DCAEAE}"/>
              </a:ext>
            </a:extLst>
          </p:cNvPr>
          <p:cNvSpPr>
            <a:spLocks xmlns:a="http://schemas.openxmlformats.org/drawingml/2006/main" noGrp="1"/>
          </p:cNvSpPr>
          <p:nvPr/>
        </p:nvSpPr>
        <p:spPr>
          <a:xfrm xmlns:a="http://schemas.openxmlformats.org/drawingml/2006/main">
            <a:off x="9182100" y="2352675"/>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4EB430A9-9599-4855-9559-25F0C3AA80B4}"/>
              </a:ext>
            </a:extLst>
          </p:cNvPr>
          <p:cNvSpPr>
            <a:spLocks xmlns:a="http://schemas.openxmlformats.org/drawingml/2006/main" noGrp="1"/>
          </p:cNvSpPr>
          <p:nvPr/>
        </p:nvSpPr>
        <p:spPr>
          <a:xfrm xmlns:a="http://schemas.openxmlformats.org/drawingml/2006/main">
            <a:off x="7696200" y="2466975"/>
            <a:ext cx="3314700" cy="428625"/>
          </a:xfrm>
          <a:prstGeom xmlns:a="http://schemas.openxmlformats.org/drawingml/2006/main" prst="roundRect">
            <a:avLst>
              <a:gd name="adj" fmla="val 17778"/>
            </a:avLst>
          </a:prstGeom>
          <a:solidFill xmlns:a="http://schemas.openxmlformats.org/drawingml/2006/main">
            <a:srgbClr val="F2BD3C"/>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17342C"/>
                </a:solidFill>
                <a:latin typeface="Arial"/>
                <a:ea typeface="Arial"/>
                <a:cs typeface="Arial"/>
              </a:defRPr>
            </a:pPr>
            <a:r>
              <a:rPr sz="1425" b="1">
                <a:solidFill>
                  <a:srgbClr val="17342C"/>
                </a:solidFill>
                <a:latin typeface="Arial"/>
                <a:ea typeface="Arial"/>
                <a:cs typeface="Arial"/>
              </a:rPr>
              <a:t>CHANGE</a:t>
            </a:r>
          </a:p>
        </p:txBody>
      </p:sp>
      <p:sp>
        <p:nvSpPr>
          <p:cNvPr id="16" name="">
            <a:extLst xmlns:a="http://schemas.openxmlformats.org/drawingml/2006/main">
              <a:ext uri="{FF2B5EF4-FFF2-40B4-BE49-F238E27FC236}">
                <a16:creationId xmlns:a16="http://schemas.microsoft.com/office/drawing/2014/main" id="{45B818CC-F0E8-4013-81D8-30DD762ECF44}"/>
              </a:ext>
            </a:extLst>
          </p:cNvPr>
          <p:cNvSpPr>
            <a:spLocks xmlns:a="http://schemas.openxmlformats.org/drawingml/2006/main" noGrp="1"/>
          </p:cNvSpPr>
          <p:nvPr/>
        </p:nvSpPr>
        <p:spPr>
          <a:xfrm xmlns:a="http://schemas.openxmlformats.org/drawingml/2006/main">
            <a:off x="9182100" y="2895600"/>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FA28BCB5-D912-4481-A03F-472D6C90BBCD}"/>
              </a:ext>
            </a:extLst>
          </p:cNvPr>
          <p:cNvSpPr>
            <a:spLocks xmlns:a="http://schemas.openxmlformats.org/drawingml/2006/main" noGrp="1"/>
          </p:cNvSpPr>
          <p:nvPr/>
        </p:nvSpPr>
        <p:spPr>
          <a:xfrm xmlns:a="http://schemas.openxmlformats.org/drawingml/2006/main">
            <a:off x="7696200" y="3009900"/>
            <a:ext cx="3314700" cy="428625"/>
          </a:xfrm>
          <a:prstGeom xmlns:a="http://schemas.openxmlformats.org/drawingml/2006/main" prst="roundRect">
            <a:avLst>
              <a:gd name="adj" fmla="val 17778"/>
            </a:avLst>
          </a:prstGeom>
          <a:solidFill xmlns:a="http://schemas.openxmlformats.org/drawingml/2006/main">
            <a:srgbClr val="17756F"/>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STATE B</a:t>
            </a:r>
          </a:p>
        </p:txBody>
      </p:sp>
      <p:sp>
        <p:nvSpPr>
          <p:cNvPr id="18" name="">
            <a:extLst xmlns:a="http://schemas.openxmlformats.org/drawingml/2006/main">
              <a:ext uri="{FF2B5EF4-FFF2-40B4-BE49-F238E27FC236}">
                <a16:creationId xmlns:a16="http://schemas.microsoft.com/office/drawing/2014/main" id="{48FE77D1-4A84-4F83-BCB9-59ABC5AC441E}"/>
              </a:ext>
            </a:extLst>
          </p:cNvPr>
          <p:cNvSpPr>
            <a:spLocks xmlns:a="http://schemas.openxmlformats.org/drawingml/2006/main" noGrp="1"/>
          </p:cNvSpPr>
          <p:nvPr/>
        </p:nvSpPr>
        <p:spPr>
          <a:xfrm xmlns:a="http://schemas.openxmlformats.org/drawingml/2006/main">
            <a:off x="9182100" y="3438525"/>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E6046B2B-C255-4116-A0D7-0F25E787945F}"/>
              </a:ext>
            </a:extLst>
          </p:cNvPr>
          <p:cNvSpPr>
            <a:spLocks xmlns:a="http://schemas.openxmlformats.org/drawingml/2006/main" noGrp="1"/>
          </p:cNvSpPr>
          <p:nvPr/>
        </p:nvSpPr>
        <p:spPr>
          <a:xfrm xmlns:a="http://schemas.openxmlformats.org/drawingml/2006/main">
            <a:off x="7696200" y="3552825"/>
            <a:ext cx="3314700" cy="428625"/>
          </a:xfrm>
          <a:prstGeom xmlns:a="http://schemas.openxmlformats.org/drawingml/2006/main" prst="roundRect">
            <a:avLst>
              <a:gd name="adj" fmla="val 17778"/>
            </a:avLst>
          </a:prstGeom>
          <a:solidFill xmlns:a="http://schemas.openxmlformats.org/drawingml/2006/main">
            <a:srgbClr val="6A57C8"/>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REVIEW PURPOSE</a:t>
            </a:r>
          </a:p>
        </p:txBody>
      </p:sp>
      <p:sp>
        <p:nvSpPr>
          <p:cNvPr id="20" name="">
            <a:extLst xmlns:a="http://schemas.openxmlformats.org/drawingml/2006/main">
              <a:ext uri="{FF2B5EF4-FFF2-40B4-BE49-F238E27FC236}">
                <a16:creationId xmlns:a16="http://schemas.microsoft.com/office/drawing/2014/main" id="{13C7EF60-7A1C-4D86-A302-FBFB30020F59}"/>
              </a:ext>
            </a:extLst>
          </p:cNvPr>
          <p:cNvSpPr>
            <a:spLocks xmlns:a="http://schemas.openxmlformats.org/drawingml/2006/main" noGrp="1"/>
          </p:cNvSpPr>
          <p:nvPr/>
        </p:nvSpPr>
        <p:spPr>
          <a:xfrm xmlns:a="http://schemas.openxmlformats.org/drawingml/2006/main">
            <a:off x="7429500" y="4343400"/>
            <a:ext cx="3848100" cy="361950"/>
          </a:xfrm>
          <a:prstGeom xmlns:a="http://schemas.openxmlformats.org/drawingml/2006/main" prst="roundRect">
            <a:avLst>
              <a:gd name="adj" fmla="val 2105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95250" tIns="47625" rIns="95250" bIns="47625" anchor="ctr">
            <a:normAutofit fontScale="70278"/>
          </a:bodyPr>
          <a:lstStyle xmlns:a="http://schemas.openxmlformats.org/drawingml/2006/main"/>
          <a:p xmlns:a="http://schemas.openxmlformats.org/drawingml/2006/main">
            <a:pPr algn="ctr">
              <a:defRPr sz="1200" b="1">
                <a:solidFill>
                  <a:srgbClr val="17342C"/>
                </a:solidFill>
                <a:latin typeface="Arial"/>
                <a:ea typeface="Arial"/>
                <a:cs typeface="Arial"/>
              </a:defRPr>
            </a:pPr>
            <a:r>
              <a:rPr sz="1200" b="1">
                <a:solidFill>
                  <a:srgbClr val="17342C"/>
                </a:solidFill>
                <a:latin typeface="Arial"/>
                <a:ea typeface="Arial"/>
                <a:cs typeface="Arial"/>
              </a:rPr>
              <a:t>Every state should move the message forward—not just move objects.</a:t>
            </a:r>
          </a:p>
        </p:txBody>
      </p:sp>
      <p:sp>
        <p:nvSpPr>
          <p:cNvPr id="21" name="">
            <a:extLst xmlns:a="http://schemas.openxmlformats.org/drawingml/2006/main">
              <a:ext uri="{FF2B5EF4-FFF2-40B4-BE49-F238E27FC236}">
                <a16:creationId xmlns:a16="http://schemas.microsoft.com/office/drawing/2014/main" id="{DCED8D70-27FE-4446-935B-D0591A098D8A}"/>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22" name="">
            <a:extLst xmlns:a="http://schemas.openxmlformats.org/drawingml/2006/main">
              <a:ext uri="{FF2B5EF4-FFF2-40B4-BE49-F238E27FC236}">
                <a16:creationId xmlns:a16="http://schemas.microsoft.com/office/drawing/2014/main" id="{FD88406F-DEB0-4CC2-8B10-5A0E008CD6D4}"/>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What is a state in an animation?</a:t>
            </a:r>
          </a:p>
        </p:txBody>
      </p:sp>
      <p:sp>
        <p:nvSpPr>
          <p:cNvPr id="23" name="">
            <a:extLst xmlns:a="http://schemas.openxmlformats.org/drawingml/2006/main">
              <a:ext uri="{FF2B5EF4-FFF2-40B4-BE49-F238E27FC236}">
                <a16:creationId xmlns:a16="http://schemas.microsoft.com/office/drawing/2014/main" id="{5110A9E8-D4BB-470E-A2C2-3B6F9DFBB650}"/>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07  •  MOTION ADVERTISING</a:t>
            </a:r>
          </a:p>
        </p:txBody>
      </p:sp>
      <p:sp>
        <p:nvSpPr>
          <p:cNvPr id="24" name="">
            <a:extLst xmlns:a="http://schemas.openxmlformats.org/drawingml/2006/main">
              <a:ext uri="{FF2B5EF4-FFF2-40B4-BE49-F238E27FC236}">
                <a16:creationId xmlns:a16="http://schemas.microsoft.com/office/drawing/2014/main" id="{2F12C261-DF0E-4EB3-9776-A0214845F77D}"/>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03</a:t>
            </a:r>
          </a:p>
        </p:txBody>
      </p:sp>
    </p:spTree>
    <p:extLst>
      <p:ext uri="{BB962C8B-B14F-4D97-AF65-F5344CB8AC3E}">
        <p14:creationId xmlns:p14="http://schemas.microsoft.com/office/powerpoint/2010/main" val="551451824"/>
      </p:ext>
    </p:extLst>
  </p:cSld>
</p:sld>
</file>

<file path=ppt/slides/slide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F386C3D-45C1-42F4-A8FB-3AA8E3BD6AF4}"/>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69AE35E-16B7-4EA8-88FE-F1B95BBFDD22}"/>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7.2  MATCH AND MOVE</a:t>
            </a:r>
          </a:p>
        </p:txBody>
      </p:sp>
      <p:sp>
        <p:nvSpPr>
          <p:cNvPr id="3" name="">
            <a:extLst xmlns:a="http://schemas.openxmlformats.org/drawingml/2006/main">
              <a:ext uri="{FF2B5EF4-FFF2-40B4-BE49-F238E27FC236}">
                <a16:creationId xmlns:a16="http://schemas.microsoft.com/office/drawing/2014/main" id="{FC61F521-B0E4-403C-AED2-4892E77C288D}"/>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Match and Move</a:t>
            </a:r>
          </a:p>
        </p:txBody>
      </p:sp>
      <p:sp>
        <p:nvSpPr>
          <p:cNvPr id="4" name="">
            <a:extLst xmlns:a="http://schemas.openxmlformats.org/drawingml/2006/main">
              <a:ext uri="{FF2B5EF4-FFF2-40B4-BE49-F238E27FC236}">
                <a16:creationId xmlns:a16="http://schemas.microsoft.com/office/drawing/2014/main" id="{F663B172-2F5F-4A2E-8D44-92301F1D6B5D}"/>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CF3CC77A-8523-43FD-AACA-A0E12DF16C09}"/>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65C9597-DD0F-4061-9254-7E7BCCC5F30B}"/>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Use the Drive demonstration as authority for the shown workflow.</a:t>
            </a:r>
          </a:p>
        </p:txBody>
      </p:sp>
      <p:sp>
        <p:nvSpPr>
          <p:cNvPr id="7" name="">
            <a:extLst xmlns:a="http://schemas.openxmlformats.org/drawingml/2006/main">
              <a:ext uri="{FF2B5EF4-FFF2-40B4-BE49-F238E27FC236}">
                <a16:creationId xmlns:a16="http://schemas.microsoft.com/office/drawing/2014/main" id="{60B0F92A-EF70-446D-BD53-64F83ADA31C5}"/>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571BFD4-93ED-4137-9D73-2D968218E9D2}"/>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Duplicated states preserve element correspondence.</a:t>
            </a:r>
          </a:p>
        </p:txBody>
      </p:sp>
      <p:sp>
        <p:nvSpPr>
          <p:cNvPr id="9" name="">
            <a:extLst xmlns:a="http://schemas.openxmlformats.org/drawingml/2006/main">
              <a:ext uri="{FF2B5EF4-FFF2-40B4-BE49-F238E27FC236}">
                <a16:creationId xmlns:a16="http://schemas.microsoft.com/office/drawing/2014/main" id="{BA25EA09-F827-4EA5-ADAA-2B7993B06139}"/>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7F8B6CD-2ED6-4B78-B880-441E238541F4}"/>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The shown portrait size is not automatically a class requirement.</a:t>
            </a:r>
          </a:p>
        </p:txBody>
      </p:sp>
      <p:sp>
        <p:nvSpPr>
          <p:cNvPr id="11" name="">
            <a:extLst xmlns:a="http://schemas.openxmlformats.org/drawingml/2006/main">
              <a:ext uri="{FF2B5EF4-FFF2-40B4-BE49-F238E27FC236}">
                <a16:creationId xmlns:a16="http://schemas.microsoft.com/office/drawing/2014/main" id="{7F48E63B-E5CE-4DE9-B950-3A220E7B7A1F}"/>
              </a:ext>
            </a:extLst>
          </p:cNvPr>
          <p:cNvSpPr>
            <a:spLocks xmlns:a="http://schemas.openxmlformats.org/drawingml/2006/main" noGrp="1"/>
          </p:cNvSpPr>
          <p:nvPr/>
        </p:nvSpPr>
        <p:spPr>
          <a:xfrm xmlns:a="http://schemas.openxmlformats.org/drawingml/2006/main">
            <a:off x="7200900" y="1352550"/>
            <a:ext cx="43053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12" name="">
            <a:extLst xmlns:a="http://schemas.openxmlformats.org/drawingml/2006/main">
              <a:ext uri="{FF2B5EF4-FFF2-40B4-BE49-F238E27FC236}">
                <a16:creationId xmlns:a16="http://schemas.microsoft.com/office/drawing/2014/main" id="{862C5A87-0A08-47E1-A455-CBDC02B56D83}"/>
              </a:ext>
            </a:extLst>
          </p:cNvPr>
          <p:cNvSpPr>
            <a:spLocks xmlns:a="http://schemas.openxmlformats.org/drawingml/2006/main" noGrp="1"/>
          </p:cNvSpPr>
          <p:nvPr/>
        </p:nvSpPr>
        <p:spPr>
          <a:xfrm xmlns:a="http://schemas.openxmlformats.org/drawingml/2006/main">
            <a:off x="7353300" y="14478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0C5554"/>
                </a:solidFill>
                <a:latin typeface="Arial"/>
                <a:ea typeface="Arial"/>
                <a:cs typeface="Arial"/>
              </a:defRPr>
            </a:pPr>
            <a:r>
              <a:rPr sz="1050" b="1">
                <a:solidFill>
                  <a:srgbClr val="0C5554"/>
                </a:solidFill>
                <a:latin typeface="Arial"/>
                <a:ea typeface="Arial"/>
                <a:cs typeface="Arial"/>
              </a:rPr>
              <a:t>PROCESS TO WATCH</a:t>
            </a:r>
          </a:p>
        </p:txBody>
      </p:sp>
      <p:sp>
        <p:nvSpPr>
          <p:cNvPr id="13" name="">
            <a:extLst xmlns:a="http://schemas.openxmlformats.org/drawingml/2006/main">
              <a:ext uri="{FF2B5EF4-FFF2-40B4-BE49-F238E27FC236}">
                <a16:creationId xmlns:a16="http://schemas.microsoft.com/office/drawing/2014/main" id="{762CA6F7-D39E-45AD-879A-3F0F4FEB3F56}"/>
              </a:ext>
            </a:extLst>
          </p:cNvPr>
          <p:cNvSpPr>
            <a:spLocks xmlns:a="http://schemas.openxmlformats.org/drawingml/2006/main" noGrp="1"/>
          </p:cNvSpPr>
          <p:nvPr/>
        </p:nvSpPr>
        <p:spPr>
          <a:xfrm xmlns:a="http://schemas.openxmlformats.org/drawingml/2006/main">
            <a:off x="7353300" y="1724025"/>
            <a:ext cx="914400" cy="428625"/>
          </a:xfrm>
          <a:prstGeom xmlns:a="http://schemas.openxmlformats.org/drawingml/2006/main" prst="roundRect">
            <a:avLst>
              <a:gd name="adj" fmla="val 17778"/>
            </a:avLst>
          </a:prstGeom>
          <a:solidFill xmlns:a="http://schemas.openxmlformats.org/drawingml/2006/main">
            <a:srgbClr val="0C5554"/>
          </a:solidFill>
          <a:ln xmlns:a="http://schemas.openxmlformats.org/drawingml/2006/main" w="0">
            <a:noFill/>
            <a:prstDash val="solid"/>
          </a:ln>
        </p:spPr>
        <p:txBody>
          <a:bodyPr xmlns:a="http://schemas.openxmlformats.org/drawingml/2006/main" lIns="47625" tIns="38100" rIns="47625" bIns="38100" anchor="ctr">
            <a:normAutofit fontScale="95803"/>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DUPLICATE</a:t>
            </a:r>
          </a:p>
        </p:txBody>
      </p:sp>
      <p:sp>
        <p:nvSpPr>
          <p:cNvPr id="14" name="">
            <a:extLst xmlns:a="http://schemas.openxmlformats.org/drawingml/2006/main">
              <a:ext uri="{FF2B5EF4-FFF2-40B4-BE49-F238E27FC236}">
                <a16:creationId xmlns:a16="http://schemas.microsoft.com/office/drawing/2014/main" id="{87FE2B47-9133-48E6-9235-336760722912}"/>
              </a:ext>
            </a:extLst>
          </p:cNvPr>
          <p:cNvSpPr>
            <a:spLocks xmlns:a="http://schemas.openxmlformats.org/drawingml/2006/main" noGrp="1"/>
          </p:cNvSpPr>
          <p:nvPr/>
        </p:nvSpPr>
        <p:spPr>
          <a:xfrm xmlns:a="http://schemas.openxmlformats.org/drawingml/2006/main">
            <a:off x="8382000" y="1724025"/>
            <a:ext cx="914400" cy="428625"/>
          </a:xfrm>
          <a:prstGeom xmlns:a="http://schemas.openxmlformats.org/drawingml/2006/main" prst="roundRect">
            <a:avLst>
              <a:gd name="adj" fmla="val 17778"/>
            </a:avLst>
          </a:prstGeom>
          <a:solidFill xmlns:a="http://schemas.openxmlformats.org/drawingml/2006/main">
            <a:srgbClr val="F2BD3C"/>
          </a:solidFill>
          <a:ln xmlns:a="http://schemas.openxmlformats.org/drawingml/2006/main" w="0">
            <a:noFill/>
            <a:prstDash val="solid"/>
          </a:ln>
        </p:spPr>
        <p:txBody>
          <a:bodyPr xmlns:a="http://schemas.openxmlformats.org/drawingml/2006/main" lIns="47625" tIns="38100" rIns="47625" bIns="38100" anchor="ctr">
            <a:normAutofit fontScale="100000"/>
          </a:bodyPr>
          <a:lstStyle xmlns:a="http://schemas.openxmlformats.org/drawingml/2006/main"/>
          <a:p xmlns:a="http://schemas.openxmlformats.org/drawingml/2006/main">
            <a:pPr algn="ctr">
              <a:defRPr sz="1125" b="1">
                <a:solidFill>
                  <a:srgbClr val="17342C"/>
                </a:solidFill>
                <a:latin typeface="Arial"/>
                <a:ea typeface="Arial"/>
                <a:cs typeface="Arial"/>
              </a:defRPr>
            </a:pPr>
            <a:r>
              <a:rPr sz="1125" b="1">
                <a:solidFill>
                  <a:srgbClr val="17342C"/>
                </a:solidFill>
                <a:latin typeface="Arial"/>
                <a:ea typeface="Arial"/>
                <a:cs typeface="Arial"/>
              </a:rPr>
              <a:t>MOVE</a:t>
            </a:r>
          </a:p>
        </p:txBody>
      </p:sp>
      <p:sp>
        <p:nvSpPr>
          <p:cNvPr id="15" name="">
            <a:extLst xmlns:a="http://schemas.openxmlformats.org/drawingml/2006/main">
              <a:ext uri="{FF2B5EF4-FFF2-40B4-BE49-F238E27FC236}">
                <a16:creationId xmlns:a16="http://schemas.microsoft.com/office/drawing/2014/main" id="{972707EE-D4F7-47EB-A970-91F6132849EE}"/>
              </a:ext>
            </a:extLst>
          </p:cNvPr>
          <p:cNvSpPr>
            <a:spLocks xmlns:a="http://schemas.openxmlformats.org/drawingml/2006/main" noGrp="1"/>
          </p:cNvSpPr>
          <p:nvPr/>
        </p:nvSpPr>
        <p:spPr>
          <a:xfrm xmlns:a="http://schemas.openxmlformats.org/drawingml/2006/main">
            <a:off x="9410700" y="1724025"/>
            <a:ext cx="914400" cy="428625"/>
          </a:xfrm>
          <a:prstGeom xmlns:a="http://schemas.openxmlformats.org/drawingml/2006/main" prst="roundRect">
            <a:avLst>
              <a:gd name="adj" fmla="val 17778"/>
            </a:avLst>
          </a:prstGeom>
          <a:solidFill xmlns:a="http://schemas.openxmlformats.org/drawingml/2006/main">
            <a:srgbClr val="E8674B"/>
          </a:solidFill>
          <a:ln xmlns:a="http://schemas.openxmlformats.org/drawingml/2006/main" w="0">
            <a:noFill/>
            <a:prstDash val="solid"/>
          </a:ln>
        </p:spPr>
        <p:txBody>
          <a:bodyPr xmlns:a="http://schemas.openxmlformats.org/drawingml/2006/main" lIns="47625" tIns="38100" rIns="47625" bIns="38100"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MATCH</a:t>
            </a:r>
          </a:p>
        </p:txBody>
      </p:sp>
      <p:sp>
        <p:nvSpPr>
          <p:cNvPr id="16" name="">
            <a:extLst xmlns:a="http://schemas.openxmlformats.org/drawingml/2006/main">
              <a:ext uri="{FF2B5EF4-FFF2-40B4-BE49-F238E27FC236}">
                <a16:creationId xmlns:a16="http://schemas.microsoft.com/office/drawing/2014/main" id="{D048DDAD-F158-49BC-A869-62CE620CD314}"/>
              </a:ext>
            </a:extLst>
          </p:cNvPr>
          <p:cNvSpPr>
            <a:spLocks xmlns:a="http://schemas.openxmlformats.org/drawingml/2006/main" noGrp="1"/>
          </p:cNvSpPr>
          <p:nvPr/>
        </p:nvSpPr>
        <p:spPr>
          <a:xfrm xmlns:a="http://schemas.openxmlformats.org/drawingml/2006/main">
            <a:off x="10439400" y="1724025"/>
            <a:ext cx="914400" cy="428625"/>
          </a:xfrm>
          <a:prstGeom xmlns:a="http://schemas.openxmlformats.org/drawingml/2006/main" prst="roundRect">
            <a:avLst>
              <a:gd name="adj" fmla="val 17778"/>
            </a:avLst>
          </a:prstGeom>
          <a:solidFill xmlns:a="http://schemas.openxmlformats.org/drawingml/2006/main">
            <a:srgbClr val="6A57C8"/>
          </a:solidFill>
          <a:ln xmlns:a="http://schemas.openxmlformats.org/drawingml/2006/main" w="0">
            <a:noFill/>
            <a:prstDash val="solid"/>
          </a:ln>
        </p:spPr>
        <p:txBody>
          <a:bodyPr xmlns:a="http://schemas.openxmlformats.org/drawingml/2006/main" lIns="47625" tIns="38100" rIns="47625" bIns="38100"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REVIEW</a:t>
            </a:r>
          </a:p>
        </p:txBody>
      </p:sp>
      <p:sp>
        <p:nvSpPr>
          <p:cNvPr id="17" name="">
            <a:extLst xmlns:a="http://schemas.openxmlformats.org/drawingml/2006/main">
              <a:ext uri="{FF2B5EF4-FFF2-40B4-BE49-F238E27FC236}">
                <a16:creationId xmlns:a16="http://schemas.microsoft.com/office/drawing/2014/main" id="{6E7491E3-F609-41A7-AEBE-86C5236A1944}"/>
              </a:ext>
            </a:extLst>
          </p:cNvPr>
          <p:cNvSpPr>
            <a:spLocks xmlns:a="http://schemas.openxmlformats.org/drawingml/2006/main" noGrp="1"/>
          </p:cNvSpPr>
          <p:nvPr/>
        </p:nvSpPr>
        <p:spPr>
          <a:xfrm xmlns:a="http://schemas.openxmlformats.org/drawingml/2006/main">
            <a:off x="7781925" y="2362200"/>
            <a:ext cx="3143250" cy="1771650"/>
          </a:xfrm>
          <a:prstGeom xmlns:a="http://schemas.openxmlformats.org/drawingml/2006/main" prst="roundRect">
            <a:avLst>
              <a:gd name="adj" fmla="val 6452"/>
            </a:avLst>
          </a:prstGeom>
          <a:solidFill xmlns:a="http://schemas.openxmlformats.org/drawingml/2006/main">
            <a:srgbClr val="0C5554"/>
          </a:solidFill>
          <a:ln xmlns:a="http://schemas.openxmlformats.org/drawingml/2006/main" w="9525">
            <a:solidFill>
              <a:srgbClr val="CFD8D2"/>
            </a:solidFill>
            <a:prstDash val="solid"/>
          </a:ln>
        </p:spPr>
      </p:sp>
      <p:pic>
        <p:nvPicPr>
          <p:cNvPr id="42" name="Drive video poster — Match and Move.mp4" title="Drive video poster — Match and Move.mp4" descr="Custom privacy-safe poster for Match and Move.mp4, duration 6:21. Ctrl+click the poster to open the authorised Drive video.">
            <a:hlinkClick xmlns:a="http://schemas.openxmlformats.org/drawingml/2006/main" xmlns:r="http://schemas.openxmlformats.org/officeDocument/2006/relationships" r:id="RStage07Hyperlink4_1"/>
          </p:cNvPr>
          <p:cNvPicPr>
            <a:picLocks xmlns:a="http://schemas.openxmlformats.org/drawingml/2006/main" noChangeAspect="1"/>
          </p:cNvPicPr>
          <p:nvPr/>
        </p:nvPicPr>
        <p:blipFill>
          <a:blip xmlns:r="http://schemas.openxmlformats.org/officeDocument/2006/relationships" xmlns:a="http://schemas.openxmlformats.org/drawingml/2006/main" r:embed="Rb59d905051a14bd3"/>
          <a:stretch xmlns:a="http://schemas.openxmlformats.org/drawingml/2006/main"/>
        </p:blipFill>
        <p:spPr>
          <a:xfrm xmlns:a="http://schemas.openxmlformats.org/drawingml/2006/main">
            <a:off x="7781925" y="2363549"/>
            <a:ext cx="3143250" cy="1768951"/>
          </a:xfrm>
          <a:prstGeom xmlns:a="http://schemas.openxmlformats.org/drawingml/2006/main" prst="roundRect">
            <a:avLst>
              <a:gd name="adj" fmla="val 6452"/>
            </a:avLst>
          </a:prstGeom>
        </p:spPr>
      </p:pic>
      <p:sp>
        <p:nvSpPr>
          <p:cNvPr id="19" name="">
            <a:extLst xmlns:a="http://schemas.openxmlformats.org/drawingml/2006/main">
              <a:ext uri="{FF2B5EF4-FFF2-40B4-BE49-F238E27FC236}">
                <a16:creationId xmlns:a16="http://schemas.microsoft.com/office/drawing/2014/main" id="{234EECCB-FA64-4074-95C7-A7460F7FE4E5}"/>
              </a:ext>
            </a:extLst>
          </p:cNvPr>
          <p:cNvSpPr>
            <a:spLocks xmlns:a="http://schemas.openxmlformats.org/drawingml/2006/main" noGrp="1"/>
          </p:cNvSpPr>
          <p:nvPr/>
        </p:nvSpPr>
        <p:spPr>
          <a:xfrm xmlns:a="http://schemas.openxmlformats.org/drawingml/2006/main">
            <a:off x="7200900" y="4210050"/>
            <a:ext cx="4305300" cy="285750"/>
          </a:xfrm>
          <a:prstGeom xmlns:a="http://schemas.openxmlformats.org/drawingml/2006/main" prst="roundRect">
            <a:avLst>
              <a:gd name="adj" fmla="val 26667"/>
            </a:avLst>
          </a:prstGeom>
          <a:solidFill xmlns:a="http://schemas.openxmlformats.org/drawingml/2006/main">
            <a:srgbClr val="FCF4D8"/>
          </a:solidFill>
          <a:ln xmlns:a="http://schemas.openxmlformats.org/drawingml/2006/main" w="0">
            <a:noFill/>
            <a:prstDash val="solid"/>
          </a:ln>
        </p:spPr>
        <p:txBody>
          <a:bodyPr xmlns:a="http://schemas.openxmlformats.org/drawingml/2006/main" lIns="66675" tIns="38100" rIns="66675" bIns="38100" anchor="ctr">
            <a:normAutofit fontScale="96187"/>
          </a:bodyPr>
          <a:lstStyle xmlns:a="http://schemas.openxmlformats.org/drawingml/2006/main"/>
          <a:p xmlns:a="http://schemas.openxmlformats.org/drawingml/2006/main">
            <a:pPr algn="ctr">
              <a:defRPr sz="1125" b="1">
                <a:solidFill>
                  <a:srgbClr val="0C5554"/>
                </a:solidFill>
                <a:latin typeface="Arial"/>
                <a:ea typeface="Arial"/>
                <a:cs typeface="Arial"/>
              </a:defRPr>
            </a:pPr>
            <a:r>
              <a:rPr sz="1125" b="1">
                <a:solidFill>
                  <a:srgbClr val="0C5554"/>
                </a:solidFill>
                <a:latin typeface="Arial"/>
                <a:ea typeface="Arial"/>
                <a:cs typeface="Arial"/>
              </a:rPr>
              <a:t>TEACHER: CTRL+CLICK POSTER TO OPEN DRIVE  •  6:21</a:t>
            </a:r>
          </a:p>
        </p:txBody>
      </p:sp>
      <p:sp>
        <p:nvSpPr>
          <p:cNvPr id="20" name="">
            <a:extLst xmlns:a="http://schemas.openxmlformats.org/drawingml/2006/main">
              <a:ext uri="{FF2B5EF4-FFF2-40B4-BE49-F238E27FC236}">
                <a16:creationId xmlns:a16="http://schemas.microsoft.com/office/drawing/2014/main" id="{8325C265-0756-4370-95CA-8ACC80457204}"/>
              </a:ext>
            </a:extLst>
          </p:cNvPr>
          <p:cNvSpPr>
            <a:spLocks xmlns:a="http://schemas.openxmlformats.org/drawingml/2006/main" noGrp="1"/>
          </p:cNvSpPr>
          <p:nvPr/>
        </p:nvSpPr>
        <p:spPr>
          <a:xfrm xmlns:a="http://schemas.openxmlformats.org/drawingml/2006/main">
            <a:off x="7200900" y="4572000"/>
            <a:ext cx="430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3333"/>
          </a:bodyPr>
          <a:lstStyle xmlns:a="http://schemas.openxmlformats.org/drawingml/2006/main"/>
          <a:p xmlns:a="http://schemas.openxmlformats.org/drawingml/2006/main">
            <a:pPr algn="l">
              <a:defRPr sz="1200" b="1">
                <a:solidFill>
                  <a:srgbClr val="17342C"/>
                </a:solidFill>
                <a:latin typeface="Arial"/>
                <a:ea typeface="Arial"/>
                <a:cs typeface="Arial"/>
              </a:defRPr>
            </a:pPr>
            <a:r>
              <a:rPr sz="1200" b="1">
                <a:solidFill>
                  <a:srgbClr val="17342C"/>
                </a:solidFill>
                <a:latin typeface="Arial"/>
                <a:ea typeface="Arial"/>
                <a:cs typeface="Arial"/>
              </a:rPr>
              <a:t>WATCH FOR: Which elements stay consistent between states, and which deliberate change allows Match and Move to create the transition?</a:t>
            </a:r>
          </a:p>
        </p:txBody>
      </p:sp>
      <p:sp>
        <p:nvSpPr>
          <p:cNvPr id="21" name="">
            <a:extLst xmlns:a="http://schemas.openxmlformats.org/drawingml/2006/main">
              <a:ext uri="{FF2B5EF4-FFF2-40B4-BE49-F238E27FC236}">
                <a16:creationId xmlns:a16="http://schemas.microsoft.com/office/drawing/2014/main" id="{AA9CA69F-8718-4DF6-ABE3-7FCFC78A8A5A}"/>
              </a:ext>
            </a:extLst>
          </p:cNvPr>
          <p:cNvSpPr>
            <a:spLocks xmlns:a="http://schemas.openxmlformats.org/drawingml/2006/main" noGrp="1"/>
          </p:cNvSpPr>
          <p:nvPr/>
        </p:nvSpPr>
        <p:spPr>
          <a:xfrm xmlns:a="http://schemas.openxmlformats.org/drawingml/2006/main">
            <a:off x="7200900" y="51054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22" name="">
            <a:extLst xmlns:a="http://schemas.openxmlformats.org/drawingml/2006/main">
              <a:ext uri="{FF2B5EF4-FFF2-40B4-BE49-F238E27FC236}">
                <a16:creationId xmlns:a16="http://schemas.microsoft.com/office/drawing/2014/main" id="{8EA50A0C-A1EC-43A8-99F1-873AB752E21C}"/>
              </a:ext>
            </a:extLst>
          </p:cNvPr>
          <p:cNvSpPr>
            <a:spLocks xmlns:a="http://schemas.openxmlformats.org/drawingml/2006/main" noGrp="1"/>
          </p:cNvSpPr>
          <p:nvPr/>
        </p:nvSpPr>
        <p:spPr>
          <a:xfrm xmlns:a="http://schemas.openxmlformats.org/drawingml/2006/main">
            <a:off x="7200900" y="5314950"/>
            <a:ext cx="4305300" cy="876300"/>
          </a:xfrm>
          <a:prstGeom xmlns:a="http://schemas.openxmlformats.org/drawingml/2006/main" prst="roundRect">
            <a:avLst>
              <a:gd name="adj" fmla="val 8696"/>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Which action helps preserve element correspondence?</a:t>
            </a:r>
          </a:p>
        </p:txBody>
      </p:sp>
      <p:sp>
        <p:nvSpPr>
          <p:cNvPr id="23" name="">
            <a:extLst xmlns:a="http://schemas.openxmlformats.org/drawingml/2006/main">
              <a:ext uri="{FF2B5EF4-FFF2-40B4-BE49-F238E27FC236}">
                <a16:creationId xmlns:a16="http://schemas.microsoft.com/office/drawing/2014/main" id="{1C82DCF0-5D26-402E-8E01-EFB2D25FAF27}"/>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07  •  MOTION ADVERTISING</a:t>
            </a:r>
          </a:p>
        </p:txBody>
      </p:sp>
      <p:sp>
        <p:nvSpPr>
          <p:cNvPr id="24" name="">
            <a:extLst xmlns:a="http://schemas.openxmlformats.org/drawingml/2006/main">
              <a:ext uri="{FF2B5EF4-FFF2-40B4-BE49-F238E27FC236}">
                <a16:creationId xmlns:a16="http://schemas.microsoft.com/office/drawing/2014/main" id="{CCD05E18-09E7-40B5-9CAD-B3B5972EB376}"/>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04</a:t>
            </a:r>
          </a:p>
        </p:txBody>
      </p:sp>
    </p:spTree>
    <p:extLst>
      <p:ext uri="{BB962C8B-B14F-4D97-AF65-F5344CB8AC3E}">
        <p14:creationId xmlns:p14="http://schemas.microsoft.com/office/powerpoint/2010/main" val="1780614824"/>
      </p:ext>
    </p:extLst>
  </p:cSld>
</p:sld>
</file>

<file path=ppt/slides/slide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377E9AE-0D8D-4EDB-BA93-670B8B5DAF2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5B1416A-C2A8-47CA-BCF7-012D7E6973F6}"/>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7.3  TIMING, EXPORT AND QUALITY CHECKS</a:t>
            </a:r>
          </a:p>
        </p:txBody>
      </p:sp>
      <p:sp>
        <p:nvSpPr>
          <p:cNvPr id="3" name="">
            <a:extLst xmlns:a="http://schemas.openxmlformats.org/drawingml/2006/main">
              <a:ext uri="{FF2B5EF4-FFF2-40B4-BE49-F238E27FC236}">
                <a16:creationId xmlns:a16="http://schemas.microsoft.com/office/drawing/2014/main" id="{FE1DDCA0-9E86-4110-B6C9-61F89E616676}"/>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Timing, export and quality checks</a:t>
            </a:r>
          </a:p>
        </p:txBody>
      </p:sp>
      <p:sp>
        <p:nvSpPr>
          <p:cNvPr id="4" name="">
            <a:extLst xmlns:a="http://schemas.openxmlformats.org/drawingml/2006/main">
              <a:ext uri="{FF2B5EF4-FFF2-40B4-BE49-F238E27FC236}">
                <a16:creationId xmlns:a16="http://schemas.microsoft.com/office/drawing/2014/main" id="{F105B1A5-4A55-45C0-A335-86BB743D3FBF}"/>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770E644E-614E-4C23-9D44-8AC49003FDE0}"/>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AC5F680-BECC-4704-9AFD-1A2893639B35}"/>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Timing affects whether information can be understood.</a:t>
            </a:r>
          </a:p>
        </p:txBody>
      </p:sp>
      <p:sp>
        <p:nvSpPr>
          <p:cNvPr id="7" name="">
            <a:extLst xmlns:a="http://schemas.openxmlformats.org/drawingml/2006/main">
              <a:ext uri="{FF2B5EF4-FFF2-40B4-BE49-F238E27FC236}">
                <a16:creationId xmlns:a16="http://schemas.microsoft.com/office/drawing/2014/main" id="{A96A2A97-680D-4BC0-A27C-53BCFC57B1E4}"/>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2124886-2A73-4D97-BACD-0108C7519B76}"/>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Inspect the whole sequence before export.</a:t>
            </a:r>
          </a:p>
        </p:txBody>
      </p:sp>
      <p:sp>
        <p:nvSpPr>
          <p:cNvPr id="9" name="">
            <a:extLst xmlns:a="http://schemas.openxmlformats.org/drawingml/2006/main">
              <a:ext uri="{FF2B5EF4-FFF2-40B4-BE49-F238E27FC236}">
                <a16:creationId xmlns:a16="http://schemas.microsoft.com/office/drawing/2014/main" id="{73BE3B89-FBE0-42C3-A177-212D3BD32AFE}"/>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30F286F-06CC-4D90-8EC0-A746287EC19E}"/>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Keep editable and exported files; local save is not submission.</a:t>
            </a:r>
          </a:p>
        </p:txBody>
      </p:sp>
      <p:sp>
        <p:nvSpPr>
          <p:cNvPr id="11" name="">
            <a:extLst xmlns:a="http://schemas.openxmlformats.org/drawingml/2006/main">
              <a:ext uri="{FF2B5EF4-FFF2-40B4-BE49-F238E27FC236}">
                <a16:creationId xmlns:a16="http://schemas.microsoft.com/office/drawing/2014/main" id="{0BD1CB74-CF2F-4423-8664-7A666D71FC7D}"/>
              </a:ext>
            </a:extLst>
          </p:cNvPr>
          <p:cNvSpPr>
            <a:spLocks xmlns:a="http://schemas.openxmlformats.org/drawingml/2006/main" noGrp="1"/>
          </p:cNvSpPr>
          <p:nvPr/>
        </p:nvSpPr>
        <p:spPr>
          <a:xfrm xmlns:a="http://schemas.openxmlformats.org/drawingml/2006/main">
            <a:off x="7200900" y="1352550"/>
            <a:ext cx="43053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FD8D2"/>
            </a:solidFill>
            <a:prstDash val="solid"/>
          </a:ln>
        </p:spPr>
      </p:sp>
      <p:sp>
        <p:nvSpPr>
          <p:cNvPr id="12" name="">
            <a:extLst xmlns:a="http://schemas.openxmlformats.org/drawingml/2006/main">
              <a:ext uri="{FF2B5EF4-FFF2-40B4-BE49-F238E27FC236}">
                <a16:creationId xmlns:a16="http://schemas.microsoft.com/office/drawing/2014/main" id="{635908BC-7E27-4264-AA62-38BE65DBD705}"/>
              </a:ext>
            </a:extLst>
          </p:cNvPr>
          <p:cNvSpPr>
            <a:spLocks xmlns:a="http://schemas.openxmlformats.org/drawingml/2006/main" noGrp="1"/>
          </p:cNvSpPr>
          <p:nvPr/>
        </p:nvSpPr>
        <p:spPr>
          <a:xfrm xmlns:a="http://schemas.openxmlformats.org/drawingml/2006/main">
            <a:off x="7410450" y="1524000"/>
            <a:ext cx="3886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0C5554"/>
                </a:solidFill>
                <a:latin typeface="Arial"/>
                <a:ea typeface="Arial"/>
                <a:cs typeface="Arial"/>
              </a:defRPr>
            </a:pPr>
            <a:r>
              <a:rPr sz="1425" b="1">
                <a:solidFill>
                  <a:srgbClr val="0C5554"/>
                </a:solidFill>
                <a:latin typeface="Arial"/>
                <a:ea typeface="Arial"/>
                <a:cs typeface="Arial"/>
              </a:rPr>
              <a:t>EXPORT IS A CHECKPOINT</a:t>
            </a:r>
          </a:p>
        </p:txBody>
      </p:sp>
      <p:sp>
        <p:nvSpPr>
          <p:cNvPr id="13" name="">
            <a:extLst xmlns:a="http://schemas.openxmlformats.org/drawingml/2006/main">
              <a:ext uri="{FF2B5EF4-FFF2-40B4-BE49-F238E27FC236}">
                <a16:creationId xmlns:a16="http://schemas.microsoft.com/office/drawing/2014/main" id="{40CD5AE2-B4DD-404B-8EA5-C5F86CCB11A6}"/>
              </a:ext>
            </a:extLst>
          </p:cNvPr>
          <p:cNvSpPr>
            <a:spLocks xmlns:a="http://schemas.openxmlformats.org/drawingml/2006/main" noGrp="1"/>
          </p:cNvSpPr>
          <p:nvPr/>
        </p:nvSpPr>
        <p:spPr>
          <a:xfrm xmlns:a="http://schemas.openxmlformats.org/drawingml/2006/main">
            <a:off x="7696200" y="1924050"/>
            <a:ext cx="3314700" cy="428625"/>
          </a:xfrm>
          <a:prstGeom xmlns:a="http://schemas.openxmlformats.org/drawingml/2006/main" prst="roundRect">
            <a:avLst>
              <a:gd name="adj" fmla="val 17778"/>
            </a:avLst>
          </a:prstGeom>
          <a:solidFill xmlns:a="http://schemas.openxmlformats.org/drawingml/2006/main">
            <a:srgbClr val="0C5554"/>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PREVIEW</a:t>
            </a:r>
          </a:p>
        </p:txBody>
      </p:sp>
      <p:sp>
        <p:nvSpPr>
          <p:cNvPr id="14" name="">
            <a:extLst xmlns:a="http://schemas.openxmlformats.org/drawingml/2006/main">
              <a:ext uri="{FF2B5EF4-FFF2-40B4-BE49-F238E27FC236}">
                <a16:creationId xmlns:a16="http://schemas.microsoft.com/office/drawing/2014/main" id="{77F6B2FC-0DC3-4950-9FB7-FDA4DD1CA28F}"/>
              </a:ext>
            </a:extLst>
          </p:cNvPr>
          <p:cNvSpPr>
            <a:spLocks xmlns:a="http://schemas.openxmlformats.org/drawingml/2006/main" noGrp="1"/>
          </p:cNvSpPr>
          <p:nvPr/>
        </p:nvSpPr>
        <p:spPr>
          <a:xfrm xmlns:a="http://schemas.openxmlformats.org/drawingml/2006/main">
            <a:off x="9182100" y="2352675"/>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995150D0-4BED-42B8-A2B4-83CFB4A08895}"/>
              </a:ext>
            </a:extLst>
          </p:cNvPr>
          <p:cNvSpPr>
            <a:spLocks xmlns:a="http://schemas.openxmlformats.org/drawingml/2006/main" noGrp="1"/>
          </p:cNvSpPr>
          <p:nvPr/>
        </p:nvSpPr>
        <p:spPr>
          <a:xfrm xmlns:a="http://schemas.openxmlformats.org/drawingml/2006/main">
            <a:off x="7696200" y="2466975"/>
            <a:ext cx="3314700" cy="428625"/>
          </a:xfrm>
          <a:prstGeom xmlns:a="http://schemas.openxmlformats.org/drawingml/2006/main" prst="roundRect">
            <a:avLst>
              <a:gd name="adj" fmla="val 17778"/>
            </a:avLst>
          </a:prstGeom>
          <a:solidFill xmlns:a="http://schemas.openxmlformats.org/drawingml/2006/main">
            <a:srgbClr val="F2BD3C"/>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17342C"/>
                </a:solidFill>
                <a:latin typeface="Arial"/>
                <a:ea typeface="Arial"/>
                <a:cs typeface="Arial"/>
              </a:defRPr>
            </a:pPr>
            <a:r>
              <a:rPr sz="1425" b="1">
                <a:solidFill>
                  <a:srgbClr val="17342C"/>
                </a:solidFill>
                <a:latin typeface="Arial"/>
                <a:ea typeface="Arial"/>
                <a:cs typeface="Arial"/>
              </a:rPr>
              <a:t>EXPORT MP4</a:t>
            </a:r>
          </a:p>
        </p:txBody>
      </p:sp>
      <p:sp>
        <p:nvSpPr>
          <p:cNvPr id="16" name="">
            <a:extLst xmlns:a="http://schemas.openxmlformats.org/drawingml/2006/main">
              <a:ext uri="{FF2B5EF4-FFF2-40B4-BE49-F238E27FC236}">
                <a16:creationId xmlns:a16="http://schemas.microsoft.com/office/drawing/2014/main" id="{9E7F9BDB-2B22-4E04-9027-5432210BDA95}"/>
              </a:ext>
            </a:extLst>
          </p:cNvPr>
          <p:cNvSpPr>
            <a:spLocks xmlns:a="http://schemas.openxmlformats.org/drawingml/2006/main" noGrp="1"/>
          </p:cNvSpPr>
          <p:nvPr/>
        </p:nvSpPr>
        <p:spPr>
          <a:xfrm xmlns:a="http://schemas.openxmlformats.org/drawingml/2006/main">
            <a:off x="9182100" y="2895600"/>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2AC00344-2713-4E7E-B92C-4D319E98A972}"/>
              </a:ext>
            </a:extLst>
          </p:cNvPr>
          <p:cNvSpPr>
            <a:spLocks xmlns:a="http://schemas.openxmlformats.org/drawingml/2006/main" noGrp="1"/>
          </p:cNvSpPr>
          <p:nvPr/>
        </p:nvSpPr>
        <p:spPr>
          <a:xfrm xmlns:a="http://schemas.openxmlformats.org/drawingml/2006/main">
            <a:off x="7696200" y="3009900"/>
            <a:ext cx="3314700" cy="428625"/>
          </a:xfrm>
          <a:prstGeom xmlns:a="http://schemas.openxmlformats.org/drawingml/2006/main" prst="roundRect">
            <a:avLst>
              <a:gd name="adj" fmla="val 17778"/>
            </a:avLst>
          </a:prstGeom>
          <a:solidFill xmlns:a="http://schemas.openxmlformats.org/drawingml/2006/main">
            <a:srgbClr val="17756F"/>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PLAY WHOLE FILE</a:t>
            </a:r>
          </a:p>
        </p:txBody>
      </p:sp>
      <p:sp>
        <p:nvSpPr>
          <p:cNvPr id="18" name="">
            <a:extLst xmlns:a="http://schemas.openxmlformats.org/drawingml/2006/main">
              <a:ext uri="{FF2B5EF4-FFF2-40B4-BE49-F238E27FC236}">
                <a16:creationId xmlns:a16="http://schemas.microsoft.com/office/drawing/2014/main" id="{603796E2-8580-406F-A653-534263EF780A}"/>
              </a:ext>
            </a:extLst>
          </p:cNvPr>
          <p:cNvSpPr>
            <a:spLocks xmlns:a="http://schemas.openxmlformats.org/drawingml/2006/main" noGrp="1"/>
          </p:cNvSpPr>
          <p:nvPr/>
        </p:nvSpPr>
        <p:spPr>
          <a:xfrm xmlns:a="http://schemas.openxmlformats.org/drawingml/2006/main">
            <a:off x="9182100" y="3438525"/>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AD8FEB51-0119-4B4F-A4A1-61261EB4CB28}"/>
              </a:ext>
            </a:extLst>
          </p:cNvPr>
          <p:cNvSpPr>
            <a:spLocks xmlns:a="http://schemas.openxmlformats.org/drawingml/2006/main" noGrp="1"/>
          </p:cNvSpPr>
          <p:nvPr/>
        </p:nvSpPr>
        <p:spPr>
          <a:xfrm xmlns:a="http://schemas.openxmlformats.org/drawingml/2006/main">
            <a:off x="7696200" y="3552825"/>
            <a:ext cx="3314700" cy="428625"/>
          </a:xfrm>
          <a:prstGeom xmlns:a="http://schemas.openxmlformats.org/drawingml/2006/main" prst="roundRect">
            <a:avLst>
              <a:gd name="adj" fmla="val 17778"/>
            </a:avLst>
          </a:prstGeom>
          <a:solidFill xmlns:a="http://schemas.openxmlformats.org/drawingml/2006/main">
            <a:srgbClr val="6A57C8"/>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KEEP EDITABLE</a:t>
            </a:r>
          </a:p>
        </p:txBody>
      </p:sp>
      <p:sp>
        <p:nvSpPr>
          <p:cNvPr id="20" name="">
            <a:extLst xmlns:a="http://schemas.openxmlformats.org/drawingml/2006/main">
              <a:ext uri="{FF2B5EF4-FFF2-40B4-BE49-F238E27FC236}">
                <a16:creationId xmlns:a16="http://schemas.microsoft.com/office/drawing/2014/main" id="{A54A9797-7EA2-411E-8A05-00BA35B58BE7}"/>
              </a:ext>
            </a:extLst>
          </p:cNvPr>
          <p:cNvSpPr>
            <a:spLocks xmlns:a="http://schemas.openxmlformats.org/drawingml/2006/main" noGrp="1"/>
          </p:cNvSpPr>
          <p:nvPr/>
        </p:nvSpPr>
        <p:spPr>
          <a:xfrm xmlns:a="http://schemas.openxmlformats.org/drawingml/2006/main">
            <a:off x="7429500" y="4343400"/>
            <a:ext cx="3848100" cy="361950"/>
          </a:xfrm>
          <a:prstGeom xmlns:a="http://schemas.openxmlformats.org/drawingml/2006/main" prst="roundRect">
            <a:avLst>
              <a:gd name="adj" fmla="val 2105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95250" tIns="47625" rIns="95250" bIns="47625" anchor="ctr">
            <a:normAutofit fontScale="70772"/>
          </a:bodyPr>
          <a:lstStyle xmlns:a="http://schemas.openxmlformats.org/drawingml/2006/main"/>
          <a:p xmlns:a="http://schemas.openxmlformats.org/drawingml/2006/main">
            <a:pPr algn="ctr">
              <a:defRPr sz="1200" b="1">
                <a:solidFill>
                  <a:srgbClr val="17342C"/>
                </a:solidFill>
                <a:latin typeface="Arial"/>
                <a:ea typeface="Arial"/>
                <a:cs typeface="Arial"/>
              </a:defRPr>
            </a:pPr>
            <a:r>
              <a:rPr sz="1200" b="1">
                <a:solidFill>
                  <a:srgbClr val="17342C"/>
                </a:solidFill>
                <a:latin typeface="Arial"/>
                <a:ea typeface="Arial"/>
                <a:cs typeface="Arial"/>
              </a:rPr>
              <a:t>A finished export must be watched from start to end before keeping it.</a:t>
            </a:r>
          </a:p>
        </p:txBody>
      </p:sp>
      <p:sp>
        <p:nvSpPr>
          <p:cNvPr id="21" name="">
            <a:extLst xmlns:a="http://schemas.openxmlformats.org/drawingml/2006/main">
              <a:ext uri="{FF2B5EF4-FFF2-40B4-BE49-F238E27FC236}">
                <a16:creationId xmlns:a16="http://schemas.microsoft.com/office/drawing/2014/main" id="{D95C2BD6-9F35-4583-9080-B281B1A9E42C}"/>
              </a:ext>
            </a:extLst>
          </p:cNvPr>
          <p:cNvSpPr>
            <a:spLocks xmlns:a="http://schemas.openxmlformats.org/drawingml/2006/main" noGrp="1"/>
          </p:cNvSpPr>
          <p:nvPr/>
        </p:nvSpPr>
        <p:spPr>
          <a:xfrm xmlns:a="http://schemas.openxmlformats.org/drawingml/2006/main">
            <a:off x="7200900" y="4972050"/>
            <a:ext cx="4305300" cy="590550"/>
          </a:xfrm>
          <a:prstGeom xmlns:a="http://schemas.openxmlformats.org/drawingml/2006/main" prst="roundRect">
            <a:avLst>
              <a:gd name="adj" fmla="val 12903"/>
            </a:avLst>
          </a:prstGeom>
          <a:solidFill xmlns:a="http://schemas.openxmlformats.org/drawingml/2006/main">
            <a:srgbClr val="FCF4D8"/>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l">
              <a:defRPr sz="1200" b="1">
                <a:solidFill>
                  <a:srgbClr val="17342C"/>
                </a:solidFill>
                <a:latin typeface="Arial"/>
                <a:ea typeface="Arial"/>
                <a:cs typeface="Arial"/>
              </a:defRPr>
            </a:pPr>
            <a:r>
              <a:rPr sz="1200" b="1">
                <a:solidFill>
                  <a:srgbClr val="17342C"/>
                </a:solidFill>
                <a:latin typeface="Arial"/>
                <a:ea typeface="Arial"/>
                <a:cs typeface="Arial"/>
              </a:rPr>
              <a:t>The supplied 0:16 clip is REWORK—not a finished motion exemplar.</a:t>
            </a:r>
          </a:p>
        </p:txBody>
      </p:sp>
      <p:sp>
        <p:nvSpPr>
          <p:cNvPr id="22" name="">
            <a:extLst xmlns:a="http://schemas.openxmlformats.org/drawingml/2006/main">
              <a:ext uri="{FF2B5EF4-FFF2-40B4-BE49-F238E27FC236}">
                <a16:creationId xmlns:a16="http://schemas.microsoft.com/office/drawing/2014/main" id="{4E9AA9FE-AB66-4D03-B673-03DB8A8F17A6}"/>
              </a:ext>
            </a:extLst>
          </p:cNvPr>
          <p:cNvSpPr>
            <a:spLocks xmlns:a="http://schemas.openxmlformats.org/drawingml/2006/main" noGrp="1"/>
          </p:cNvSpPr>
          <p:nvPr/>
        </p:nvSpPr>
        <p:spPr>
          <a:xfrm xmlns:a="http://schemas.openxmlformats.org/drawingml/2006/main">
            <a:off x="7200900" y="56388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23" name="">
            <a:extLst xmlns:a="http://schemas.openxmlformats.org/drawingml/2006/main">
              <a:ext uri="{FF2B5EF4-FFF2-40B4-BE49-F238E27FC236}">
                <a16:creationId xmlns:a16="http://schemas.microsoft.com/office/drawing/2014/main" id="{E6FA2DF9-151A-4A5A-B313-9ACA31E7A457}"/>
              </a:ext>
            </a:extLst>
          </p:cNvPr>
          <p:cNvSpPr>
            <a:spLocks xmlns:a="http://schemas.openxmlformats.org/drawingml/2006/main" noGrp="1"/>
          </p:cNvSpPr>
          <p:nvPr/>
        </p:nvSpPr>
        <p:spPr>
          <a:xfrm xmlns:a="http://schemas.openxmlformats.org/drawingml/2006/main">
            <a:off x="7200900" y="5848350"/>
            <a:ext cx="4305300" cy="514350"/>
          </a:xfrm>
          <a:prstGeom xmlns:a="http://schemas.openxmlformats.org/drawingml/2006/main" prst="roundRect">
            <a:avLst>
              <a:gd name="adj" fmla="val 14815"/>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050" b="1">
                <a:solidFill>
                  <a:srgbClr val="17342C"/>
                </a:solidFill>
                <a:latin typeface="Arial"/>
                <a:ea typeface="Arial"/>
                <a:cs typeface="Arial"/>
              </a:defRPr>
            </a:pPr>
            <a:r>
              <a:rPr sz="1050" b="1">
                <a:solidFill>
                  <a:srgbClr val="17342C"/>
                </a:solidFill>
                <a:latin typeface="Arial"/>
                <a:ea typeface="Arial"/>
                <a:cs typeface="Arial"/>
              </a:rPr>
              <a:t>What should a preflight check include?</a:t>
            </a:r>
          </a:p>
        </p:txBody>
      </p:sp>
      <p:sp>
        <p:nvSpPr>
          <p:cNvPr id="24" name="">
            <a:extLst xmlns:a="http://schemas.openxmlformats.org/drawingml/2006/main">
              <a:ext uri="{FF2B5EF4-FFF2-40B4-BE49-F238E27FC236}">
                <a16:creationId xmlns:a16="http://schemas.microsoft.com/office/drawing/2014/main" id="{76908FED-089D-46B8-9C7C-1BB5A7EAB08C}"/>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07  •  MOTION ADVERTISING</a:t>
            </a:r>
          </a:p>
        </p:txBody>
      </p:sp>
      <p:sp>
        <p:nvSpPr>
          <p:cNvPr id="25" name="">
            <a:extLst xmlns:a="http://schemas.openxmlformats.org/drawingml/2006/main">
              <a:ext uri="{FF2B5EF4-FFF2-40B4-BE49-F238E27FC236}">
                <a16:creationId xmlns:a16="http://schemas.microsoft.com/office/drawing/2014/main" id="{BD12A00C-6238-4429-9D2E-79B41FB0E723}"/>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05</a:t>
            </a:r>
          </a:p>
        </p:txBody>
      </p:sp>
    </p:spTree>
    <p:extLst>
      <p:ext uri="{BB962C8B-B14F-4D97-AF65-F5344CB8AC3E}">
        <p14:creationId xmlns:p14="http://schemas.microsoft.com/office/powerpoint/2010/main" val="162415750"/>
      </p:ext>
    </p:extLst>
  </p:cSld>
</p:sld>
</file>

<file path=ppt/slides/slide6.xml><?xml version="1.0" encoding="utf-8"?>
<p:sld xmlns:p="http://schemas.openxmlformats.org/presentationml/2006/main">
  <p:cSld>
    <p:bg>
      <p:bgPr>
        <a:solidFill xmlns:a="http://schemas.openxmlformats.org/drawingml/2006/main">
          <a:srgbClr val="17342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991C1CF-F43E-4FC9-840C-7B3FE16DB1F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04A9F37-4E8A-4C5E-916E-66A16B9DAC0A}"/>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F2BD3C"/>
                </a:solidFill>
                <a:latin typeface="Arial"/>
                <a:ea typeface="Arial"/>
                <a:cs typeface="Arial"/>
              </a:defRPr>
            </a:pPr>
            <a:r>
              <a:rPr sz="975" b="1">
                <a:solidFill>
                  <a:srgbClr val="F2BD3C"/>
                </a:solidFill>
                <a:latin typeface="Arial"/>
                <a:ea typeface="Arial"/>
                <a:cs typeface="Arial"/>
              </a:rPr>
              <a:t>CHECK FOR UNDERSTANDING</a:t>
            </a:r>
          </a:p>
        </p:txBody>
      </p:sp>
      <p:sp>
        <p:nvSpPr>
          <p:cNvPr id="3" name="">
            <a:extLst xmlns:a="http://schemas.openxmlformats.org/drawingml/2006/main">
              <a:ext uri="{FF2B5EF4-FFF2-40B4-BE49-F238E27FC236}">
                <a16:creationId xmlns:a16="http://schemas.microsoft.com/office/drawing/2014/main" id="{0EF4A8E5-882C-4027-A778-A1EAC021DE6F}"/>
              </a:ext>
            </a:extLst>
          </p:cNvPr>
          <p:cNvSpPr>
            <a:spLocks xmlns:a="http://schemas.openxmlformats.org/drawingml/2006/main" noGrp="1"/>
          </p:cNvSpPr>
          <p:nvPr/>
        </p:nvSpPr>
        <p:spPr>
          <a:xfrm xmlns:a="http://schemas.openxmlformats.org/drawingml/2006/main">
            <a:off x="685800" y="91440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075" b="1">
                <a:solidFill>
                  <a:srgbClr val="FFFFFF"/>
                </a:solidFill>
                <a:latin typeface="Arial"/>
                <a:ea typeface="Arial"/>
                <a:cs typeface="Arial"/>
              </a:defRPr>
            </a:pPr>
            <a:r>
              <a:rPr sz="3075" b="1">
                <a:solidFill>
                  <a:srgbClr val="FFFFFF"/>
                </a:solidFill>
                <a:latin typeface="Arial"/>
                <a:ea typeface="Arial"/>
                <a:cs typeface="Arial"/>
              </a:rPr>
              <a:t>Stop. Think. Explain.</a:t>
            </a:r>
          </a:p>
        </p:txBody>
      </p:sp>
      <p:sp>
        <p:nvSpPr>
          <p:cNvPr id="4" name="">
            <a:extLst xmlns:a="http://schemas.openxmlformats.org/drawingml/2006/main">
              <a:ext uri="{FF2B5EF4-FFF2-40B4-BE49-F238E27FC236}">
                <a16:creationId xmlns:a16="http://schemas.microsoft.com/office/drawing/2014/main" id="{38A2EF34-05F2-4FC1-90BE-9A66A6FB70A6}"/>
              </a:ext>
            </a:extLst>
          </p:cNvPr>
          <p:cNvSpPr>
            <a:spLocks xmlns:a="http://schemas.openxmlformats.org/drawingml/2006/main" noGrp="1"/>
          </p:cNvSpPr>
          <p:nvPr/>
        </p:nvSpPr>
        <p:spPr>
          <a:xfrm xmlns:a="http://schemas.openxmlformats.org/drawingml/2006/main">
            <a:off x="685800" y="16573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DCE8E2"/>
                </a:solidFill>
                <a:latin typeface="Arial"/>
                <a:ea typeface="Arial"/>
                <a:cs typeface="Arial"/>
              </a:defRPr>
            </a:pPr>
            <a:r>
              <a:rPr sz="1425" b="0">
                <a:solidFill>
                  <a:srgbClr val="DCE8E2"/>
                </a:solidFill>
                <a:latin typeface="Arial"/>
                <a:ea typeface="Arial"/>
                <a:cs typeface="Arial"/>
              </a:rPr>
              <a:t>Answer silently first, then justify with a partner.</a:t>
            </a:r>
          </a:p>
        </p:txBody>
      </p:sp>
      <p:sp>
        <p:nvSpPr>
          <p:cNvPr id="5" name="">
            <a:extLst xmlns:a="http://schemas.openxmlformats.org/drawingml/2006/main">
              <a:ext uri="{FF2B5EF4-FFF2-40B4-BE49-F238E27FC236}">
                <a16:creationId xmlns:a16="http://schemas.microsoft.com/office/drawing/2014/main" id="{C70CFEEA-9BB1-43AF-8DF9-2D8C18583AFC}"/>
              </a:ext>
            </a:extLst>
          </p:cNvPr>
          <p:cNvSpPr>
            <a:spLocks xmlns:a="http://schemas.openxmlformats.org/drawingml/2006/main" noGrp="1"/>
          </p:cNvSpPr>
          <p:nvPr/>
        </p:nvSpPr>
        <p:spPr>
          <a:xfrm xmlns:a="http://schemas.openxmlformats.org/drawingml/2006/main">
            <a:off x="685800" y="232410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6" name="">
            <a:extLst xmlns:a="http://schemas.openxmlformats.org/drawingml/2006/main">
              <a:ext uri="{FF2B5EF4-FFF2-40B4-BE49-F238E27FC236}">
                <a16:creationId xmlns:a16="http://schemas.microsoft.com/office/drawing/2014/main" id="{7C2DDDE0-7828-41DC-AA69-3794DE07B167}"/>
              </a:ext>
            </a:extLst>
          </p:cNvPr>
          <p:cNvSpPr>
            <a:spLocks xmlns:a="http://schemas.openxmlformats.org/drawingml/2006/main" noGrp="1"/>
          </p:cNvSpPr>
          <p:nvPr/>
        </p:nvSpPr>
        <p:spPr>
          <a:xfrm xmlns:a="http://schemas.openxmlformats.org/drawingml/2006/main">
            <a:off x="1028700" y="2552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869C5572-1DF4-47BE-B165-ADF6AA9C55E5}"/>
              </a:ext>
            </a:extLst>
          </p:cNvPr>
          <p:cNvSpPr>
            <a:spLocks xmlns:a="http://schemas.openxmlformats.org/drawingml/2006/main" noGrp="1"/>
          </p:cNvSpPr>
          <p:nvPr/>
        </p:nvSpPr>
        <p:spPr>
          <a:xfrm xmlns:a="http://schemas.openxmlformats.org/drawingml/2006/main">
            <a:off x="1676400" y="245745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What is a state in an animation?</a:t>
            </a:r>
          </a:p>
        </p:txBody>
      </p:sp>
      <p:sp>
        <p:nvSpPr>
          <p:cNvPr id="8" name="">
            <a:extLst xmlns:a="http://schemas.openxmlformats.org/drawingml/2006/main">
              <a:ext uri="{FF2B5EF4-FFF2-40B4-BE49-F238E27FC236}">
                <a16:creationId xmlns:a16="http://schemas.microsoft.com/office/drawing/2014/main" id="{B50C76A1-9ECB-4EC9-BD79-7F73143BB6E8}"/>
              </a:ext>
            </a:extLst>
          </p:cNvPr>
          <p:cNvSpPr>
            <a:spLocks xmlns:a="http://schemas.openxmlformats.org/drawingml/2006/main" noGrp="1"/>
          </p:cNvSpPr>
          <p:nvPr/>
        </p:nvSpPr>
        <p:spPr>
          <a:xfrm xmlns:a="http://schemas.openxmlformats.org/drawingml/2006/main">
            <a:off x="685800" y="352425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9" name="">
            <a:extLst xmlns:a="http://schemas.openxmlformats.org/drawingml/2006/main">
              <a:ext uri="{FF2B5EF4-FFF2-40B4-BE49-F238E27FC236}">
                <a16:creationId xmlns:a16="http://schemas.microsoft.com/office/drawing/2014/main" id="{73839181-2246-4494-890F-63E351E3950F}"/>
              </a:ext>
            </a:extLst>
          </p:cNvPr>
          <p:cNvSpPr>
            <a:spLocks xmlns:a="http://schemas.openxmlformats.org/drawingml/2006/main" noGrp="1"/>
          </p:cNvSpPr>
          <p:nvPr/>
        </p:nvSpPr>
        <p:spPr>
          <a:xfrm xmlns:a="http://schemas.openxmlformats.org/drawingml/2006/main">
            <a:off x="1028700" y="3752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B129E99F-F921-42CC-9E67-5D29CA1328AE}"/>
              </a:ext>
            </a:extLst>
          </p:cNvPr>
          <p:cNvSpPr>
            <a:spLocks xmlns:a="http://schemas.openxmlformats.org/drawingml/2006/main" noGrp="1"/>
          </p:cNvSpPr>
          <p:nvPr/>
        </p:nvSpPr>
        <p:spPr>
          <a:xfrm xmlns:a="http://schemas.openxmlformats.org/drawingml/2006/main">
            <a:off x="1676400" y="365760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Which action helps preserve element correspondence?</a:t>
            </a:r>
          </a:p>
        </p:txBody>
      </p:sp>
      <p:sp>
        <p:nvSpPr>
          <p:cNvPr id="11" name="">
            <a:extLst xmlns:a="http://schemas.openxmlformats.org/drawingml/2006/main">
              <a:ext uri="{FF2B5EF4-FFF2-40B4-BE49-F238E27FC236}">
                <a16:creationId xmlns:a16="http://schemas.microsoft.com/office/drawing/2014/main" id="{0388F119-554A-4C6A-A14C-409439185144}"/>
              </a:ext>
            </a:extLst>
          </p:cNvPr>
          <p:cNvSpPr>
            <a:spLocks xmlns:a="http://schemas.openxmlformats.org/drawingml/2006/main" noGrp="1"/>
          </p:cNvSpPr>
          <p:nvPr/>
        </p:nvSpPr>
        <p:spPr>
          <a:xfrm xmlns:a="http://schemas.openxmlformats.org/drawingml/2006/main">
            <a:off x="685800" y="472440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12" name="">
            <a:extLst xmlns:a="http://schemas.openxmlformats.org/drawingml/2006/main">
              <a:ext uri="{FF2B5EF4-FFF2-40B4-BE49-F238E27FC236}">
                <a16:creationId xmlns:a16="http://schemas.microsoft.com/office/drawing/2014/main" id="{220379D5-5A3F-4CA8-B852-60385467599B}"/>
              </a:ext>
            </a:extLst>
          </p:cNvPr>
          <p:cNvSpPr>
            <a:spLocks xmlns:a="http://schemas.openxmlformats.org/drawingml/2006/main" noGrp="1"/>
          </p:cNvSpPr>
          <p:nvPr/>
        </p:nvSpPr>
        <p:spPr>
          <a:xfrm xmlns:a="http://schemas.openxmlformats.org/drawingml/2006/main">
            <a:off x="1028700" y="4953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D7A57D8B-AACE-4662-9ED8-959D11941641}"/>
              </a:ext>
            </a:extLst>
          </p:cNvPr>
          <p:cNvSpPr>
            <a:spLocks xmlns:a="http://schemas.openxmlformats.org/drawingml/2006/main" noGrp="1"/>
          </p:cNvSpPr>
          <p:nvPr/>
        </p:nvSpPr>
        <p:spPr>
          <a:xfrm xmlns:a="http://schemas.openxmlformats.org/drawingml/2006/main">
            <a:off x="1676400" y="485775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What should a preflight check include?</a:t>
            </a:r>
          </a:p>
        </p:txBody>
      </p:sp>
      <p:sp>
        <p:nvSpPr>
          <p:cNvPr id="14" name="">
            <a:extLst xmlns:a="http://schemas.openxmlformats.org/drawingml/2006/main">
              <a:ext uri="{FF2B5EF4-FFF2-40B4-BE49-F238E27FC236}">
                <a16:creationId xmlns:a16="http://schemas.microsoft.com/office/drawing/2014/main" id="{8A6C55A7-E058-4845-9824-D1E95713121A}"/>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07  •  MOTION ADVERTISING</a:t>
            </a:r>
          </a:p>
        </p:txBody>
      </p:sp>
      <p:sp>
        <p:nvSpPr>
          <p:cNvPr id="15" name="">
            <a:extLst xmlns:a="http://schemas.openxmlformats.org/drawingml/2006/main">
              <a:ext uri="{FF2B5EF4-FFF2-40B4-BE49-F238E27FC236}">
                <a16:creationId xmlns:a16="http://schemas.microsoft.com/office/drawing/2014/main" id="{4FC1EAF1-AD09-4E5E-82BF-5DD3C22EE1CB}"/>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06</a:t>
            </a:r>
          </a:p>
        </p:txBody>
      </p:sp>
    </p:spTree>
    <p:extLst>
      <p:ext uri="{BB962C8B-B14F-4D97-AF65-F5344CB8AC3E}">
        <p14:creationId xmlns:p14="http://schemas.microsoft.com/office/powerpoint/2010/main" val="1924590113"/>
      </p:ext>
    </p:extLst>
  </p:cSld>
</p:sld>
</file>

<file path=ppt/slides/slide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4CB482A-31F2-4CED-8ADB-307A55DAD5E2}"/>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FORMATIVE LEARNING EVIDENCE</a:t>
            </a:r>
          </a:p>
        </p:txBody>
      </p:sp>
      <p:sp>
        <p:nvSpPr>
          <p:cNvPr id="2" name="">
            <a:extLst xmlns:a="http://schemas.openxmlformats.org/drawingml/2006/main">
              <a:ext uri="{FF2B5EF4-FFF2-40B4-BE49-F238E27FC236}">
                <a16:creationId xmlns:a16="http://schemas.microsoft.com/office/drawing/2014/main" id="{A6F59887-25CD-4D39-9B59-1F79FD4E41F2}"/>
              </a:ext>
            </a:extLst>
          </p:cNvPr>
          <p:cNvSpPr>
            <a:spLocks xmlns:a="http://schemas.openxmlformats.org/drawingml/2006/main" noGrp="1"/>
          </p:cNvSpPr>
          <p:nvPr/>
        </p:nvSpPr>
        <p:spPr>
          <a:xfrm xmlns:a="http://schemas.openxmlformats.org/drawingml/2006/main">
            <a:off x="685800" y="89535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925" b="1">
                <a:solidFill>
                  <a:srgbClr val="17342C"/>
                </a:solidFill>
                <a:latin typeface="Arial"/>
                <a:ea typeface="Arial"/>
                <a:cs typeface="Arial"/>
              </a:defRPr>
            </a:pPr>
            <a:r>
              <a:rPr sz="2925" b="1">
                <a:solidFill>
                  <a:srgbClr val="17342C"/>
                </a:solidFill>
                <a:latin typeface="Arial"/>
                <a:ea typeface="Arial"/>
                <a:cs typeface="Arial"/>
              </a:rPr>
              <a:t>Read → Select → Explain → Check</a:t>
            </a:r>
          </a:p>
        </p:txBody>
      </p:sp>
      <p:sp>
        <p:nvSpPr>
          <p:cNvPr id="3" name="">
            <a:extLst xmlns:a="http://schemas.openxmlformats.org/drawingml/2006/main">
              <a:ext uri="{FF2B5EF4-FFF2-40B4-BE49-F238E27FC236}">
                <a16:creationId xmlns:a16="http://schemas.microsoft.com/office/drawing/2014/main" id="{B9F361AA-BB37-4FDD-A99F-24EA8F150719}"/>
              </a:ext>
            </a:extLst>
          </p:cNvPr>
          <p:cNvSpPr>
            <a:spLocks xmlns:a="http://schemas.openxmlformats.org/drawingml/2006/main" noGrp="1"/>
          </p:cNvSpPr>
          <p:nvPr/>
        </p:nvSpPr>
        <p:spPr>
          <a:xfrm xmlns:a="http://schemas.openxmlformats.org/drawingml/2006/main">
            <a:off x="685800" y="1752600"/>
            <a:ext cx="5905500" cy="2019300"/>
          </a:xfrm>
          <a:prstGeom xmlns:a="http://schemas.openxmlformats.org/drawingml/2006/main" prst="roundRect">
            <a:avLst>
              <a:gd name="adj" fmla="val 5660"/>
            </a:avLst>
          </a:prstGeom>
          <a:solidFill xmlns:a="http://schemas.openxmlformats.org/drawingml/2006/main">
            <a:srgbClr val="FFFFFF"/>
          </a:solidFill>
          <a:ln xmlns:a="http://schemas.openxmlformats.org/drawingml/2006/main" w="9525">
            <a:solidFill>
              <a:srgbClr val="CFD8D2"/>
            </a:solidFill>
            <a:prstDash val="solid"/>
          </a:ln>
        </p:spPr>
      </p:sp>
      <p:sp>
        <p:nvSpPr>
          <p:cNvPr id="4" name="">
            <a:extLst xmlns:a="http://schemas.openxmlformats.org/drawingml/2006/main">
              <a:ext uri="{FF2B5EF4-FFF2-40B4-BE49-F238E27FC236}">
                <a16:creationId xmlns:a16="http://schemas.microsoft.com/office/drawing/2014/main" id="{1D48AF56-5DBF-4F23-9C02-191E11793438}"/>
              </a:ext>
            </a:extLst>
          </p:cNvPr>
          <p:cNvSpPr>
            <a:spLocks xmlns:a="http://schemas.openxmlformats.org/drawingml/2006/main" noGrp="1"/>
          </p:cNvSpPr>
          <p:nvPr/>
        </p:nvSpPr>
        <p:spPr>
          <a:xfrm xmlns:a="http://schemas.openxmlformats.org/drawingml/2006/main">
            <a:off x="6896100" y="1752600"/>
            <a:ext cx="4610100" cy="2019300"/>
          </a:xfrm>
          <a:prstGeom xmlns:a="http://schemas.openxmlformats.org/drawingml/2006/main" prst="roundRect">
            <a:avLst>
              <a:gd name="adj" fmla="val 5660"/>
            </a:avLst>
          </a:prstGeom>
          <a:solidFill xmlns:a="http://schemas.openxmlformats.org/drawingml/2006/main">
            <a:srgbClr val="E7F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963E557-9428-4CF8-ACDA-E89ECD8B544F}"/>
              </a:ext>
            </a:extLst>
          </p:cNvPr>
          <p:cNvSpPr>
            <a:spLocks xmlns:a="http://schemas.openxmlformats.org/drawingml/2006/main" noGrp="1"/>
          </p:cNvSpPr>
          <p:nvPr/>
        </p:nvSpPr>
        <p:spPr>
          <a:xfrm xmlns:a="http://schemas.openxmlformats.org/drawingml/2006/main">
            <a:off x="952500" y="18859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THE QUESTION</a:t>
            </a:r>
          </a:p>
        </p:txBody>
      </p:sp>
      <p:sp>
        <p:nvSpPr>
          <p:cNvPr id="6" name="">
            <a:extLst xmlns:a="http://schemas.openxmlformats.org/drawingml/2006/main">
              <a:ext uri="{FF2B5EF4-FFF2-40B4-BE49-F238E27FC236}">
                <a16:creationId xmlns:a16="http://schemas.microsoft.com/office/drawing/2014/main" id="{9E5767D3-84C2-4E1B-8B88-2AC21B5E6466}"/>
              </a:ext>
            </a:extLst>
          </p:cNvPr>
          <p:cNvSpPr>
            <a:spLocks xmlns:a="http://schemas.openxmlformats.org/drawingml/2006/main" noGrp="1"/>
          </p:cNvSpPr>
          <p:nvPr/>
        </p:nvSpPr>
        <p:spPr>
          <a:xfrm xmlns:a="http://schemas.openxmlformats.org/drawingml/2006/main">
            <a:off x="952500" y="2266950"/>
            <a:ext cx="5238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7342C"/>
                </a:solidFill>
                <a:latin typeface="Arial"/>
                <a:ea typeface="Arial"/>
                <a:cs typeface="Arial"/>
              </a:defRPr>
            </a:pPr>
            <a:r>
              <a:rPr sz="1575" b="1">
                <a:solidFill>
                  <a:srgbClr val="17342C"/>
                </a:solidFill>
                <a:latin typeface="Arial"/>
                <a:ea typeface="Arial"/>
                <a:cs typeface="Arial"/>
              </a:rPr>
              <a:t>Explain a three-state motion plan, the matched elements and timing, then record the checks needed before keeping both the editable file and MP4.</a:t>
            </a:r>
          </a:p>
        </p:txBody>
      </p:sp>
      <p:sp>
        <p:nvSpPr>
          <p:cNvPr id="7" name="">
            <a:extLst xmlns:a="http://schemas.openxmlformats.org/drawingml/2006/main">
              <a:ext uri="{FF2B5EF4-FFF2-40B4-BE49-F238E27FC236}">
                <a16:creationId xmlns:a16="http://schemas.microsoft.com/office/drawing/2014/main" id="{DDA020CA-93D3-40EA-87A5-12937D32918B}"/>
              </a:ext>
            </a:extLst>
          </p:cNvPr>
          <p:cNvSpPr>
            <a:spLocks xmlns:a="http://schemas.openxmlformats.org/drawingml/2006/main" noGrp="1"/>
          </p:cNvSpPr>
          <p:nvPr/>
        </p:nvSpPr>
        <p:spPr>
          <a:xfrm xmlns:a="http://schemas.openxmlformats.org/drawingml/2006/main">
            <a:off x="7181850" y="1885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WHAT THIS IS ASKING</a:t>
            </a:r>
          </a:p>
        </p:txBody>
      </p:sp>
      <p:sp>
        <p:nvSpPr>
          <p:cNvPr id="8" name="">
            <a:extLst xmlns:a="http://schemas.openxmlformats.org/drawingml/2006/main">
              <a:ext uri="{FF2B5EF4-FFF2-40B4-BE49-F238E27FC236}">
                <a16:creationId xmlns:a16="http://schemas.microsoft.com/office/drawing/2014/main" id="{E39FFF2B-E723-4E00-9BE3-415A8176C6AB}"/>
              </a:ext>
            </a:extLst>
          </p:cNvPr>
          <p:cNvSpPr>
            <a:spLocks xmlns:a="http://schemas.openxmlformats.org/drawingml/2006/main" noGrp="1"/>
          </p:cNvSpPr>
          <p:nvPr/>
        </p:nvSpPr>
        <p:spPr>
          <a:xfrm xmlns:a="http://schemas.openxmlformats.org/drawingml/2006/main">
            <a:off x="7219950" y="2324100"/>
            <a:ext cx="114300" cy="114300"/>
          </a:xfrm>
          <a:prstGeom xmlns:a="http://schemas.openxmlformats.org/drawingml/2006/main" prst="ellipse">
            <a:avLst/>
          </a:prstGeom>
          <a:solidFill xmlns:a="http://schemas.openxmlformats.org/drawingml/2006/main">
            <a:srgbClr val="0C555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9A5B2C9-69E7-4ABE-B6FA-BE30F2692CD4}"/>
              </a:ext>
            </a:extLst>
          </p:cNvPr>
          <p:cNvSpPr>
            <a:spLocks xmlns:a="http://schemas.openxmlformats.org/drawingml/2006/main" noGrp="1"/>
          </p:cNvSpPr>
          <p:nvPr/>
        </p:nvSpPr>
        <p:spPr>
          <a:xfrm xmlns:a="http://schemas.openxmlformats.org/drawingml/2006/main">
            <a:off x="7524750" y="22288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Make each state purposeful</a:t>
            </a:r>
          </a:p>
        </p:txBody>
      </p:sp>
      <p:sp>
        <p:nvSpPr>
          <p:cNvPr id="10" name="">
            <a:extLst xmlns:a="http://schemas.openxmlformats.org/drawingml/2006/main">
              <a:ext uri="{FF2B5EF4-FFF2-40B4-BE49-F238E27FC236}">
                <a16:creationId xmlns:a16="http://schemas.microsoft.com/office/drawing/2014/main" id="{DDBF8206-4592-4DEA-8894-3EC9502B59F1}"/>
              </a:ext>
            </a:extLst>
          </p:cNvPr>
          <p:cNvSpPr>
            <a:spLocks xmlns:a="http://schemas.openxmlformats.org/drawingml/2006/main" noGrp="1"/>
          </p:cNvSpPr>
          <p:nvPr/>
        </p:nvSpPr>
        <p:spPr>
          <a:xfrm xmlns:a="http://schemas.openxmlformats.org/drawingml/2006/main">
            <a:off x="7219950" y="2771775"/>
            <a:ext cx="114300" cy="114300"/>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F03D1FC-F897-48E8-8D1B-541C0D653205}"/>
              </a:ext>
            </a:extLst>
          </p:cNvPr>
          <p:cNvSpPr>
            <a:spLocks xmlns:a="http://schemas.openxmlformats.org/drawingml/2006/main" noGrp="1"/>
          </p:cNvSpPr>
          <p:nvPr/>
        </p:nvSpPr>
        <p:spPr>
          <a:xfrm xmlns:a="http://schemas.openxmlformats.org/drawingml/2006/main">
            <a:off x="7524750" y="26765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Preserve element correspondence</a:t>
            </a:r>
          </a:p>
        </p:txBody>
      </p:sp>
      <p:sp>
        <p:nvSpPr>
          <p:cNvPr id="12" name="">
            <a:extLst xmlns:a="http://schemas.openxmlformats.org/drawingml/2006/main">
              <a:ext uri="{FF2B5EF4-FFF2-40B4-BE49-F238E27FC236}">
                <a16:creationId xmlns:a16="http://schemas.microsoft.com/office/drawing/2014/main" id="{BF0BAFF2-28D2-4015-BE0E-7EE9ED472F0E}"/>
              </a:ext>
            </a:extLst>
          </p:cNvPr>
          <p:cNvSpPr>
            <a:spLocks xmlns:a="http://schemas.openxmlformats.org/drawingml/2006/main" noGrp="1"/>
          </p:cNvSpPr>
          <p:nvPr/>
        </p:nvSpPr>
        <p:spPr>
          <a:xfrm xmlns:a="http://schemas.openxmlformats.org/drawingml/2006/main">
            <a:off x="7219950" y="3219450"/>
            <a:ext cx="114300" cy="11430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1E6A6A0-3358-49E0-A5E4-FAADC898F34B}"/>
              </a:ext>
            </a:extLst>
          </p:cNvPr>
          <p:cNvSpPr>
            <a:spLocks xmlns:a="http://schemas.openxmlformats.org/drawingml/2006/main" noGrp="1"/>
          </p:cNvSpPr>
          <p:nvPr/>
        </p:nvSpPr>
        <p:spPr>
          <a:xfrm xmlns:a="http://schemas.openxmlformats.org/drawingml/2006/main">
            <a:off x="7524750" y="31242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Preview the whole export</a:t>
            </a:r>
          </a:p>
        </p:txBody>
      </p:sp>
      <p:sp>
        <p:nvSpPr>
          <p:cNvPr id="14" name="">
            <a:extLst xmlns:a="http://schemas.openxmlformats.org/drawingml/2006/main">
              <a:ext uri="{FF2B5EF4-FFF2-40B4-BE49-F238E27FC236}">
                <a16:creationId xmlns:a16="http://schemas.microsoft.com/office/drawing/2014/main" id="{BF89DA01-4B67-421B-8C35-614DC9E49B2D}"/>
              </a:ext>
            </a:extLst>
          </p:cNvPr>
          <p:cNvSpPr>
            <a:spLocks xmlns:a="http://schemas.openxmlformats.org/drawingml/2006/main" noGrp="1"/>
          </p:cNvSpPr>
          <p:nvPr/>
        </p:nvSpPr>
        <p:spPr>
          <a:xfrm xmlns:a="http://schemas.openxmlformats.org/drawingml/2006/main">
            <a:off x="685800" y="4095750"/>
            <a:ext cx="3333750" cy="1466850"/>
          </a:xfrm>
          <a:prstGeom xmlns:a="http://schemas.openxmlformats.org/drawingml/2006/main" prst="roundRect">
            <a:avLst>
              <a:gd name="adj" fmla="val 7792"/>
            </a:avLst>
          </a:prstGeom>
          <a:solidFill xmlns:a="http://schemas.openxmlformats.org/drawingml/2006/main">
            <a:srgbClr val="17342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BF7937B-83B5-44E4-847B-8226260A341E}"/>
              </a:ext>
            </a:extLst>
          </p:cNvPr>
          <p:cNvSpPr>
            <a:spLocks xmlns:a="http://schemas.openxmlformats.org/drawingml/2006/main" noGrp="1"/>
          </p:cNvSpPr>
          <p:nvPr/>
        </p:nvSpPr>
        <p:spPr>
          <a:xfrm xmlns:a="http://schemas.openxmlformats.org/drawingml/2006/main">
            <a:off x="89535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1  SELECT</a:t>
            </a:r>
          </a:p>
        </p:txBody>
      </p:sp>
      <p:sp>
        <p:nvSpPr>
          <p:cNvPr id="16" name="">
            <a:extLst xmlns:a="http://schemas.openxmlformats.org/drawingml/2006/main">
              <a:ext uri="{FF2B5EF4-FFF2-40B4-BE49-F238E27FC236}">
                <a16:creationId xmlns:a16="http://schemas.microsoft.com/office/drawing/2014/main" id="{2BA119B9-407B-4B89-9BC0-8759859F5859}"/>
              </a:ext>
            </a:extLst>
          </p:cNvPr>
          <p:cNvSpPr>
            <a:spLocks xmlns:a="http://schemas.openxmlformats.org/drawingml/2006/main" noGrp="1"/>
          </p:cNvSpPr>
          <p:nvPr/>
        </p:nvSpPr>
        <p:spPr>
          <a:xfrm xmlns:a="http://schemas.openxmlformats.org/drawingml/2006/main">
            <a:off x="89535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Choose precise theory and examples that answer the question.</a:t>
            </a:r>
          </a:p>
        </p:txBody>
      </p:sp>
      <p:sp>
        <p:nvSpPr>
          <p:cNvPr id="17" name="">
            <a:extLst xmlns:a="http://schemas.openxmlformats.org/drawingml/2006/main">
              <a:ext uri="{FF2B5EF4-FFF2-40B4-BE49-F238E27FC236}">
                <a16:creationId xmlns:a16="http://schemas.microsoft.com/office/drawing/2014/main" id="{D1BE9FF4-F8A4-4403-A751-B50FE5BCBAC8}"/>
              </a:ext>
            </a:extLst>
          </p:cNvPr>
          <p:cNvSpPr>
            <a:spLocks xmlns:a="http://schemas.openxmlformats.org/drawingml/2006/main" noGrp="1"/>
          </p:cNvSpPr>
          <p:nvPr/>
        </p:nvSpPr>
        <p:spPr>
          <a:xfrm xmlns:a="http://schemas.openxmlformats.org/drawingml/2006/main">
            <a:off x="4362450" y="4095750"/>
            <a:ext cx="3333750" cy="1466850"/>
          </a:xfrm>
          <a:prstGeom xmlns:a="http://schemas.openxmlformats.org/drawingml/2006/main" prst="roundRect">
            <a:avLst>
              <a:gd name="adj" fmla="val 7792"/>
            </a:avLst>
          </a:prstGeom>
          <a:solidFill xmlns:a="http://schemas.openxmlformats.org/drawingml/2006/main">
            <a:srgbClr val="F2BD3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A0D74BB-A254-45E5-BE8C-6A547BF08EA4}"/>
              </a:ext>
            </a:extLst>
          </p:cNvPr>
          <p:cNvSpPr>
            <a:spLocks xmlns:a="http://schemas.openxmlformats.org/drawingml/2006/main" noGrp="1"/>
          </p:cNvSpPr>
          <p:nvPr/>
        </p:nvSpPr>
        <p:spPr>
          <a:xfrm xmlns:a="http://schemas.openxmlformats.org/drawingml/2006/main">
            <a:off x="457200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17342C"/>
                </a:solidFill>
                <a:latin typeface="Arial"/>
                <a:ea typeface="Arial"/>
                <a:cs typeface="Arial"/>
              </a:defRPr>
            </a:pPr>
            <a:r>
              <a:rPr sz="1050" b="1">
                <a:solidFill>
                  <a:srgbClr val="17342C"/>
                </a:solidFill>
                <a:latin typeface="Arial"/>
                <a:ea typeface="Arial"/>
                <a:cs typeface="Arial"/>
              </a:rPr>
              <a:t>2  EXPLAIN</a:t>
            </a:r>
          </a:p>
        </p:txBody>
      </p:sp>
      <p:sp>
        <p:nvSpPr>
          <p:cNvPr id="19" name="">
            <a:extLst xmlns:a="http://schemas.openxmlformats.org/drawingml/2006/main">
              <a:ext uri="{FF2B5EF4-FFF2-40B4-BE49-F238E27FC236}">
                <a16:creationId xmlns:a16="http://schemas.microsoft.com/office/drawing/2014/main" id="{3F1F3016-431F-49DC-84DF-49988E5D47A4}"/>
              </a:ext>
            </a:extLst>
          </p:cNvPr>
          <p:cNvSpPr>
            <a:spLocks xmlns:a="http://schemas.openxmlformats.org/drawingml/2006/main" noGrp="1"/>
          </p:cNvSpPr>
          <p:nvPr/>
        </p:nvSpPr>
        <p:spPr>
          <a:xfrm xmlns:a="http://schemas.openxmlformats.org/drawingml/2006/main">
            <a:off x="457200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17342C"/>
                </a:solidFill>
                <a:latin typeface="Arial"/>
                <a:ea typeface="Arial"/>
                <a:cs typeface="Arial"/>
              </a:defRPr>
            </a:pPr>
            <a:r>
              <a:rPr sz="1275" b="0">
                <a:solidFill>
                  <a:srgbClr val="17342C"/>
                </a:solidFill>
                <a:latin typeface="Arial"/>
                <a:ea typeface="Arial"/>
                <a:cs typeface="Arial"/>
              </a:rPr>
              <a:t>Link ideas with because, so or therefore.</a:t>
            </a:r>
          </a:p>
        </p:txBody>
      </p:sp>
      <p:sp>
        <p:nvSpPr>
          <p:cNvPr id="20" name="">
            <a:extLst xmlns:a="http://schemas.openxmlformats.org/drawingml/2006/main">
              <a:ext uri="{FF2B5EF4-FFF2-40B4-BE49-F238E27FC236}">
                <a16:creationId xmlns:a16="http://schemas.microsoft.com/office/drawing/2014/main" id="{555C04E9-3098-4DBA-84F0-AA3D813C70B1}"/>
              </a:ext>
            </a:extLst>
          </p:cNvPr>
          <p:cNvSpPr>
            <a:spLocks xmlns:a="http://schemas.openxmlformats.org/drawingml/2006/main" noGrp="1"/>
          </p:cNvSpPr>
          <p:nvPr/>
        </p:nvSpPr>
        <p:spPr>
          <a:xfrm xmlns:a="http://schemas.openxmlformats.org/drawingml/2006/main">
            <a:off x="8039100" y="4095750"/>
            <a:ext cx="3333750" cy="1466850"/>
          </a:xfrm>
          <a:prstGeom xmlns:a="http://schemas.openxmlformats.org/drawingml/2006/main" prst="roundRect">
            <a:avLst>
              <a:gd name="adj" fmla="val 7792"/>
            </a:avLst>
          </a:prstGeom>
          <a:solidFill xmlns:a="http://schemas.openxmlformats.org/drawingml/2006/main">
            <a:srgbClr val="0C555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58D09BE-F54B-411B-8931-1EA5C420C61C}"/>
              </a:ext>
            </a:extLst>
          </p:cNvPr>
          <p:cNvSpPr>
            <a:spLocks xmlns:a="http://schemas.openxmlformats.org/drawingml/2006/main" noGrp="1"/>
          </p:cNvSpPr>
          <p:nvPr/>
        </p:nvSpPr>
        <p:spPr>
          <a:xfrm xmlns:a="http://schemas.openxmlformats.org/drawingml/2006/main">
            <a:off x="824865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3  CHECK</a:t>
            </a:r>
          </a:p>
        </p:txBody>
      </p:sp>
      <p:sp>
        <p:nvSpPr>
          <p:cNvPr id="22" name="">
            <a:extLst xmlns:a="http://schemas.openxmlformats.org/drawingml/2006/main">
              <a:ext uri="{FF2B5EF4-FFF2-40B4-BE49-F238E27FC236}">
                <a16:creationId xmlns:a16="http://schemas.microsoft.com/office/drawing/2014/main" id="{315C8A15-DE4E-412C-98E6-B5A07750424C}"/>
              </a:ext>
            </a:extLst>
          </p:cNvPr>
          <p:cNvSpPr>
            <a:spLocks xmlns:a="http://schemas.openxmlformats.org/drawingml/2006/main" noGrp="1"/>
          </p:cNvSpPr>
          <p:nvPr/>
        </p:nvSpPr>
        <p:spPr>
          <a:xfrm xmlns:a="http://schemas.openxmlformats.org/drawingml/2006/main">
            <a:off x="824865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Answer every part; keep claims specific and source-safe.</a:t>
            </a:r>
          </a:p>
        </p:txBody>
      </p:sp>
      <p:sp>
        <p:nvSpPr>
          <p:cNvPr id="23" name="">
            <a:extLst xmlns:a="http://schemas.openxmlformats.org/drawingml/2006/main">
              <a:ext uri="{FF2B5EF4-FFF2-40B4-BE49-F238E27FC236}">
                <a16:creationId xmlns:a16="http://schemas.microsoft.com/office/drawing/2014/main" id="{295DCA79-010D-4EC2-9EC8-6B4D53E40BD6}"/>
              </a:ext>
            </a:extLst>
          </p:cNvPr>
          <p:cNvSpPr>
            <a:spLocks xmlns:a="http://schemas.openxmlformats.org/drawingml/2006/main" noGrp="1"/>
          </p:cNvSpPr>
          <p:nvPr/>
        </p:nvSpPr>
        <p:spPr>
          <a:xfrm xmlns:a="http://schemas.openxmlformats.org/drawingml/2006/main">
            <a:off x="685800" y="5810250"/>
            <a:ext cx="1076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E8674B"/>
                </a:solidFill>
                <a:latin typeface="Arial"/>
                <a:ea typeface="Arial"/>
                <a:cs typeface="Arial"/>
              </a:defRPr>
            </a:pPr>
            <a:r>
              <a:rPr sz="1200" b="1">
                <a:solidFill>
                  <a:srgbClr val="E8674B"/>
                </a:solidFill>
                <a:latin typeface="Arial"/>
                <a:ea typeface="Arial"/>
                <a:cs typeface="Arial"/>
              </a:rPr>
              <a:t>Sentence starter: State A shows… The matched element changes by… Before export I will…</a:t>
            </a:r>
          </a:p>
        </p:txBody>
      </p:sp>
      <p:sp>
        <p:nvSpPr>
          <p:cNvPr id="24" name="">
            <a:extLst xmlns:a="http://schemas.openxmlformats.org/drawingml/2006/main">
              <a:ext uri="{FF2B5EF4-FFF2-40B4-BE49-F238E27FC236}">
                <a16:creationId xmlns:a16="http://schemas.microsoft.com/office/drawing/2014/main" id="{A125C23C-23C2-4989-A221-51F1EBCA86DE}"/>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07  •  MOTION ADVERTISING</a:t>
            </a:r>
          </a:p>
        </p:txBody>
      </p:sp>
      <p:sp>
        <p:nvSpPr>
          <p:cNvPr id="25" name="">
            <a:extLst xmlns:a="http://schemas.openxmlformats.org/drawingml/2006/main">
              <a:ext uri="{FF2B5EF4-FFF2-40B4-BE49-F238E27FC236}">
                <a16:creationId xmlns:a16="http://schemas.microsoft.com/office/drawing/2014/main" id="{DD50722D-7F4B-4331-BC15-1AD7B64175CD}"/>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07</a:t>
            </a:r>
          </a:p>
        </p:txBody>
      </p:sp>
    </p:spTree>
    <p:extLst>
      <p:ext uri="{BB962C8B-B14F-4D97-AF65-F5344CB8AC3E}">
        <p14:creationId xmlns:p14="http://schemas.microsoft.com/office/powerpoint/2010/main" val="1555358030"/>
      </p:ext>
    </p:extLst>
  </p:cSld>
</p:sld>
</file>

<file path=ppt/slides/slide8.xml><?xml version="1.0" encoding="utf-8"?>
<p:sld xmlns:p="http://schemas.openxmlformats.org/presentationml/2006/main">
  <p:cSld>
    <p:bg>
      <p:bgPr>
        <a:solidFill xmlns:a="http://schemas.openxmlformats.org/drawingml/2006/main">
          <a:srgbClr val="E8674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2626ECA-8844-4F8D-8ED4-0ED5291DED33}"/>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5A10F3-036A-4AD0-BA1B-D74357577F00}"/>
              </a:ext>
            </a:extLst>
          </p:cNvPr>
          <p:cNvSpPr>
            <a:spLocks xmlns:a="http://schemas.openxmlformats.org/drawingml/2006/main" noGrp="1"/>
          </p:cNvSpPr>
          <p:nvPr/>
        </p:nvSpPr>
        <p:spPr>
          <a:xfrm xmlns:a="http://schemas.openxmlformats.org/drawingml/2006/main">
            <a:off x="685800" y="838200"/>
            <a:ext cx="666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Before you pack up…</a:t>
            </a:r>
          </a:p>
        </p:txBody>
      </p:sp>
      <p:sp>
        <p:nvSpPr>
          <p:cNvPr id="3" name="">
            <a:extLst xmlns:a="http://schemas.openxmlformats.org/drawingml/2006/main">
              <a:ext uri="{FF2B5EF4-FFF2-40B4-BE49-F238E27FC236}">
                <a16:creationId xmlns:a16="http://schemas.microsoft.com/office/drawing/2014/main" id="{51A51070-32B7-43E7-9C0A-F0DB9C605459}"/>
              </a:ext>
            </a:extLst>
          </p:cNvPr>
          <p:cNvSpPr>
            <a:spLocks xmlns:a="http://schemas.openxmlformats.org/drawingml/2006/main" noGrp="1"/>
          </p:cNvSpPr>
          <p:nvPr/>
        </p:nvSpPr>
        <p:spPr>
          <a:xfrm xmlns:a="http://schemas.openxmlformats.org/drawingml/2006/main">
            <a:off x="685800" y="196215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1. One idea I can now explain is…</a:t>
            </a:r>
          </a:p>
        </p:txBody>
      </p:sp>
      <p:sp>
        <p:nvSpPr>
          <p:cNvPr id="4" name="">
            <a:extLst xmlns:a="http://schemas.openxmlformats.org/drawingml/2006/main">
              <a:ext uri="{FF2B5EF4-FFF2-40B4-BE49-F238E27FC236}">
                <a16:creationId xmlns:a16="http://schemas.microsoft.com/office/drawing/2014/main" id="{31351A54-06D6-4AF7-ADC9-0D3B1D90772D}"/>
              </a:ext>
            </a:extLst>
          </p:cNvPr>
          <p:cNvSpPr>
            <a:spLocks xmlns:a="http://schemas.openxmlformats.org/drawingml/2006/main" noGrp="1"/>
          </p:cNvSpPr>
          <p:nvPr/>
        </p:nvSpPr>
        <p:spPr>
          <a:xfrm xmlns:a="http://schemas.openxmlformats.org/drawingml/2006/main">
            <a:off x="685800" y="308610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2. One design decision or practical action this changes is…</a:t>
            </a:r>
          </a:p>
        </p:txBody>
      </p:sp>
      <p:sp>
        <p:nvSpPr>
          <p:cNvPr id="5" name="">
            <a:extLst xmlns:a="http://schemas.openxmlformats.org/drawingml/2006/main">
              <a:ext uri="{FF2B5EF4-FFF2-40B4-BE49-F238E27FC236}">
                <a16:creationId xmlns:a16="http://schemas.microsoft.com/office/drawing/2014/main" id="{2522C162-CB7C-4592-8B59-D48E91132070}"/>
              </a:ext>
            </a:extLst>
          </p:cNvPr>
          <p:cNvSpPr>
            <a:spLocks xmlns:a="http://schemas.openxmlformats.org/drawingml/2006/main" noGrp="1"/>
          </p:cNvSpPr>
          <p:nvPr/>
        </p:nvSpPr>
        <p:spPr>
          <a:xfrm xmlns:a="http://schemas.openxmlformats.org/drawingml/2006/main">
            <a:off x="685800" y="421005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3. One question I still need answered is…</a:t>
            </a:r>
          </a:p>
        </p:txBody>
      </p:sp>
      <p:sp>
        <p:nvSpPr>
          <p:cNvPr id="6" name="">
            <a:extLst xmlns:a="http://schemas.openxmlformats.org/drawingml/2006/main">
              <a:ext uri="{FF2B5EF4-FFF2-40B4-BE49-F238E27FC236}">
                <a16:creationId xmlns:a16="http://schemas.microsoft.com/office/drawing/2014/main" id="{EFF2CAA3-9BC2-4D37-9854-13B4F52EB6A9}"/>
              </a:ext>
            </a:extLst>
          </p:cNvPr>
          <p:cNvSpPr>
            <a:spLocks xmlns:a="http://schemas.openxmlformats.org/drawingml/2006/main" noGrp="1"/>
          </p:cNvSpPr>
          <p:nvPr/>
        </p:nvSpPr>
        <p:spPr>
          <a:xfrm xmlns:a="http://schemas.openxmlformats.org/drawingml/2006/main">
            <a:off x="9810750" y="2609850"/>
            <a:ext cx="1638300" cy="163830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A1843C1-2979-49FF-AA0F-6F5EE629FFC4}"/>
              </a:ext>
            </a:extLst>
          </p:cNvPr>
          <p:cNvSpPr>
            <a:spLocks xmlns:a="http://schemas.openxmlformats.org/drawingml/2006/main" noGrp="1"/>
          </p:cNvSpPr>
          <p:nvPr/>
        </p:nvSpPr>
        <p:spPr>
          <a:xfrm xmlns:a="http://schemas.openxmlformats.org/drawingml/2006/main">
            <a:off x="9944100" y="2876550"/>
            <a:ext cx="13716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SAVE</a:t>
            </a:r>
          </a:p>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YOUR</a:t>
            </a:r>
          </a:p>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EVIDENCE</a:t>
            </a:r>
          </a:p>
        </p:txBody>
      </p:sp>
      <p:sp>
        <p:nvSpPr>
          <p:cNvPr id="8" name="">
            <a:extLst xmlns:a="http://schemas.openxmlformats.org/drawingml/2006/main">
              <a:ext uri="{FF2B5EF4-FFF2-40B4-BE49-F238E27FC236}">
                <a16:creationId xmlns:a16="http://schemas.microsoft.com/office/drawing/2014/main" id="{322C9D32-BD7D-4415-B138-6A0DABA1EFAA}"/>
              </a:ext>
            </a:extLst>
          </p:cNvPr>
          <p:cNvSpPr>
            <a:spLocks xmlns:a="http://schemas.openxmlformats.org/drawingml/2006/main" noGrp="1"/>
          </p:cNvSpPr>
          <p:nvPr/>
        </p:nvSpPr>
        <p:spPr>
          <a:xfrm xmlns:a="http://schemas.openxmlformats.org/drawingml/2006/main">
            <a:off x="685800" y="57531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rPr sz="1200" b="1">
                <a:solidFill>
                  <a:srgbClr val="FFFFFF"/>
                </a:solidFill>
                <a:latin typeface="Arial"/>
                <a:ea typeface="Arial"/>
                <a:cs typeface="Arial"/>
              </a:rPr>
              <a:t>Save in the matching course module. Local save is not submission.</a:t>
            </a:r>
          </a:p>
        </p:txBody>
      </p:sp>
      <p:sp>
        <p:nvSpPr>
          <p:cNvPr id="9" name="">
            <a:extLst xmlns:a="http://schemas.openxmlformats.org/drawingml/2006/main">
              <a:ext uri="{FF2B5EF4-FFF2-40B4-BE49-F238E27FC236}">
                <a16:creationId xmlns:a16="http://schemas.microsoft.com/office/drawing/2014/main" id="{9CB8E619-AF34-4952-81CF-C96653DCC5A2}"/>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07  •  MOTION ADVERTISING</a:t>
            </a:r>
          </a:p>
        </p:txBody>
      </p:sp>
      <p:sp>
        <p:nvSpPr>
          <p:cNvPr id="10" name="">
            <a:extLst xmlns:a="http://schemas.openxmlformats.org/drawingml/2006/main">
              <a:ext uri="{FF2B5EF4-FFF2-40B4-BE49-F238E27FC236}">
                <a16:creationId xmlns:a16="http://schemas.microsoft.com/office/drawing/2014/main" id="{6E5F3D91-F085-4DE4-A39F-D0BA6F509EFF}"/>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08</a:t>
            </a:r>
          </a:p>
        </p:txBody>
      </p:sp>
    </p:spTree>
    <p:extLst>
      <p:ext uri="{BB962C8B-B14F-4D97-AF65-F5344CB8AC3E}">
        <p14:creationId xmlns:p14="http://schemas.microsoft.com/office/powerpoint/2010/main" val="10691515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2026-08-24T00:54:05.0550000Z</dcterms:created>
  <dcterms:modified xsi:type="dcterms:W3CDTF">2026-08-24T00:54:05.0550000Z</dcterms:modified>
</coreProperties>
</file>