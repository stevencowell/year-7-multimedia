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cdcb20c68a4bfd" /><Relationship Type="http://schemas.openxmlformats.org/officeDocument/2006/relationships/extended-properties" Target="/docProps/app.xml" Id="R52ba65dd0b0a4697" /><Relationship Type="http://schemas.openxmlformats.org/officeDocument/2006/relationships/officeDocument" Target="/ppt/presentation.xml" Id="Rc94d41ae92864e9e" /></Relationships>
</file>

<file path=ppt/presentation.xml><?xml version="1.0" encoding="utf-8"?>
<p:presentation xmlns:p="http://schemas.openxmlformats.org/presentationml/2006/main">
  <p:sldMasterIdLst>
    <p:sldMasterId xmlns:r="http://schemas.openxmlformats.org/officeDocument/2006/relationships" id="2147483648" r:id="Rc5eccef75e47465f"/>
  </p:sldMasterIdLst>
  <p:notesMasterIdLst>
    <p:notesMasterId xmlns:r="http://schemas.openxmlformats.org/officeDocument/2006/relationships" r:id="R1cad5b6205a64a69"/>
  </p:notesMasterIdLst>
  <p:sldIdLst>
    <p:sldId xmlns:r="http://schemas.openxmlformats.org/officeDocument/2006/relationships" id="256" r:id="R9d327b94e1694aa9"/>
    <p:sldId xmlns:r="http://schemas.openxmlformats.org/officeDocument/2006/relationships" id="257" r:id="R571f90b904184790"/>
    <p:sldId xmlns:r="http://schemas.openxmlformats.org/officeDocument/2006/relationships" id="258" r:id="Rdf8ca08095a441c9"/>
    <p:sldId xmlns:r="http://schemas.openxmlformats.org/officeDocument/2006/relationships" id="259" r:id="R09c1c189f7b847bf"/>
    <p:sldId xmlns:r="http://schemas.openxmlformats.org/officeDocument/2006/relationships" id="260" r:id="R29bafc424614475c"/>
    <p:sldId xmlns:r="http://schemas.openxmlformats.org/officeDocument/2006/relationships" id="261" r:id="Re119d18baf83488c"/>
    <p:sldId xmlns:r="http://schemas.openxmlformats.org/officeDocument/2006/relationships" id="262" r:id="Redd5adafca5a49ed"/>
    <p:sldId xmlns:r="http://schemas.openxmlformats.org/officeDocument/2006/relationships" id="263" r:id="Re29e812b220540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e5c9ca98e143df" /><Relationship Type="http://schemas.openxmlformats.org/officeDocument/2006/relationships/slideMaster" Target="/ppt/slideMasters/slideMaster1.xml" Id="Rc5eccef75e47465f" /><Relationship Type="http://schemas.openxmlformats.org/officeDocument/2006/relationships/notesMaster" Target="/ppt/notesMasters/notesMaster1.xml" Id="R1cad5b6205a64a69" /><Relationship Type="http://schemas.openxmlformats.org/officeDocument/2006/relationships/presProps" Target="/ppt/presProps.xml" Id="Rd74b88c36aa245a0" /><Relationship Type="http://schemas.openxmlformats.org/officeDocument/2006/relationships/tableStyles" Target="/ppt/tableStyles.xml" Id="R1c788a5878aa4ea2" /><Relationship Type="http://schemas.openxmlformats.org/officeDocument/2006/relationships/slide" Target="/ppt/slides/slide1.xml" Id="R9d327b94e1694aa9" /><Relationship Type="http://schemas.openxmlformats.org/officeDocument/2006/relationships/slide" Target="/ppt/slides/slide2.xml" Id="R571f90b904184790" /><Relationship Type="http://schemas.openxmlformats.org/officeDocument/2006/relationships/slide" Target="/ppt/slides/slide3.xml" Id="Rdf8ca08095a441c9" /><Relationship Type="http://schemas.openxmlformats.org/officeDocument/2006/relationships/slide" Target="/ppt/slides/slide4.xml" Id="R09c1c189f7b847bf" /><Relationship Type="http://schemas.openxmlformats.org/officeDocument/2006/relationships/slide" Target="/ppt/slides/slide5.xml" Id="R29bafc424614475c" /><Relationship Type="http://schemas.openxmlformats.org/officeDocument/2006/relationships/slide" Target="/ppt/slides/slide6.xml" Id="Re119d18baf83488c" /><Relationship Type="http://schemas.openxmlformats.org/officeDocument/2006/relationships/slide" Target="/ppt/slides/slide7.xml" Id="Redd5adafca5a49ed" /><Relationship Type="http://schemas.openxmlformats.org/officeDocument/2006/relationships/slide" Target="/ppt/slides/slide8.xml" Id="Re29e812b220540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69ee96bfaf4c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f9ac027e21460f" /><Relationship Type="http://schemas.openxmlformats.org/officeDocument/2006/relationships/notesMaster" Target="/ppt/notesMasters/notesMaster1.xml" Id="R6ab8b52922534e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b0303f3c9d4385" /><Relationship Type="http://schemas.openxmlformats.org/officeDocument/2006/relationships/notesMaster" Target="/ppt/notesMasters/notesMaster1.xml" Id="R4cea1b0cbcde4f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b70a78bc5c4d82" /><Relationship Type="http://schemas.openxmlformats.org/officeDocument/2006/relationships/notesMaster" Target="/ppt/notesMasters/notesMaster1.xml" Id="R774f2e695ef54e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e2a8596e564a75" /><Relationship Type="http://schemas.openxmlformats.org/officeDocument/2006/relationships/notesMaster" Target="/ppt/notesMasters/notesMaster1.xml" Id="Re699ee05d0e046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f04abaa2f64592" /><Relationship Type="http://schemas.openxmlformats.org/officeDocument/2006/relationships/notesMaster" Target="/ppt/notesMasters/notesMaster1.xml" Id="Rf556f618cbb04f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79589ccd69468b" /><Relationship Type="http://schemas.openxmlformats.org/officeDocument/2006/relationships/notesMaster" Target="/ppt/notesMasters/notesMaster1.xml" Id="R52a8a9f11d6943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f30da66afa4e53" /><Relationship Type="http://schemas.openxmlformats.org/officeDocument/2006/relationships/notesMaster" Target="/ppt/notesMasters/notesMaster1.xml" Id="R64bc31c2df264b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e131feb29d4843" /><Relationship Type="http://schemas.openxmlformats.org/officeDocument/2006/relationships/notesMaster" Target="/ppt/notesMasters/notesMaster1.xml" Id="Rcd9b6d0d200343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Build a focused poster and test it in a realistic context.</a:t>
            </a:r>
          </a:p>
          <a:p xmlns:a="http://schemas.openxmlformats.org/drawingml/2006/main">
            <a:r>
              <a:t>Prompt: What single element should begin the poster’s attention path?</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5.</a:t>
            </a:r>
          </a:p>
          <a:p xmlns:a="http://schemas.openxmlformats.org/drawingml/2006/main">
            <a:r>
              <a:t>- Theory: data/course-content.js, m05-s01, m05-s02, m05-s03.</a:t>
            </a:r>
          </a:p>
          <a:p xmlns:a="http://schemas.openxmlformats.org/drawingml/2006/main">
            <a:r>
              <a:t>- Visual: assets/source/drive-poster-outdoor-mockup.png.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What single element should begin the poster’s attention path?</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Composition and focal point.</a:t>
            </a:r>
          </a:p>
          <a:p xmlns:a="http://schemas.openxmlformats.org/drawingml/2006/main">
            <a:r>
              <a:t/>
            </a:r>
          </a:p>
          <a:p xmlns:a="http://schemas.openxmlformats.org/drawingml/2006/main">
            <a:r>
              <a:t>[Sources]</a:t>
            </a:r>
          </a:p>
          <a:p xmlns:a="http://schemas.openxmlformats.org/drawingml/2006/main">
            <a:r>
              <a:t>- Theory sequence: data/course-content.js, m05-s01, m05-s02, m05-s03.</a:t>
            </a:r>
          </a:p>
          <a:p xmlns:a="http://schemas.openxmlformats.org/drawingml/2006/main">
            <a:r>
              <a:t>- Module summary: data/course-map.js, Module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Compose a poster so one focal point begins a clear path through the message.</a:t>
            </a:r>
          </a:p>
          <a:p xmlns:a="http://schemas.openxmlformats.org/drawingml/2006/main">
            <a:r>
              <a:t>Explain: Composition is the deliberate arrangement of image, type, shape and space. A poster is usually seen quickly, so it needs an entry point. The focal point is the element intended to attract attention first; hierarchy then guides the viewer to the next information and action. A large element is not automatically useful if it distracts from the poster’s purpose.</a:t>
            </a:r>
          </a:p>
          <a:p xmlns:a="http://schemas.openxmlformats.org/drawingml/2006/main">
            <a:r>
              <a:t>Clarify: Visual weight comes from size, contrast, colour, detail and position. Symmetrical layouts can feel stable, while asymmetrical layouts can create energy, but neither is automatically better. Alignment and space keep relationships understandable. Test the poster from a distance and at thumbnail size. Squinting or viewing in greyscale can reveal whether several elements compete for first attention.</a:t>
            </a:r>
          </a:p>
          <a:p xmlns:a="http://schemas.openxmlformats.org/drawingml/2006/main">
            <a:r>
              <a:t>Worked example: The source poster can be examined as a complete composition. A student plans the path “product image → offer → brand and action”. The product image receives the strongest scale contrast, the offer sits nearby, and the logo has a clear but supporting position. A decorative burst competes with the offer, so it is reduced. The revision improves the intended path without copying the source poster’s brand content.</a:t>
            </a:r>
          </a:p>
          <a:p xmlns:a="http://schemas.openxmlformats.org/drawingml/2006/main">
            <a:r>
              <a:t>Ask: What is a focal point?</a:t>
            </a:r>
          </a:p>
          <a:p xmlns:a="http://schemas.openxmlformats.org/drawingml/2006/main">
            <a:r>
              <a:t>Listen for: The planned first point of attention. Correct. It begins the visual path.</a:t>
            </a:r>
          </a:p>
          <a:p xmlns:a="http://schemas.openxmlformats.org/drawingml/2006/main">
            <a:r>
              <a:t>Misconception to correct: The largest element is automatically the best focal point. → The focal point must serve the message and lead into a useful reading path.</a:t>
            </a:r>
          </a:p>
          <a:p xmlns:a="http://schemas.openxmlformats.org/drawingml/2006/main">
            <a:r>
              <a:t>Transition: Connect this idea to Image selection and background removal.</a:t>
            </a:r>
          </a:p>
          <a:p xmlns:a="http://schemas.openxmlformats.org/drawingml/2006/main">
            <a:r>
              <a:t/>
            </a:r>
          </a:p>
          <a:p xmlns:a="http://schemas.openxmlformats.org/drawingml/2006/main">
            <a:r>
              <a:t>[Sources]</a:t>
            </a:r>
          </a:p>
          <a:p xmlns:a="http://schemas.openxmlformats.org/drawingml/2006/main">
            <a:r>
              <a:t>- Theory and check: data/course-content.js, m05-s01 and m05-s01-q01.</a:t>
            </a:r>
          </a:p>
          <a:p xmlns:a="http://schemas.openxmlformats.org/drawingml/2006/main">
            <a:r>
              <a:t>- Visual: assets/source/drive-poster-original.png.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Select, prepare and place images that are relevant, honest, privacy-safe and visually clean.</a:t>
            </a:r>
          </a:p>
          <a:p xmlns:a="http://schemas.openxmlformats.org/drawingml/2006/main">
            <a:r>
              <a:t>Explain: An image should support the poster’s message and audience, not merely fill space. Check subject relevance, viewpoint, lighting, resolution, permission and whether the scene communicates an honest scale and condition. Use original or authorised material and record attribution where required. Avoid personal details, identifying student imagery and signed-in dashboard captures in public-facing graphics.</a:t>
            </a:r>
          </a:p>
          <a:p xmlns:a="http://schemas.openxmlformats.org/drawingml/2006/main">
            <a:r>
              <a:t>Clarify: Removing a background isolates a subject so it can sit within a new composition. The edge needs close inspection around hair, packaging, shadows and transparent areas. A jagged halo or missing piece weakens credibility. Background removal should not distort the subject or imply a false product condition. Sometimes retaining a real background is the more honest and useful choice.</a:t>
            </a:r>
          </a:p>
          <a:p xmlns:a="http://schemas.openxmlformats.org/drawingml/2006/main">
            <a:r>
              <a:t>Worked example: A product photograph has a busy bench behind it. The student duplicates the original, removes the background from the working copy and checks the edge on both light and dark test colours. A grey halo appears, so the mask is refined. They keep the original photograph in the process record and compare both versions. The cut-out supports the poster hierarchy, while the original preserves the actual context.</a:t>
            </a:r>
          </a:p>
          <a:p xmlns:a="http://schemas.openxmlformats.org/drawingml/2006/main">
            <a:r>
              <a:t>Ask: Which check belongs before using an image?</a:t>
            </a:r>
          </a:p>
          <a:p xmlns:a="http://schemas.openxmlformats.org/drawingml/2006/main">
            <a:r>
              <a:t>Listen for: Confirm its purpose, source permission and privacy safety. Correct. Suitability includes more than visual appeal.</a:t>
            </a:r>
          </a:p>
          <a:p xmlns:a="http://schemas.openxmlformats.org/drawingml/2006/main">
            <a:r>
              <a:t>Misconception to correct: Removing a background always improves a poster. → It helps only when isolation serves the message and the result remains clean and honest.</a:t>
            </a:r>
          </a:p>
          <a:p xmlns:a="http://schemas.openxmlformats.org/drawingml/2006/main">
            <a:r>
              <a:t>Transition: Connect this idea to Calls to action and mock-ups.</a:t>
            </a:r>
          </a:p>
          <a:p xmlns:a="http://schemas.openxmlformats.org/drawingml/2006/main">
            <a:r>
              <a:t/>
            </a:r>
          </a:p>
          <a:p xmlns:a="http://schemas.openxmlformats.org/drawingml/2006/main">
            <a:r>
              <a:t>[Sources]</a:t>
            </a:r>
          </a:p>
          <a:p xmlns:a="http://schemas.openxmlformats.org/drawingml/2006/main">
            <a:r>
              <a:t>- Theory and check: data/course-content.js, m05-s02 and m05-s02-q01.</a:t>
            </a:r>
          </a:p>
          <a:p xmlns:a="http://schemas.openxmlformats.org/drawingml/2006/main">
            <a:r>
              <a:t>- Native projection-scale process diagram adapted from approved visual background-removal-edge-check; source asset assets/visuals/background-removal-edge-check.svg.</a:t>
            </a:r>
          </a:p>
          <a:p xmlns:a="http://schemas.openxmlformats.org/drawingml/2006/main">
            <a:r>
              <a:t>- Google Drive source: Create a poster in Canva.mp4, Drive ID 1xN8xO5IlId6A7KnY-YQQjXK3_qygi-f3, 7:54.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Write a clear action and use mock-ups to test how a design behaves in context.</a:t>
            </a:r>
          </a:p>
          <a:p xmlns:a="http://schemas.openxmlformats.org/drawingml/2006/main">
            <a:r>
              <a:t>Explain: A call to action tells the audience what to do next, such as view the menu, explore products or visit the portfolio. It should be brief, specific and visible without overpowering the main message. The action must match what is actually available. “Order now” would be misleading if no ordering system exists. The brief and publishing context should control the wording.</a:t>
            </a:r>
          </a:p>
          <a:p xmlns:a="http://schemas.openxmlformats.org/drawingml/2006/main">
            <a:r>
              <a:t>Clarify: A mock-up places artwork into a simulated location such as a poster frame, outdoor sign or street display. It can reveal scale, contrast, crop and viewing-distance problems. It is not proof that the design was manufactured, purchased or displayed publicly. Label mock-ups as context views and preserve the original flat artwork so viewers can judge the design itself.</a:t>
            </a:r>
          </a:p>
          <a:p xmlns:a="http://schemas.openxmlformats.org/drawingml/2006/main">
            <a:r>
              <a:t>Worked example: The Drive set contains one full poster and three context mock-ups. A student compares all four: the flat poster shows complete detail, one outdoor view reveals that the action is too small, and a street view shows background colours competing with the logo. They enlarge the action slightly and use a controlled logo variant. The mock-ups diagnose context problems; they are not copied as evidence of the student’s own public campaign.</a:t>
            </a:r>
          </a:p>
          <a:p xmlns:a="http://schemas.openxmlformats.org/drawingml/2006/main">
            <a:r>
              <a:t>Ask: What is the purpose of a call to action?</a:t>
            </a:r>
          </a:p>
          <a:p xmlns:a="http://schemas.openxmlformats.org/drawingml/2006/main">
            <a:r>
              <a:t>Listen for: Tell the audience what useful action to take next. Correct. It converts attention into a clear next step.</a:t>
            </a:r>
          </a:p>
          <a:p xmlns:a="http://schemas.openxmlformats.org/drawingml/2006/main">
            <a:r>
              <a:t>Misconception to correct: A realistic mock-up proves the design existed in that location. → It is a simulation unless real installation evidence is separately verified.</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m05-s03 and m05-s03-q01.</a:t>
            </a:r>
          </a:p>
          <a:p xmlns:a="http://schemas.openxmlformats.org/drawingml/2006/main">
            <a:r>
              <a:t>- Visual: assets/source/drive-poster-table-mockup.png.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The planned first point of attention. Feedback: Correct. It begins the visual path.</a:t>
            </a:r>
          </a:p>
          <a:p xmlns:a="http://schemas.openxmlformats.org/drawingml/2006/main">
            <a:r>
              <a:t>Question 2: Confirm its purpose, source permission and privacy safety. Feedback: Correct. Suitability includes more than visual appeal.</a:t>
            </a:r>
          </a:p>
          <a:p xmlns:a="http://schemas.openxmlformats.org/drawingml/2006/main">
            <a:r>
              <a:t>Question 3: Tell the audience what useful action to take next. Feedback: Correct. It converts attention into a clear next step.</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m05-s01-q01, m05-s02-q01, m05-s03-q01.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m05-s01-capstone, m05-s02-capstone, m05-s03-capstone.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m05-s01, m05-s02, m05-s03.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614039c38344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905c94ef09465c" /><Relationship Type="http://schemas.openxmlformats.org/officeDocument/2006/relationships/slideLayout" Target="/ppt/slideLayouts/slideLayout1.xml" Id="Rf3736c5c692e4c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736c5c692e4c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6fa124f5de4f7d" /><Relationship Type="http://schemas.openxmlformats.org/officeDocument/2006/relationships/image" Target="/ppt/media/image.png" Id="R575e7a25a2674c36" /><Relationship Type="http://schemas.openxmlformats.org/officeDocument/2006/relationships/notesSlide" Target="/ppt/notesSlides/notesSlide1.xml" Id="R7a7040c3e4b34c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763638d8134388" /><Relationship Type="http://schemas.openxmlformats.org/officeDocument/2006/relationships/notesSlide" Target="/ppt/notesSlides/notesSlide2.xml" Id="R3b7f621879b848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e7d7b4654241ae" /><Relationship Type="http://schemas.openxmlformats.org/officeDocument/2006/relationships/image" Target="/ppt/media/image2.png" Id="R27a6940e075d4513" /><Relationship Type="http://schemas.openxmlformats.org/officeDocument/2006/relationships/notesSlide" Target="/ppt/notesSlides/notesSlide3.xml" Id="Rf794741e7b4143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e562823ea34f16" /><Relationship Type="http://schemas.openxmlformats.org/officeDocument/2006/relationships/image" Target="/ppt/media/image3.png" Id="R5c2dc2aa21c64c95" /><Relationship Type="http://schemas.openxmlformats.org/officeDocument/2006/relationships/notesSlide" Target="/ppt/notesSlides/notesSlide4.xml" Id="R03e8eb24b7bf4c39" /><Relationship Type="http://schemas.openxmlformats.org/officeDocument/2006/relationships/hyperlink" Target="https://drive.google.com/file/d/1xN8xO5IlId6A7KnY-YQQjXK3_qygi-f3/view" TargetMode="External" Id="RStage07Hyperlink4_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b8bc486bb24c0b" /><Relationship Type="http://schemas.openxmlformats.org/officeDocument/2006/relationships/image" Target="/ppt/media/image4.png" Id="R9b8ab1c94f104e30" /><Relationship Type="http://schemas.openxmlformats.org/officeDocument/2006/relationships/notesSlide" Target="/ppt/notesSlides/notesSlide5.xml" Id="Re3611bd890dd4a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81a937912f4b7e" /><Relationship Type="http://schemas.openxmlformats.org/officeDocument/2006/relationships/notesSlide" Target="/ppt/notesSlides/notesSlide6.xml" Id="R339c3dcadf0d4c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26d70673fd4044" /><Relationship Type="http://schemas.openxmlformats.org/officeDocument/2006/relationships/notesSlide" Target="/ppt/notesSlides/notesSlide7.xml" Id="Rc7776e3af0a141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28fb0591ba4e28" /><Relationship Type="http://schemas.openxmlformats.org/officeDocument/2006/relationships/notesSlide" Target="/ppt/notesSlides/notesSlide8.xml" Id="Rffd62dbf98c34e79"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0CC6EF-A2D9-4462-8DCE-1335B7B3C5A8}"/>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014E9C-B383-4DDE-8BFC-74E8D6EEAF87}"/>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2A60B39-AC6F-44D1-9825-73D97D67C3B2}"/>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05</a:t>
            </a:r>
          </a:p>
        </p:txBody>
      </p:sp>
      <p:sp>
        <p:nvSpPr>
          <p:cNvPr id="4" name="">
            <a:extLst xmlns:a="http://schemas.openxmlformats.org/drawingml/2006/main">
              <a:ext uri="{FF2B5EF4-FFF2-40B4-BE49-F238E27FC236}">
                <a16:creationId xmlns:a16="http://schemas.microsoft.com/office/drawing/2014/main" id="{E46B7175-EE9F-4B01-BB57-4DABC46957BC}"/>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Promotional poster</a:t>
            </a:r>
          </a:p>
        </p:txBody>
      </p:sp>
      <p:sp>
        <p:nvSpPr>
          <p:cNvPr id="5" name="">
            <a:extLst xmlns:a="http://schemas.openxmlformats.org/drawingml/2006/main">
              <a:ext uri="{FF2B5EF4-FFF2-40B4-BE49-F238E27FC236}">
                <a16:creationId xmlns:a16="http://schemas.microsoft.com/office/drawing/2014/main" id="{FF81A0C7-3E73-4A8B-B3A8-A9F19B6ABD49}"/>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Build a focused poster and test it in a realistic context.</a:t>
            </a:r>
          </a:p>
        </p:txBody>
      </p:sp>
      <p:sp>
        <p:nvSpPr>
          <p:cNvPr id="6" name="">
            <a:extLst xmlns:a="http://schemas.openxmlformats.org/drawingml/2006/main">
              <a:ext uri="{FF2B5EF4-FFF2-40B4-BE49-F238E27FC236}">
                <a16:creationId xmlns:a16="http://schemas.microsoft.com/office/drawing/2014/main" id="{9F7166F9-20F3-441A-BA64-E5A2FFD40DEF}"/>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5101EAE1-6566-461D-AD64-AF57FEEFF215}"/>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What single element should begin the poster’s attention path?</a:t>
            </a:r>
          </a:p>
        </p:txBody>
      </p:sp>
      <p:sp>
        <p:nvSpPr>
          <p:cNvPr id="8" name="">
            <a:extLst xmlns:a="http://schemas.openxmlformats.org/drawingml/2006/main">
              <a:ext uri="{FF2B5EF4-FFF2-40B4-BE49-F238E27FC236}">
                <a16:creationId xmlns:a16="http://schemas.microsoft.com/office/drawing/2014/main" id="{A88E2E07-F78C-4237-AA8A-0F2AF9A29DCC}"/>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Poster Outdoor Mockup Source" title="Poster Outdoor Mockup Source" descr="Korean Burger poster displayed in a large framed outdoor shelter panel beside brick, stone and metal structures."/>
          <p:cNvPicPr>
            <a:picLocks xmlns:a="http://schemas.openxmlformats.org/drawingml/2006/main" noChangeAspect="1"/>
          </p:cNvPicPr>
          <p:nvPr/>
        </p:nvPicPr>
        <p:blipFill>
          <a:blip xmlns:r="http://schemas.openxmlformats.org/officeDocument/2006/relationships" xmlns:a="http://schemas.openxmlformats.org/drawingml/2006/main" r:embed="R575e7a25a2674c36"/>
          <a:srcRect xmlns:a="http://schemas.openxmlformats.org/drawingml/2006/main" l="0" t="14398" r="0" b="14398"/>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E1E77547-47AE-4EEA-84FA-5A87FE787060}"/>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05  •  PROMOTIONAL POSTER</a:t>
            </a:r>
          </a:p>
        </p:txBody>
      </p:sp>
      <p:sp>
        <p:nvSpPr>
          <p:cNvPr id="11" name="">
            <a:extLst xmlns:a="http://schemas.openxmlformats.org/drawingml/2006/main">
              <a:ext uri="{FF2B5EF4-FFF2-40B4-BE49-F238E27FC236}">
                <a16:creationId xmlns:a16="http://schemas.microsoft.com/office/drawing/2014/main" id="{065FD34D-EA82-4DE7-AE90-785B58BB0410}"/>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1559473535"/>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3B52BF-A80C-49BA-A869-AC1FD36562B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8CEC73-143F-4E8E-B2FC-07C23E7C72DC}"/>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282DF56C-8B07-4C1C-BC2C-E87A74AD1DB4}"/>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2E188D7F-156C-42D6-AD25-4C3A33AF4BB1}"/>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2628314D-4600-49DD-88FD-0231B4407411}"/>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9C87BEE-EA59-4D55-AEBE-BA1F66FC32FA}"/>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84636CB-1B7C-4031-B97F-F03C03CA7A8F}"/>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Composition and focal point</a:t>
            </a:r>
          </a:p>
        </p:txBody>
      </p:sp>
      <p:sp>
        <p:nvSpPr>
          <p:cNvPr id="8" name="">
            <a:extLst xmlns:a="http://schemas.openxmlformats.org/drawingml/2006/main">
              <a:ext uri="{FF2B5EF4-FFF2-40B4-BE49-F238E27FC236}">
                <a16:creationId xmlns:a16="http://schemas.microsoft.com/office/drawing/2014/main" id="{6A80ED23-CA1A-4984-8182-FA05113EDAD2}"/>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C425CE28-E0B6-43FC-814F-75708439A40E}"/>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426E313-CC05-4C8D-BD3F-5737E21E6F22}"/>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55A47174-027E-46C3-A1E5-B96470E5D31D}"/>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Image selection and background removal</a:t>
            </a:r>
          </a:p>
        </p:txBody>
      </p:sp>
      <p:sp>
        <p:nvSpPr>
          <p:cNvPr id="12" name="">
            <a:extLst xmlns:a="http://schemas.openxmlformats.org/drawingml/2006/main">
              <a:ext uri="{FF2B5EF4-FFF2-40B4-BE49-F238E27FC236}">
                <a16:creationId xmlns:a16="http://schemas.microsoft.com/office/drawing/2014/main" id="{E6EDBD13-4EB5-4110-B25E-2636E2981024}"/>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E717F58E-266A-4FE5-9DE4-71F4D52A140D}"/>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F97506-13C0-4885-9974-917CCBC38366}"/>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A9384E5C-AAD6-475E-AFFC-9BBAF1673BCB}"/>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Calls to action and mock-ups</a:t>
            </a:r>
          </a:p>
        </p:txBody>
      </p:sp>
      <p:sp>
        <p:nvSpPr>
          <p:cNvPr id="16" name="">
            <a:extLst xmlns:a="http://schemas.openxmlformats.org/drawingml/2006/main">
              <a:ext uri="{FF2B5EF4-FFF2-40B4-BE49-F238E27FC236}">
                <a16:creationId xmlns:a16="http://schemas.microsoft.com/office/drawing/2014/main" id="{7AEA1F04-F737-4AEA-AEFA-7367AD22B9F6}"/>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33BC81A5-E3B8-440D-9592-71255FB22EF4}"/>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91106"/>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What single element should begin the poster’s attention path?</a:t>
            </a:r>
          </a:p>
        </p:txBody>
      </p:sp>
      <p:sp>
        <p:nvSpPr>
          <p:cNvPr id="18" name="">
            <a:extLst xmlns:a="http://schemas.openxmlformats.org/drawingml/2006/main">
              <a:ext uri="{FF2B5EF4-FFF2-40B4-BE49-F238E27FC236}">
                <a16:creationId xmlns:a16="http://schemas.microsoft.com/office/drawing/2014/main" id="{69C14D60-AA79-47F6-98D2-8CC4FDD99B95}"/>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A54A9257-BF3D-44EE-8860-E4921FE453AD}"/>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05  •  PROMOTIONAL POSTER</a:t>
            </a:r>
          </a:p>
        </p:txBody>
      </p:sp>
      <p:sp>
        <p:nvSpPr>
          <p:cNvPr id="20" name="">
            <a:extLst xmlns:a="http://schemas.openxmlformats.org/drawingml/2006/main">
              <a:ext uri="{FF2B5EF4-FFF2-40B4-BE49-F238E27FC236}">
                <a16:creationId xmlns:a16="http://schemas.microsoft.com/office/drawing/2014/main" id="{538382C0-C3BC-4316-97CB-FCE221F02225}"/>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2003093011"/>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AAF097-D6F0-4191-9EB7-30F40F9D48B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BA779F-B5CF-4737-A275-79D957465010}"/>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5.1  COMPOSITION AND FOCAL POINT</a:t>
            </a:r>
          </a:p>
        </p:txBody>
      </p:sp>
      <p:sp>
        <p:nvSpPr>
          <p:cNvPr id="3" name="">
            <a:extLst xmlns:a="http://schemas.openxmlformats.org/drawingml/2006/main">
              <a:ext uri="{FF2B5EF4-FFF2-40B4-BE49-F238E27FC236}">
                <a16:creationId xmlns:a16="http://schemas.microsoft.com/office/drawing/2014/main" id="{7FDC2214-B703-4A50-BA3F-5EB5F17BA5B4}"/>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Composition and focal point</a:t>
            </a:r>
          </a:p>
        </p:txBody>
      </p:sp>
      <p:sp>
        <p:nvSpPr>
          <p:cNvPr id="4" name="">
            <a:extLst xmlns:a="http://schemas.openxmlformats.org/drawingml/2006/main">
              <a:ext uri="{FF2B5EF4-FFF2-40B4-BE49-F238E27FC236}">
                <a16:creationId xmlns:a16="http://schemas.microsoft.com/office/drawing/2014/main" id="{9D4F9E47-5759-487A-BD2E-C89A7F0E000F}"/>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3B0E873E-7EFE-4CC8-B8AC-223B6F56A8B6}"/>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817A827-0306-436C-A812-4146185C1545}"/>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Composition arranges elements for a purpose.</a:t>
            </a:r>
          </a:p>
        </p:txBody>
      </p:sp>
      <p:sp>
        <p:nvSpPr>
          <p:cNvPr id="7" name="">
            <a:extLst xmlns:a="http://schemas.openxmlformats.org/drawingml/2006/main">
              <a:ext uri="{FF2B5EF4-FFF2-40B4-BE49-F238E27FC236}">
                <a16:creationId xmlns:a16="http://schemas.microsoft.com/office/drawing/2014/main" id="{2DA62C29-6CE0-4851-A118-65115BB64DFA}"/>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0AC77D4-D07D-4680-87CE-9A031561F27A}"/>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focal point starts a planned attention path.</a:t>
            </a:r>
          </a:p>
        </p:txBody>
      </p:sp>
      <p:sp>
        <p:nvSpPr>
          <p:cNvPr id="9" name="">
            <a:extLst xmlns:a="http://schemas.openxmlformats.org/drawingml/2006/main">
              <a:ext uri="{FF2B5EF4-FFF2-40B4-BE49-F238E27FC236}">
                <a16:creationId xmlns:a16="http://schemas.microsoft.com/office/drawing/2014/main" id="{EE469F9A-1F21-4FC1-819A-8FE944E85D21}"/>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D55B8E-0006-41AD-8B29-E6FF9126CB53}"/>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Visual weight and spacing should be tested at realistic sizes.</a:t>
            </a:r>
          </a:p>
        </p:txBody>
      </p:sp>
      <p:sp>
        <p:nvSpPr>
          <p:cNvPr id="11" name="">
            <a:extLst xmlns:a="http://schemas.openxmlformats.org/drawingml/2006/main">
              <a:ext uri="{FF2B5EF4-FFF2-40B4-BE49-F238E27FC236}">
                <a16:creationId xmlns:a16="http://schemas.microsoft.com/office/drawing/2014/main" id="{6B3FCCF2-5C63-4295-A40A-A69171E2F04A}"/>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pic>
        <p:nvPicPr>
          <p:cNvPr id="28" name="Poster Source Original" title="Poster Source Original" descr="Portrait orange-and-red Korean Burger poster with a large burger photograph, ten-dollar price, circular logo and Order Now button."/>
          <p:cNvPicPr>
            <a:picLocks xmlns:a="http://schemas.openxmlformats.org/drawingml/2006/main" noChangeAspect="1"/>
          </p:cNvPicPr>
          <p:nvPr/>
        </p:nvPicPr>
        <p:blipFill>
          <a:blip xmlns:r="http://schemas.openxmlformats.org/officeDocument/2006/relationships" xmlns:a="http://schemas.openxmlformats.org/drawingml/2006/main" r:embed="R27a6940e075d4513"/>
          <a:stretch xmlns:a="http://schemas.openxmlformats.org/drawingml/2006/main"/>
        </p:blipFill>
        <p:spPr>
          <a:xfrm xmlns:a="http://schemas.openxmlformats.org/drawingml/2006/main">
            <a:off x="8114462" y="1352550"/>
            <a:ext cx="2478176" cy="3505200"/>
          </a:xfrm>
          <a:prstGeom xmlns:a="http://schemas.openxmlformats.org/drawingml/2006/main" prst="roundRect">
            <a:avLst>
              <a:gd name="adj" fmla="val 3261"/>
            </a:avLst>
          </a:prstGeom>
        </p:spPr>
      </p:pic>
      <p:sp>
        <p:nvSpPr>
          <p:cNvPr id="13" name="">
            <a:extLst xmlns:a="http://schemas.openxmlformats.org/drawingml/2006/main">
              <a:ext uri="{FF2B5EF4-FFF2-40B4-BE49-F238E27FC236}">
                <a16:creationId xmlns:a16="http://schemas.microsoft.com/office/drawing/2014/main" id="{6B58E246-8B12-40C2-B159-6699625A4198}"/>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4" name="">
            <a:extLst xmlns:a="http://schemas.openxmlformats.org/drawingml/2006/main">
              <a:ext uri="{FF2B5EF4-FFF2-40B4-BE49-F238E27FC236}">
                <a16:creationId xmlns:a16="http://schemas.microsoft.com/office/drawing/2014/main" id="{9B2EA5BA-64A8-4403-AB1A-BD2894272E09}"/>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a focal point?</a:t>
            </a:r>
          </a:p>
        </p:txBody>
      </p:sp>
      <p:sp>
        <p:nvSpPr>
          <p:cNvPr id="15" name="">
            <a:extLst xmlns:a="http://schemas.openxmlformats.org/drawingml/2006/main">
              <a:ext uri="{FF2B5EF4-FFF2-40B4-BE49-F238E27FC236}">
                <a16:creationId xmlns:a16="http://schemas.microsoft.com/office/drawing/2014/main" id="{7D6AA520-3C47-493F-92A5-3A71CC81AD10}"/>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05  •  PROMOTIONAL POSTER</a:t>
            </a:r>
          </a:p>
        </p:txBody>
      </p:sp>
      <p:sp>
        <p:nvSpPr>
          <p:cNvPr id="16" name="">
            <a:extLst xmlns:a="http://schemas.openxmlformats.org/drawingml/2006/main">
              <a:ext uri="{FF2B5EF4-FFF2-40B4-BE49-F238E27FC236}">
                <a16:creationId xmlns:a16="http://schemas.microsoft.com/office/drawing/2014/main" id="{0D302C90-572C-4CAA-9603-C49DFD258365}"/>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1802845056"/>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D9FA20D-9A37-484D-96C3-51F6D1209C9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4BAACD-EFF0-4A71-B4DA-9BA3D0A92FFF}"/>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5.2  IMAGE SELECTION AND BACKGROUND REMOVAL</a:t>
            </a:r>
          </a:p>
        </p:txBody>
      </p:sp>
      <p:sp>
        <p:nvSpPr>
          <p:cNvPr id="3" name="">
            <a:extLst xmlns:a="http://schemas.openxmlformats.org/drawingml/2006/main">
              <a:ext uri="{FF2B5EF4-FFF2-40B4-BE49-F238E27FC236}">
                <a16:creationId xmlns:a16="http://schemas.microsoft.com/office/drawing/2014/main" id="{D49D2DD0-038E-4523-B8E7-0916FB36A99A}"/>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Image selection and background removal</a:t>
            </a:r>
          </a:p>
        </p:txBody>
      </p:sp>
      <p:sp>
        <p:nvSpPr>
          <p:cNvPr id="4" name="">
            <a:extLst xmlns:a="http://schemas.openxmlformats.org/drawingml/2006/main">
              <a:ext uri="{FF2B5EF4-FFF2-40B4-BE49-F238E27FC236}">
                <a16:creationId xmlns:a16="http://schemas.microsoft.com/office/drawing/2014/main" id="{0A70C64C-058F-43B9-B4C5-12B271F0D947}"/>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27D04970-E54D-41FC-93A8-8380C7584E61}"/>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EF142B-83BE-4C03-A94D-A0763FB768DA}"/>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Image relevance, rights, privacy and truthfulness all matter.</a:t>
            </a:r>
          </a:p>
        </p:txBody>
      </p:sp>
      <p:sp>
        <p:nvSpPr>
          <p:cNvPr id="7" name="">
            <a:extLst xmlns:a="http://schemas.openxmlformats.org/drawingml/2006/main">
              <a:ext uri="{FF2B5EF4-FFF2-40B4-BE49-F238E27FC236}">
                <a16:creationId xmlns:a16="http://schemas.microsoft.com/office/drawing/2014/main" id="{00F2520D-F2BA-4F7C-B42F-58254EA59885}"/>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9C93ED-6648-427D-A6CD-0FE186C55B25}"/>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Background removal requires edge checks on varied backgrounds.</a:t>
            </a:r>
          </a:p>
        </p:txBody>
      </p:sp>
      <p:sp>
        <p:nvSpPr>
          <p:cNvPr id="9" name="">
            <a:extLst xmlns:a="http://schemas.openxmlformats.org/drawingml/2006/main">
              <a:ext uri="{FF2B5EF4-FFF2-40B4-BE49-F238E27FC236}">
                <a16:creationId xmlns:a16="http://schemas.microsoft.com/office/drawing/2014/main" id="{638146FB-A473-4459-93C0-3462B575767A}"/>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F16DAB-01E5-4C27-AD29-BDD935BCD8BA}"/>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Preserve the original and use a separate working copy.</a:t>
            </a:r>
          </a:p>
        </p:txBody>
      </p:sp>
      <p:sp>
        <p:nvSpPr>
          <p:cNvPr id="11" name="">
            <a:extLst xmlns:a="http://schemas.openxmlformats.org/drawingml/2006/main">
              <a:ext uri="{FF2B5EF4-FFF2-40B4-BE49-F238E27FC236}">
                <a16:creationId xmlns:a16="http://schemas.microsoft.com/office/drawing/2014/main" id="{445A1D30-856F-420D-AAE3-E570270F0D3F}"/>
              </a:ext>
            </a:extLst>
          </p:cNvPr>
          <p:cNvSpPr>
            <a:spLocks xmlns:a="http://schemas.openxmlformats.org/drawingml/2006/main" noGrp="1"/>
          </p:cNvSpPr>
          <p:nvPr/>
        </p:nvSpPr>
        <p:spPr>
          <a:xfrm xmlns:a="http://schemas.openxmlformats.org/drawingml/2006/main">
            <a:off x="7200900" y="1352550"/>
            <a:ext cx="43053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ACA4369C-7528-4FF2-8D29-4116D227191F}"/>
              </a:ext>
            </a:extLst>
          </p:cNvPr>
          <p:cNvSpPr>
            <a:spLocks xmlns:a="http://schemas.openxmlformats.org/drawingml/2006/main" noGrp="1"/>
          </p:cNvSpPr>
          <p:nvPr/>
        </p:nvSpPr>
        <p:spPr>
          <a:xfrm xmlns:a="http://schemas.openxmlformats.org/drawingml/2006/main">
            <a:off x="7353300" y="14478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C5554"/>
                </a:solidFill>
                <a:latin typeface="Arial"/>
                <a:ea typeface="Arial"/>
                <a:cs typeface="Arial"/>
              </a:defRPr>
            </a:pPr>
            <a:r>
              <a:rPr sz="1050" b="1">
                <a:solidFill>
                  <a:srgbClr val="0C5554"/>
                </a:solidFill>
                <a:latin typeface="Arial"/>
                <a:ea typeface="Arial"/>
                <a:cs typeface="Arial"/>
              </a:rPr>
              <a:t>PROCESS TO WATCH</a:t>
            </a:r>
          </a:p>
        </p:txBody>
      </p:sp>
      <p:sp>
        <p:nvSpPr>
          <p:cNvPr id="13" name="">
            <a:extLst xmlns:a="http://schemas.openxmlformats.org/drawingml/2006/main">
              <a:ext uri="{FF2B5EF4-FFF2-40B4-BE49-F238E27FC236}">
                <a16:creationId xmlns:a16="http://schemas.microsoft.com/office/drawing/2014/main" id="{D72B8D29-38C8-4289-80F5-FF23D3B96810}"/>
              </a:ext>
            </a:extLst>
          </p:cNvPr>
          <p:cNvSpPr>
            <a:spLocks xmlns:a="http://schemas.openxmlformats.org/drawingml/2006/main" noGrp="1"/>
          </p:cNvSpPr>
          <p:nvPr/>
        </p:nvSpPr>
        <p:spPr>
          <a:xfrm xmlns:a="http://schemas.openxmlformats.org/drawingml/2006/main">
            <a:off x="7353300" y="1724025"/>
            <a:ext cx="12573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47625" tIns="38100" rIns="47625" bIns="38100" anchor="ctr">
            <a:normAutofit fontScale="8485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CHECK SOURCE</a:t>
            </a:r>
          </a:p>
        </p:txBody>
      </p:sp>
      <p:sp>
        <p:nvSpPr>
          <p:cNvPr id="14" name="">
            <a:extLst xmlns:a="http://schemas.openxmlformats.org/drawingml/2006/main">
              <a:ext uri="{FF2B5EF4-FFF2-40B4-BE49-F238E27FC236}">
                <a16:creationId xmlns:a16="http://schemas.microsoft.com/office/drawing/2014/main" id="{C8856515-C294-4E1D-ADE6-2A7010A3E5C6}"/>
              </a:ext>
            </a:extLst>
          </p:cNvPr>
          <p:cNvSpPr>
            <a:spLocks xmlns:a="http://schemas.openxmlformats.org/drawingml/2006/main" noGrp="1"/>
          </p:cNvSpPr>
          <p:nvPr/>
        </p:nvSpPr>
        <p:spPr>
          <a:xfrm xmlns:a="http://schemas.openxmlformats.org/drawingml/2006/main">
            <a:off x="8724900" y="1724025"/>
            <a:ext cx="12573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47625" tIns="38100" rIns="47625" bIns="38100" anchor="ctr">
            <a:normAutofit fontScale="100000"/>
          </a:bodyPr>
          <a:lstStyle xmlns:a="http://schemas.openxmlformats.org/drawingml/2006/main"/>
          <a:p xmlns:a="http://schemas.openxmlformats.org/drawingml/2006/main">
            <a:pPr algn="ctr">
              <a:defRPr sz="1275" b="1">
                <a:solidFill>
                  <a:srgbClr val="17342C"/>
                </a:solidFill>
                <a:latin typeface="Arial"/>
                <a:ea typeface="Arial"/>
                <a:cs typeface="Arial"/>
              </a:defRPr>
            </a:pPr>
            <a:r>
              <a:rPr sz="1275" b="1">
                <a:solidFill>
                  <a:srgbClr val="17342C"/>
                </a:solidFill>
                <a:latin typeface="Arial"/>
                <a:ea typeface="Arial"/>
                <a:cs typeface="Arial"/>
              </a:rPr>
              <a:t>REMOVE</a:t>
            </a:r>
          </a:p>
        </p:txBody>
      </p:sp>
      <p:sp>
        <p:nvSpPr>
          <p:cNvPr id="15" name="">
            <a:extLst xmlns:a="http://schemas.openxmlformats.org/drawingml/2006/main">
              <a:ext uri="{FF2B5EF4-FFF2-40B4-BE49-F238E27FC236}">
                <a16:creationId xmlns:a16="http://schemas.microsoft.com/office/drawing/2014/main" id="{F7ED2255-EA9B-4C00-9717-25558823F6C7}"/>
              </a:ext>
            </a:extLst>
          </p:cNvPr>
          <p:cNvSpPr>
            <a:spLocks xmlns:a="http://schemas.openxmlformats.org/drawingml/2006/main" noGrp="1"/>
          </p:cNvSpPr>
          <p:nvPr/>
        </p:nvSpPr>
        <p:spPr>
          <a:xfrm xmlns:a="http://schemas.openxmlformats.org/drawingml/2006/main">
            <a:off x="10096500" y="1724025"/>
            <a:ext cx="1257300" cy="428625"/>
          </a:xfrm>
          <a:prstGeom xmlns:a="http://schemas.openxmlformats.org/drawingml/2006/main" prst="roundRect">
            <a:avLst>
              <a:gd name="adj" fmla="val 17778"/>
            </a:avLst>
          </a:prstGeom>
          <a:solidFill xmlns:a="http://schemas.openxmlformats.org/drawingml/2006/main">
            <a:srgbClr val="E8674B"/>
          </a:solidFill>
          <a:ln xmlns:a="http://schemas.openxmlformats.org/drawingml/2006/main" w="0">
            <a:noFill/>
            <a:prstDash val="solid"/>
          </a:ln>
        </p:spPr>
        <p:txBody>
          <a:bodyPr xmlns:a="http://schemas.openxmlformats.org/drawingml/2006/main" lIns="47625" tIns="38100" rIns="47625"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EDGE CHECK</a:t>
            </a:r>
          </a:p>
        </p:txBody>
      </p:sp>
      <p:sp>
        <p:nvSpPr>
          <p:cNvPr id="16" name="">
            <a:extLst xmlns:a="http://schemas.openxmlformats.org/drawingml/2006/main">
              <a:ext uri="{FF2B5EF4-FFF2-40B4-BE49-F238E27FC236}">
                <a16:creationId xmlns:a16="http://schemas.microsoft.com/office/drawing/2014/main" id="{C3997B33-87D5-4879-9746-D71B010346B9}"/>
              </a:ext>
            </a:extLst>
          </p:cNvPr>
          <p:cNvSpPr>
            <a:spLocks xmlns:a="http://schemas.openxmlformats.org/drawingml/2006/main" noGrp="1"/>
          </p:cNvSpPr>
          <p:nvPr/>
        </p:nvSpPr>
        <p:spPr>
          <a:xfrm xmlns:a="http://schemas.openxmlformats.org/drawingml/2006/main">
            <a:off x="7781925" y="2362200"/>
            <a:ext cx="3143250" cy="1771650"/>
          </a:xfrm>
          <a:prstGeom xmlns:a="http://schemas.openxmlformats.org/drawingml/2006/main" prst="roundRect">
            <a:avLst>
              <a:gd name="adj" fmla="val 6452"/>
            </a:avLst>
          </a:prstGeom>
          <a:solidFill xmlns:a="http://schemas.openxmlformats.org/drawingml/2006/main">
            <a:srgbClr val="0C5554"/>
          </a:solidFill>
          <a:ln xmlns:a="http://schemas.openxmlformats.org/drawingml/2006/main" w="9525">
            <a:solidFill>
              <a:srgbClr val="CFD8D2"/>
            </a:solidFill>
            <a:prstDash val="solid"/>
          </a:ln>
        </p:spPr>
      </p:sp>
      <p:pic>
        <p:nvPicPr>
          <p:cNvPr id="40" name="Drive video poster — Create a poster in Canva.mp4" title="Drive video poster — Create a poster in Canva.mp4" descr="Custom privacy-safe poster for Create a poster in Canva.mp4, duration 7:54. Ctrl+click the poster to open the authorised Drive video.">
            <a:hlinkClick xmlns:a="http://schemas.openxmlformats.org/drawingml/2006/main" xmlns:r="http://schemas.openxmlformats.org/officeDocument/2006/relationships" r:id="RStage07Hyperlink4_1"/>
          </p:cNvPr>
          <p:cNvPicPr>
            <a:picLocks xmlns:a="http://schemas.openxmlformats.org/drawingml/2006/main" noChangeAspect="1"/>
          </p:cNvPicPr>
          <p:nvPr/>
        </p:nvPicPr>
        <p:blipFill>
          <a:blip xmlns:r="http://schemas.openxmlformats.org/officeDocument/2006/relationships" xmlns:a="http://schemas.openxmlformats.org/drawingml/2006/main" r:embed="R5c2dc2aa21c64c95"/>
          <a:stretch xmlns:a="http://schemas.openxmlformats.org/drawingml/2006/main"/>
        </p:blipFill>
        <p:spPr>
          <a:xfrm xmlns:a="http://schemas.openxmlformats.org/drawingml/2006/main">
            <a:off x="7781925" y="2363549"/>
            <a:ext cx="3143250" cy="1768951"/>
          </a:xfrm>
          <a:prstGeom xmlns:a="http://schemas.openxmlformats.org/drawingml/2006/main" prst="roundRect">
            <a:avLst>
              <a:gd name="adj" fmla="val 6452"/>
            </a:avLst>
          </a:prstGeom>
        </p:spPr>
      </p:pic>
      <p:sp>
        <p:nvSpPr>
          <p:cNvPr id="18" name="">
            <a:extLst xmlns:a="http://schemas.openxmlformats.org/drawingml/2006/main">
              <a:ext uri="{FF2B5EF4-FFF2-40B4-BE49-F238E27FC236}">
                <a16:creationId xmlns:a16="http://schemas.microsoft.com/office/drawing/2014/main" id="{47A1A34E-26F3-4FB2-859B-F3531EB6A962}"/>
              </a:ext>
            </a:extLst>
          </p:cNvPr>
          <p:cNvSpPr>
            <a:spLocks xmlns:a="http://schemas.openxmlformats.org/drawingml/2006/main" noGrp="1"/>
          </p:cNvSpPr>
          <p:nvPr/>
        </p:nvSpPr>
        <p:spPr>
          <a:xfrm xmlns:a="http://schemas.openxmlformats.org/drawingml/2006/main">
            <a:off x="7200900" y="4210050"/>
            <a:ext cx="4305300" cy="285750"/>
          </a:xfrm>
          <a:prstGeom xmlns:a="http://schemas.openxmlformats.org/drawingml/2006/main" prst="roundRect">
            <a:avLst>
              <a:gd name="adj" fmla="val 26667"/>
            </a:avLst>
          </a:prstGeom>
          <a:solidFill xmlns:a="http://schemas.openxmlformats.org/drawingml/2006/main">
            <a:srgbClr val="FCF4D8"/>
          </a:solidFill>
          <a:ln xmlns:a="http://schemas.openxmlformats.org/drawingml/2006/main" w="0">
            <a:noFill/>
            <a:prstDash val="solid"/>
          </a:ln>
        </p:spPr>
        <p:txBody>
          <a:bodyPr xmlns:a="http://schemas.openxmlformats.org/drawingml/2006/main" lIns="66675" tIns="38100" rIns="66675" bIns="38100" anchor="ctr">
            <a:normAutofit fontScale="96187"/>
          </a:bodyPr>
          <a:lstStyle xmlns:a="http://schemas.openxmlformats.org/drawingml/2006/main"/>
          <a:p xmlns:a="http://schemas.openxmlformats.org/drawingml/2006/main">
            <a:pPr algn="ctr">
              <a:defRPr sz="1125" b="1">
                <a:solidFill>
                  <a:srgbClr val="0C5554"/>
                </a:solidFill>
                <a:latin typeface="Arial"/>
                <a:ea typeface="Arial"/>
                <a:cs typeface="Arial"/>
              </a:defRPr>
            </a:pPr>
            <a:r>
              <a:rPr sz="1125" b="1">
                <a:solidFill>
                  <a:srgbClr val="0C5554"/>
                </a:solidFill>
                <a:latin typeface="Arial"/>
                <a:ea typeface="Arial"/>
                <a:cs typeface="Arial"/>
              </a:rPr>
              <a:t>TEACHER: CTRL+CLICK POSTER TO OPEN DRIVE  •  7:54</a:t>
            </a:r>
          </a:p>
        </p:txBody>
      </p:sp>
      <p:sp>
        <p:nvSpPr>
          <p:cNvPr id="19" name="">
            <a:extLst xmlns:a="http://schemas.openxmlformats.org/drawingml/2006/main">
              <a:ext uri="{FF2B5EF4-FFF2-40B4-BE49-F238E27FC236}">
                <a16:creationId xmlns:a16="http://schemas.microsoft.com/office/drawing/2014/main" id="{9888FC6D-48FF-402A-8028-F4F39104F985}"/>
              </a:ext>
            </a:extLst>
          </p:cNvPr>
          <p:cNvSpPr>
            <a:spLocks xmlns:a="http://schemas.openxmlformats.org/drawingml/2006/main" noGrp="1"/>
          </p:cNvSpPr>
          <p:nvPr/>
        </p:nvSpPr>
        <p:spPr>
          <a:xfrm xmlns:a="http://schemas.openxmlformats.org/drawingml/2006/main">
            <a:off x="7200900" y="4572000"/>
            <a:ext cx="430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WATCH FOR: Which step establishes the focal point, and where should the image edge be inspected before export?</a:t>
            </a:r>
          </a:p>
        </p:txBody>
      </p:sp>
      <p:sp>
        <p:nvSpPr>
          <p:cNvPr id="20" name="">
            <a:extLst xmlns:a="http://schemas.openxmlformats.org/drawingml/2006/main">
              <a:ext uri="{FF2B5EF4-FFF2-40B4-BE49-F238E27FC236}">
                <a16:creationId xmlns:a16="http://schemas.microsoft.com/office/drawing/2014/main" id="{4FC1C825-2D43-4121-AABE-0B8AC706C4DD}"/>
              </a:ext>
            </a:extLst>
          </p:cNvPr>
          <p:cNvSpPr>
            <a:spLocks xmlns:a="http://schemas.openxmlformats.org/drawingml/2006/main" noGrp="1"/>
          </p:cNvSpPr>
          <p:nvPr/>
        </p:nvSpPr>
        <p:spPr>
          <a:xfrm xmlns:a="http://schemas.openxmlformats.org/drawingml/2006/main">
            <a:off x="7200900" y="51054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1" name="">
            <a:extLst xmlns:a="http://schemas.openxmlformats.org/drawingml/2006/main">
              <a:ext uri="{FF2B5EF4-FFF2-40B4-BE49-F238E27FC236}">
                <a16:creationId xmlns:a16="http://schemas.microsoft.com/office/drawing/2014/main" id="{45111681-8347-4FBC-9002-53D03889C6BC}"/>
              </a:ext>
            </a:extLst>
          </p:cNvPr>
          <p:cNvSpPr>
            <a:spLocks xmlns:a="http://schemas.openxmlformats.org/drawingml/2006/main" noGrp="1"/>
          </p:cNvSpPr>
          <p:nvPr/>
        </p:nvSpPr>
        <p:spPr>
          <a:xfrm xmlns:a="http://schemas.openxmlformats.org/drawingml/2006/main">
            <a:off x="7200900" y="5314950"/>
            <a:ext cx="4305300" cy="876300"/>
          </a:xfrm>
          <a:prstGeom xmlns:a="http://schemas.openxmlformats.org/drawingml/2006/main" prst="roundRect">
            <a:avLst>
              <a:gd name="adj" fmla="val 8696"/>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check belongs before using an image?</a:t>
            </a:r>
          </a:p>
        </p:txBody>
      </p:sp>
      <p:sp>
        <p:nvSpPr>
          <p:cNvPr id="22" name="">
            <a:extLst xmlns:a="http://schemas.openxmlformats.org/drawingml/2006/main">
              <a:ext uri="{FF2B5EF4-FFF2-40B4-BE49-F238E27FC236}">
                <a16:creationId xmlns:a16="http://schemas.microsoft.com/office/drawing/2014/main" id="{B558AA97-0FCE-4C59-9D24-4236197E9332}"/>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05  •  PROMOTIONAL POSTER</a:t>
            </a:r>
          </a:p>
        </p:txBody>
      </p:sp>
      <p:sp>
        <p:nvSpPr>
          <p:cNvPr id="23" name="">
            <a:extLst xmlns:a="http://schemas.openxmlformats.org/drawingml/2006/main">
              <a:ext uri="{FF2B5EF4-FFF2-40B4-BE49-F238E27FC236}">
                <a16:creationId xmlns:a16="http://schemas.microsoft.com/office/drawing/2014/main" id="{4FA29E4A-B083-4572-8E96-6A754AFC5D4A}"/>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588729725"/>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50FDCB8-A434-46DD-BA0E-38AA1AAE43D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67C30B-50CE-4A00-A569-26A597C20CFB}"/>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5.3  CALLS TO ACTION AND MOCK-UPS</a:t>
            </a:r>
          </a:p>
        </p:txBody>
      </p:sp>
      <p:sp>
        <p:nvSpPr>
          <p:cNvPr id="3" name="">
            <a:extLst xmlns:a="http://schemas.openxmlformats.org/drawingml/2006/main">
              <a:ext uri="{FF2B5EF4-FFF2-40B4-BE49-F238E27FC236}">
                <a16:creationId xmlns:a16="http://schemas.microsoft.com/office/drawing/2014/main" id="{542E185C-2799-43C5-8410-91535461E7C5}"/>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Calls to action and mock-ups</a:t>
            </a:r>
          </a:p>
        </p:txBody>
      </p:sp>
      <p:sp>
        <p:nvSpPr>
          <p:cNvPr id="4" name="">
            <a:extLst xmlns:a="http://schemas.openxmlformats.org/drawingml/2006/main">
              <a:ext uri="{FF2B5EF4-FFF2-40B4-BE49-F238E27FC236}">
                <a16:creationId xmlns:a16="http://schemas.microsoft.com/office/drawing/2014/main" id="{172D9CE2-31C9-466D-91FB-927F3AAF02B0}"/>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0E488CB3-8B5A-46A3-94D5-92429A4F2829}"/>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A9E57B2-A62D-4EAA-90E7-42A2E6688B67}"/>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An action must be specific, visible and genuinely available.</a:t>
            </a:r>
          </a:p>
        </p:txBody>
      </p:sp>
      <p:sp>
        <p:nvSpPr>
          <p:cNvPr id="7" name="">
            <a:extLst xmlns:a="http://schemas.openxmlformats.org/drawingml/2006/main">
              <a:ext uri="{FF2B5EF4-FFF2-40B4-BE49-F238E27FC236}">
                <a16:creationId xmlns:a16="http://schemas.microsoft.com/office/drawing/2014/main" id="{1EEE705D-D465-40C3-8D82-2F8F0332AB5E}"/>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866CB8-F2F9-48EE-9A46-15A97289D4E7}"/>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Mock-ups test context rather than prove real installation.</a:t>
            </a:r>
          </a:p>
        </p:txBody>
      </p:sp>
      <p:sp>
        <p:nvSpPr>
          <p:cNvPr id="9" name="">
            <a:extLst xmlns:a="http://schemas.openxmlformats.org/drawingml/2006/main">
              <a:ext uri="{FF2B5EF4-FFF2-40B4-BE49-F238E27FC236}">
                <a16:creationId xmlns:a16="http://schemas.microsoft.com/office/drawing/2014/main" id="{636B7BD5-FE60-46A2-9328-95D072B3CD61}"/>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35A9F40-E936-455A-AADC-98C4033CA6D8}"/>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Keep the complete flat artwork alongside context views.</a:t>
            </a:r>
          </a:p>
        </p:txBody>
      </p:sp>
      <p:sp>
        <p:nvSpPr>
          <p:cNvPr id="11" name="">
            <a:extLst xmlns:a="http://schemas.openxmlformats.org/drawingml/2006/main">
              <a:ext uri="{FF2B5EF4-FFF2-40B4-BE49-F238E27FC236}">
                <a16:creationId xmlns:a16="http://schemas.microsoft.com/office/drawing/2014/main" id="{24670448-C0C3-400C-849D-3A48C8C4C41A}"/>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pic>
        <p:nvPicPr>
          <p:cNvPr id="28" name="Poster Table Mockup Source" title="Poster Table Mockup Source" descr="Korean Burger poster printed as a standing tabletop display against a warm brown wall with leaves and a rock nearby."/>
          <p:cNvPicPr>
            <a:picLocks xmlns:a="http://schemas.openxmlformats.org/drawingml/2006/main" noChangeAspect="1"/>
          </p:cNvPicPr>
          <p:nvPr/>
        </p:nvPicPr>
        <p:blipFill>
          <a:blip xmlns:r="http://schemas.openxmlformats.org/officeDocument/2006/relationships" xmlns:a="http://schemas.openxmlformats.org/drawingml/2006/main" r:embed="R9b8ab1c94f104e30"/>
          <a:srcRect xmlns:a="http://schemas.openxmlformats.org/drawingml/2006/main" l="0" t="21219" r="0" b="21219"/>
          <a:stretch xmlns:a="http://schemas.openxmlformats.org/drawingml/2006/main">
            <a:fillRect l="0" t="0" r="0" b="0"/>
          </a:stretch>
        </p:blipFill>
        <p:spPr>
          <a:xfrm xmlns:a="http://schemas.openxmlformats.org/drawingml/2006/main">
            <a:off x="7200900" y="1352550"/>
            <a:ext cx="4305300" cy="3505200"/>
          </a:xfrm>
          <a:prstGeom xmlns:a="http://schemas.openxmlformats.org/drawingml/2006/main" prst="roundRect">
            <a:avLst>
              <a:gd name="adj" fmla="val 3261"/>
            </a:avLst>
          </a:prstGeom>
        </p:spPr>
      </p:pic>
      <p:sp>
        <p:nvSpPr>
          <p:cNvPr id="13" name="">
            <a:extLst xmlns:a="http://schemas.openxmlformats.org/drawingml/2006/main">
              <a:ext uri="{FF2B5EF4-FFF2-40B4-BE49-F238E27FC236}">
                <a16:creationId xmlns:a16="http://schemas.microsoft.com/office/drawing/2014/main" id="{75F6C9C8-04A9-4021-8BE0-03AB536A4933}"/>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4" name="">
            <a:extLst xmlns:a="http://schemas.openxmlformats.org/drawingml/2006/main">
              <a:ext uri="{FF2B5EF4-FFF2-40B4-BE49-F238E27FC236}">
                <a16:creationId xmlns:a16="http://schemas.microsoft.com/office/drawing/2014/main" id="{374AA7E1-1D32-4CFC-A228-7FC11FFD301A}"/>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the purpose of a call to action?</a:t>
            </a:r>
          </a:p>
        </p:txBody>
      </p:sp>
      <p:sp>
        <p:nvSpPr>
          <p:cNvPr id="15" name="">
            <a:extLst xmlns:a="http://schemas.openxmlformats.org/drawingml/2006/main">
              <a:ext uri="{FF2B5EF4-FFF2-40B4-BE49-F238E27FC236}">
                <a16:creationId xmlns:a16="http://schemas.microsoft.com/office/drawing/2014/main" id="{6D4CE959-6F1F-424F-991F-70C70A36FAA3}"/>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05  •  PROMOTIONAL POSTER</a:t>
            </a:r>
          </a:p>
        </p:txBody>
      </p:sp>
      <p:sp>
        <p:nvSpPr>
          <p:cNvPr id="16" name="">
            <a:extLst xmlns:a="http://schemas.openxmlformats.org/drawingml/2006/main">
              <a:ext uri="{FF2B5EF4-FFF2-40B4-BE49-F238E27FC236}">
                <a16:creationId xmlns:a16="http://schemas.microsoft.com/office/drawing/2014/main" id="{FFFDAFBD-20A7-4010-8DF2-BFEB9B418055}"/>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1525674276"/>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3D5DF2C-8C2B-4C73-A518-9E91E2F4F66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4C6A0E-89E4-46F4-8DB2-437F4213F2DE}"/>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95D2A754-69C2-4F61-BE79-F8FA569B5C63}"/>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F740603D-ECF4-4CF6-8448-34A68B5077A9}"/>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BF755989-62F3-4AD3-AA2C-6F879B52F30F}"/>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2B701574-BC55-4088-8C9F-DF5ED856DB02}"/>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8588E69C-9917-4124-8A23-D8DD13DCF825}"/>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a focal point?</a:t>
            </a:r>
          </a:p>
        </p:txBody>
      </p:sp>
      <p:sp>
        <p:nvSpPr>
          <p:cNvPr id="8" name="">
            <a:extLst xmlns:a="http://schemas.openxmlformats.org/drawingml/2006/main">
              <a:ext uri="{FF2B5EF4-FFF2-40B4-BE49-F238E27FC236}">
                <a16:creationId xmlns:a16="http://schemas.microsoft.com/office/drawing/2014/main" id="{184DC485-6F17-4091-96E6-9E421A779181}"/>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9AC1EFF4-CB73-4F28-9A3C-22CFFECC82D5}"/>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831798E5-6080-4548-A4C2-18055AB50118}"/>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check belongs before using an image?</a:t>
            </a:r>
          </a:p>
        </p:txBody>
      </p:sp>
      <p:sp>
        <p:nvSpPr>
          <p:cNvPr id="11" name="">
            <a:extLst xmlns:a="http://schemas.openxmlformats.org/drawingml/2006/main">
              <a:ext uri="{FF2B5EF4-FFF2-40B4-BE49-F238E27FC236}">
                <a16:creationId xmlns:a16="http://schemas.microsoft.com/office/drawing/2014/main" id="{4D528EFB-055C-4CC4-A8E8-BDB95AE49CC5}"/>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BC70523E-E8F6-4A94-90E5-44B37B72A3AE}"/>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21733BF6-436A-426B-976E-CE4AB3C2ED29}"/>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the purpose of a call to action?</a:t>
            </a:r>
          </a:p>
        </p:txBody>
      </p:sp>
      <p:sp>
        <p:nvSpPr>
          <p:cNvPr id="14" name="">
            <a:extLst xmlns:a="http://schemas.openxmlformats.org/drawingml/2006/main">
              <a:ext uri="{FF2B5EF4-FFF2-40B4-BE49-F238E27FC236}">
                <a16:creationId xmlns:a16="http://schemas.microsoft.com/office/drawing/2014/main" id="{E29516CE-8278-4495-ADAA-1B83216DD0A2}"/>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05  •  PROMOTIONAL POSTER</a:t>
            </a:r>
          </a:p>
        </p:txBody>
      </p:sp>
      <p:sp>
        <p:nvSpPr>
          <p:cNvPr id="15" name="">
            <a:extLst xmlns:a="http://schemas.openxmlformats.org/drawingml/2006/main">
              <a:ext uri="{FF2B5EF4-FFF2-40B4-BE49-F238E27FC236}">
                <a16:creationId xmlns:a16="http://schemas.microsoft.com/office/drawing/2014/main" id="{D17653D3-3FE1-4098-8451-3946E3FA02D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59641844"/>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906EA1F-C476-4B89-8106-8D91FE45A85D}"/>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C3CB0E21-C4AB-477C-B0FB-263B584CC404}"/>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7C2C0A66-6768-4A9D-A93A-852D89600ACB}"/>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1853FFD0-FC80-4D93-9FB7-52BCBFCED316}"/>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EA05D4-696F-4C24-8745-8B42DE79A673}"/>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FC79E5E2-1766-419A-9446-4A7C011F4A1D}"/>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Plan a three-step poster path, justify one image-use decision and evaluate a truthful call to action in two mock-up contexts.</a:t>
            </a:r>
          </a:p>
        </p:txBody>
      </p:sp>
      <p:sp>
        <p:nvSpPr>
          <p:cNvPr id="7" name="">
            <a:extLst xmlns:a="http://schemas.openxmlformats.org/drawingml/2006/main">
              <a:ext uri="{FF2B5EF4-FFF2-40B4-BE49-F238E27FC236}">
                <a16:creationId xmlns:a16="http://schemas.microsoft.com/office/drawing/2014/main" id="{66249087-A406-4872-BA32-023BE7D9A285}"/>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9F2E7BEE-7FD5-4594-A3D6-B5014AD61F25}"/>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AE5E77-E88D-4509-A911-D884A4BAEFEF}"/>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Control the focal point</a:t>
            </a:r>
          </a:p>
        </p:txBody>
      </p:sp>
      <p:sp>
        <p:nvSpPr>
          <p:cNvPr id="10" name="">
            <a:extLst xmlns:a="http://schemas.openxmlformats.org/drawingml/2006/main">
              <a:ext uri="{FF2B5EF4-FFF2-40B4-BE49-F238E27FC236}">
                <a16:creationId xmlns:a16="http://schemas.microsoft.com/office/drawing/2014/main" id="{DB2E8327-9A34-4FA6-B7F4-FB953E3D3015}"/>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AD4631F-12E0-4BFE-9D33-02DFFDE070EB}"/>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Check source, privacy and edges</a:t>
            </a:r>
          </a:p>
        </p:txBody>
      </p:sp>
      <p:sp>
        <p:nvSpPr>
          <p:cNvPr id="12" name="">
            <a:extLst xmlns:a="http://schemas.openxmlformats.org/drawingml/2006/main">
              <a:ext uri="{FF2B5EF4-FFF2-40B4-BE49-F238E27FC236}">
                <a16:creationId xmlns:a16="http://schemas.microsoft.com/office/drawing/2014/main" id="{B1DC26DF-254A-41A2-A0D9-7313EB20A05E}"/>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FD71FC-674E-488F-AFC7-621C83467D55}"/>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Treat mock-ups as tests</a:t>
            </a:r>
          </a:p>
        </p:txBody>
      </p:sp>
      <p:sp>
        <p:nvSpPr>
          <p:cNvPr id="14" name="">
            <a:extLst xmlns:a="http://schemas.openxmlformats.org/drawingml/2006/main">
              <a:ext uri="{FF2B5EF4-FFF2-40B4-BE49-F238E27FC236}">
                <a16:creationId xmlns:a16="http://schemas.microsoft.com/office/drawing/2014/main" id="{43E843B2-795C-4576-833B-AB2E8CA75B4B}"/>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4176083-B328-4532-B46B-64BD55DBEF08}"/>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7D8A5A2B-E2B4-468A-B488-B0AC67E6860D}"/>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3A4E7026-E356-44E8-BCDE-2383448953B9}"/>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37A2F6-86F6-4D86-A8A3-7E9ECA5B1B81}"/>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87221370-DF49-4A44-BFFE-D3B2EF191D19}"/>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E5DAD0E5-AC47-44FE-B6B7-EDC0BB5F0219}"/>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1C1609D-CD9C-4E87-8997-38289533EA10}"/>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B29D43C9-DD61-41D7-AD2C-1417EC367C09}"/>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D4AF3CB7-09E4-4338-8C34-36513C79274B}"/>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The focal point is… The image is suitable because… In the mock-up I noticed…</a:t>
            </a:r>
          </a:p>
        </p:txBody>
      </p:sp>
      <p:sp>
        <p:nvSpPr>
          <p:cNvPr id="24" name="">
            <a:extLst xmlns:a="http://schemas.openxmlformats.org/drawingml/2006/main">
              <a:ext uri="{FF2B5EF4-FFF2-40B4-BE49-F238E27FC236}">
                <a16:creationId xmlns:a16="http://schemas.microsoft.com/office/drawing/2014/main" id="{4A5A7F49-E03C-476C-9B82-A86D72F86686}"/>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05  •  PROMOTIONAL POSTER</a:t>
            </a:r>
          </a:p>
        </p:txBody>
      </p:sp>
      <p:sp>
        <p:nvSpPr>
          <p:cNvPr id="25" name="">
            <a:extLst xmlns:a="http://schemas.openxmlformats.org/drawingml/2006/main">
              <a:ext uri="{FF2B5EF4-FFF2-40B4-BE49-F238E27FC236}">
                <a16:creationId xmlns:a16="http://schemas.microsoft.com/office/drawing/2014/main" id="{6F778349-4C88-4DF4-88E2-91672C2E122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2052286277"/>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745908-AF72-491C-ABC7-95F1D3AA5C0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BE72E2-2AA2-43CE-9D01-DA4E3BC0A973}"/>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63C4018B-0B58-4A00-A0B1-753C7A0611FB}"/>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BCDC7717-4DFF-434A-8172-14DB09C85781}"/>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6848B179-C55D-4765-9D1E-5A07ACAB7239}"/>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F2C3F9E3-CF6D-4B76-AEF6-80138E9F3197}"/>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14628B-F5D7-43EB-830F-4DF4D460533F}"/>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C1901346-9DD5-4E0B-A23F-ED4C93FC070A}"/>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383F50C3-FF42-4461-85C8-861D8BEE7CD4}"/>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05  •  PROMOTIONAL POSTER</a:t>
            </a:r>
          </a:p>
        </p:txBody>
      </p:sp>
      <p:sp>
        <p:nvSpPr>
          <p:cNvPr id="10" name="">
            <a:extLst xmlns:a="http://schemas.openxmlformats.org/drawingml/2006/main">
              <a:ext uri="{FF2B5EF4-FFF2-40B4-BE49-F238E27FC236}">
                <a16:creationId xmlns:a16="http://schemas.microsoft.com/office/drawing/2014/main" id="{132BC3BC-CF10-4977-A699-24E122C748A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1266504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2026-08-24T00:54:01.6510000Z</dcterms:created>
  <dcterms:modified xsi:type="dcterms:W3CDTF">2026-08-24T00:54:01.6510000Z</dcterms:modified>
</coreProperties>
</file>