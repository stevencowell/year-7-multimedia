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bd83765d8f4289" /><Relationship Type="http://schemas.openxmlformats.org/officeDocument/2006/relationships/extended-properties" Target="/docProps/app.xml" Id="R688fe1f183dc4e53" /><Relationship Type="http://schemas.openxmlformats.org/officeDocument/2006/relationships/officeDocument" Target="/ppt/presentation.xml" Id="R42bff3c96e6f4aa2" /></Relationships>
</file>

<file path=ppt/presentation.xml><?xml version="1.0" encoding="utf-8"?>
<p:presentation xmlns:p="http://schemas.openxmlformats.org/presentationml/2006/main">
  <p:sldMasterIdLst>
    <p:sldMasterId xmlns:r="http://schemas.openxmlformats.org/officeDocument/2006/relationships" id="2147483648" r:id="R72c7fe04cae543ad"/>
  </p:sldMasterIdLst>
  <p:notesMasterIdLst>
    <p:notesMasterId xmlns:r="http://schemas.openxmlformats.org/officeDocument/2006/relationships" r:id="Rd1e3b7c475794b81"/>
  </p:notesMasterIdLst>
  <p:sldIdLst>
    <p:sldId xmlns:r="http://schemas.openxmlformats.org/officeDocument/2006/relationships" id="256" r:id="Ree25306f6857438f"/>
    <p:sldId xmlns:r="http://schemas.openxmlformats.org/officeDocument/2006/relationships" id="257" r:id="R7e6c8dd4de7e482d"/>
    <p:sldId xmlns:r="http://schemas.openxmlformats.org/officeDocument/2006/relationships" id="258" r:id="R6c226f23e9694d83"/>
    <p:sldId xmlns:r="http://schemas.openxmlformats.org/officeDocument/2006/relationships" id="259" r:id="R5e21568109234e03"/>
    <p:sldId xmlns:r="http://schemas.openxmlformats.org/officeDocument/2006/relationships" id="260" r:id="Rfe6190373e984909"/>
    <p:sldId xmlns:r="http://schemas.openxmlformats.org/officeDocument/2006/relationships" id="261" r:id="R5f19b6d9bd684f4c"/>
    <p:sldId xmlns:r="http://schemas.openxmlformats.org/officeDocument/2006/relationships" id="262" r:id="Rada2e52273bd40e0"/>
    <p:sldId xmlns:r="http://schemas.openxmlformats.org/officeDocument/2006/relationships" id="263" r:id="R5de7bc1b6a6b4ad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13c78d8f024019" /><Relationship Type="http://schemas.openxmlformats.org/officeDocument/2006/relationships/slideMaster" Target="/ppt/slideMasters/slideMaster1.xml" Id="R72c7fe04cae543ad" /><Relationship Type="http://schemas.openxmlformats.org/officeDocument/2006/relationships/notesMaster" Target="/ppt/notesMasters/notesMaster1.xml" Id="Rd1e3b7c475794b81" /><Relationship Type="http://schemas.openxmlformats.org/officeDocument/2006/relationships/presProps" Target="/ppt/presProps.xml" Id="Rb455c4697eb947b5" /><Relationship Type="http://schemas.openxmlformats.org/officeDocument/2006/relationships/tableStyles" Target="/ppt/tableStyles.xml" Id="R4f50449cc832424d" /><Relationship Type="http://schemas.openxmlformats.org/officeDocument/2006/relationships/slide" Target="/ppt/slides/slide1.xml" Id="Ree25306f6857438f" /><Relationship Type="http://schemas.openxmlformats.org/officeDocument/2006/relationships/slide" Target="/ppt/slides/slide2.xml" Id="R7e6c8dd4de7e482d" /><Relationship Type="http://schemas.openxmlformats.org/officeDocument/2006/relationships/slide" Target="/ppt/slides/slide3.xml" Id="R6c226f23e9694d83" /><Relationship Type="http://schemas.openxmlformats.org/officeDocument/2006/relationships/slide" Target="/ppt/slides/slide4.xml" Id="R5e21568109234e03" /><Relationship Type="http://schemas.openxmlformats.org/officeDocument/2006/relationships/slide" Target="/ppt/slides/slide5.xml" Id="Rfe6190373e984909" /><Relationship Type="http://schemas.openxmlformats.org/officeDocument/2006/relationships/slide" Target="/ppt/slides/slide6.xml" Id="R5f19b6d9bd684f4c" /><Relationship Type="http://schemas.openxmlformats.org/officeDocument/2006/relationships/slide" Target="/ppt/slides/slide7.xml" Id="Rada2e52273bd40e0" /><Relationship Type="http://schemas.openxmlformats.org/officeDocument/2006/relationships/slide" Target="/ppt/slides/slide8.xml" Id="R5de7bc1b6a6b4ad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d3dc883042547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8b321925aaa40fe" /><Relationship Type="http://schemas.openxmlformats.org/officeDocument/2006/relationships/notesMaster" Target="/ppt/notesMasters/notesMaster1.xml" Id="R944e7b1e84ea4f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020377492874d7c" /><Relationship Type="http://schemas.openxmlformats.org/officeDocument/2006/relationships/notesMaster" Target="/ppt/notesMasters/notesMaster1.xml" Id="Ra57b28ec348d460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91191ec0a445d5" /><Relationship Type="http://schemas.openxmlformats.org/officeDocument/2006/relationships/notesMaster" Target="/ppt/notesMasters/notesMaster1.xml" Id="Re266f087f4ef468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1ee1e0a2cf84ba9" /><Relationship Type="http://schemas.openxmlformats.org/officeDocument/2006/relationships/notesMaster" Target="/ppt/notesMasters/notesMaster1.xml" Id="R22a8e1f666bc43a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c58baa7c45c427b" /><Relationship Type="http://schemas.openxmlformats.org/officeDocument/2006/relationships/notesMaster" Target="/ppt/notesMasters/notesMaster1.xml" Id="R3a65ed8a528548d2" /></Relationships>
</file>

<file path=ppt/notesSlides/_rels/notesSlide6.xml.rels>&#65279;<?xml version="1.0" encoding="utf-8"?><Relationships xmlns="http://schemas.openxmlformats.org/package/2006/relationships"><Relationship Type="http://schemas.openxmlformats.org/officeDocument/2006/relationships/slide" Target="/ppt/slides/slide6.xml" Id="Rf4db48b97685404c" /><Relationship Type="http://schemas.openxmlformats.org/officeDocument/2006/relationships/notesMaster" Target="/ppt/notesMasters/notesMaster1.xml" Id="R3ece748a112a45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d83b8804ff4e5f" /><Relationship Type="http://schemas.openxmlformats.org/officeDocument/2006/relationships/notesMaster" Target="/ppt/notesMasters/notesMaster1.xml" Id="R87284a26ff2a49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188ad3ef104eef" /><Relationship Type="http://schemas.openxmlformats.org/officeDocument/2006/relationships/notesMaster" Target="/ppt/notesMasters/notesMaster1.xml" Id="Rc4e453e277c942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Introduce the module as one connected learning package, not a list of software clicks.</a:t>
            </a:r>
          </a:p>
          <a:p xmlns:a="http://schemas.openxmlformats.org/drawingml/2006/main">
            <a:r>
              <a:t>State the outcome: Build a focused poster and test it in a realistic context.</a:t>
            </a:r>
          </a:p>
          <a:p xmlns:a="http://schemas.openxmlformats.org/drawingml/2006/main">
            <a:r>
              <a:t>Prompt: What single element should begin the poster’s attention path?</a:t>
            </a:r>
          </a:p>
          <a:p xmlns:a="http://schemas.openxmlformats.org/drawingml/2006/main">
            <a:r>
              <a:t>Listen for a purposeful link to audience, evidence or communication.</a:t>
            </a:r>
          </a:p>
          <a:p xmlns:a="http://schemas.openxmlformats.org/drawingml/2006/main">
            <a:r>
              <a:t>Transition: Preview the three named sections on the next slide.</a:t>
            </a:r>
          </a:p>
          <a:p xmlns:a="http://schemas.openxmlformats.org/drawingml/2006/main">
            <a:r>
              <a:t/>
            </a:r>
          </a:p>
          <a:p xmlns:a="http://schemas.openxmlformats.org/drawingml/2006/main">
            <a:r>
              <a:t>[Sources]</a:t>
            </a:r>
          </a:p>
          <a:p xmlns:a="http://schemas.openxmlformats.org/drawingml/2006/main">
            <a:r>
              <a:t>- Course sequence: data/course-map.js, Module 5.</a:t>
            </a:r>
          </a:p>
          <a:p xmlns:a="http://schemas.openxmlformats.org/drawingml/2006/main">
            <a:r>
              <a:t>- Theory: data/course-content.js, m05-s01, m05-s02, m05-s03.</a:t>
            </a:r>
          </a:p>
          <a:p xmlns:a="http://schemas.openxmlformats.org/drawingml/2006/main">
            <a:r>
              <a:t>- Visual: assets/source/drive-poster-outdoor-mockup.png.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three section titles aloud and explain how each one prepares the next.</a:t>
            </a:r>
          </a:p>
          <a:p xmlns:a="http://schemas.openxmlformats.org/drawingml/2006/main">
            <a:r>
              <a:t>Warm-up: What single element should begin the poster’s attention path?</a:t>
            </a:r>
          </a:p>
          <a:p xmlns:a="http://schemas.openxmlformats.org/drawingml/2006/main">
            <a:r>
              <a:t>Give silent thinking time before pair discussion.</a:t>
            </a:r>
          </a:p>
          <a:p xmlns:a="http://schemas.openxmlformats.org/drawingml/2006/main">
            <a:r>
              <a:t>Listen for: a reason, not only a preference.</a:t>
            </a:r>
          </a:p>
          <a:p xmlns:a="http://schemas.openxmlformats.org/drawingml/2006/main">
            <a:r>
              <a:t>Transition: Start with Composition and focal point.</a:t>
            </a:r>
          </a:p>
          <a:p xmlns:a="http://schemas.openxmlformats.org/drawingml/2006/main">
            <a:r>
              <a:t/>
            </a:r>
          </a:p>
          <a:p xmlns:a="http://schemas.openxmlformats.org/drawingml/2006/main">
            <a:r>
              <a:t>[Sources]</a:t>
            </a:r>
          </a:p>
          <a:p xmlns:a="http://schemas.openxmlformats.org/drawingml/2006/main">
            <a:r>
              <a:t>- Theory sequence: data/course-content.js, m05-s01, m05-s02, m05-s03.</a:t>
            </a:r>
          </a:p>
          <a:p xmlns:a="http://schemas.openxmlformats.org/drawingml/2006/main">
            <a:r>
              <a:t>- Module summary: data/course-map.js, Module 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Compose a poster so one focal point begins a clear path through the message.</a:t>
            </a:r>
          </a:p>
          <a:p xmlns:a="http://schemas.openxmlformats.org/drawingml/2006/main">
            <a:r>
              <a:t>Explain: Composition is the deliberate arrangement of image, type, shape and space. A poster is usually seen quickly, so it needs an entry point. The focal point is the element intended to attract attention first; hierarchy then guides the viewer to the next information and action. A large element is not automatically useful if it distracts from the poster’s purpose.</a:t>
            </a:r>
          </a:p>
          <a:p xmlns:a="http://schemas.openxmlformats.org/drawingml/2006/main">
            <a:r>
              <a:t>Clarify: Visual weight comes from size, contrast, colour, detail and position. Symmetrical layouts can feel stable, while asymmetrical layouts can create energy, but neither is automatically better. Alignment and space keep relationships understandable. Test the poster from a distance and at thumbnail size. Squinting or viewing in greyscale can reveal whether several elements compete for first attention.</a:t>
            </a:r>
          </a:p>
          <a:p xmlns:a="http://schemas.openxmlformats.org/drawingml/2006/main">
            <a:r>
              <a:t>Worked example: The source poster can be examined as a complete composition. A student plans the path “product image → offer → brand and action”. The product image receives the strongest scale contrast, the offer sits nearby, and the logo has a clear but supporting position. A decorative burst competes with the offer, so it is reduced. The revision improves the intended path without copying the source poster’s brand content.</a:t>
            </a:r>
          </a:p>
          <a:p xmlns:a="http://schemas.openxmlformats.org/drawingml/2006/main">
            <a:r>
              <a:t>Ask: What is a focal point?</a:t>
            </a:r>
          </a:p>
          <a:p xmlns:a="http://schemas.openxmlformats.org/drawingml/2006/main">
            <a:r>
              <a:t>Listen for: The planned first point of attention. Correct. It begins the visual path.</a:t>
            </a:r>
          </a:p>
          <a:p xmlns:a="http://schemas.openxmlformats.org/drawingml/2006/main">
            <a:r>
              <a:t>Misconception to correct: The largest element is automatically the best focal point. → The focal point must serve the message and lead into a useful reading path.</a:t>
            </a:r>
          </a:p>
          <a:p xmlns:a="http://schemas.openxmlformats.org/drawingml/2006/main">
            <a:r>
              <a:t>Transition: Connect this idea to Image selection and background removal.</a:t>
            </a:r>
          </a:p>
          <a:p xmlns:a="http://schemas.openxmlformats.org/drawingml/2006/main">
            <a:r>
              <a:t/>
            </a:r>
          </a:p>
          <a:p xmlns:a="http://schemas.openxmlformats.org/drawingml/2006/main">
            <a:r>
              <a:t>[Sources]</a:t>
            </a:r>
          </a:p>
          <a:p xmlns:a="http://schemas.openxmlformats.org/drawingml/2006/main">
            <a:r>
              <a:t>- Theory and check: data/course-content.js, m05-s01 and m05-s01-q01.</a:t>
            </a:r>
          </a:p>
          <a:p xmlns:a="http://schemas.openxmlformats.org/drawingml/2006/main">
            <a:r>
              <a:t>- Image-first teaching visual: assets/source/drive-poster-original.png. Authorised Drive source `1.png`, ID 15TN4IA_A8hVyi8y6pJm1FQLt8sgVC6lF; original bytes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Select, prepare and place images that are relevant, honest, privacy-safe and visually clean.</a:t>
            </a:r>
          </a:p>
          <a:p xmlns:a="http://schemas.openxmlformats.org/drawingml/2006/main">
            <a:r>
              <a:t>Explain: An image should support the poster’s message and audience, not merely fill space. Check subject relevance, viewpoint, lighting, resolution, permission and whether the scene communicates an honest scale and condition. Use original or authorised material and record attribution where required. Avoid personal details, identifying student imagery and signed-in dashboard captures in public-facing graphics.</a:t>
            </a:r>
          </a:p>
          <a:p xmlns:a="http://schemas.openxmlformats.org/drawingml/2006/main">
            <a:r>
              <a:t>Clarify: Removing a background isolates a subject so it can sit within a new composition. The edge needs close inspection around hair, packaging, shadows and transparent areas. A jagged halo or missing piece weakens credibility. Background removal should not distort the subject or imply a false product condition. Sometimes retaining a real background is the more honest and useful choice.</a:t>
            </a:r>
          </a:p>
          <a:p xmlns:a="http://schemas.openxmlformats.org/drawingml/2006/main">
            <a:r>
              <a:t>Worked example: A product photograph has a busy bench behind it. The student duplicates the original, removes the background from the working copy and checks the edge on both light and dark test colours. A grey halo appears, so the mask is refined. They keep the original photograph in the process record and compare both versions. The cut-out supports the poster hierarchy, while the original preserves the actual context.</a:t>
            </a:r>
          </a:p>
          <a:p xmlns:a="http://schemas.openxmlformats.org/drawingml/2006/main">
            <a:r>
              <a:t>Ask: Which check belongs before using an image?</a:t>
            </a:r>
          </a:p>
          <a:p xmlns:a="http://schemas.openxmlformats.org/drawingml/2006/main">
            <a:r>
              <a:t>Listen for: Confirm its purpose, source permission and privacy safety. Correct. Suitability includes more than visual appeal.</a:t>
            </a:r>
          </a:p>
          <a:p xmlns:a="http://schemas.openxmlformats.org/drawingml/2006/main">
            <a:r>
              <a:t>Misconception to correct: Removing a background always improves a poster. → It helps only when isolation serves the message and the result remains clean and honest.</a:t>
            </a:r>
          </a:p>
          <a:p xmlns:a="http://schemas.openxmlformats.org/drawingml/2006/main">
            <a:r>
              <a:t>Transition: Connect this idea to Calls to action and mock-ups.</a:t>
            </a:r>
          </a:p>
          <a:p xmlns:a="http://schemas.openxmlformats.org/drawingml/2006/main">
            <a:r>
              <a:t/>
            </a:r>
          </a:p>
          <a:p xmlns:a="http://schemas.openxmlformats.org/drawingml/2006/main">
            <a:r>
              <a:t>[Sources]</a:t>
            </a:r>
          </a:p>
          <a:p xmlns:a="http://schemas.openxmlformats.org/drawingml/2006/main">
            <a:r>
              <a:t>- Theory and check: data/course-content.js, m05-s02 and m05-s02-q01.</a:t>
            </a:r>
          </a:p>
          <a:p xmlns:a="http://schemas.openxmlformats.org/drawingml/2006/main">
            <a:r>
              <a:t>- Image-first teaching visual: assets/visuals/generated-m05-background-removal-edge-test-v2.png. AI-generated with the built-in OpenAI image creator on 24 August 2026; no source or student image used.</a:t>
            </a:r>
          </a:p>
          <a:p xmlns:a="http://schemas.openxmlformats.org/drawingml/2006/main">
            <a:r>
              <a:t>- Google Drive source: Create a poster in Canva.mp4, Drive ID 1xN8xO5IlId6A7KnY-YQQjXK3_qygi-f3, 7:54.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Write a clear action and use mock-ups to test how a design behaves in context.</a:t>
            </a:r>
          </a:p>
          <a:p xmlns:a="http://schemas.openxmlformats.org/drawingml/2006/main">
            <a:r>
              <a:t>Explain: A call to action tells the audience what to do next, such as view the menu, explore products or visit the portfolio. It should be brief, specific and visible without overpowering the main message. The action must match what is actually available. “Order now” would be misleading if no ordering system exists. The brief and publishing context should control the wording.</a:t>
            </a:r>
          </a:p>
          <a:p xmlns:a="http://schemas.openxmlformats.org/drawingml/2006/main">
            <a:r>
              <a:t>Clarify: A mock-up places artwork into a simulated location such as a poster frame, outdoor sign or street display. It can reveal scale, contrast, crop and viewing-distance problems. It is not proof that the design was manufactured, purchased or displayed publicly. Label mock-ups as context views and preserve the original flat artwork so viewers can judge the design itself.</a:t>
            </a:r>
          </a:p>
          <a:p xmlns:a="http://schemas.openxmlformats.org/drawingml/2006/main">
            <a:r>
              <a:t>Worked example: The Drive set contains one full poster and three context mock-ups. A student compares all four: the flat poster shows complete detail, one outdoor view reveals that the action is too small, and a street view shows background colours competing with the logo. They enlarge the action slightly and use a controlled logo variant. The mock-ups diagnose context problems; they are not copied as evidence of the student’s own public campaign.</a:t>
            </a:r>
          </a:p>
          <a:p xmlns:a="http://schemas.openxmlformats.org/drawingml/2006/main">
            <a:r>
              <a:t>Ask: What is the purpose of a call to action?</a:t>
            </a:r>
          </a:p>
          <a:p xmlns:a="http://schemas.openxmlformats.org/drawingml/2006/main">
            <a:r>
              <a:t>Listen for: Tell the audience what useful action to take next. Correct. It converts attention into a clear next step.</a:t>
            </a:r>
          </a:p>
          <a:p xmlns:a="http://schemas.openxmlformats.org/drawingml/2006/main">
            <a:r>
              <a:t>Misconception to correct: A realistic mock-up proves the design existed in that location. → It is a simulation unless real installation evidence is separately verified.</a:t>
            </a:r>
          </a:p>
          <a:p xmlns:a="http://schemas.openxmlformats.org/drawingml/2006/main">
            <a:r>
              <a:t>Transition: Connect this idea to the retrieval check.</a:t>
            </a:r>
          </a:p>
          <a:p xmlns:a="http://schemas.openxmlformats.org/drawingml/2006/main">
            <a:r>
              <a:t/>
            </a:r>
          </a:p>
          <a:p xmlns:a="http://schemas.openxmlformats.org/drawingml/2006/main">
            <a:r>
              <a:t>[Sources]</a:t>
            </a:r>
          </a:p>
          <a:p xmlns:a="http://schemas.openxmlformats.org/drawingml/2006/main">
            <a:r>
              <a:t>- Theory and check: data/course-content.js, m05-s03 and m05-s03-q01.</a:t>
            </a:r>
          </a:p>
          <a:p xmlns:a="http://schemas.openxmlformats.org/drawingml/2006/main">
            <a:r>
              <a:t>- Image-first teaching visual: assets/source/drive-poster-table-mockup.png. Authorised Drive source `2.png`, ID 1HcPYwQWU8hwUQIvwTrbelmv1Oht34-bQ; original bytes preserved.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60 seconds silent retrieval, pair justification, then whole-class feedback.</a:t>
            </a:r>
          </a:p>
          <a:p xmlns:a="http://schemas.openxmlformats.org/drawingml/2006/main">
            <a:r>
              <a:t>Question 1: The planned first point of attention. Feedback: Correct. It begins the visual path.</a:t>
            </a:r>
          </a:p>
          <a:p xmlns:a="http://schemas.openxmlformats.org/drawingml/2006/main">
            <a:r>
              <a:t>Question 2: Confirm its purpose, source permission and privacy safety. Feedback: Correct. Suitability includes more than visual appeal.</a:t>
            </a:r>
          </a:p>
          <a:p xmlns:a="http://schemas.openxmlformats.org/drawingml/2006/main">
            <a:r>
              <a:t>Question 3: Tell the audience what useful action to take next. Feedback: Correct. It converts attention into a clear next step.</a:t>
            </a:r>
          </a:p>
          <a:p xmlns:a="http://schemas.openxmlformats.org/drawingml/2006/main">
            <a:r>
              <a:t>Do not score this as a formal assessment. Use responses to decide whether to reteach or continue.</a:t>
            </a:r>
          </a:p>
          <a:p xmlns:a="http://schemas.openxmlformats.org/drawingml/2006/main">
            <a:r>
              <a:t>Transition: Model how the same knowledge becomes a longer written explanation.</a:t>
            </a:r>
          </a:p>
          <a:p xmlns:a="http://schemas.openxmlformats.org/drawingml/2006/main">
            <a:r>
              <a:t/>
            </a:r>
          </a:p>
          <a:p xmlns:a="http://schemas.openxmlformats.org/drawingml/2006/main">
            <a:r>
              <a:t>[Sources]</a:t>
            </a:r>
          </a:p>
          <a:p xmlns:a="http://schemas.openxmlformats.org/drawingml/2006/main">
            <a:r>
              <a:t>- Formative checks: data/course-content.js, m05-s01-q01, m05-s02-q01, m05-s03-q01.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talk: Read the prompt once, then unpack it using Select, Explain and Check.</a:t>
            </a:r>
          </a:p>
          <a:p xmlns:a="http://schemas.openxmlformats.org/drawingml/2006/main">
            <a:r>
              <a:t>Model one sentence aloud using the supplied starter.</a:t>
            </a:r>
          </a:p>
          <a:p xmlns:a="http://schemas.openxmlformats.org/drawingml/2006/main">
            <a:r>
              <a:t>Prompt: Which section provides the strongest evidence for each part of the question?</a:t>
            </a:r>
          </a:p>
          <a:p xmlns:a="http://schemas.openxmlformats.org/drawingml/2006/main">
            <a:r>
              <a:t>Remind students: this is formative learning evidence. A local save is not a submission.</a:t>
            </a:r>
          </a:p>
          <a:p xmlns:a="http://schemas.openxmlformats.org/drawingml/2006/main">
            <a:r>
              <a:t>Transition: Finish with a three-part exit ticket and save the response in the matching module.</a:t>
            </a:r>
          </a:p>
          <a:p xmlns:a="http://schemas.openxmlformats.org/drawingml/2006/main">
            <a:r>
              <a:t/>
            </a:r>
          </a:p>
          <a:p xmlns:a="http://schemas.openxmlformats.org/drawingml/2006/main">
            <a:r>
              <a:t>[Sources]</a:t>
            </a:r>
          </a:p>
          <a:p xmlns:a="http://schemas.openxmlformats.org/drawingml/2006/main">
            <a:r>
              <a:t>- Section capstones: data/course-content.js, m05-s01-capstone, m05-s02-capstone, m05-s03-capstone.</a:t>
            </a:r>
          </a:p>
          <a:p xmlns:a="http://schemas.openxmlformats.org/drawingml/2006/main">
            <a:r>
              <a:t>- Integrated prompt: Stage 07 synthesis of the three source-grounded section capstones.</a:t>
            </a:r>
          </a:p>
          <a:p xmlns:a="http://schemas.openxmlformats.org/drawingml/2006/main">
            <a:r>
              <a:t>- Evidence boundary: data/course-content.js evidenceLabel, saveNotice and moduleEvidenceKey.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routine: Ask students to answer all three prompts in the matching module response box.</a:t>
            </a:r>
          </a:p>
          <a:p xmlns:a="http://schemas.openxmlformats.org/drawingml/2006/main">
            <a:r>
              <a:t>Invite one voluntary share for the first prompt.</a:t>
            </a:r>
          </a:p>
          <a:p xmlns:a="http://schemas.openxmlformats.org/drawingml/2006/main">
            <a:r>
              <a:t>Use the final question to plan the next explanation or support.</a:t>
            </a:r>
          </a:p>
          <a:p xmlns:a="http://schemas.openxmlformats.org/drawingml/2006/main">
            <a:r>
              <a:t>Remind students that browser-local saving preserves a draft on this device; it does not submit work.</a:t>
            </a:r>
          </a:p>
          <a:p xmlns:a="http://schemas.openxmlformats.org/drawingml/2006/main">
            <a:r>
              <a:t/>
            </a:r>
          </a:p>
          <a:p xmlns:a="http://schemas.openxmlformats.org/drawingml/2006/main">
            <a:r>
              <a:t>[Sources]</a:t>
            </a:r>
          </a:p>
          <a:p xmlns:a="http://schemas.openxmlformats.org/drawingml/2006/main">
            <a:r>
              <a:t>- Exit-ticket structure and evidence boundary: data/course-content.js saveNotice, savedMessage and evidenceDestination.</a:t>
            </a:r>
          </a:p>
          <a:p xmlns:a="http://schemas.openxmlformats.org/drawingml/2006/main">
            <a:r>
              <a:t>- Module theory: data/course-content.js, m05-s01, m05-s02, m05-s03.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6cbbf2420b48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a2fcc7dce84414" /><Relationship Type="http://schemas.openxmlformats.org/officeDocument/2006/relationships/slideLayout" Target="/ppt/slideLayouts/slideLayout1.xml" Id="R40eb499f1f0d43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eb499f1f0d43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cfff20f61b84d6e" /><Relationship Type="http://schemas.openxmlformats.org/officeDocument/2006/relationships/image" Target="/ppt/media/image.png" Id="R461b6af78a144ebc" /><Relationship Type="http://schemas.openxmlformats.org/officeDocument/2006/relationships/notesSlide" Target="/ppt/notesSlides/notesSlide1.xml" Id="Ra3ea1605354343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d829e2c72b494f" /><Relationship Type="http://schemas.openxmlformats.org/officeDocument/2006/relationships/notesSlide" Target="/ppt/notesSlides/notesSlide2.xml" Id="Rc29a1aca31cb43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3983e4981ed42f7" /><Relationship Type="http://schemas.openxmlformats.org/officeDocument/2006/relationships/image" Target="/ppt/media/image2.png" Id="R97ace097a2ea473d" /><Relationship Type="http://schemas.openxmlformats.org/officeDocument/2006/relationships/notesSlide" Target="/ppt/notesSlides/notesSlide3.xml" Id="R0863f7e2d0c94f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9ba632041ba457d" /><Relationship Type="http://schemas.openxmlformats.org/officeDocument/2006/relationships/image" Target="/ppt/media/image3.png" Id="Rcbdb5a0de1ab4c96" /><Relationship Type="http://schemas.openxmlformats.org/officeDocument/2006/relationships/image" Target="/ppt/media/image4.png" Id="R84c7f3bb4b494a21" /><Relationship Type="http://schemas.openxmlformats.org/officeDocument/2006/relationships/notesSlide" Target="/ppt/notesSlides/notesSlide4.xml" Id="R99349d2e7b1d431d" /><Relationship Type="http://schemas.openxmlformats.org/officeDocument/2006/relationships/hyperlink" Target="https://drive.google.com/file/d/1xN8xO5IlId6A7KnY-YQQjXK3_qygi-f3/view" TargetMode="External" Id="RStage07Hyperlink4_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bde71b7c69942c4" /><Relationship Type="http://schemas.openxmlformats.org/officeDocument/2006/relationships/image" Target="/ppt/media/image5.png" Id="R84f088795fa1453c" /><Relationship Type="http://schemas.openxmlformats.org/officeDocument/2006/relationships/notesSlide" Target="/ppt/notesSlides/notesSlide5.xml" Id="R42b5e4e93fb6455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6e32f8921364356" /><Relationship Type="http://schemas.openxmlformats.org/officeDocument/2006/relationships/notesSlide" Target="/ppt/notesSlides/notesSlide6.xml" Id="Rf0b826c0bf9c49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5c0d53f83b6452f" /><Relationship Type="http://schemas.openxmlformats.org/officeDocument/2006/relationships/notesSlide" Target="/ppt/notesSlides/notesSlide7.xml" Id="Rd782e08fdd8c48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bfd8bc141d41ef" /><Relationship Type="http://schemas.openxmlformats.org/officeDocument/2006/relationships/notesSlide" Target="/ppt/notesSlides/notesSlide8.xml" Id="R9aee880951b44caf" /></Relationships>
</file>

<file path=ppt/slides/slide1.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2E1D904-3515-44F4-B6F4-3638BBEC79C8}"/>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17342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1A5318-1308-4046-87A3-650D25BEE274}"/>
              </a:ext>
            </a:extLst>
          </p:cNvPr>
          <p:cNvSpPr>
            <a:spLocks xmlns:a="http://schemas.openxmlformats.org/drawingml/2006/main" noGrp="1"/>
          </p:cNvSpPr>
          <p:nvPr/>
        </p:nvSpPr>
        <p:spPr>
          <a:xfrm xmlns:a="http://schemas.openxmlformats.org/drawingml/2006/main">
            <a:off x="685800" y="723900"/>
            <a:ext cx="933450" cy="952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68489D8-7232-4949-BFA2-7D9867C6E58D}"/>
              </a:ext>
            </a:extLst>
          </p:cNvPr>
          <p:cNvSpPr>
            <a:spLocks xmlns:a="http://schemas.openxmlformats.org/drawingml/2006/main" noGrp="1"/>
          </p:cNvSpPr>
          <p:nvPr/>
        </p:nvSpPr>
        <p:spPr>
          <a:xfrm xmlns:a="http://schemas.openxmlformats.org/drawingml/2006/main">
            <a:off x="685800" y="11239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2BD3C"/>
                </a:solidFill>
                <a:latin typeface="Arial"/>
                <a:ea typeface="Arial"/>
                <a:cs typeface="Arial"/>
              </a:defRPr>
            </a:pPr>
            <a:r>
              <a:rPr sz="1350" b="1">
                <a:solidFill>
                  <a:srgbClr val="F2BD3C"/>
                </a:solidFill>
                <a:latin typeface="Arial"/>
                <a:ea typeface="Arial"/>
                <a:cs typeface="Arial"/>
              </a:rPr>
              <a:t>MODULE 05</a:t>
            </a:r>
          </a:p>
        </p:txBody>
      </p:sp>
      <p:sp>
        <p:nvSpPr>
          <p:cNvPr id="4" name="">
            <a:extLst xmlns:a="http://schemas.openxmlformats.org/drawingml/2006/main">
              <a:ext uri="{FF2B5EF4-FFF2-40B4-BE49-F238E27FC236}">
                <a16:creationId xmlns:a16="http://schemas.microsoft.com/office/drawing/2014/main" id="{393F1C97-617E-431A-BBE6-50ABECCEE84E}"/>
              </a:ext>
            </a:extLst>
          </p:cNvPr>
          <p:cNvSpPr>
            <a:spLocks xmlns:a="http://schemas.openxmlformats.org/drawingml/2006/main" noGrp="1"/>
          </p:cNvSpPr>
          <p:nvPr/>
        </p:nvSpPr>
        <p:spPr>
          <a:xfrm xmlns:a="http://schemas.openxmlformats.org/drawingml/2006/main">
            <a:off x="685800" y="1790700"/>
            <a:ext cx="447675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675" b="1">
                <a:solidFill>
                  <a:srgbClr val="FFFFFF"/>
                </a:solidFill>
                <a:latin typeface="Arial"/>
                <a:ea typeface="Arial"/>
                <a:cs typeface="Arial"/>
              </a:defRPr>
            </a:pPr>
            <a:r>
              <a:rPr sz="3675" b="1">
                <a:solidFill>
                  <a:srgbClr val="FFFFFF"/>
                </a:solidFill>
                <a:latin typeface="Arial"/>
                <a:ea typeface="Arial"/>
                <a:cs typeface="Arial"/>
              </a:rPr>
              <a:t>Promotional poster</a:t>
            </a:r>
          </a:p>
        </p:txBody>
      </p:sp>
      <p:sp>
        <p:nvSpPr>
          <p:cNvPr id="5" name="">
            <a:extLst xmlns:a="http://schemas.openxmlformats.org/drawingml/2006/main">
              <a:ext uri="{FF2B5EF4-FFF2-40B4-BE49-F238E27FC236}">
                <a16:creationId xmlns:a16="http://schemas.microsoft.com/office/drawing/2014/main" id="{9945505A-03AB-454C-956A-87864CE1ABE8}"/>
              </a:ext>
            </a:extLst>
          </p:cNvPr>
          <p:cNvSpPr>
            <a:spLocks xmlns:a="http://schemas.openxmlformats.org/drawingml/2006/main" noGrp="1"/>
          </p:cNvSpPr>
          <p:nvPr/>
        </p:nvSpPr>
        <p:spPr>
          <a:xfrm xmlns:a="http://schemas.openxmlformats.org/drawingml/2006/main">
            <a:off x="685800" y="3676650"/>
            <a:ext cx="43338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E6EEE9"/>
                </a:solidFill>
                <a:latin typeface="Arial"/>
                <a:ea typeface="Arial"/>
                <a:cs typeface="Arial"/>
              </a:defRPr>
            </a:pPr>
            <a:r>
              <a:rPr sz="1650" b="0">
                <a:solidFill>
                  <a:srgbClr val="E6EEE9"/>
                </a:solidFill>
                <a:latin typeface="Arial"/>
                <a:ea typeface="Arial"/>
                <a:cs typeface="Arial"/>
              </a:rPr>
              <a:t>Build a focused poster and test it in a realistic context.</a:t>
            </a:r>
          </a:p>
        </p:txBody>
      </p:sp>
      <p:sp>
        <p:nvSpPr>
          <p:cNvPr id="6" name="">
            <a:extLst xmlns:a="http://schemas.openxmlformats.org/drawingml/2006/main">
              <a:ext uri="{FF2B5EF4-FFF2-40B4-BE49-F238E27FC236}">
                <a16:creationId xmlns:a16="http://schemas.microsoft.com/office/drawing/2014/main" id="{FCE97F8D-E2CD-461B-B102-698806638FE0}"/>
              </a:ext>
            </a:extLst>
          </p:cNvPr>
          <p:cNvSpPr>
            <a:spLocks xmlns:a="http://schemas.openxmlformats.org/drawingml/2006/main" noGrp="1"/>
          </p:cNvSpPr>
          <p:nvPr/>
        </p:nvSpPr>
        <p:spPr>
          <a:xfrm xmlns:a="http://schemas.openxmlformats.org/drawingml/2006/main">
            <a:off x="685800" y="50101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1">
                <a:solidFill>
                  <a:srgbClr val="E8674B"/>
                </a:solidFill>
                <a:latin typeface="Arial"/>
                <a:ea typeface="Arial"/>
                <a:cs typeface="Arial"/>
              </a:defRPr>
            </a:pPr>
            <a:r>
              <a:rPr sz="900" b="1">
                <a:solidFill>
                  <a:srgbClr val="E8674B"/>
                </a:solidFill>
                <a:latin typeface="Arial"/>
                <a:ea typeface="Arial"/>
                <a:cs typeface="Arial"/>
              </a:rPr>
              <a:t>TEACHING QUESTION</a:t>
            </a:r>
          </a:p>
        </p:txBody>
      </p:sp>
      <p:sp>
        <p:nvSpPr>
          <p:cNvPr id="7" name="">
            <a:extLst xmlns:a="http://schemas.openxmlformats.org/drawingml/2006/main">
              <a:ext uri="{FF2B5EF4-FFF2-40B4-BE49-F238E27FC236}">
                <a16:creationId xmlns:a16="http://schemas.microsoft.com/office/drawing/2014/main" id="{8A589140-3E1F-4F72-94B6-FD52E0A23CC2}"/>
              </a:ext>
            </a:extLst>
          </p:cNvPr>
          <p:cNvSpPr>
            <a:spLocks xmlns:a="http://schemas.openxmlformats.org/drawingml/2006/main" noGrp="1"/>
          </p:cNvSpPr>
          <p:nvPr/>
        </p:nvSpPr>
        <p:spPr>
          <a:xfrm xmlns:a="http://schemas.openxmlformats.org/drawingml/2006/main">
            <a:off x="685800" y="5295900"/>
            <a:ext cx="43624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a:solidFill>
                  <a:srgbClr val="FFFFFF"/>
                </a:solidFill>
                <a:latin typeface="Arial"/>
                <a:ea typeface="Arial"/>
                <a:cs typeface="Arial"/>
              </a:defRPr>
            </a:pPr>
            <a:r>
              <a:rPr sz="1425" b="1">
                <a:solidFill>
                  <a:srgbClr val="FFFFFF"/>
                </a:solidFill>
                <a:latin typeface="Arial"/>
                <a:ea typeface="Arial"/>
                <a:cs typeface="Arial"/>
              </a:rPr>
              <a:t>What single element should begin the poster’s attention path?</a:t>
            </a:r>
          </a:p>
        </p:txBody>
      </p:sp>
      <p:sp>
        <p:nvSpPr>
          <p:cNvPr id="8" name="">
            <a:extLst xmlns:a="http://schemas.openxmlformats.org/drawingml/2006/main">
              <a:ext uri="{FF2B5EF4-FFF2-40B4-BE49-F238E27FC236}">
                <a16:creationId xmlns:a16="http://schemas.microsoft.com/office/drawing/2014/main" id="{FA970347-DDCC-4DB6-A6CC-EB6E8BC5280B}"/>
              </a:ext>
            </a:extLst>
          </p:cNvPr>
          <p:cNvSpPr>
            <a:spLocks xmlns:a="http://schemas.openxmlformats.org/drawingml/2006/main" noGrp="1"/>
          </p:cNvSpPr>
          <p:nvPr/>
        </p:nvSpPr>
        <p:spPr>
          <a:xfrm xmlns:a="http://schemas.openxmlformats.org/drawingml/2006/main">
            <a:off x="6191250" y="514350"/>
            <a:ext cx="5334000" cy="5372100"/>
          </a:xfrm>
          <a:prstGeom xmlns:a="http://schemas.openxmlformats.org/drawingml/2006/main" prst="roundRect">
            <a:avLst>
              <a:gd name="adj" fmla="val 2143"/>
            </a:avLst>
          </a:prstGeom>
          <a:solidFill xmlns:a="http://schemas.openxmlformats.org/drawingml/2006/main">
            <a:srgbClr val="FFFFFF"/>
          </a:solidFill>
          <a:ln xmlns:a="http://schemas.openxmlformats.org/drawingml/2006/main" w="9525">
            <a:solidFill>
              <a:srgbClr val="CFD8D2"/>
            </a:solidFill>
            <a:prstDash val="solid"/>
          </a:ln>
        </p:spPr>
      </p:sp>
      <p:pic>
        <p:nvPicPr>
          <p:cNvPr id="20" name="Poster Outdoor Mockup Source" title="Poster Outdoor Mockup Source" descr="Korean Burger poster displayed in a large framed outdoor shelter panel beside brick, stone and metal structures."/>
          <p:cNvPicPr>
            <a:picLocks xmlns:a="http://schemas.openxmlformats.org/drawingml/2006/main" noChangeAspect="1"/>
          </p:cNvPicPr>
          <p:nvPr/>
        </p:nvPicPr>
        <p:blipFill>
          <a:blip xmlns:r="http://schemas.openxmlformats.org/officeDocument/2006/relationships" xmlns:a="http://schemas.openxmlformats.org/drawingml/2006/main" r:embed="R461b6af78a144ebc"/>
          <a:srcRect xmlns:a="http://schemas.openxmlformats.org/drawingml/2006/main" l="0" t="14398" r="0" b="14398"/>
          <a:stretch xmlns:a="http://schemas.openxmlformats.org/drawingml/2006/main">
            <a:fillRect l="0" t="0" r="0" b="0"/>
          </a:stretch>
        </p:blipFill>
        <p:spPr>
          <a:xfrm xmlns:a="http://schemas.openxmlformats.org/drawingml/2006/main">
            <a:off x="6191250" y="514350"/>
            <a:ext cx="5334000" cy="53721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5EAA97CA-9E6F-4A70-A165-D95FAB3BC14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05  •  PROMOTIONAL POSTER</a:t>
            </a:r>
          </a:p>
        </p:txBody>
      </p:sp>
      <p:sp>
        <p:nvSpPr>
          <p:cNvPr id="11" name="">
            <a:extLst xmlns:a="http://schemas.openxmlformats.org/drawingml/2006/main">
              <a:ext uri="{FF2B5EF4-FFF2-40B4-BE49-F238E27FC236}">
                <a16:creationId xmlns:a16="http://schemas.microsoft.com/office/drawing/2014/main" id="{C4DD899F-CA0E-4FA6-96A6-3F5DE1E61F3C}"/>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01</a:t>
            </a:r>
          </a:p>
        </p:txBody>
      </p:sp>
    </p:spTree>
    <p:extLst>
      <p:ext uri="{BB962C8B-B14F-4D97-AF65-F5344CB8AC3E}">
        <p14:creationId xmlns:p14="http://schemas.microsoft.com/office/powerpoint/2010/main" val="1860235564"/>
      </p:ext>
    </p:extLst>
  </p:cSld>
</p:sld>
</file>

<file path=ppt/slides/slide2.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29815AB-A4B3-471B-9C97-49B73D344A43}"/>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738DC03-A1C8-48A7-ACD8-4999AD8E7706}"/>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TODAY'S LEARNING PATH</a:t>
            </a:r>
          </a:p>
        </p:txBody>
      </p:sp>
      <p:sp>
        <p:nvSpPr>
          <p:cNvPr id="3" name="">
            <a:extLst xmlns:a="http://schemas.openxmlformats.org/drawingml/2006/main">
              <a:ext uri="{FF2B5EF4-FFF2-40B4-BE49-F238E27FC236}">
                <a16:creationId xmlns:a16="http://schemas.microsoft.com/office/drawing/2014/main" id="{5E1EF367-23E7-4AA6-A4AA-02446C501F3A}"/>
              </a:ext>
            </a:extLst>
          </p:cNvPr>
          <p:cNvSpPr>
            <a:spLocks xmlns:a="http://schemas.openxmlformats.org/drawingml/2006/main" noGrp="1"/>
          </p:cNvSpPr>
          <p:nvPr/>
        </p:nvSpPr>
        <p:spPr>
          <a:xfrm xmlns:a="http://schemas.openxmlformats.org/drawingml/2006/main">
            <a:off x="685800" y="895350"/>
            <a:ext cx="7429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Where are we going?</a:t>
            </a:r>
          </a:p>
        </p:txBody>
      </p:sp>
      <p:sp>
        <p:nvSpPr>
          <p:cNvPr id="4" name="">
            <a:extLst xmlns:a="http://schemas.openxmlformats.org/drawingml/2006/main">
              <a:ext uri="{FF2B5EF4-FFF2-40B4-BE49-F238E27FC236}">
                <a16:creationId xmlns:a16="http://schemas.microsoft.com/office/drawing/2014/main" id="{4139D2F3-C8E3-48B4-8ED0-5902F1CA6503}"/>
              </a:ext>
            </a:extLst>
          </p:cNvPr>
          <p:cNvSpPr>
            <a:spLocks xmlns:a="http://schemas.openxmlformats.org/drawingml/2006/main" noGrp="1"/>
          </p:cNvSpPr>
          <p:nvPr/>
        </p:nvSpPr>
        <p:spPr>
          <a:xfrm xmlns:a="http://schemas.openxmlformats.org/drawingml/2006/main">
            <a:off x="685800" y="19526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5" name="">
            <a:extLst xmlns:a="http://schemas.openxmlformats.org/drawingml/2006/main">
              <a:ext uri="{FF2B5EF4-FFF2-40B4-BE49-F238E27FC236}">
                <a16:creationId xmlns:a16="http://schemas.microsoft.com/office/drawing/2014/main" id="{B1824638-FE59-4289-842F-573A60636B1B}"/>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4DAB09-5E8C-4D21-8C08-D59F1AF5AEBB}"/>
              </a:ext>
            </a:extLst>
          </p:cNvPr>
          <p:cNvSpPr>
            <a:spLocks xmlns:a="http://schemas.openxmlformats.org/drawingml/2006/main" noGrp="1"/>
          </p:cNvSpPr>
          <p:nvPr/>
        </p:nvSpPr>
        <p:spPr>
          <a:xfrm xmlns:a="http://schemas.openxmlformats.org/drawingml/2006/main">
            <a:off x="933450" y="21621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4E399868-2BE2-4D02-88CD-A032C5D15624}"/>
              </a:ext>
            </a:extLst>
          </p:cNvPr>
          <p:cNvSpPr>
            <a:spLocks xmlns:a="http://schemas.openxmlformats.org/drawingml/2006/main" noGrp="1"/>
          </p:cNvSpPr>
          <p:nvPr/>
        </p:nvSpPr>
        <p:spPr>
          <a:xfrm xmlns:a="http://schemas.openxmlformats.org/drawingml/2006/main">
            <a:off x="1733550" y="21431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Composition and focal point</a:t>
            </a:r>
          </a:p>
        </p:txBody>
      </p:sp>
      <p:sp>
        <p:nvSpPr>
          <p:cNvPr id="8" name="">
            <a:extLst xmlns:a="http://schemas.openxmlformats.org/drawingml/2006/main">
              <a:ext uri="{FF2B5EF4-FFF2-40B4-BE49-F238E27FC236}">
                <a16:creationId xmlns:a16="http://schemas.microsoft.com/office/drawing/2014/main" id="{2D773B40-90D6-4CB6-8340-D6889C662C7E}"/>
              </a:ext>
            </a:extLst>
          </p:cNvPr>
          <p:cNvSpPr>
            <a:spLocks xmlns:a="http://schemas.openxmlformats.org/drawingml/2006/main" noGrp="1"/>
          </p:cNvSpPr>
          <p:nvPr/>
        </p:nvSpPr>
        <p:spPr>
          <a:xfrm xmlns:a="http://schemas.openxmlformats.org/drawingml/2006/main">
            <a:off x="685800" y="32099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9" name="">
            <a:extLst xmlns:a="http://schemas.openxmlformats.org/drawingml/2006/main">
              <a:ext uri="{FF2B5EF4-FFF2-40B4-BE49-F238E27FC236}">
                <a16:creationId xmlns:a16="http://schemas.microsoft.com/office/drawing/2014/main" id="{DB9158A1-B696-4484-B27C-7969E616A91C}"/>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6F4785-6F88-43D1-B6C5-42C4911E05D6}"/>
              </a:ext>
            </a:extLst>
          </p:cNvPr>
          <p:cNvSpPr>
            <a:spLocks xmlns:a="http://schemas.openxmlformats.org/drawingml/2006/main" noGrp="1"/>
          </p:cNvSpPr>
          <p:nvPr/>
        </p:nvSpPr>
        <p:spPr>
          <a:xfrm xmlns:a="http://schemas.openxmlformats.org/drawingml/2006/main">
            <a:off x="933450" y="34194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7342C"/>
                </a:solidFill>
                <a:latin typeface="Arial"/>
                <a:ea typeface="Arial"/>
                <a:cs typeface="Arial"/>
              </a:defRPr>
            </a:pPr>
            <a:r>
              <a:rPr sz="1500" b="1">
                <a:solidFill>
                  <a:srgbClr val="17342C"/>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BFEFFD57-4DEF-4B07-98BB-A5E6E8BEC931}"/>
              </a:ext>
            </a:extLst>
          </p:cNvPr>
          <p:cNvSpPr>
            <a:spLocks xmlns:a="http://schemas.openxmlformats.org/drawingml/2006/main" noGrp="1"/>
          </p:cNvSpPr>
          <p:nvPr/>
        </p:nvSpPr>
        <p:spPr>
          <a:xfrm xmlns:a="http://schemas.openxmlformats.org/drawingml/2006/main">
            <a:off x="1733550" y="34004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Image selection and background removal</a:t>
            </a:r>
          </a:p>
        </p:txBody>
      </p:sp>
      <p:sp>
        <p:nvSpPr>
          <p:cNvPr id="12" name="">
            <a:extLst xmlns:a="http://schemas.openxmlformats.org/drawingml/2006/main">
              <a:ext uri="{FF2B5EF4-FFF2-40B4-BE49-F238E27FC236}">
                <a16:creationId xmlns:a16="http://schemas.microsoft.com/office/drawing/2014/main" id="{AB09E215-0DE7-43C5-BC55-59FB344A0472}"/>
              </a:ext>
            </a:extLst>
          </p:cNvPr>
          <p:cNvSpPr>
            <a:spLocks xmlns:a="http://schemas.openxmlformats.org/drawingml/2006/main" noGrp="1"/>
          </p:cNvSpPr>
          <p:nvPr/>
        </p:nvSpPr>
        <p:spPr>
          <a:xfrm xmlns:a="http://schemas.openxmlformats.org/drawingml/2006/main">
            <a:off x="685800" y="4467225"/>
            <a:ext cx="6953250" cy="895350"/>
          </a:xfrm>
          <a:prstGeom xmlns:a="http://schemas.openxmlformats.org/drawingml/2006/main" prst="roundRect">
            <a:avLst>
              <a:gd name="adj" fmla="val 12766"/>
            </a:avLst>
          </a:prstGeom>
          <a:solidFill xmlns:a="http://schemas.openxmlformats.org/drawingml/2006/main">
            <a:srgbClr val="FFFFFF"/>
          </a:solidFill>
          <a:ln xmlns:a="http://schemas.openxmlformats.org/drawingml/2006/main" w="9525">
            <a:solidFill>
              <a:srgbClr val="CFD8D2"/>
            </a:solidFill>
            <a:prstDash val="solid"/>
          </a:ln>
        </p:spPr>
      </p:sp>
      <p:sp>
        <p:nvSpPr>
          <p:cNvPr id="13" name="">
            <a:extLst xmlns:a="http://schemas.openxmlformats.org/drawingml/2006/main">
              <a:ext uri="{FF2B5EF4-FFF2-40B4-BE49-F238E27FC236}">
                <a16:creationId xmlns:a16="http://schemas.microsoft.com/office/drawing/2014/main" id="{5D632D00-D09A-43C2-B1FF-895909A0442F}"/>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F400923-D2F1-4C74-B952-33166C6E8D53}"/>
              </a:ext>
            </a:extLst>
          </p:cNvPr>
          <p:cNvSpPr>
            <a:spLocks xmlns:a="http://schemas.openxmlformats.org/drawingml/2006/main" noGrp="1"/>
          </p:cNvSpPr>
          <p:nvPr/>
        </p:nvSpPr>
        <p:spPr>
          <a:xfrm xmlns:a="http://schemas.openxmlformats.org/drawingml/2006/main">
            <a:off x="933450" y="4676775"/>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E71C0124-CAC3-4EAB-8591-331365CE5FAA}"/>
              </a:ext>
            </a:extLst>
          </p:cNvPr>
          <p:cNvSpPr>
            <a:spLocks xmlns:a="http://schemas.openxmlformats.org/drawingml/2006/main" noGrp="1"/>
          </p:cNvSpPr>
          <p:nvPr/>
        </p:nvSpPr>
        <p:spPr>
          <a:xfrm xmlns:a="http://schemas.openxmlformats.org/drawingml/2006/main">
            <a:off x="1733550" y="4657725"/>
            <a:ext cx="533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725" b="1">
                <a:solidFill>
                  <a:srgbClr val="17342C"/>
                </a:solidFill>
                <a:latin typeface="Arial"/>
                <a:ea typeface="Arial"/>
                <a:cs typeface="Arial"/>
              </a:defRPr>
            </a:pPr>
            <a:r>
              <a:rPr sz="1725" b="1">
                <a:solidFill>
                  <a:srgbClr val="17342C"/>
                </a:solidFill>
                <a:latin typeface="Arial"/>
                <a:ea typeface="Arial"/>
                <a:cs typeface="Arial"/>
              </a:rPr>
              <a:t>Calls to action and mock-ups</a:t>
            </a:r>
          </a:p>
        </p:txBody>
      </p:sp>
      <p:sp>
        <p:nvSpPr>
          <p:cNvPr id="16" name="">
            <a:extLst xmlns:a="http://schemas.openxmlformats.org/drawingml/2006/main">
              <a:ext uri="{FF2B5EF4-FFF2-40B4-BE49-F238E27FC236}">
                <a16:creationId xmlns:a16="http://schemas.microsoft.com/office/drawing/2014/main" id="{5E1CA88B-16D8-4249-A9D9-EB05A4B67851}"/>
              </a:ext>
            </a:extLst>
          </p:cNvPr>
          <p:cNvSpPr>
            <a:spLocks xmlns:a="http://schemas.openxmlformats.org/drawingml/2006/main" noGrp="1"/>
          </p:cNvSpPr>
          <p:nvPr/>
        </p:nvSpPr>
        <p:spPr>
          <a:xfrm xmlns:a="http://schemas.openxmlformats.org/drawingml/2006/main">
            <a:off x="8191500" y="2076450"/>
            <a:ext cx="2952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a:solidFill>
                  <a:srgbClr val="F2BD3C"/>
                </a:solidFill>
                <a:latin typeface="Arial"/>
                <a:ea typeface="Arial"/>
                <a:cs typeface="Arial"/>
              </a:defRPr>
            </a:pPr>
            <a:r>
              <a:rPr sz="1050" b="1">
                <a:solidFill>
                  <a:srgbClr val="F2BD3C"/>
                </a:solidFill>
                <a:latin typeface="Arial"/>
                <a:ea typeface="Arial"/>
                <a:cs typeface="Arial"/>
              </a:rPr>
              <a:t>RETRIEVAL WARM-UP</a:t>
            </a:r>
          </a:p>
        </p:txBody>
      </p:sp>
      <p:sp>
        <p:nvSpPr>
          <p:cNvPr id="17" name="">
            <a:extLst xmlns:a="http://schemas.openxmlformats.org/drawingml/2006/main">
              <a:ext uri="{FF2B5EF4-FFF2-40B4-BE49-F238E27FC236}">
                <a16:creationId xmlns:a16="http://schemas.microsoft.com/office/drawing/2014/main" id="{D652312B-876E-44FC-9088-C13DEDF99C99}"/>
              </a:ext>
            </a:extLst>
          </p:cNvPr>
          <p:cNvSpPr>
            <a:spLocks xmlns:a="http://schemas.openxmlformats.org/drawingml/2006/main" noGrp="1"/>
          </p:cNvSpPr>
          <p:nvPr/>
        </p:nvSpPr>
        <p:spPr>
          <a:xfrm xmlns:a="http://schemas.openxmlformats.org/drawingml/2006/main">
            <a:off x="8191500" y="2609850"/>
            <a:ext cx="2952750" cy="1390650"/>
          </a:xfrm>
          <a:prstGeom xmlns:a="http://schemas.openxmlformats.org/drawingml/2006/main" prst="roundRect">
            <a:avLst>
              <a:gd name="adj" fmla="val 8219"/>
            </a:avLst>
          </a:prstGeom>
          <a:solidFill xmlns:a="http://schemas.openxmlformats.org/drawingml/2006/main">
            <a:srgbClr val="17342C"/>
          </a:solidFill>
          <a:ln xmlns:a="http://schemas.openxmlformats.org/drawingml/2006/main" w="0">
            <a:noFill/>
            <a:prstDash val="solid"/>
          </a:ln>
        </p:spPr>
        <p:txBody>
          <a:bodyPr xmlns:a="http://schemas.openxmlformats.org/drawingml/2006/main" lIns="209550" tIns="209550" rIns="209550" bIns="209550" anchor="ctr">
            <a:normAutofit fontScale="91106"/>
          </a:bodyPr>
          <a:lstStyle xmlns:a="http://schemas.openxmlformats.org/drawingml/2006/main"/>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What single element should begin the poster’s attention path?</a:t>
            </a:r>
          </a:p>
        </p:txBody>
      </p:sp>
      <p:sp>
        <p:nvSpPr>
          <p:cNvPr id="18" name="">
            <a:extLst xmlns:a="http://schemas.openxmlformats.org/drawingml/2006/main">
              <a:ext uri="{FF2B5EF4-FFF2-40B4-BE49-F238E27FC236}">
                <a16:creationId xmlns:a16="http://schemas.microsoft.com/office/drawing/2014/main" id="{425BBA8A-66BF-4D60-9D41-68563D20E36A}"/>
              </a:ext>
            </a:extLst>
          </p:cNvPr>
          <p:cNvSpPr>
            <a:spLocks xmlns:a="http://schemas.openxmlformats.org/drawingml/2006/main" noGrp="1"/>
          </p:cNvSpPr>
          <p:nvPr/>
        </p:nvSpPr>
        <p:spPr>
          <a:xfrm xmlns:a="http://schemas.openxmlformats.org/drawingml/2006/main">
            <a:off x="8191500" y="42291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Think silently → pair → share one reason.</a:t>
            </a:r>
          </a:p>
        </p:txBody>
      </p:sp>
      <p:sp>
        <p:nvSpPr>
          <p:cNvPr id="19" name="">
            <a:extLst xmlns:a="http://schemas.openxmlformats.org/drawingml/2006/main">
              <a:ext uri="{FF2B5EF4-FFF2-40B4-BE49-F238E27FC236}">
                <a16:creationId xmlns:a16="http://schemas.microsoft.com/office/drawing/2014/main" id="{20E4507B-3B83-48BD-9A5D-D69FAFD6667A}"/>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05  •  PROMOTIONAL POSTER</a:t>
            </a:r>
          </a:p>
        </p:txBody>
      </p:sp>
      <p:sp>
        <p:nvSpPr>
          <p:cNvPr id="20" name="">
            <a:extLst xmlns:a="http://schemas.openxmlformats.org/drawingml/2006/main">
              <a:ext uri="{FF2B5EF4-FFF2-40B4-BE49-F238E27FC236}">
                <a16:creationId xmlns:a16="http://schemas.microsoft.com/office/drawing/2014/main" id="{7F411193-9BE0-4474-98E4-3B304743B29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02</a:t>
            </a:r>
          </a:p>
        </p:txBody>
      </p:sp>
    </p:spTree>
    <p:extLst>
      <p:ext uri="{BB962C8B-B14F-4D97-AF65-F5344CB8AC3E}">
        <p14:creationId xmlns:p14="http://schemas.microsoft.com/office/powerpoint/2010/main" val="1201731821"/>
      </p:ext>
    </p:extLst>
  </p:cSld>
</p:sld>
</file>

<file path=ppt/slides/slide3.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616C76-54D3-4184-8183-DD4C97BCC6B6}"/>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4798D91-9B0D-4908-B601-6F360DD9C9FE}"/>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5.1  COMPOSITION AND FOCAL POINT</a:t>
            </a:r>
          </a:p>
        </p:txBody>
      </p:sp>
      <p:sp>
        <p:nvSpPr>
          <p:cNvPr id="3" name="">
            <a:extLst xmlns:a="http://schemas.openxmlformats.org/drawingml/2006/main">
              <a:ext uri="{FF2B5EF4-FFF2-40B4-BE49-F238E27FC236}">
                <a16:creationId xmlns:a16="http://schemas.microsoft.com/office/drawing/2014/main" id="{3D84AE6F-C924-4502-A130-E21B66147BAB}"/>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Composition and focal point</a:t>
            </a:r>
          </a:p>
        </p:txBody>
      </p:sp>
      <p:sp>
        <p:nvSpPr>
          <p:cNvPr id="4" name="">
            <a:extLst xmlns:a="http://schemas.openxmlformats.org/drawingml/2006/main">
              <a:ext uri="{FF2B5EF4-FFF2-40B4-BE49-F238E27FC236}">
                <a16:creationId xmlns:a16="http://schemas.microsoft.com/office/drawing/2014/main" id="{F0D49EE8-98FE-41E2-95EE-EBB65C8002FC}"/>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62BB32D3-425B-4A93-A26F-99CD69CB588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55480E-E476-4E96-91F0-70EDBEBCC74D}"/>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Composition arranges elements for a purpose.</a:t>
            </a:r>
          </a:p>
        </p:txBody>
      </p:sp>
      <p:sp>
        <p:nvSpPr>
          <p:cNvPr id="7" name="">
            <a:extLst xmlns:a="http://schemas.openxmlformats.org/drawingml/2006/main">
              <a:ext uri="{FF2B5EF4-FFF2-40B4-BE49-F238E27FC236}">
                <a16:creationId xmlns:a16="http://schemas.microsoft.com/office/drawing/2014/main" id="{6F0B9245-B4FD-48E8-BEBE-6974862D01E2}"/>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F5246C2-84EE-4740-811C-BEDAD3DEEDF4}"/>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 focal point starts a planned attention path.</a:t>
            </a:r>
          </a:p>
        </p:txBody>
      </p:sp>
      <p:sp>
        <p:nvSpPr>
          <p:cNvPr id="9" name="">
            <a:extLst xmlns:a="http://schemas.openxmlformats.org/drawingml/2006/main">
              <a:ext uri="{FF2B5EF4-FFF2-40B4-BE49-F238E27FC236}">
                <a16:creationId xmlns:a16="http://schemas.microsoft.com/office/drawing/2014/main" id="{6A86D3CC-3AD5-486D-B926-1B023BB8968C}"/>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E02364-C9C6-42DA-9B23-B293469B09D6}"/>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Visual weight and spacing should be tested at realistic sizes.</a:t>
            </a:r>
          </a:p>
        </p:txBody>
      </p:sp>
      <p:sp>
        <p:nvSpPr>
          <p:cNvPr id="11" name="">
            <a:extLst xmlns:a="http://schemas.openxmlformats.org/drawingml/2006/main">
              <a:ext uri="{FF2B5EF4-FFF2-40B4-BE49-F238E27FC236}">
                <a16:creationId xmlns:a16="http://schemas.microsoft.com/office/drawing/2014/main" id="{D248EEFC-C643-4CD2-9A2D-8BC52FBA67D1}"/>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Poster Source Original" title="Poster Source Original" descr="Portrait orange-and-red Korean Burger poster with a large burger photograph, ten-dollar price, circular logo and Order Now button."/>
          <p:cNvPicPr>
            <a:picLocks xmlns:a="http://schemas.openxmlformats.org/drawingml/2006/main" noChangeAspect="1"/>
          </p:cNvPicPr>
          <p:nvPr/>
        </p:nvPicPr>
        <p:blipFill>
          <a:blip xmlns:r="http://schemas.openxmlformats.org/officeDocument/2006/relationships" xmlns:a="http://schemas.openxmlformats.org/drawingml/2006/main" r:embed="R97ace097a2ea473d"/>
          <a:stretch xmlns:a="http://schemas.openxmlformats.org/drawingml/2006/main"/>
        </p:blipFill>
        <p:spPr>
          <a:xfrm xmlns:a="http://schemas.openxmlformats.org/drawingml/2006/main">
            <a:off x="8498310" y="1352550"/>
            <a:ext cx="1710480"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F6CF943C-2A86-4D8B-A017-AA2A156989B5}"/>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The supplied Korean Burger poster combines brand name, product image, price, logo and an Order Now call to action.</a:t>
            </a:r>
          </a:p>
        </p:txBody>
      </p:sp>
      <p:sp>
        <p:nvSpPr>
          <p:cNvPr id="14" name="">
            <a:extLst xmlns:a="http://schemas.openxmlformats.org/drawingml/2006/main">
              <a:ext uri="{FF2B5EF4-FFF2-40B4-BE49-F238E27FC236}">
                <a16:creationId xmlns:a16="http://schemas.microsoft.com/office/drawing/2014/main" id="{6A6D7814-AEE4-4BC6-BF79-A454FD5B7F50}"/>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Trace the first three things your eye notices. Which size, position or contrast choice creates that order?</a:t>
            </a:r>
          </a:p>
        </p:txBody>
      </p:sp>
      <p:sp>
        <p:nvSpPr>
          <p:cNvPr id="15" name="">
            <a:extLst xmlns:a="http://schemas.openxmlformats.org/drawingml/2006/main">
              <a:ext uri="{FF2B5EF4-FFF2-40B4-BE49-F238E27FC236}">
                <a16:creationId xmlns:a16="http://schemas.microsoft.com/office/drawing/2014/main" id="{27A3EDBE-98DB-4523-BD47-3AFAABFD0132}"/>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2D698BF0-3FF8-4906-ACA7-A13E785438FB}"/>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a focal point?</a:t>
            </a:r>
          </a:p>
        </p:txBody>
      </p:sp>
      <p:sp>
        <p:nvSpPr>
          <p:cNvPr id="17" name="">
            <a:extLst xmlns:a="http://schemas.openxmlformats.org/drawingml/2006/main">
              <a:ext uri="{FF2B5EF4-FFF2-40B4-BE49-F238E27FC236}">
                <a16:creationId xmlns:a16="http://schemas.microsoft.com/office/drawing/2014/main" id="{5FE08725-3D1A-44EC-B282-50BAC09247A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05  •  PROMOTIONAL POSTER</a:t>
            </a:r>
          </a:p>
        </p:txBody>
      </p:sp>
      <p:sp>
        <p:nvSpPr>
          <p:cNvPr id="18" name="">
            <a:extLst xmlns:a="http://schemas.openxmlformats.org/drawingml/2006/main">
              <a:ext uri="{FF2B5EF4-FFF2-40B4-BE49-F238E27FC236}">
                <a16:creationId xmlns:a16="http://schemas.microsoft.com/office/drawing/2014/main" id="{910D8CBF-F6F9-40E2-BFFA-4EC9D6850B7E}"/>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03</a:t>
            </a:r>
          </a:p>
        </p:txBody>
      </p:sp>
    </p:spTree>
    <p:extLst>
      <p:ext uri="{BB962C8B-B14F-4D97-AF65-F5344CB8AC3E}">
        <p14:creationId xmlns:p14="http://schemas.microsoft.com/office/powerpoint/2010/main" val="1206644956"/>
      </p:ext>
    </p:extLst>
  </p:cSld>
</p:sld>
</file>

<file path=ppt/slides/slide4.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CF401C77-E4B1-4D54-AB3F-05DAB30F6512}"/>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686DC60-45FE-4CA8-BDBB-BC0F66207AE1}"/>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5.2  IMAGE SELECTION AND BACKGROUND REMOVAL</a:t>
            </a:r>
          </a:p>
        </p:txBody>
      </p:sp>
      <p:sp>
        <p:nvSpPr>
          <p:cNvPr id="3" name="">
            <a:extLst xmlns:a="http://schemas.openxmlformats.org/drawingml/2006/main">
              <a:ext uri="{FF2B5EF4-FFF2-40B4-BE49-F238E27FC236}">
                <a16:creationId xmlns:a16="http://schemas.microsoft.com/office/drawing/2014/main" id="{76C03047-45CC-46F9-9296-0E21E5B9E0F2}"/>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Image selection and background removal</a:t>
            </a:r>
          </a:p>
        </p:txBody>
      </p:sp>
      <p:sp>
        <p:nvSpPr>
          <p:cNvPr id="4" name="">
            <a:extLst xmlns:a="http://schemas.openxmlformats.org/drawingml/2006/main">
              <a:ext uri="{FF2B5EF4-FFF2-40B4-BE49-F238E27FC236}">
                <a16:creationId xmlns:a16="http://schemas.microsoft.com/office/drawing/2014/main" id="{12ECF4E3-E396-4A1B-8342-14BEBAF576F4}"/>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24C1AE63-8599-405E-AB07-08781701FF45}"/>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4D04B19-EC8A-40BD-B75D-1501158E7E7D}"/>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Image relevance, rights, privacy and truthfulness all matter.</a:t>
            </a:r>
          </a:p>
        </p:txBody>
      </p:sp>
      <p:sp>
        <p:nvSpPr>
          <p:cNvPr id="7" name="">
            <a:extLst xmlns:a="http://schemas.openxmlformats.org/drawingml/2006/main">
              <a:ext uri="{FF2B5EF4-FFF2-40B4-BE49-F238E27FC236}">
                <a16:creationId xmlns:a16="http://schemas.microsoft.com/office/drawing/2014/main" id="{79C003E2-8DEA-4FE7-AB23-17BA1C58A944}"/>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79F19BC-6FEA-4784-B797-D80FC0C05567}"/>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Background removal requires edge checks on varied backgrounds.</a:t>
            </a:r>
          </a:p>
        </p:txBody>
      </p:sp>
      <p:sp>
        <p:nvSpPr>
          <p:cNvPr id="9" name="">
            <a:extLst xmlns:a="http://schemas.openxmlformats.org/drawingml/2006/main">
              <a:ext uri="{FF2B5EF4-FFF2-40B4-BE49-F238E27FC236}">
                <a16:creationId xmlns:a16="http://schemas.microsoft.com/office/drawing/2014/main" id="{AA4ECADD-B48B-4A2E-9574-E4E46B6DDD8B}"/>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67E53E-A5A6-49E9-B807-4C897F43E5E9}"/>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Preserve the original and use a separate working copy.</a:t>
            </a:r>
          </a:p>
        </p:txBody>
      </p:sp>
      <p:sp>
        <p:nvSpPr>
          <p:cNvPr id="11" name="">
            <a:extLst xmlns:a="http://schemas.openxmlformats.org/drawingml/2006/main">
              <a:ext uri="{FF2B5EF4-FFF2-40B4-BE49-F238E27FC236}">
                <a16:creationId xmlns:a16="http://schemas.microsoft.com/office/drawing/2014/main" id="{BBFD7FD7-909B-4BDD-9C88-291AD3623F9F}"/>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4" name="Background Removal Edge Check" title="Background Removal Edge Check" descr="Close-up design proof comparing the edge of a food image cut-out on light and dark test backgrounds."/>
          <p:cNvPicPr>
            <a:picLocks xmlns:a="http://schemas.openxmlformats.org/drawingml/2006/main" noChangeAspect="1"/>
          </p:cNvPicPr>
          <p:nvPr/>
        </p:nvPicPr>
        <p:blipFill>
          <a:blip xmlns:r="http://schemas.openxmlformats.org/officeDocument/2006/relationships" xmlns:a="http://schemas.openxmlformats.org/drawingml/2006/main" r:embed="Rcbdb5a0de1ab4c96"/>
          <a:stretch xmlns:a="http://schemas.openxmlformats.org/drawingml/2006/main"/>
        </p:blipFill>
        <p:spPr>
          <a:xfrm xmlns:a="http://schemas.openxmlformats.org/drawingml/2006/main">
            <a:off x="7204159" y="1352550"/>
            <a:ext cx="4298781"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15BE6336-E589-475A-A42F-56796C8C6DD0}"/>
              </a:ext>
            </a:extLst>
          </p:cNvPr>
          <p:cNvSpPr>
            <a:spLocks xmlns:a="http://schemas.openxmlformats.org/drawingml/2006/main" noGrp="1"/>
          </p:cNvSpPr>
          <p:nvPr/>
        </p:nvSpPr>
        <p:spPr>
          <a:xfrm xmlns:a="http://schemas.openxmlformats.org/drawingml/2006/main">
            <a:off x="7200900" y="3810000"/>
            <a:ext cx="4305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89744"/>
          </a:bodyPr>
          <a:lstStyle xmlns:a="http://schemas.openxmlformats.org/drawingml/2006/main"/>
          <a:p xmlns:a="http://schemas.openxmlformats.org/drawingml/2006/main">
            <a:pPr algn="l">
              <a:defRPr sz="975" b="1">
                <a:solidFill>
                  <a:srgbClr val="17342C"/>
                </a:solidFill>
                <a:latin typeface="Arial"/>
                <a:ea typeface="Arial"/>
                <a:cs typeface="Arial"/>
              </a:defRPr>
            </a:pPr>
            <a:r>
              <a:rPr sz="975" b="1">
                <a:solidFill>
                  <a:srgbClr val="17342C"/>
                </a:solidFill>
                <a:latin typeface="Arial"/>
                <a:ea typeface="Arial"/>
                <a:cs typeface="Arial"/>
              </a:rPr>
              <a:t>Background removal succeeds only when the subject edge still looks believable in its new context.</a:t>
            </a:r>
          </a:p>
        </p:txBody>
      </p:sp>
      <p:sp>
        <p:nvSpPr>
          <p:cNvPr id="14" name="">
            <a:extLst xmlns:a="http://schemas.openxmlformats.org/drawingml/2006/main">
              <a:ext uri="{FF2B5EF4-FFF2-40B4-BE49-F238E27FC236}">
                <a16:creationId xmlns:a16="http://schemas.microsoft.com/office/drawing/2014/main" id="{63618BC4-4D4F-463A-8707-B8E4E75F7ECA}"/>
              </a:ext>
            </a:extLst>
          </p:cNvPr>
          <p:cNvSpPr>
            <a:spLocks xmlns:a="http://schemas.openxmlformats.org/drawingml/2006/main" noGrp="1"/>
          </p:cNvSpPr>
          <p:nvPr/>
        </p:nvSpPr>
        <p:spPr>
          <a:xfrm xmlns:a="http://schemas.openxmlformats.org/drawingml/2006/main">
            <a:off x="7200900" y="4133850"/>
            <a:ext cx="4305300" cy="400050"/>
          </a:xfrm>
          <a:prstGeom xmlns:a="http://schemas.openxmlformats.org/drawingml/2006/main" prst="roundRect">
            <a:avLst>
              <a:gd name="adj" fmla="val 19048"/>
            </a:avLst>
          </a:prstGeom>
          <a:solidFill xmlns:a="http://schemas.openxmlformats.org/drawingml/2006/main">
            <a:srgbClr val="FCF4D8"/>
          </a:solidFill>
          <a:ln xmlns:a="http://schemas.openxmlformats.org/drawingml/2006/main" w="0">
            <a:noFill/>
            <a:prstDash val="solid"/>
          </a:ln>
        </p:spPr>
        <p:txBody>
          <a:bodyPr xmlns:a="http://schemas.openxmlformats.org/drawingml/2006/main" lIns="85725" tIns="47625" rIns="85725" bIns="47625" anchor="ctr">
            <a:normAutofit fontScale="87544"/>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Notice: Inspect fine edges, shadows and colour spill before accepting the cut-out.</a:t>
            </a:r>
          </a:p>
        </p:txBody>
      </p:sp>
      <p:sp>
        <p:nvSpPr>
          <p:cNvPr id="15" name="">
            <a:extLst xmlns:a="http://schemas.openxmlformats.org/drawingml/2006/main">
              <a:ext uri="{FF2B5EF4-FFF2-40B4-BE49-F238E27FC236}">
                <a16:creationId xmlns:a16="http://schemas.microsoft.com/office/drawing/2014/main" id="{C3FAA1D7-8BB8-4CB5-AF8D-BC07292DE8CF}"/>
              </a:ext>
            </a:extLst>
          </p:cNvPr>
          <p:cNvSpPr>
            <a:spLocks xmlns:a="http://schemas.openxmlformats.org/drawingml/2006/main" noGrp="1"/>
          </p:cNvSpPr>
          <p:nvPr/>
        </p:nvSpPr>
        <p:spPr>
          <a:xfrm xmlns:a="http://schemas.openxmlformats.org/drawingml/2006/main">
            <a:off x="7200900" y="4610100"/>
            <a:ext cx="1123950" cy="628650"/>
          </a:xfrm>
          <a:prstGeom xmlns:a="http://schemas.openxmlformats.org/drawingml/2006/main" prst="roundRect">
            <a:avLst>
              <a:gd name="adj" fmla="val 18182"/>
            </a:avLst>
          </a:prstGeom>
          <a:solidFill xmlns:a="http://schemas.openxmlformats.org/drawingml/2006/main">
            <a:srgbClr val="0C5554"/>
          </a:solidFill>
          <a:ln xmlns:a="http://schemas.openxmlformats.org/drawingml/2006/main" w="9525">
            <a:solidFill>
              <a:srgbClr val="CFD8D2"/>
            </a:solidFill>
            <a:prstDash val="solid"/>
          </a:ln>
        </p:spPr>
      </p:sp>
      <p:pic>
        <p:nvPicPr>
          <p:cNvPr id="38" name="Drive video poster — Create a poster in Canva.mp4" title="Drive video poster — Create a poster in Canva.mp4" descr="Custom privacy-safe poster for Create a poster in Canva.mp4, duration 7:54. Ctrl+click the poster to open the authorised Drive video.">
            <a:hlinkClick xmlns:a="http://schemas.openxmlformats.org/drawingml/2006/main" xmlns:r="http://schemas.openxmlformats.org/officeDocument/2006/relationships" r:id="RStage07Hyperlink4_2"/>
          </p:cNvPr>
          <p:cNvPicPr>
            <a:picLocks xmlns:a="http://schemas.openxmlformats.org/drawingml/2006/main" noChangeAspect="1"/>
          </p:cNvPicPr>
          <p:nvPr/>
        </p:nvPicPr>
        <p:blipFill>
          <a:blip xmlns:r="http://schemas.openxmlformats.org/officeDocument/2006/relationships" xmlns:a="http://schemas.openxmlformats.org/drawingml/2006/main" r:embed="R84c7f3bb4b494a21"/>
          <a:stretch xmlns:a="http://schemas.openxmlformats.org/drawingml/2006/main"/>
        </p:blipFill>
        <p:spPr>
          <a:xfrm xmlns:a="http://schemas.openxmlformats.org/drawingml/2006/main">
            <a:off x="7204351" y="4610100"/>
            <a:ext cx="1117048" cy="628650"/>
          </a:xfrm>
          <a:prstGeom xmlns:a="http://schemas.openxmlformats.org/drawingml/2006/main" prst="roundRect">
            <a:avLst>
              <a:gd name="adj" fmla="val 18182"/>
            </a:avLst>
          </a:prstGeom>
        </p:spPr>
      </p:pic>
      <p:sp>
        <p:nvSpPr>
          <p:cNvPr id="17" name="">
            <a:extLst xmlns:a="http://schemas.openxmlformats.org/drawingml/2006/main">
              <a:ext uri="{FF2B5EF4-FFF2-40B4-BE49-F238E27FC236}">
                <a16:creationId xmlns:a16="http://schemas.microsoft.com/office/drawing/2014/main" id="{437A7E8B-CA00-45D6-9F42-970FC27B3F98}"/>
              </a:ext>
            </a:extLst>
          </p:cNvPr>
          <p:cNvSpPr>
            <a:spLocks xmlns:a="http://schemas.openxmlformats.org/drawingml/2006/main" noGrp="1"/>
          </p:cNvSpPr>
          <p:nvPr/>
        </p:nvSpPr>
        <p:spPr>
          <a:xfrm xmlns:a="http://schemas.openxmlformats.org/drawingml/2006/main">
            <a:off x="8439150" y="4610100"/>
            <a:ext cx="3067050" cy="247650"/>
          </a:xfrm>
          <a:prstGeom xmlns:a="http://schemas.openxmlformats.org/drawingml/2006/main" prst="roundRect">
            <a:avLst>
              <a:gd name="adj" fmla="val 30769"/>
            </a:avLst>
          </a:prstGeom>
          <a:solidFill xmlns:a="http://schemas.openxmlformats.org/drawingml/2006/main">
            <a:srgbClr val="FCF4D8"/>
          </a:solidFill>
          <a:ln xmlns:a="http://schemas.openxmlformats.org/drawingml/2006/main" w="0">
            <a:noFill/>
            <a:prstDash val="solid"/>
          </a:ln>
        </p:spPr>
        <p:txBody>
          <a:bodyPr xmlns:a="http://schemas.openxmlformats.org/drawingml/2006/main" lIns="57150" tIns="28575" rIns="57150" bIns="28575" anchor="ctr">
            <a:normAutofit fontScale="100000"/>
          </a:bodyPr>
          <a:lstStyle xmlns:a="http://schemas.openxmlformats.org/drawingml/2006/main"/>
          <a:p xmlns:a="http://schemas.openxmlformats.org/drawingml/2006/main">
            <a:pPr algn="ctr">
              <a:defRPr sz="825" b="1">
                <a:solidFill>
                  <a:srgbClr val="0C5554"/>
                </a:solidFill>
                <a:latin typeface="Arial"/>
                <a:ea typeface="Arial"/>
                <a:cs typeface="Arial"/>
              </a:defRPr>
            </a:pPr>
            <a:r>
              <a:rPr sz="825" b="1">
                <a:solidFill>
                  <a:srgbClr val="0C5554"/>
                </a:solidFill>
                <a:latin typeface="Arial"/>
                <a:ea typeface="Arial"/>
                <a:cs typeface="Arial"/>
              </a:rPr>
              <a:t>TEACHER: CTRL+CLICK POSTER TO OPEN DRIVE  •  7:54</a:t>
            </a:r>
          </a:p>
        </p:txBody>
      </p:sp>
      <p:sp>
        <p:nvSpPr>
          <p:cNvPr id="18" name="">
            <a:extLst xmlns:a="http://schemas.openxmlformats.org/drawingml/2006/main">
              <a:ext uri="{FF2B5EF4-FFF2-40B4-BE49-F238E27FC236}">
                <a16:creationId xmlns:a16="http://schemas.microsoft.com/office/drawing/2014/main" id="{CF75E299-0DC7-4FA1-B2A0-F098105398D2}"/>
              </a:ext>
            </a:extLst>
          </p:cNvPr>
          <p:cNvSpPr>
            <a:spLocks xmlns:a="http://schemas.openxmlformats.org/drawingml/2006/main" noGrp="1"/>
          </p:cNvSpPr>
          <p:nvPr/>
        </p:nvSpPr>
        <p:spPr>
          <a:xfrm xmlns:a="http://schemas.openxmlformats.org/drawingml/2006/main">
            <a:off x="8439150" y="4895850"/>
            <a:ext cx="3067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6687"/>
          </a:bodyPr>
          <a:lstStyle xmlns:a="http://schemas.openxmlformats.org/drawingml/2006/main"/>
          <a:p xmlns:a="http://schemas.openxmlformats.org/drawingml/2006/main">
            <a:pPr algn="l">
              <a:defRPr sz="900" b="1">
                <a:solidFill>
                  <a:srgbClr val="17342C"/>
                </a:solidFill>
                <a:latin typeface="Arial"/>
                <a:ea typeface="Arial"/>
                <a:cs typeface="Arial"/>
              </a:defRPr>
            </a:pPr>
            <a:r>
              <a:rPr sz="900" b="1">
                <a:solidFill>
                  <a:srgbClr val="17342C"/>
                </a:solidFill>
                <a:latin typeface="Arial"/>
                <a:ea typeface="Arial"/>
                <a:cs typeface="Arial"/>
              </a:rPr>
              <a:t>WATCH FOR: Which step establishes the focal point, and where should the image edge be inspected before export?</a:t>
            </a:r>
          </a:p>
        </p:txBody>
      </p:sp>
      <p:sp>
        <p:nvSpPr>
          <p:cNvPr id="19" name="">
            <a:extLst xmlns:a="http://schemas.openxmlformats.org/drawingml/2006/main">
              <a:ext uri="{FF2B5EF4-FFF2-40B4-BE49-F238E27FC236}">
                <a16:creationId xmlns:a16="http://schemas.microsoft.com/office/drawing/2014/main" id="{0144A869-3320-445A-B5F3-B0FE17339AC1}"/>
              </a:ext>
            </a:extLst>
          </p:cNvPr>
          <p:cNvSpPr>
            <a:spLocks xmlns:a="http://schemas.openxmlformats.org/drawingml/2006/main" noGrp="1"/>
          </p:cNvSpPr>
          <p:nvPr/>
        </p:nvSpPr>
        <p:spPr>
          <a:xfrm xmlns:a="http://schemas.openxmlformats.org/drawingml/2006/main">
            <a:off x="7200900" y="53149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20" name="">
            <a:extLst xmlns:a="http://schemas.openxmlformats.org/drawingml/2006/main">
              <a:ext uri="{FF2B5EF4-FFF2-40B4-BE49-F238E27FC236}">
                <a16:creationId xmlns:a16="http://schemas.microsoft.com/office/drawing/2014/main" id="{A54C0053-26BB-4262-ABBF-961ACCDCEC27}"/>
              </a:ext>
            </a:extLst>
          </p:cNvPr>
          <p:cNvSpPr>
            <a:spLocks xmlns:a="http://schemas.openxmlformats.org/drawingml/2006/main" noGrp="1"/>
          </p:cNvSpPr>
          <p:nvPr/>
        </p:nvSpPr>
        <p:spPr>
          <a:xfrm xmlns:a="http://schemas.openxmlformats.org/drawingml/2006/main">
            <a:off x="7200900" y="5524500"/>
            <a:ext cx="4305300" cy="666750"/>
          </a:xfrm>
          <a:prstGeom xmlns:a="http://schemas.openxmlformats.org/drawingml/2006/main" prst="roundRect">
            <a:avLst>
              <a:gd name="adj" fmla="val 11429"/>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Which check belongs before using an image?</a:t>
            </a:r>
          </a:p>
        </p:txBody>
      </p:sp>
      <p:sp>
        <p:nvSpPr>
          <p:cNvPr id="21" name="">
            <a:extLst xmlns:a="http://schemas.openxmlformats.org/drawingml/2006/main">
              <a:ext uri="{FF2B5EF4-FFF2-40B4-BE49-F238E27FC236}">
                <a16:creationId xmlns:a16="http://schemas.microsoft.com/office/drawing/2014/main" id="{08D83C2C-1A90-403E-99CA-6C3D594E8DD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05  •  PROMOTIONAL POSTER</a:t>
            </a:r>
          </a:p>
        </p:txBody>
      </p:sp>
      <p:sp>
        <p:nvSpPr>
          <p:cNvPr id="22" name="">
            <a:extLst xmlns:a="http://schemas.openxmlformats.org/drawingml/2006/main">
              <a:ext uri="{FF2B5EF4-FFF2-40B4-BE49-F238E27FC236}">
                <a16:creationId xmlns:a16="http://schemas.microsoft.com/office/drawing/2014/main" id="{C3B7ACE4-B755-4889-A70A-732C0135F0B0}"/>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04</a:t>
            </a:r>
          </a:p>
        </p:txBody>
      </p:sp>
    </p:spTree>
    <p:extLst>
      <p:ext uri="{BB962C8B-B14F-4D97-AF65-F5344CB8AC3E}">
        <p14:creationId xmlns:p14="http://schemas.microsoft.com/office/powerpoint/2010/main" val="830842467"/>
      </p:ext>
    </p:extLst>
  </p:cSld>
</p:sld>
</file>

<file path=ppt/slides/slide5.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851F4C2-0281-40EE-B728-8CF0B1022501}"/>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84823EB-7DD4-4C36-9942-DBC6B7D4FF2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5.3  CALLS TO ACTION AND MOCK-UPS</a:t>
            </a:r>
          </a:p>
        </p:txBody>
      </p:sp>
      <p:sp>
        <p:nvSpPr>
          <p:cNvPr id="3" name="">
            <a:extLst xmlns:a="http://schemas.openxmlformats.org/drawingml/2006/main">
              <a:ext uri="{FF2B5EF4-FFF2-40B4-BE49-F238E27FC236}">
                <a16:creationId xmlns:a16="http://schemas.microsoft.com/office/drawing/2014/main" id="{66F875F4-592D-4012-8379-ECBF0755D5F9}"/>
              </a:ext>
            </a:extLst>
          </p:cNvPr>
          <p:cNvSpPr>
            <a:spLocks xmlns:a="http://schemas.openxmlformats.org/drawingml/2006/main" noGrp="1"/>
          </p:cNvSpPr>
          <p:nvPr/>
        </p:nvSpPr>
        <p:spPr>
          <a:xfrm xmlns:a="http://schemas.openxmlformats.org/drawingml/2006/main">
            <a:off x="685800" y="800100"/>
            <a:ext cx="6953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75" b="1">
                <a:solidFill>
                  <a:srgbClr val="17342C"/>
                </a:solidFill>
                <a:latin typeface="Arial"/>
                <a:ea typeface="Arial"/>
                <a:cs typeface="Arial"/>
              </a:defRPr>
            </a:pPr>
            <a:r>
              <a:rPr sz="2775" b="1">
                <a:solidFill>
                  <a:srgbClr val="17342C"/>
                </a:solidFill>
                <a:latin typeface="Arial"/>
                <a:ea typeface="Arial"/>
                <a:cs typeface="Arial"/>
              </a:rPr>
              <a:t>Calls to action and mock-ups</a:t>
            </a:r>
          </a:p>
        </p:txBody>
      </p:sp>
      <p:sp>
        <p:nvSpPr>
          <p:cNvPr id="4" name="">
            <a:extLst xmlns:a="http://schemas.openxmlformats.org/drawingml/2006/main">
              <a:ext uri="{FF2B5EF4-FFF2-40B4-BE49-F238E27FC236}">
                <a16:creationId xmlns:a16="http://schemas.microsoft.com/office/drawing/2014/main" id="{2EFFAC5D-EB4F-4D71-BCA0-B4D6493615F7}"/>
              </a:ext>
            </a:extLst>
          </p:cNvPr>
          <p:cNvSpPr>
            <a:spLocks xmlns:a="http://schemas.openxmlformats.org/drawingml/2006/main" noGrp="1"/>
          </p:cNvSpPr>
          <p:nvPr/>
        </p:nvSpPr>
        <p:spPr>
          <a:xfrm xmlns:a="http://schemas.openxmlformats.org/drawingml/2006/main">
            <a:off x="685800" y="1743075"/>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THREE IDEAS TO PUT ON THE BOARD</a:t>
            </a:r>
          </a:p>
        </p:txBody>
      </p:sp>
      <p:sp>
        <p:nvSpPr>
          <p:cNvPr id="5" name="">
            <a:extLst xmlns:a="http://schemas.openxmlformats.org/drawingml/2006/main">
              <a:ext uri="{FF2B5EF4-FFF2-40B4-BE49-F238E27FC236}">
                <a16:creationId xmlns:a16="http://schemas.microsoft.com/office/drawing/2014/main" id="{D14EF362-A595-42ED-87D0-8DCB4122CF7F}"/>
              </a:ext>
            </a:extLst>
          </p:cNvPr>
          <p:cNvSpPr>
            <a:spLocks xmlns:a="http://schemas.openxmlformats.org/drawingml/2006/main" noGrp="1"/>
          </p:cNvSpPr>
          <p:nvPr/>
        </p:nvSpPr>
        <p:spPr>
          <a:xfrm xmlns:a="http://schemas.openxmlformats.org/drawingml/2006/main">
            <a:off x="781050" y="2276475"/>
            <a:ext cx="142875" cy="142875"/>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8301459-6420-43C4-9459-C170D8C0C786}"/>
              </a:ext>
            </a:extLst>
          </p:cNvPr>
          <p:cNvSpPr>
            <a:spLocks xmlns:a="http://schemas.openxmlformats.org/drawingml/2006/main" noGrp="1"/>
          </p:cNvSpPr>
          <p:nvPr/>
        </p:nvSpPr>
        <p:spPr>
          <a:xfrm xmlns:a="http://schemas.openxmlformats.org/drawingml/2006/main">
            <a:off x="1143000" y="220980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An action must be specific, visible and genuinely available.</a:t>
            </a:r>
          </a:p>
        </p:txBody>
      </p:sp>
      <p:sp>
        <p:nvSpPr>
          <p:cNvPr id="7" name="">
            <a:extLst xmlns:a="http://schemas.openxmlformats.org/drawingml/2006/main">
              <a:ext uri="{FF2B5EF4-FFF2-40B4-BE49-F238E27FC236}">
                <a16:creationId xmlns:a16="http://schemas.microsoft.com/office/drawing/2014/main" id="{2822728B-B373-460D-A02E-BCEE2112184D}"/>
              </a:ext>
            </a:extLst>
          </p:cNvPr>
          <p:cNvSpPr>
            <a:spLocks xmlns:a="http://schemas.openxmlformats.org/drawingml/2006/main" noGrp="1"/>
          </p:cNvSpPr>
          <p:nvPr/>
        </p:nvSpPr>
        <p:spPr>
          <a:xfrm xmlns:a="http://schemas.openxmlformats.org/drawingml/2006/main">
            <a:off x="781050" y="3181350"/>
            <a:ext cx="142875" cy="142875"/>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089DD37-9249-4D55-A539-53B9D23BC88C}"/>
              </a:ext>
            </a:extLst>
          </p:cNvPr>
          <p:cNvSpPr>
            <a:spLocks xmlns:a="http://schemas.openxmlformats.org/drawingml/2006/main" noGrp="1"/>
          </p:cNvSpPr>
          <p:nvPr/>
        </p:nvSpPr>
        <p:spPr>
          <a:xfrm xmlns:a="http://schemas.openxmlformats.org/drawingml/2006/main">
            <a:off x="1143000" y="3114675"/>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Mock-ups test context rather than prove real installation.</a:t>
            </a:r>
          </a:p>
        </p:txBody>
      </p:sp>
      <p:sp>
        <p:nvSpPr>
          <p:cNvPr id="9" name="">
            <a:extLst xmlns:a="http://schemas.openxmlformats.org/drawingml/2006/main">
              <a:ext uri="{FF2B5EF4-FFF2-40B4-BE49-F238E27FC236}">
                <a16:creationId xmlns:a16="http://schemas.microsoft.com/office/drawing/2014/main" id="{6AB99A33-40F4-40D8-8A11-33280406B32F}"/>
              </a:ext>
            </a:extLst>
          </p:cNvPr>
          <p:cNvSpPr>
            <a:spLocks xmlns:a="http://schemas.openxmlformats.org/drawingml/2006/main" noGrp="1"/>
          </p:cNvSpPr>
          <p:nvPr/>
        </p:nvSpPr>
        <p:spPr>
          <a:xfrm xmlns:a="http://schemas.openxmlformats.org/drawingml/2006/main">
            <a:off x="781050" y="4086225"/>
            <a:ext cx="142875" cy="142875"/>
          </a:xfrm>
          <a:prstGeom xmlns:a="http://schemas.openxmlformats.org/drawingml/2006/main" prst="ellipse">
            <a:avLst/>
          </a:prstGeom>
          <a:solidFill xmlns:a="http://schemas.openxmlformats.org/drawingml/2006/main">
            <a:srgbClr val="17756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130AD2-C062-4A27-A49E-1A5C8F43867D}"/>
              </a:ext>
            </a:extLst>
          </p:cNvPr>
          <p:cNvSpPr>
            <a:spLocks xmlns:a="http://schemas.openxmlformats.org/drawingml/2006/main" noGrp="1"/>
          </p:cNvSpPr>
          <p:nvPr/>
        </p:nvSpPr>
        <p:spPr>
          <a:xfrm xmlns:a="http://schemas.openxmlformats.org/drawingml/2006/main">
            <a:off x="1143000" y="4019550"/>
            <a:ext cx="5476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0">
                <a:solidFill>
                  <a:srgbClr val="17342C"/>
                </a:solidFill>
                <a:latin typeface="Arial"/>
                <a:ea typeface="Arial"/>
                <a:cs typeface="Arial"/>
              </a:defRPr>
            </a:pPr>
            <a:r>
              <a:rPr sz="1500" b="0">
                <a:solidFill>
                  <a:srgbClr val="17342C"/>
                </a:solidFill>
                <a:latin typeface="Arial"/>
                <a:ea typeface="Arial"/>
                <a:cs typeface="Arial"/>
              </a:rPr>
              <a:t>Keep the complete flat artwork alongside context views.</a:t>
            </a:r>
          </a:p>
        </p:txBody>
      </p:sp>
      <p:sp>
        <p:nvSpPr>
          <p:cNvPr id="11" name="">
            <a:extLst xmlns:a="http://schemas.openxmlformats.org/drawingml/2006/main">
              <a:ext uri="{FF2B5EF4-FFF2-40B4-BE49-F238E27FC236}">
                <a16:creationId xmlns:a16="http://schemas.microsoft.com/office/drawing/2014/main" id="{CC707750-CBF5-497D-997C-DA58020CAB38}"/>
              </a:ext>
            </a:extLst>
          </p:cNvPr>
          <p:cNvSpPr>
            <a:spLocks xmlns:a="http://schemas.openxmlformats.org/drawingml/2006/main" noGrp="1"/>
          </p:cNvSpPr>
          <p:nvPr/>
        </p:nvSpPr>
        <p:spPr>
          <a:xfrm xmlns:a="http://schemas.openxmlformats.org/drawingml/2006/main">
            <a:off x="7200900" y="1352550"/>
            <a:ext cx="4305300" cy="2419350"/>
          </a:xfrm>
          <a:prstGeom xmlns:a="http://schemas.openxmlformats.org/drawingml/2006/main" prst="roundRect">
            <a:avLst>
              <a:gd name="adj" fmla="val 4724"/>
            </a:avLst>
          </a:prstGeom>
          <a:solidFill xmlns:a="http://schemas.openxmlformats.org/drawingml/2006/main">
            <a:srgbClr val="FFFFFF"/>
          </a:solidFill>
          <a:ln xmlns:a="http://schemas.openxmlformats.org/drawingml/2006/main" w="9525">
            <a:solidFill>
              <a:srgbClr val="CFD8D2"/>
            </a:solidFill>
            <a:prstDash val="solid"/>
          </a:ln>
        </p:spPr>
      </p:sp>
      <p:pic>
        <p:nvPicPr>
          <p:cNvPr id="30" name="Poster Table Mockup Source" title="Poster Table Mockup Source" descr="Korean Burger poster printed as a standing tabletop display against a warm brown wall with leaves and a rock nearby."/>
          <p:cNvPicPr>
            <a:picLocks xmlns:a="http://schemas.openxmlformats.org/drawingml/2006/main" noChangeAspect="1"/>
          </p:cNvPicPr>
          <p:nvPr/>
        </p:nvPicPr>
        <p:blipFill>
          <a:blip xmlns:r="http://schemas.openxmlformats.org/officeDocument/2006/relationships" xmlns:a="http://schemas.openxmlformats.org/drawingml/2006/main" r:embed="R84f088795fa1453c"/>
          <a:srcRect xmlns:a="http://schemas.openxmlformats.org/drawingml/2006/main" l="0" t="30135" r="0" b="30135"/>
          <a:stretch xmlns:a="http://schemas.openxmlformats.org/drawingml/2006/main">
            <a:fillRect l="0" t="0" r="0" b="0"/>
          </a:stretch>
        </p:blipFill>
        <p:spPr>
          <a:xfrm xmlns:a="http://schemas.openxmlformats.org/drawingml/2006/main">
            <a:off x="7200900" y="1352550"/>
            <a:ext cx="4305300" cy="2419350"/>
          </a:xfrm>
          <a:prstGeom xmlns:a="http://schemas.openxmlformats.org/drawingml/2006/main" prst="roundRect">
            <a:avLst>
              <a:gd name="adj" fmla="val 4724"/>
            </a:avLst>
          </a:prstGeom>
        </p:spPr>
      </p:pic>
      <p:sp>
        <p:nvSpPr>
          <p:cNvPr id="13" name="">
            <a:extLst xmlns:a="http://schemas.openxmlformats.org/drawingml/2006/main">
              <a:ext uri="{FF2B5EF4-FFF2-40B4-BE49-F238E27FC236}">
                <a16:creationId xmlns:a16="http://schemas.microsoft.com/office/drawing/2014/main" id="{56D8C540-0E90-477B-AF0E-A2A818175B7C}"/>
              </a:ext>
            </a:extLst>
          </p:cNvPr>
          <p:cNvSpPr>
            <a:spLocks xmlns:a="http://schemas.openxmlformats.org/drawingml/2006/main" noGrp="1"/>
          </p:cNvSpPr>
          <p:nvPr/>
        </p:nvSpPr>
        <p:spPr>
          <a:xfrm xmlns:a="http://schemas.openxmlformats.org/drawingml/2006/main">
            <a:off x="7200900" y="3848100"/>
            <a:ext cx="4305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The supplied tabletop mock-up tests the same poster under perspective, distance and warm lighting.</a:t>
            </a:r>
          </a:p>
        </p:txBody>
      </p:sp>
      <p:sp>
        <p:nvSpPr>
          <p:cNvPr id="14" name="">
            <a:extLst xmlns:a="http://schemas.openxmlformats.org/drawingml/2006/main">
              <a:ext uri="{FF2B5EF4-FFF2-40B4-BE49-F238E27FC236}">
                <a16:creationId xmlns:a16="http://schemas.microsoft.com/office/drawing/2014/main" id="{F9E213B4-E7D6-4CEC-832F-728C6B7AE36A}"/>
              </a:ext>
            </a:extLst>
          </p:cNvPr>
          <p:cNvSpPr>
            <a:spLocks xmlns:a="http://schemas.openxmlformats.org/drawingml/2006/main" noGrp="1"/>
          </p:cNvSpPr>
          <p:nvPr/>
        </p:nvSpPr>
        <p:spPr>
          <a:xfrm xmlns:a="http://schemas.openxmlformats.org/drawingml/2006/main">
            <a:off x="7200900" y="4324350"/>
            <a:ext cx="4305300" cy="514350"/>
          </a:xfrm>
          <a:prstGeom xmlns:a="http://schemas.openxmlformats.org/drawingml/2006/main" prst="roundRect">
            <a:avLst>
              <a:gd name="adj" fmla="val 14815"/>
            </a:avLst>
          </a:prstGeom>
          <a:solidFill xmlns:a="http://schemas.openxmlformats.org/drawingml/2006/main">
            <a:srgbClr val="FCF4D8"/>
          </a:solidFill>
          <a:ln xmlns:a="http://schemas.openxmlformats.org/drawingml/2006/main" w="0">
            <a:noFill/>
            <a:prstDash val="solid"/>
          </a:ln>
        </p:spPr>
        <p:txBody>
          <a:bodyPr xmlns:a="http://schemas.openxmlformats.org/drawingml/2006/main" lIns="95250" tIns="57150" rIns="95250" bIns="57150" anchor="ctr">
            <a:normAutofit fontScale="100000"/>
          </a:bodyPr>
          <a:lstStyle xmlns:a="http://schemas.openxmlformats.org/drawingml/2006/main"/>
          <a:p xmlns:a="http://schemas.openxmlformats.org/drawingml/2006/main">
            <a:pPr algn="l">
              <a:defRPr sz="1050" b="1">
                <a:solidFill>
                  <a:srgbClr val="0C5554"/>
                </a:solidFill>
                <a:latin typeface="Arial"/>
                <a:ea typeface="Arial"/>
                <a:cs typeface="Arial"/>
              </a:defRPr>
            </a:pPr>
            <a:r>
              <a:rPr sz="1050" b="1">
                <a:solidFill>
                  <a:srgbClr val="0C5554"/>
                </a:solidFill>
                <a:latin typeface="Arial"/>
                <a:ea typeface="Arial"/>
                <a:cs typeface="Arial"/>
              </a:rPr>
              <a:t>Notice: Compared with the flat poster, which small details are now harder to read?</a:t>
            </a:r>
          </a:p>
        </p:txBody>
      </p:sp>
      <p:sp>
        <p:nvSpPr>
          <p:cNvPr id="15" name="">
            <a:extLst xmlns:a="http://schemas.openxmlformats.org/drawingml/2006/main">
              <a:ext uri="{FF2B5EF4-FFF2-40B4-BE49-F238E27FC236}">
                <a16:creationId xmlns:a16="http://schemas.microsoft.com/office/drawing/2014/main" id="{0EB2AF4C-FD26-4F85-8C83-9383D1616F93}"/>
              </a:ext>
            </a:extLst>
          </p:cNvPr>
          <p:cNvSpPr>
            <a:spLocks xmlns:a="http://schemas.openxmlformats.org/drawingml/2006/main" noGrp="1"/>
          </p:cNvSpPr>
          <p:nvPr/>
        </p:nvSpPr>
        <p:spPr>
          <a:xfrm xmlns:a="http://schemas.openxmlformats.org/drawingml/2006/main">
            <a:off x="7200900" y="5048250"/>
            <a:ext cx="2000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0C5554"/>
                </a:solidFill>
                <a:latin typeface="Arial"/>
                <a:ea typeface="Arial"/>
                <a:cs typeface="Arial"/>
              </a:defRPr>
            </a:pPr>
            <a:r>
              <a:rPr sz="975" b="1">
                <a:solidFill>
                  <a:srgbClr val="0C5554"/>
                </a:solidFill>
                <a:latin typeface="Arial"/>
                <a:ea typeface="Arial"/>
                <a:cs typeface="Arial"/>
              </a:rPr>
              <a:t>ASK THE ROOM</a:t>
            </a:r>
          </a:p>
        </p:txBody>
      </p:sp>
      <p:sp>
        <p:nvSpPr>
          <p:cNvPr id="16" name="">
            <a:extLst xmlns:a="http://schemas.openxmlformats.org/drawingml/2006/main">
              <a:ext uri="{FF2B5EF4-FFF2-40B4-BE49-F238E27FC236}">
                <a16:creationId xmlns:a16="http://schemas.microsoft.com/office/drawing/2014/main" id="{38C4AD2E-2B2A-41D9-A07A-5E3FB5A1789D}"/>
              </a:ext>
            </a:extLst>
          </p:cNvPr>
          <p:cNvSpPr>
            <a:spLocks xmlns:a="http://schemas.openxmlformats.org/drawingml/2006/main" noGrp="1"/>
          </p:cNvSpPr>
          <p:nvPr/>
        </p:nvSpPr>
        <p:spPr>
          <a:xfrm xmlns:a="http://schemas.openxmlformats.org/drawingml/2006/main">
            <a:off x="7200900" y="5257800"/>
            <a:ext cx="4305300" cy="914400"/>
          </a:xfrm>
          <a:prstGeom xmlns:a="http://schemas.openxmlformats.org/drawingml/2006/main" prst="roundRect">
            <a:avLst>
              <a:gd name="adj" fmla="val 8333"/>
            </a:avLst>
          </a:prstGeom>
          <a:solidFill xmlns:a="http://schemas.openxmlformats.org/drawingml/2006/main">
            <a:srgbClr val="E7F0EC"/>
          </a:solidFill>
          <a:ln xmlns:a="http://schemas.openxmlformats.org/drawingml/2006/main" w="0">
            <a:noFill/>
            <a:prstDash val="solid"/>
          </a:ln>
        </p:spPr>
        <p:txBody>
          <a:bodyPr xmlns:a="http://schemas.openxmlformats.org/drawingml/2006/main" lIns="133350" tIns="76200" rIns="133350" bIns="76200" anchor="ctr">
            <a:normAutofit fontScale="100000"/>
          </a:bodyPr>
          <a:lstStyle xmlns:a="http://schemas.openxmlformats.org/drawingml/2006/main"/>
          <a:p xmlns:a="http://schemas.openxmlformats.org/drawingml/2006/main">
            <a:pPr algn="l">
              <a:defRPr sz="1275" b="1">
                <a:solidFill>
                  <a:srgbClr val="17342C"/>
                </a:solidFill>
                <a:latin typeface="Arial"/>
                <a:ea typeface="Arial"/>
                <a:cs typeface="Arial"/>
              </a:defRPr>
            </a:pPr>
            <a:r>
              <a:rPr sz="1275" b="1">
                <a:solidFill>
                  <a:srgbClr val="17342C"/>
                </a:solidFill>
                <a:latin typeface="Arial"/>
                <a:ea typeface="Arial"/>
                <a:cs typeface="Arial"/>
              </a:rPr>
              <a:t>What is the purpose of a call to action?</a:t>
            </a:r>
          </a:p>
        </p:txBody>
      </p:sp>
      <p:sp>
        <p:nvSpPr>
          <p:cNvPr id="17" name="">
            <a:extLst xmlns:a="http://schemas.openxmlformats.org/drawingml/2006/main">
              <a:ext uri="{FF2B5EF4-FFF2-40B4-BE49-F238E27FC236}">
                <a16:creationId xmlns:a16="http://schemas.microsoft.com/office/drawing/2014/main" id="{0D8FF973-C995-49DE-B3BD-626C04551783}"/>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05  •  PROMOTIONAL POSTER</a:t>
            </a:r>
          </a:p>
        </p:txBody>
      </p:sp>
      <p:sp>
        <p:nvSpPr>
          <p:cNvPr id="18" name="">
            <a:extLst xmlns:a="http://schemas.openxmlformats.org/drawingml/2006/main">
              <a:ext uri="{FF2B5EF4-FFF2-40B4-BE49-F238E27FC236}">
                <a16:creationId xmlns:a16="http://schemas.microsoft.com/office/drawing/2014/main" id="{5B462937-6CB8-4566-B322-B5E56C763B3A}"/>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05</a:t>
            </a:r>
          </a:p>
        </p:txBody>
      </p:sp>
    </p:spTree>
    <p:extLst>
      <p:ext uri="{BB962C8B-B14F-4D97-AF65-F5344CB8AC3E}">
        <p14:creationId xmlns:p14="http://schemas.microsoft.com/office/powerpoint/2010/main" val="79084517"/>
      </p:ext>
    </p:extLst>
  </p:cSld>
</p:sld>
</file>

<file path=ppt/slides/slide6.xml><?xml version="1.0" encoding="utf-8"?>
<p:sld xmlns:p="http://schemas.openxmlformats.org/presentationml/2006/main">
  <p:cSld>
    <p:bg>
      <p:bgPr>
        <a:solidFill xmlns:a="http://schemas.openxmlformats.org/drawingml/2006/main">
          <a:srgbClr val="17342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2B61DB7-2F86-45AC-BCB8-5DB308C15A03}"/>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6F2789-A155-40BB-B17E-B3E46345D98F}"/>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F2BD3C"/>
                </a:solidFill>
                <a:latin typeface="Arial"/>
                <a:ea typeface="Arial"/>
                <a:cs typeface="Arial"/>
              </a:defRPr>
            </a:pPr>
            <a:r>
              <a:rPr sz="975" b="1">
                <a:solidFill>
                  <a:srgbClr val="F2BD3C"/>
                </a:solidFill>
                <a:latin typeface="Arial"/>
                <a:ea typeface="Arial"/>
                <a:cs typeface="Arial"/>
              </a:rPr>
              <a:t>CHECK FOR UNDERSTANDING</a:t>
            </a:r>
          </a:p>
        </p:txBody>
      </p:sp>
      <p:sp>
        <p:nvSpPr>
          <p:cNvPr id="3" name="">
            <a:extLst xmlns:a="http://schemas.openxmlformats.org/drawingml/2006/main">
              <a:ext uri="{FF2B5EF4-FFF2-40B4-BE49-F238E27FC236}">
                <a16:creationId xmlns:a16="http://schemas.microsoft.com/office/drawing/2014/main" id="{FCC6C53C-C6AF-46EA-AEC4-50958C9C9516}"/>
              </a:ext>
            </a:extLst>
          </p:cNvPr>
          <p:cNvSpPr>
            <a:spLocks xmlns:a="http://schemas.openxmlformats.org/drawingml/2006/main" noGrp="1"/>
          </p:cNvSpPr>
          <p:nvPr/>
        </p:nvSpPr>
        <p:spPr>
          <a:xfrm xmlns:a="http://schemas.openxmlformats.org/drawingml/2006/main">
            <a:off x="685800" y="914400"/>
            <a:ext cx="685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075" b="1">
                <a:solidFill>
                  <a:srgbClr val="FFFFFF"/>
                </a:solidFill>
                <a:latin typeface="Arial"/>
                <a:ea typeface="Arial"/>
                <a:cs typeface="Arial"/>
              </a:defRPr>
            </a:pPr>
            <a:r>
              <a:rPr sz="3075" b="1">
                <a:solidFill>
                  <a:srgbClr val="FFFFFF"/>
                </a:solidFill>
                <a:latin typeface="Arial"/>
                <a:ea typeface="Arial"/>
                <a:cs typeface="Arial"/>
              </a:rPr>
              <a:t>Stop. Think. Explain.</a:t>
            </a:r>
          </a:p>
        </p:txBody>
      </p:sp>
      <p:sp>
        <p:nvSpPr>
          <p:cNvPr id="4" name="">
            <a:extLst xmlns:a="http://schemas.openxmlformats.org/drawingml/2006/main">
              <a:ext uri="{FF2B5EF4-FFF2-40B4-BE49-F238E27FC236}">
                <a16:creationId xmlns:a16="http://schemas.microsoft.com/office/drawing/2014/main" id="{9D1B7309-17E9-406B-B14F-8057E066FF74}"/>
              </a:ext>
            </a:extLst>
          </p:cNvPr>
          <p:cNvSpPr>
            <a:spLocks xmlns:a="http://schemas.openxmlformats.org/drawingml/2006/main" noGrp="1"/>
          </p:cNvSpPr>
          <p:nvPr/>
        </p:nvSpPr>
        <p:spPr>
          <a:xfrm xmlns:a="http://schemas.openxmlformats.org/drawingml/2006/main">
            <a:off x="685800" y="16573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DCE8E2"/>
                </a:solidFill>
                <a:latin typeface="Arial"/>
                <a:ea typeface="Arial"/>
                <a:cs typeface="Arial"/>
              </a:defRPr>
            </a:pPr>
            <a:r>
              <a:rPr sz="1425" b="0">
                <a:solidFill>
                  <a:srgbClr val="DCE8E2"/>
                </a:solidFill>
                <a:latin typeface="Arial"/>
                <a:ea typeface="Arial"/>
                <a:cs typeface="Arial"/>
              </a:rPr>
              <a:t>Answer silently first, then justify with a partner.</a:t>
            </a:r>
          </a:p>
        </p:txBody>
      </p:sp>
      <p:sp>
        <p:nvSpPr>
          <p:cNvPr id="5" name="">
            <a:extLst xmlns:a="http://schemas.openxmlformats.org/drawingml/2006/main">
              <a:ext uri="{FF2B5EF4-FFF2-40B4-BE49-F238E27FC236}">
                <a16:creationId xmlns:a16="http://schemas.microsoft.com/office/drawing/2014/main" id="{52B313AA-1783-43B8-A6CC-14A7BFB43DD6}"/>
              </a:ext>
            </a:extLst>
          </p:cNvPr>
          <p:cNvSpPr>
            <a:spLocks xmlns:a="http://schemas.openxmlformats.org/drawingml/2006/main" noGrp="1"/>
          </p:cNvSpPr>
          <p:nvPr/>
        </p:nvSpPr>
        <p:spPr>
          <a:xfrm xmlns:a="http://schemas.openxmlformats.org/drawingml/2006/main">
            <a:off x="685800" y="23241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6" name="">
            <a:extLst xmlns:a="http://schemas.openxmlformats.org/drawingml/2006/main">
              <a:ext uri="{FF2B5EF4-FFF2-40B4-BE49-F238E27FC236}">
                <a16:creationId xmlns:a16="http://schemas.microsoft.com/office/drawing/2014/main" id="{2015B381-86A1-4846-929E-1B55D7704EBE}"/>
              </a:ext>
            </a:extLst>
          </p:cNvPr>
          <p:cNvSpPr>
            <a:spLocks xmlns:a="http://schemas.openxmlformats.org/drawingml/2006/main" noGrp="1"/>
          </p:cNvSpPr>
          <p:nvPr/>
        </p:nvSpPr>
        <p:spPr>
          <a:xfrm xmlns:a="http://schemas.openxmlformats.org/drawingml/2006/main">
            <a:off x="1028700" y="25527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54A3E49F-5CA6-4538-A920-6D9C23D63257}"/>
              </a:ext>
            </a:extLst>
          </p:cNvPr>
          <p:cNvSpPr>
            <a:spLocks xmlns:a="http://schemas.openxmlformats.org/drawingml/2006/main" noGrp="1"/>
          </p:cNvSpPr>
          <p:nvPr/>
        </p:nvSpPr>
        <p:spPr>
          <a:xfrm xmlns:a="http://schemas.openxmlformats.org/drawingml/2006/main">
            <a:off x="1676400" y="24574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a focal point?</a:t>
            </a:r>
          </a:p>
        </p:txBody>
      </p:sp>
      <p:sp>
        <p:nvSpPr>
          <p:cNvPr id="8" name="">
            <a:extLst xmlns:a="http://schemas.openxmlformats.org/drawingml/2006/main">
              <a:ext uri="{FF2B5EF4-FFF2-40B4-BE49-F238E27FC236}">
                <a16:creationId xmlns:a16="http://schemas.microsoft.com/office/drawing/2014/main" id="{526C105F-6EFE-4633-B5D4-41AAD466E152}"/>
              </a:ext>
            </a:extLst>
          </p:cNvPr>
          <p:cNvSpPr>
            <a:spLocks xmlns:a="http://schemas.openxmlformats.org/drawingml/2006/main" noGrp="1"/>
          </p:cNvSpPr>
          <p:nvPr/>
        </p:nvSpPr>
        <p:spPr>
          <a:xfrm xmlns:a="http://schemas.openxmlformats.org/drawingml/2006/main">
            <a:off x="685800" y="352425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9" name="">
            <a:extLst xmlns:a="http://schemas.openxmlformats.org/drawingml/2006/main">
              <a:ext uri="{FF2B5EF4-FFF2-40B4-BE49-F238E27FC236}">
                <a16:creationId xmlns:a16="http://schemas.microsoft.com/office/drawing/2014/main" id="{1930B4A0-D4A2-4137-B80A-579285CEF015}"/>
              </a:ext>
            </a:extLst>
          </p:cNvPr>
          <p:cNvSpPr>
            <a:spLocks xmlns:a="http://schemas.openxmlformats.org/drawingml/2006/main" noGrp="1"/>
          </p:cNvSpPr>
          <p:nvPr/>
        </p:nvSpPr>
        <p:spPr>
          <a:xfrm xmlns:a="http://schemas.openxmlformats.org/drawingml/2006/main">
            <a:off x="1028700" y="37528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2</a:t>
            </a:r>
          </a:p>
        </p:txBody>
      </p:sp>
      <p:sp>
        <p:nvSpPr>
          <p:cNvPr id="10" name="">
            <a:extLst xmlns:a="http://schemas.openxmlformats.org/drawingml/2006/main">
              <a:ext uri="{FF2B5EF4-FFF2-40B4-BE49-F238E27FC236}">
                <a16:creationId xmlns:a16="http://schemas.microsoft.com/office/drawing/2014/main" id="{EE07540D-C75A-4A18-AB18-A92F9D3E2C23}"/>
              </a:ext>
            </a:extLst>
          </p:cNvPr>
          <p:cNvSpPr>
            <a:spLocks xmlns:a="http://schemas.openxmlformats.org/drawingml/2006/main" noGrp="1"/>
          </p:cNvSpPr>
          <p:nvPr/>
        </p:nvSpPr>
        <p:spPr>
          <a:xfrm xmlns:a="http://schemas.openxmlformats.org/drawingml/2006/main">
            <a:off x="1676400" y="365760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Which check belongs before using an image?</a:t>
            </a:r>
          </a:p>
        </p:txBody>
      </p:sp>
      <p:sp>
        <p:nvSpPr>
          <p:cNvPr id="11" name="">
            <a:extLst xmlns:a="http://schemas.openxmlformats.org/drawingml/2006/main">
              <a:ext uri="{FF2B5EF4-FFF2-40B4-BE49-F238E27FC236}">
                <a16:creationId xmlns:a16="http://schemas.microsoft.com/office/drawing/2014/main" id="{70B2D18F-1AD1-4468-A40A-C4B37896B472}"/>
              </a:ext>
            </a:extLst>
          </p:cNvPr>
          <p:cNvSpPr>
            <a:spLocks xmlns:a="http://schemas.openxmlformats.org/drawingml/2006/main" noGrp="1"/>
          </p:cNvSpPr>
          <p:nvPr/>
        </p:nvSpPr>
        <p:spPr>
          <a:xfrm xmlns:a="http://schemas.openxmlformats.org/drawingml/2006/main">
            <a:off x="685800" y="4724400"/>
            <a:ext cx="10820400" cy="895350"/>
          </a:xfrm>
          <a:prstGeom xmlns:a="http://schemas.openxmlformats.org/drawingml/2006/main" prst="roundRect">
            <a:avLst>
              <a:gd name="adj" fmla="val 12766"/>
            </a:avLst>
          </a:prstGeom>
          <a:solidFill xmlns:a="http://schemas.openxmlformats.org/drawingml/2006/main">
            <a:srgbClr val="21483A"/>
          </a:solidFill>
          <a:ln xmlns:a="http://schemas.openxmlformats.org/drawingml/2006/main" w="9525">
            <a:solidFill>
              <a:srgbClr val="4F7668"/>
            </a:solidFill>
            <a:prstDash val="solid"/>
          </a:ln>
        </p:spPr>
      </p:sp>
      <p:sp>
        <p:nvSpPr>
          <p:cNvPr id="12" name="">
            <a:extLst xmlns:a="http://schemas.openxmlformats.org/drawingml/2006/main">
              <a:ext uri="{FF2B5EF4-FFF2-40B4-BE49-F238E27FC236}">
                <a16:creationId xmlns:a16="http://schemas.microsoft.com/office/drawing/2014/main" id="{C6EFF44F-F7F9-4ABB-ABFA-461A41D9ECEB}"/>
              </a:ext>
            </a:extLst>
          </p:cNvPr>
          <p:cNvSpPr>
            <a:spLocks xmlns:a="http://schemas.openxmlformats.org/drawingml/2006/main" noGrp="1"/>
          </p:cNvSpPr>
          <p:nvPr/>
        </p:nvSpPr>
        <p:spPr>
          <a:xfrm xmlns:a="http://schemas.openxmlformats.org/drawingml/2006/main">
            <a:off x="1028700" y="49530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2BD3C"/>
                </a:solidFill>
                <a:latin typeface="Arial"/>
                <a:ea typeface="Arial"/>
                <a:cs typeface="Arial"/>
              </a:defRPr>
            </a:pPr>
            <a:r>
              <a:rPr sz="1575" b="1">
                <a:solidFill>
                  <a:srgbClr val="F2BD3C"/>
                </a:solidFill>
                <a:latin typeface="Arial"/>
                <a:ea typeface="Arial"/>
                <a:cs typeface="Arial"/>
              </a:rPr>
              <a:t>3</a:t>
            </a:r>
          </a:p>
        </p:txBody>
      </p:sp>
      <p:sp>
        <p:nvSpPr>
          <p:cNvPr id="13" name="">
            <a:extLst xmlns:a="http://schemas.openxmlformats.org/drawingml/2006/main">
              <a:ext uri="{FF2B5EF4-FFF2-40B4-BE49-F238E27FC236}">
                <a16:creationId xmlns:a16="http://schemas.microsoft.com/office/drawing/2014/main" id="{0D3991E1-7390-4374-999D-4EE0085B244E}"/>
              </a:ext>
            </a:extLst>
          </p:cNvPr>
          <p:cNvSpPr>
            <a:spLocks xmlns:a="http://schemas.openxmlformats.org/drawingml/2006/main" noGrp="1"/>
          </p:cNvSpPr>
          <p:nvPr/>
        </p:nvSpPr>
        <p:spPr>
          <a:xfrm xmlns:a="http://schemas.openxmlformats.org/drawingml/2006/main">
            <a:off x="1676400" y="4857750"/>
            <a:ext cx="9334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What is the purpose of a call to action?</a:t>
            </a:r>
          </a:p>
        </p:txBody>
      </p:sp>
      <p:sp>
        <p:nvSpPr>
          <p:cNvPr id="14" name="">
            <a:extLst xmlns:a="http://schemas.openxmlformats.org/drawingml/2006/main">
              <a:ext uri="{FF2B5EF4-FFF2-40B4-BE49-F238E27FC236}">
                <a16:creationId xmlns:a16="http://schemas.microsoft.com/office/drawing/2014/main" id="{D6B57C9A-F83D-439E-92C1-E5AE9AA0D3A2}"/>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05  •  PROMOTIONAL POSTER</a:t>
            </a:r>
          </a:p>
        </p:txBody>
      </p:sp>
      <p:sp>
        <p:nvSpPr>
          <p:cNvPr id="15" name="">
            <a:extLst xmlns:a="http://schemas.openxmlformats.org/drawingml/2006/main">
              <a:ext uri="{FF2B5EF4-FFF2-40B4-BE49-F238E27FC236}">
                <a16:creationId xmlns:a16="http://schemas.microsoft.com/office/drawing/2014/main" id="{38D5B344-E383-4367-A3B5-87BB89B83146}"/>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06</a:t>
            </a:r>
          </a:p>
        </p:txBody>
      </p:sp>
    </p:spTree>
    <p:extLst>
      <p:ext uri="{BB962C8B-B14F-4D97-AF65-F5344CB8AC3E}">
        <p14:creationId xmlns:p14="http://schemas.microsoft.com/office/powerpoint/2010/main" val="1450979269"/>
      </p:ext>
    </p:extLst>
  </p:cSld>
</p:sld>
</file>

<file path=ppt/slides/slide7.xml><?xml version="1.0" encoding="utf-8"?>
<p:sld xmlns:p="http://schemas.openxmlformats.org/presentationml/2006/main">
  <p:cSld>
    <p:bg>
      <p:bgPr>
        <a:solidFill xmlns:a="http://schemas.openxmlformats.org/drawingml/2006/main">
          <a:srgbClr val="F7F3E8"/>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7C28111-8759-4E51-9123-6CF2872135FA}"/>
              </a:ext>
            </a:extLst>
          </p:cNvPr>
          <p:cNvSpPr>
            <a:spLocks xmlns:a="http://schemas.openxmlformats.org/drawingml/2006/main" noGrp="1"/>
          </p:cNvSpPr>
          <p:nvPr/>
        </p:nvSpPr>
        <p:spPr>
          <a:xfrm xmlns:a="http://schemas.openxmlformats.org/drawingml/2006/main">
            <a:off x="685800" y="400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FORMATIVE LEARNING EVIDENCE</a:t>
            </a:r>
          </a:p>
        </p:txBody>
      </p:sp>
      <p:sp>
        <p:nvSpPr>
          <p:cNvPr id="2" name="">
            <a:extLst xmlns:a="http://schemas.openxmlformats.org/drawingml/2006/main">
              <a:ext uri="{FF2B5EF4-FFF2-40B4-BE49-F238E27FC236}">
                <a16:creationId xmlns:a16="http://schemas.microsoft.com/office/drawing/2014/main" id="{AEF3A735-C9F8-4F8F-B7C0-DD090170181F}"/>
              </a:ext>
            </a:extLst>
          </p:cNvPr>
          <p:cNvSpPr>
            <a:spLocks xmlns:a="http://schemas.openxmlformats.org/drawingml/2006/main" noGrp="1"/>
          </p:cNvSpPr>
          <p:nvPr/>
        </p:nvSpPr>
        <p:spPr>
          <a:xfrm xmlns:a="http://schemas.openxmlformats.org/drawingml/2006/main">
            <a:off x="685800" y="895350"/>
            <a:ext cx="9906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925" b="1">
                <a:solidFill>
                  <a:srgbClr val="17342C"/>
                </a:solidFill>
                <a:latin typeface="Arial"/>
                <a:ea typeface="Arial"/>
                <a:cs typeface="Arial"/>
              </a:defRPr>
            </a:pPr>
            <a:r>
              <a:rPr sz="2925" b="1">
                <a:solidFill>
                  <a:srgbClr val="17342C"/>
                </a:solidFill>
                <a:latin typeface="Arial"/>
                <a:ea typeface="Arial"/>
                <a:cs typeface="Arial"/>
              </a:rPr>
              <a:t>Read → Select → Explain → Check</a:t>
            </a:r>
          </a:p>
        </p:txBody>
      </p:sp>
      <p:sp>
        <p:nvSpPr>
          <p:cNvPr id="3" name="">
            <a:extLst xmlns:a="http://schemas.openxmlformats.org/drawingml/2006/main">
              <a:ext uri="{FF2B5EF4-FFF2-40B4-BE49-F238E27FC236}">
                <a16:creationId xmlns:a16="http://schemas.microsoft.com/office/drawing/2014/main" id="{92CF0271-8259-4953-9E66-2BD4E44B238A}"/>
              </a:ext>
            </a:extLst>
          </p:cNvPr>
          <p:cNvSpPr>
            <a:spLocks xmlns:a="http://schemas.openxmlformats.org/drawingml/2006/main" noGrp="1"/>
          </p:cNvSpPr>
          <p:nvPr/>
        </p:nvSpPr>
        <p:spPr>
          <a:xfrm xmlns:a="http://schemas.openxmlformats.org/drawingml/2006/main">
            <a:off x="685800" y="1752600"/>
            <a:ext cx="5905500" cy="2019300"/>
          </a:xfrm>
          <a:prstGeom xmlns:a="http://schemas.openxmlformats.org/drawingml/2006/main" prst="roundRect">
            <a:avLst>
              <a:gd name="adj" fmla="val 5660"/>
            </a:avLst>
          </a:prstGeom>
          <a:solidFill xmlns:a="http://schemas.openxmlformats.org/drawingml/2006/main">
            <a:srgbClr val="FFFFFF"/>
          </a:solidFill>
          <a:ln xmlns:a="http://schemas.openxmlformats.org/drawingml/2006/main" w="9525">
            <a:solidFill>
              <a:srgbClr val="CFD8D2"/>
            </a:solidFill>
            <a:prstDash val="solid"/>
          </a:ln>
        </p:spPr>
      </p:sp>
      <p:sp>
        <p:nvSpPr>
          <p:cNvPr id="4" name="">
            <a:extLst xmlns:a="http://schemas.openxmlformats.org/drawingml/2006/main">
              <a:ext uri="{FF2B5EF4-FFF2-40B4-BE49-F238E27FC236}">
                <a16:creationId xmlns:a16="http://schemas.microsoft.com/office/drawing/2014/main" id="{D783D4C1-4C03-4F3B-BBCB-384BA5C32CC0}"/>
              </a:ext>
            </a:extLst>
          </p:cNvPr>
          <p:cNvSpPr>
            <a:spLocks xmlns:a="http://schemas.openxmlformats.org/drawingml/2006/main" noGrp="1"/>
          </p:cNvSpPr>
          <p:nvPr/>
        </p:nvSpPr>
        <p:spPr>
          <a:xfrm xmlns:a="http://schemas.openxmlformats.org/drawingml/2006/main">
            <a:off x="6896100" y="1752600"/>
            <a:ext cx="4610100" cy="2019300"/>
          </a:xfrm>
          <a:prstGeom xmlns:a="http://schemas.openxmlformats.org/drawingml/2006/main" prst="roundRect">
            <a:avLst>
              <a:gd name="adj" fmla="val 5660"/>
            </a:avLst>
          </a:prstGeom>
          <a:solidFill xmlns:a="http://schemas.openxmlformats.org/drawingml/2006/main">
            <a:srgbClr val="E7F0EC"/>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92FE9C6-5431-47DC-966F-0F0F29F66A65}"/>
              </a:ext>
            </a:extLst>
          </p:cNvPr>
          <p:cNvSpPr>
            <a:spLocks xmlns:a="http://schemas.openxmlformats.org/drawingml/2006/main" noGrp="1"/>
          </p:cNvSpPr>
          <p:nvPr/>
        </p:nvSpPr>
        <p:spPr>
          <a:xfrm xmlns:a="http://schemas.openxmlformats.org/drawingml/2006/main">
            <a:off x="952500" y="18859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THE QUESTION</a:t>
            </a:r>
          </a:p>
        </p:txBody>
      </p:sp>
      <p:sp>
        <p:nvSpPr>
          <p:cNvPr id="6" name="">
            <a:extLst xmlns:a="http://schemas.openxmlformats.org/drawingml/2006/main">
              <a:ext uri="{FF2B5EF4-FFF2-40B4-BE49-F238E27FC236}">
                <a16:creationId xmlns:a16="http://schemas.microsoft.com/office/drawing/2014/main" id="{BDFE95C0-D987-4326-975A-5F5247DE7F84}"/>
              </a:ext>
            </a:extLst>
          </p:cNvPr>
          <p:cNvSpPr>
            <a:spLocks xmlns:a="http://schemas.openxmlformats.org/drawingml/2006/main" noGrp="1"/>
          </p:cNvSpPr>
          <p:nvPr/>
        </p:nvSpPr>
        <p:spPr>
          <a:xfrm xmlns:a="http://schemas.openxmlformats.org/drawingml/2006/main">
            <a:off x="952500" y="2266950"/>
            <a:ext cx="5238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7342C"/>
                </a:solidFill>
                <a:latin typeface="Arial"/>
                <a:ea typeface="Arial"/>
                <a:cs typeface="Arial"/>
              </a:defRPr>
            </a:pPr>
            <a:r>
              <a:rPr sz="1575" b="1">
                <a:solidFill>
                  <a:srgbClr val="17342C"/>
                </a:solidFill>
                <a:latin typeface="Arial"/>
                <a:ea typeface="Arial"/>
                <a:cs typeface="Arial"/>
              </a:rPr>
              <a:t>Plan a three-step poster path, justify one image-use decision and evaluate a truthful call to action in two mock-up contexts.</a:t>
            </a:r>
          </a:p>
        </p:txBody>
      </p:sp>
      <p:sp>
        <p:nvSpPr>
          <p:cNvPr id="7" name="">
            <a:extLst xmlns:a="http://schemas.openxmlformats.org/drawingml/2006/main">
              <a:ext uri="{FF2B5EF4-FFF2-40B4-BE49-F238E27FC236}">
                <a16:creationId xmlns:a16="http://schemas.microsoft.com/office/drawing/2014/main" id="{519609B1-E4FD-4167-9C26-0204A876E629}"/>
              </a:ext>
            </a:extLst>
          </p:cNvPr>
          <p:cNvSpPr>
            <a:spLocks xmlns:a="http://schemas.openxmlformats.org/drawingml/2006/main" noGrp="1"/>
          </p:cNvSpPr>
          <p:nvPr/>
        </p:nvSpPr>
        <p:spPr>
          <a:xfrm xmlns:a="http://schemas.openxmlformats.org/drawingml/2006/main">
            <a:off x="7181850" y="18859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75" b="1">
                <a:solidFill>
                  <a:srgbClr val="E8674B"/>
                </a:solidFill>
                <a:latin typeface="Arial"/>
                <a:ea typeface="Arial"/>
                <a:cs typeface="Arial"/>
              </a:defRPr>
            </a:pPr>
            <a:r>
              <a:rPr sz="975" b="1">
                <a:solidFill>
                  <a:srgbClr val="E8674B"/>
                </a:solidFill>
                <a:latin typeface="Arial"/>
                <a:ea typeface="Arial"/>
                <a:cs typeface="Arial"/>
              </a:rPr>
              <a:t>WHAT THIS IS ASKING</a:t>
            </a:r>
          </a:p>
        </p:txBody>
      </p:sp>
      <p:sp>
        <p:nvSpPr>
          <p:cNvPr id="8" name="">
            <a:extLst xmlns:a="http://schemas.openxmlformats.org/drawingml/2006/main">
              <a:ext uri="{FF2B5EF4-FFF2-40B4-BE49-F238E27FC236}">
                <a16:creationId xmlns:a16="http://schemas.microsoft.com/office/drawing/2014/main" id="{D3436D8F-8E6D-4CCB-B7A1-0A54940D5110}"/>
              </a:ext>
            </a:extLst>
          </p:cNvPr>
          <p:cNvSpPr>
            <a:spLocks xmlns:a="http://schemas.openxmlformats.org/drawingml/2006/main" noGrp="1"/>
          </p:cNvSpPr>
          <p:nvPr/>
        </p:nvSpPr>
        <p:spPr>
          <a:xfrm xmlns:a="http://schemas.openxmlformats.org/drawingml/2006/main">
            <a:off x="7219950" y="2324100"/>
            <a:ext cx="114300" cy="114300"/>
          </a:xfrm>
          <a:prstGeom xmlns:a="http://schemas.openxmlformats.org/drawingml/2006/main" prst="ellipse">
            <a:avLst/>
          </a:prstGeom>
          <a:solidFill xmlns:a="http://schemas.openxmlformats.org/drawingml/2006/main">
            <a:srgbClr val="0C555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A6C633A-2B2C-468B-BF82-0DC3D00DAE42}"/>
              </a:ext>
            </a:extLst>
          </p:cNvPr>
          <p:cNvSpPr>
            <a:spLocks xmlns:a="http://schemas.openxmlformats.org/drawingml/2006/main" noGrp="1"/>
          </p:cNvSpPr>
          <p:nvPr/>
        </p:nvSpPr>
        <p:spPr>
          <a:xfrm xmlns:a="http://schemas.openxmlformats.org/drawingml/2006/main">
            <a:off x="7524750" y="22288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Control the focal point</a:t>
            </a:r>
          </a:p>
        </p:txBody>
      </p:sp>
      <p:sp>
        <p:nvSpPr>
          <p:cNvPr id="10" name="">
            <a:extLst xmlns:a="http://schemas.openxmlformats.org/drawingml/2006/main">
              <a:ext uri="{FF2B5EF4-FFF2-40B4-BE49-F238E27FC236}">
                <a16:creationId xmlns:a16="http://schemas.microsoft.com/office/drawing/2014/main" id="{32CFCCA0-7288-49B7-A924-48AABF90A475}"/>
              </a:ext>
            </a:extLst>
          </p:cNvPr>
          <p:cNvSpPr>
            <a:spLocks xmlns:a="http://schemas.openxmlformats.org/drawingml/2006/main" noGrp="1"/>
          </p:cNvSpPr>
          <p:nvPr/>
        </p:nvSpPr>
        <p:spPr>
          <a:xfrm xmlns:a="http://schemas.openxmlformats.org/drawingml/2006/main">
            <a:off x="7219950" y="2771775"/>
            <a:ext cx="114300" cy="114300"/>
          </a:xfrm>
          <a:prstGeom xmlns:a="http://schemas.openxmlformats.org/drawingml/2006/main" prst="ellipse">
            <a:avLst/>
          </a:prstGeom>
          <a:solidFill xmlns:a="http://schemas.openxmlformats.org/drawingml/2006/main">
            <a:srgbClr val="E867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B7A5D6D-8A23-4D16-ADEE-56EC6AB02215}"/>
              </a:ext>
            </a:extLst>
          </p:cNvPr>
          <p:cNvSpPr>
            <a:spLocks xmlns:a="http://schemas.openxmlformats.org/drawingml/2006/main" noGrp="1"/>
          </p:cNvSpPr>
          <p:nvPr/>
        </p:nvSpPr>
        <p:spPr>
          <a:xfrm xmlns:a="http://schemas.openxmlformats.org/drawingml/2006/main">
            <a:off x="7524750" y="26765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Check source, privacy and edges</a:t>
            </a:r>
          </a:p>
        </p:txBody>
      </p:sp>
      <p:sp>
        <p:nvSpPr>
          <p:cNvPr id="12" name="">
            <a:extLst xmlns:a="http://schemas.openxmlformats.org/drawingml/2006/main">
              <a:ext uri="{FF2B5EF4-FFF2-40B4-BE49-F238E27FC236}">
                <a16:creationId xmlns:a16="http://schemas.microsoft.com/office/drawing/2014/main" id="{9D82E068-B334-4883-A288-2F094852157F}"/>
              </a:ext>
            </a:extLst>
          </p:cNvPr>
          <p:cNvSpPr>
            <a:spLocks xmlns:a="http://schemas.openxmlformats.org/drawingml/2006/main" noGrp="1"/>
          </p:cNvSpPr>
          <p:nvPr/>
        </p:nvSpPr>
        <p:spPr>
          <a:xfrm xmlns:a="http://schemas.openxmlformats.org/drawingml/2006/main">
            <a:off x="7219950" y="3219450"/>
            <a:ext cx="114300" cy="114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7F0E8AD-A71A-4C45-B7B8-4D6FDB96B3D3}"/>
              </a:ext>
            </a:extLst>
          </p:cNvPr>
          <p:cNvSpPr>
            <a:spLocks xmlns:a="http://schemas.openxmlformats.org/drawingml/2006/main" noGrp="1"/>
          </p:cNvSpPr>
          <p:nvPr/>
        </p:nvSpPr>
        <p:spPr>
          <a:xfrm xmlns:a="http://schemas.openxmlformats.org/drawingml/2006/main">
            <a:off x="7524750" y="31242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7342C"/>
                </a:solidFill>
                <a:latin typeface="Arial"/>
                <a:ea typeface="Arial"/>
                <a:cs typeface="Arial"/>
              </a:defRPr>
            </a:pPr>
            <a:r>
              <a:rPr sz="1350" b="1">
                <a:solidFill>
                  <a:srgbClr val="17342C"/>
                </a:solidFill>
                <a:latin typeface="Arial"/>
                <a:ea typeface="Arial"/>
                <a:cs typeface="Arial"/>
              </a:rPr>
              <a:t>Treat mock-ups as tests</a:t>
            </a:r>
          </a:p>
        </p:txBody>
      </p:sp>
      <p:sp>
        <p:nvSpPr>
          <p:cNvPr id="14" name="">
            <a:extLst xmlns:a="http://schemas.openxmlformats.org/drawingml/2006/main">
              <a:ext uri="{FF2B5EF4-FFF2-40B4-BE49-F238E27FC236}">
                <a16:creationId xmlns:a16="http://schemas.microsoft.com/office/drawing/2014/main" id="{4D95D6A9-0FB7-4F04-B064-8FFF16ECBF5F}"/>
              </a:ext>
            </a:extLst>
          </p:cNvPr>
          <p:cNvSpPr>
            <a:spLocks xmlns:a="http://schemas.openxmlformats.org/drawingml/2006/main" noGrp="1"/>
          </p:cNvSpPr>
          <p:nvPr/>
        </p:nvSpPr>
        <p:spPr>
          <a:xfrm xmlns:a="http://schemas.openxmlformats.org/drawingml/2006/main">
            <a:off x="685800" y="4095750"/>
            <a:ext cx="3333750" cy="1466850"/>
          </a:xfrm>
          <a:prstGeom xmlns:a="http://schemas.openxmlformats.org/drawingml/2006/main" prst="roundRect">
            <a:avLst>
              <a:gd name="adj" fmla="val 7792"/>
            </a:avLst>
          </a:prstGeom>
          <a:solidFill xmlns:a="http://schemas.openxmlformats.org/drawingml/2006/main">
            <a:srgbClr val="17342C"/>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DCA5D10-DC7B-4E71-AC54-E39A5743CAAB}"/>
              </a:ext>
            </a:extLst>
          </p:cNvPr>
          <p:cNvSpPr>
            <a:spLocks xmlns:a="http://schemas.openxmlformats.org/drawingml/2006/main" noGrp="1"/>
          </p:cNvSpPr>
          <p:nvPr/>
        </p:nvSpPr>
        <p:spPr>
          <a:xfrm xmlns:a="http://schemas.openxmlformats.org/drawingml/2006/main">
            <a:off x="8953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1  SELECT</a:t>
            </a:r>
          </a:p>
        </p:txBody>
      </p:sp>
      <p:sp>
        <p:nvSpPr>
          <p:cNvPr id="16" name="">
            <a:extLst xmlns:a="http://schemas.openxmlformats.org/drawingml/2006/main">
              <a:ext uri="{FF2B5EF4-FFF2-40B4-BE49-F238E27FC236}">
                <a16:creationId xmlns:a16="http://schemas.microsoft.com/office/drawing/2014/main" id="{167CD610-25F9-4049-9B26-EAC029A4E6E6}"/>
              </a:ext>
            </a:extLst>
          </p:cNvPr>
          <p:cNvSpPr>
            <a:spLocks xmlns:a="http://schemas.openxmlformats.org/drawingml/2006/main" noGrp="1"/>
          </p:cNvSpPr>
          <p:nvPr/>
        </p:nvSpPr>
        <p:spPr>
          <a:xfrm xmlns:a="http://schemas.openxmlformats.org/drawingml/2006/main">
            <a:off x="8953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Choose precise theory and examples that answer the question.</a:t>
            </a:r>
          </a:p>
        </p:txBody>
      </p:sp>
      <p:sp>
        <p:nvSpPr>
          <p:cNvPr id="17" name="">
            <a:extLst xmlns:a="http://schemas.openxmlformats.org/drawingml/2006/main">
              <a:ext uri="{FF2B5EF4-FFF2-40B4-BE49-F238E27FC236}">
                <a16:creationId xmlns:a16="http://schemas.microsoft.com/office/drawing/2014/main" id="{1472A5C2-9A11-4BD1-A27B-F25FCF435E87}"/>
              </a:ext>
            </a:extLst>
          </p:cNvPr>
          <p:cNvSpPr>
            <a:spLocks xmlns:a="http://schemas.openxmlformats.org/drawingml/2006/main" noGrp="1"/>
          </p:cNvSpPr>
          <p:nvPr/>
        </p:nvSpPr>
        <p:spPr>
          <a:xfrm xmlns:a="http://schemas.openxmlformats.org/drawingml/2006/main">
            <a:off x="4362450" y="4095750"/>
            <a:ext cx="3333750" cy="1466850"/>
          </a:xfrm>
          <a:prstGeom xmlns:a="http://schemas.openxmlformats.org/drawingml/2006/main" prst="roundRect">
            <a:avLst>
              <a:gd name="adj" fmla="val 7792"/>
            </a:avLst>
          </a:prstGeom>
          <a:solidFill xmlns:a="http://schemas.openxmlformats.org/drawingml/2006/main">
            <a:srgbClr val="F2BD3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B097F30-2DAC-4E48-A7CF-D15BA870BD2E}"/>
              </a:ext>
            </a:extLst>
          </p:cNvPr>
          <p:cNvSpPr>
            <a:spLocks xmlns:a="http://schemas.openxmlformats.org/drawingml/2006/main" noGrp="1"/>
          </p:cNvSpPr>
          <p:nvPr/>
        </p:nvSpPr>
        <p:spPr>
          <a:xfrm xmlns:a="http://schemas.openxmlformats.org/drawingml/2006/main">
            <a:off x="457200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17342C"/>
                </a:solidFill>
                <a:latin typeface="Arial"/>
                <a:ea typeface="Arial"/>
                <a:cs typeface="Arial"/>
              </a:defRPr>
            </a:pPr>
            <a:r>
              <a:rPr sz="1050" b="1">
                <a:solidFill>
                  <a:srgbClr val="17342C"/>
                </a:solidFill>
                <a:latin typeface="Arial"/>
                <a:ea typeface="Arial"/>
                <a:cs typeface="Arial"/>
              </a:rPr>
              <a:t>2  EXPLAIN</a:t>
            </a:r>
          </a:p>
        </p:txBody>
      </p:sp>
      <p:sp>
        <p:nvSpPr>
          <p:cNvPr id="19" name="">
            <a:extLst xmlns:a="http://schemas.openxmlformats.org/drawingml/2006/main">
              <a:ext uri="{FF2B5EF4-FFF2-40B4-BE49-F238E27FC236}">
                <a16:creationId xmlns:a16="http://schemas.microsoft.com/office/drawing/2014/main" id="{FF467AA7-7C28-4C14-B3EA-45534DC18839}"/>
              </a:ext>
            </a:extLst>
          </p:cNvPr>
          <p:cNvSpPr>
            <a:spLocks xmlns:a="http://schemas.openxmlformats.org/drawingml/2006/main" noGrp="1"/>
          </p:cNvSpPr>
          <p:nvPr/>
        </p:nvSpPr>
        <p:spPr>
          <a:xfrm xmlns:a="http://schemas.openxmlformats.org/drawingml/2006/main">
            <a:off x="457200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17342C"/>
                </a:solidFill>
                <a:latin typeface="Arial"/>
                <a:ea typeface="Arial"/>
                <a:cs typeface="Arial"/>
              </a:defRPr>
            </a:pPr>
            <a:r>
              <a:rPr sz="1275" b="0">
                <a:solidFill>
                  <a:srgbClr val="17342C"/>
                </a:solidFill>
                <a:latin typeface="Arial"/>
                <a:ea typeface="Arial"/>
                <a:cs typeface="Arial"/>
              </a:rPr>
              <a:t>Link ideas with because, so or therefore.</a:t>
            </a:r>
          </a:p>
        </p:txBody>
      </p:sp>
      <p:sp>
        <p:nvSpPr>
          <p:cNvPr id="20" name="">
            <a:extLst xmlns:a="http://schemas.openxmlformats.org/drawingml/2006/main">
              <a:ext uri="{FF2B5EF4-FFF2-40B4-BE49-F238E27FC236}">
                <a16:creationId xmlns:a16="http://schemas.microsoft.com/office/drawing/2014/main" id="{E6D0D01C-CC1F-4F61-894A-1E42676D7C7D}"/>
              </a:ext>
            </a:extLst>
          </p:cNvPr>
          <p:cNvSpPr>
            <a:spLocks xmlns:a="http://schemas.openxmlformats.org/drawingml/2006/main" noGrp="1"/>
          </p:cNvSpPr>
          <p:nvPr/>
        </p:nvSpPr>
        <p:spPr>
          <a:xfrm xmlns:a="http://schemas.openxmlformats.org/drawingml/2006/main">
            <a:off x="8039100" y="4095750"/>
            <a:ext cx="3333750" cy="1466850"/>
          </a:xfrm>
          <a:prstGeom xmlns:a="http://schemas.openxmlformats.org/drawingml/2006/main" prst="roundRect">
            <a:avLst>
              <a:gd name="adj" fmla="val 7792"/>
            </a:avLst>
          </a:prstGeom>
          <a:solidFill xmlns:a="http://schemas.openxmlformats.org/drawingml/2006/main">
            <a:srgbClr val="0C555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4837A0A-204C-497F-B1C5-419F6D2D1452}"/>
              </a:ext>
            </a:extLst>
          </p:cNvPr>
          <p:cNvSpPr>
            <a:spLocks xmlns:a="http://schemas.openxmlformats.org/drawingml/2006/main" noGrp="1"/>
          </p:cNvSpPr>
          <p:nvPr/>
        </p:nvSpPr>
        <p:spPr>
          <a:xfrm xmlns:a="http://schemas.openxmlformats.org/drawingml/2006/main">
            <a:off x="8248650" y="42862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FFFFFF"/>
                </a:solidFill>
                <a:latin typeface="Arial"/>
                <a:ea typeface="Arial"/>
                <a:cs typeface="Arial"/>
              </a:defRPr>
            </a:pPr>
            <a:r>
              <a:rPr sz="1050" b="1">
                <a:solidFill>
                  <a:srgbClr val="FFFFFF"/>
                </a:solidFill>
                <a:latin typeface="Arial"/>
                <a:ea typeface="Arial"/>
                <a:cs typeface="Arial"/>
              </a:rPr>
              <a:t>3  CHECK</a:t>
            </a:r>
          </a:p>
        </p:txBody>
      </p:sp>
      <p:sp>
        <p:nvSpPr>
          <p:cNvPr id="22" name="">
            <a:extLst xmlns:a="http://schemas.openxmlformats.org/drawingml/2006/main">
              <a:ext uri="{FF2B5EF4-FFF2-40B4-BE49-F238E27FC236}">
                <a16:creationId xmlns:a16="http://schemas.microsoft.com/office/drawing/2014/main" id="{E80C6EED-2C08-469D-99AD-75F26FFF23B8}"/>
              </a:ext>
            </a:extLst>
          </p:cNvPr>
          <p:cNvSpPr>
            <a:spLocks xmlns:a="http://schemas.openxmlformats.org/drawingml/2006/main" noGrp="1"/>
          </p:cNvSpPr>
          <p:nvPr/>
        </p:nvSpPr>
        <p:spPr>
          <a:xfrm xmlns:a="http://schemas.openxmlformats.org/drawingml/2006/main">
            <a:off x="8248650" y="4705350"/>
            <a:ext cx="29146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0">
                <a:solidFill>
                  <a:srgbClr val="FFFFFF"/>
                </a:solidFill>
                <a:latin typeface="Arial"/>
                <a:ea typeface="Arial"/>
                <a:cs typeface="Arial"/>
              </a:defRPr>
            </a:pPr>
            <a:r>
              <a:rPr sz="1275" b="0">
                <a:solidFill>
                  <a:srgbClr val="FFFFFF"/>
                </a:solidFill>
                <a:latin typeface="Arial"/>
                <a:ea typeface="Arial"/>
                <a:cs typeface="Arial"/>
              </a:rPr>
              <a:t>Answer every part; keep claims specific and source-safe.</a:t>
            </a:r>
          </a:p>
        </p:txBody>
      </p:sp>
      <p:sp>
        <p:nvSpPr>
          <p:cNvPr id="23" name="">
            <a:extLst xmlns:a="http://schemas.openxmlformats.org/drawingml/2006/main">
              <a:ext uri="{FF2B5EF4-FFF2-40B4-BE49-F238E27FC236}">
                <a16:creationId xmlns:a16="http://schemas.microsoft.com/office/drawing/2014/main" id="{F119DACD-7411-4096-B7BF-7E88ABE54F83}"/>
              </a:ext>
            </a:extLst>
          </p:cNvPr>
          <p:cNvSpPr>
            <a:spLocks xmlns:a="http://schemas.openxmlformats.org/drawingml/2006/main" noGrp="1"/>
          </p:cNvSpPr>
          <p:nvPr/>
        </p:nvSpPr>
        <p:spPr>
          <a:xfrm xmlns:a="http://schemas.openxmlformats.org/drawingml/2006/main">
            <a:off x="685800" y="5810250"/>
            <a:ext cx="1076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E8674B"/>
                </a:solidFill>
                <a:latin typeface="Arial"/>
                <a:ea typeface="Arial"/>
                <a:cs typeface="Arial"/>
              </a:defRPr>
            </a:pPr>
            <a:r>
              <a:rPr sz="1200" b="1">
                <a:solidFill>
                  <a:srgbClr val="E8674B"/>
                </a:solidFill>
                <a:latin typeface="Arial"/>
                <a:ea typeface="Arial"/>
                <a:cs typeface="Arial"/>
              </a:rPr>
              <a:t>Sentence starter: The focal point is… The image is suitable because… In the mock-up I noticed…</a:t>
            </a:r>
          </a:p>
        </p:txBody>
      </p:sp>
      <p:sp>
        <p:nvSpPr>
          <p:cNvPr id="24" name="">
            <a:extLst xmlns:a="http://schemas.openxmlformats.org/drawingml/2006/main">
              <a:ext uri="{FF2B5EF4-FFF2-40B4-BE49-F238E27FC236}">
                <a16:creationId xmlns:a16="http://schemas.microsoft.com/office/drawing/2014/main" id="{87B1D7A4-B6EF-47C7-8F52-95309222825B}"/>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64706B"/>
                </a:solidFill>
                <a:latin typeface="Arial"/>
                <a:ea typeface="Arial"/>
                <a:cs typeface="Arial"/>
              </a:defRPr>
            </a:pPr>
            <a:r>
              <a:rPr sz="825" b="1">
                <a:solidFill>
                  <a:srgbClr val="64706B"/>
                </a:solidFill>
                <a:latin typeface="Arial"/>
                <a:ea typeface="Arial"/>
                <a:cs typeface="Arial"/>
              </a:rPr>
              <a:t>YEAR 7 MULTIMEDIA  •  MODULE 05  •  PROMOTIONAL POSTER</a:t>
            </a:r>
          </a:p>
        </p:txBody>
      </p:sp>
      <p:sp>
        <p:nvSpPr>
          <p:cNvPr id="25" name="">
            <a:extLst xmlns:a="http://schemas.openxmlformats.org/drawingml/2006/main">
              <a:ext uri="{FF2B5EF4-FFF2-40B4-BE49-F238E27FC236}">
                <a16:creationId xmlns:a16="http://schemas.microsoft.com/office/drawing/2014/main" id="{088CE4D6-207F-4681-A532-6E61F5A77464}"/>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E8674B"/>
                </a:solidFill>
                <a:latin typeface="Arial"/>
                <a:ea typeface="Arial"/>
                <a:cs typeface="Arial"/>
              </a:defRPr>
            </a:pPr>
            <a:r>
              <a:rPr sz="900" b="1">
                <a:solidFill>
                  <a:srgbClr val="E8674B"/>
                </a:solidFill>
                <a:latin typeface="Arial"/>
                <a:ea typeface="Arial"/>
                <a:cs typeface="Arial"/>
              </a:rPr>
              <a:t>07</a:t>
            </a:r>
          </a:p>
        </p:txBody>
      </p:sp>
    </p:spTree>
    <p:extLst>
      <p:ext uri="{BB962C8B-B14F-4D97-AF65-F5344CB8AC3E}">
        <p14:creationId xmlns:p14="http://schemas.microsoft.com/office/powerpoint/2010/main" val="646419176"/>
      </p:ext>
    </p:extLst>
  </p:cSld>
</p:sld>
</file>

<file path=ppt/slides/slide8.xml><?xml version="1.0" encoding="utf-8"?>
<p:sld xmlns:p="http://schemas.openxmlformats.org/presentationml/2006/main">
  <p:cSld>
    <p:bg>
      <p:bgPr>
        <a:solidFill xmlns:a="http://schemas.openxmlformats.org/drawingml/2006/main">
          <a:srgbClr val="E8674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A133A6-4341-4867-AAF0-56DF839DF522}"/>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F2BD3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DCBB3FC-B2B1-4E96-911E-5D1DF0471067}"/>
              </a:ext>
            </a:extLst>
          </p:cNvPr>
          <p:cNvSpPr>
            <a:spLocks xmlns:a="http://schemas.openxmlformats.org/drawingml/2006/main" noGrp="1"/>
          </p:cNvSpPr>
          <p:nvPr/>
        </p:nvSpPr>
        <p:spPr>
          <a:xfrm xmlns:a="http://schemas.openxmlformats.org/drawingml/2006/main">
            <a:off x="685800" y="838200"/>
            <a:ext cx="666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150" b="1">
                <a:solidFill>
                  <a:srgbClr val="FFFFFF"/>
                </a:solidFill>
                <a:latin typeface="Arial"/>
                <a:ea typeface="Arial"/>
                <a:cs typeface="Arial"/>
              </a:defRPr>
            </a:pPr>
            <a:r>
              <a:rPr sz="3150" b="1">
                <a:solidFill>
                  <a:srgbClr val="FFFFFF"/>
                </a:solidFill>
                <a:latin typeface="Arial"/>
                <a:ea typeface="Arial"/>
                <a:cs typeface="Arial"/>
              </a:rPr>
              <a:t>Before you pack up…</a:t>
            </a:r>
          </a:p>
        </p:txBody>
      </p:sp>
      <p:sp>
        <p:nvSpPr>
          <p:cNvPr id="3" name="">
            <a:extLst xmlns:a="http://schemas.openxmlformats.org/drawingml/2006/main">
              <a:ext uri="{FF2B5EF4-FFF2-40B4-BE49-F238E27FC236}">
                <a16:creationId xmlns:a16="http://schemas.microsoft.com/office/drawing/2014/main" id="{6CBC6FB0-82BF-4F2F-90A3-B5A50B3B029C}"/>
              </a:ext>
            </a:extLst>
          </p:cNvPr>
          <p:cNvSpPr>
            <a:spLocks xmlns:a="http://schemas.openxmlformats.org/drawingml/2006/main" noGrp="1"/>
          </p:cNvSpPr>
          <p:nvPr/>
        </p:nvSpPr>
        <p:spPr>
          <a:xfrm xmlns:a="http://schemas.openxmlformats.org/drawingml/2006/main">
            <a:off x="685800" y="19621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1. One idea I can now explain is…</a:t>
            </a:r>
          </a:p>
        </p:txBody>
      </p:sp>
      <p:sp>
        <p:nvSpPr>
          <p:cNvPr id="4" name="">
            <a:extLst xmlns:a="http://schemas.openxmlformats.org/drawingml/2006/main">
              <a:ext uri="{FF2B5EF4-FFF2-40B4-BE49-F238E27FC236}">
                <a16:creationId xmlns:a16="http://schemas.microsoft.com/office/drawing/2014/main" id="{891E59C7-9D81-451C-AA10-261CCC9893FF}"/>
              </a:ext>
            </a:extLst>
          </p:cNvPr>
          <p:cNvSpPr>
            <a:spLocks xmlns:a="http://schemas.openxmlformats.org/drawingml/2006/main" noGrp="1"/>
          </p:cNvSpPr>
          <p:nvPr/>
        </p:nvSpPr>
        <p:spPr>
          <a:xfrm xmlns:a="http://schemas.openxmlformats.org/drawingml/2006/main">
            <a:off x="685800" y="308610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2. One design decision or practical action this changes is…</a:t>
            </a:r>
          </a:p>
        </p:txBody>
      </p:sp>
      <p:sp>
        <p:nvSpPr>
          <p:cNvPr id="5" name="">
            <a:extLst xmlns:a="http://schemas.openxmlformats.org/drawingml/2006/main">
              <a:ext uri="{FF2B5EF4-FFF2-40B4-BE49-F238E27FC236}">
                <a16:creationId xmlns:a16="http://schemas.microsoft.com/office/drawing/2014/main" id="{5CEBE2B4-0A5B-44D8-9DDF-14DA4E9FB370}"/>
              </a:ext>
            </a:extLst>
          </p:cNvPr>
          <p:cNvSpPr>
            <a:spLocks xmlns:a="http://schemas.openxmlformats.org/drawingml/2006/main" noGrp="1"/>
          </p:cNvSpPr>
          <p:nvPr/>
        </p:nvSpPr>
        <p:spPr>
          <a:xfrm xmlns:a="http://schemas.openxmlformats.org/drawingml/2006/main">
            <a:off x="685800" y="4210050"/>
            <a:ext cx="8572500" cy="8382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0">
            <a:noFill/>
            <a:prstDash val="solid"/>
          </a:ln>
        </p:spPr>
        <p:txBody>
          <a:bodyPr xmlns:a="http://schemas.openxmlformats.org/drawingml/2006/main" lIns="228600" tIns="152400" rIns="228600" bIns="152400" anchor="ctr">
            <a:normAutofit fontScale="100000"/>
          </a:bodyPr>
          <a:lstStyle xmlns:a="http://schemas.openxmlformats.org/drawingml/2006/main"/>
          <a:p xmlns:a="http://schemas.openxmlformats.org/drawingml/2006/main">
            <a:pPr algn="l">
              <a:defRPr sz="1650" b="1">
                <a:solidFill>
                  <a:srgbClr val="17342C"/>
                </a:solidFill>
                <a:latin typeface="Arial"/>
                <a:ea typeface="Arial"/>
                <a:cs typeface="Arial"/>
              </a:defRPr>
            </a:pPr>
            <a:r>
              <a:rPr sz="1650" b="1">
                <a:solidFill>
                  <a:srgbClr val="17342C"/>
                </a:solidFill>
                <a:latin typeface="Arial"/>
                <a:ea typeface="Arial"/>
                <a:cs typeface="Arial"/>
              </a:rPr>
              <a:t>3. One question I still need answered is…</a:t>
            </a:r>
          </a:p>
        </p:txBody>
      </p:sp>
      <p:sp>
        <p:nvSpPr>
          <p:cNvPr id="6" name="">
            <a:extLst xmlns:a="http://schemas.openxmlformats.org/drawingml/2006/main">
              <a:ext uri="{FF2B5EF4-FFF2-40B4-BE49-F238E27FC236}">
                <a16:creationId xmlns:a16="http://schemas.microsoft.com/office/drawing/2014/main" id="{238EFB3E-1F07-4034-9D2D-FAF88BC69E31}"/>
              </a:ext>
            </a:extLst>
          </p:cNvPr>
          <p:cNvSpPr>
            <a:spLocks xmlns:a="http://schemas.openxmlformats.org/drawingml/2006/main" noGrp="1"/>
          </p:cNvSpPr>
          <p:nvPr/>
        </p:nvSpPr>
        <p:spPr>
          <a:xfrm xmlns:a="http://schemas.openxmlformats.org/drawingml/2006/main">
            <a:off x="9810750" y="2609850"/>
            <a:ext cx="1638300" cy="1638300"/>
          </a:xfrm>
          <a:prstGeom xmlns:a="http://schemas.openxmlformats.org/drawingml/2006/main" prst="ellipse">
            <a:avLst/>
          </a:prstGeom>
          <a:solidFill xmlns:a="http://schemas.openxmlformats.org/drawingml/2006/main">
            <a:srgbClr val="F2BD3C"/>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AFDE455-94D4-4F96-924E-AC4F6FC9F85B}"/>
              </a:ext>
            </a:extLst>
          </p:cNvPr>
          <p:cNvSpPr>
            <a:spLocks xmlns:a="http://schemas.openxmlformats.org/drawingml/2006/main" noGrp="1"/>
          </p:cNvSpPr>
          <p:nvPr/>
        </p:nvSpPr>
        <p:spPr>
          <a:xfrm xmlns:a="http://schemas.openxmlformats.org/drawingml/2006/main">
            <a:off x="9944100" y="2876550"/>
            <a:ext cx="13716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SAVE</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YOUR</a:t>
            </a:r>
          </a:p>
          <a:p xmlns:a="http://schemas.openxmlformats.org/drawingml/2006/main">
            <a:pPr algn="ctr">
              <a:defRPr sz="1725" b="1">
                <a:solidFill>
                  <a:srgbClr val="17342C"/>
                </a:solidFill>
                <a:latin typeface="Arial"/>
                <a:ea typeface="Arial"/>
                <a:cs typeface="Arial"/>
              </a:defRPr>
            </a:pPr>
            <a:r>
              <a:rPr sz="1725" b="1">
                <a:solidFill>
                  <a:srgbClr val="17342C"/>
                </a:solidFill>
                <a:latin typeface="Arial"/>
                <a:ea typeface="Arial"/>
                <a:cs typeface="Arial"/>
              </a:rPr>
              <a:t>EVIDENCE</a:t>
            </a:r>
          </a:p>
        </p:txBody>
      </p:sp>
      <p:sp>
        <p:nvSpPr>
          <p:cNvPr id="8" name="">
            <a:extLst xmlns:a="http://schemas.openxmlformats.org/drawingml/2006/main">
              <a:ext uri="{FF2B5EF4-FFF2-40B4-BE49-F238E27FC236}">
                <a16:creationId xmlns:a16="http://schemas.microsoft.com/office/drawing/2014/main" id="{75BC0DAD-CCDD-4244-BB38-071839AEE860}"/>
              </a:ext>
            </a:extLst>
          </p:cNvPr>
          <p:cNvSpPr>
            <a:spLocks xmlns:a="http://schemas.openxmlformats.org/drawingml/2006/main" noGrp="1"/>
          </p:cNvSpPr>
          <p:nvPr/>
        </p:nvSpPr>
        <p:spPr>
          <a:xfrm xmlns:a="http://schemas.openxmlformats.org/drawingml/2006/main">
            <a:off x="685800" y="57531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Save in the matching course module. Local save is not submission.</a:t>
            </a:r>
          </a:p>
        </p:txBody>
      </p:sp>
      <p:sp>
        <p:nvSpPr>
          <p:cNvPr id="9" name="">
            <a:extLst xmlns:a="http://schemas.openxmlformats.org/drawingml/2006/main">
              <a:ext uri="{FF2B5EF4-FFF2-40B4-BE49-F238E27FC236}">
                <a16:creationId xmlns:a16="http://schemas.microsoft.com/office/drawing/2014/main" id="{873616BE-7E0D-40D4-9D26-17B66BA7F0CE}"/>
              </a:ext>
            </a:extLst>
          </p:cNvPr>
          <p:cNvSpPr>
            <a:spLocks xmlns:a="http://schemas.openxmlformats.org/drawingml/2006/main" noGrp="1"/>
          </p:cNvSpPr>
          <p:nvPr/>
        </p:nvSpPr>
        <p:spPr>
          <a:xfrm xmlns:a="http://schemas.openxmlformats.org/drawingml/2006/main">
            <a:off x="685800" y="6438900"/>
            <a:ext cx="742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C7D6CF"/>
                </a:solidFill>
                <a:latin typeface="Arial"/>
                <a:ea typeface="Arial"/>
                <a:cs typeface="Arial"/>
              </a:defRPr>
            </a:pPr>
            <a:r>
              <a:rPr sz="825" b="1">
                <a:solidFill>
                  <a:srgbClr val="C7D6CF"/>
                </a:solidFill>
                <a:latin typeface="Arial"/>
                <a:ea typeface="Arial"/>
                <a:cs typeface="Arial"/>
              </a:rPr>
              <a:t>YEAR 7 MULTIMEDIA  •  MODULE 05  •  PROMOTIONAL POSTER</a:t>
            </a:r>
          </a:p>
        </p:txBody>
      </p:sp>
      <p:sp>
        <p:nvSpPr>
          <p:cNvPr id="10" name="">
            <a:extLst xmlns:a="http://schemas.openxmlformats.org/drawingml/2006/main">
              <a:ext uri="{FF2B5EF4-FFF2-40B4-BE49-F238E27FC236}">
                <a16:creationId xmlns:a16="http://schemas.microsoft.com/office/drawing/2014/main" id="{7A5FEFFE-3E89-439A-859C-75D323F26851}"/>
              </a:ext>
            </a:extLst>
          </p:cNvPr>
          <p:cNvSpPr>
            <a:spLocks xmlns:a="http://schemas.openxmlformats.org/drawingml/2006/main" noGrp="1"/>
          </p:cNvSpPr>
          <p:nvPr/>
        </p:nvSpPr>
        <p:spPr>
          <a:xfrm xmlns:a="http://schemas.openxmlformats.org/drawingml/2006/main">
            <a:off x="11239500" y="640080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00" b="1">
                <a:solidFill>
                  <a:srgbClr val="F2BD3C"/>
                </a:solidFill>
                <a:latin typeface="Arial"/>
                <a:ea typeface="Arial"/>
                <a:cs typeface="Arial"/>
              </a:defRPr>
            </a:pPr>
            <a:r>
              <a:rPr sz="900" b="1">
                <a:solidFill>
                  <a:srgbClr val="F2BD3C"/>
                </a:solidFill>
                <a:latin typeface="Arial"/>
                <a:ea typeface="Arial"/>
                <a:cs typeface="Arial"/>
              </a:rPr>
              <a:t>08</a:t>
            </a:r>
          </a:p>
        </p:txBody>
      </p:sp>
    </p:spTree>
    <p:extLst>
      <p:ext uri="{BB962C8B-B14F-4D97-AF65-F5344CB8AC3E}">
        <p14:creationId xmlns:p14="http://schemas.microsoft.com/office/powerpoint/2010/main" val="2367915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2026-08-24T09:10:26.8900000Z</dcterms:created>
  <dcterms:modified xsi:type="dcterms:W3CDTF">2026-08-24T09:10:26.8900000Z</dcterms:modified>
</coreProperties>
</file>