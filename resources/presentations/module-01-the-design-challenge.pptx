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bb0cf074654508" /><Relationship Type="http://schemas.openxmlformats.org/officeDocument/2006/relationships/extended-properties" Target="/docProps/app.xml" Id="R55005a15a2cb4043" /><Relationship Type="http://schemas.openxmlformats.org/officeDocument/2006/relationships/officeDocument" Target="/ppt/presentation.xml" Id="R2ff71b17d0444b3d" /></Relationships>
</file>

<file path=ppt/presentation.xml><?xml version="1.0" encoding="utf-8"?>
<p:presentation xmlns:p="http://schemas.openxmlformats.org/presentationml/2006/main">
  <p:sldMasterIdLst>
    <p:sldMasterId xmlns:r="http://schemas.openxmlformats.org/officeDocument/2006/relationships" id="2147483648" r:id="Rc912eb2c1cee4b5f"/>
  </p:sldMasterIdLst>
  <p:notesMasterIdLst>
    <p:notesMasterId xmlns:r="http://schemas.openxmlformats.org/officeDocument/2006/relationships" r:id="Rfbcfccb5031a4da6"/>
  </p:notesMasterIdLst>
  <p:sldIdLst>
    <p:sldId xmlns:r="http://schemas.openxmlformats.org/officeDocument/2006/relationships" id="256" r:id="R32b3bd9880bb4ef2"/>
    <p:sldId xmlns:r="http://schemas.openxmlformats.org/officeDocument/2006/relationships" id="257" r:id="R8f2d167ef8a54428"/>
    <p:sldId xmlns:r="http://schemas.openxmlformats.org/officeDocument/2006/relationships" id="258" r:id="R1ba74b16e74243f9"/>
    <p:sldId xmlns:r="http://schemas.openxmlformats.org/officeDocument/2006/relationships" id="259" r:id="R714d4ec0bc25463e"/>
    <p:sldId xmlns:r="http://schemas.openxmlformats.org/officeDocument/2006/relationships" id="260" r:id="R313787aa3a38494d"/>
    <p:sldId xmlns:r="http://schemas.openxmlformats.org/officeDocument/2006/relationships" id="261" r:id="Rb13bba34a7c649de"/>
    <p:sldId xmlns:r="http://schemas.openxmlformats.org/officeDocument/2006/relationships" id="262" r:id="Rf6377eef209e4e17"/>
    <p:sldId xmlns:r="http://schemas.openxmlformats.org/officeDocument/2006/relationships" id="263" r:id="R0c2c66a0e5944e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6556a2eef44d9c" /><Relationship Type="http://schemas.openxmlformats.org/officeDocument/2006/relationships/slideMaster" Target="/ppt/slideMasters/slideMaster1.xml" Id="Rc912eb2c1cee4b5f" /><Relationship Type="http://schemas.openxmlformats.org/officeDocument/2006/relationships/notesMaster" Target="/ppt/notesMasters/notesMaster1.xml" Id="Rfbcfccb5031a4da6" /><Relationship Type="http://schemas.openxmlformats.org/officeDocument/2006/relationships/presProps" Target="/ppt/presProps.xml" Id="Rc9966edd821e4b53" /><Relationship Type="http://schemas.openxmlformats.org/officeDocument/2006/relationships/tableStyles" Target="/ppt/tableStyles.xml" Id="Rc990be38f28c4d54" /><Relationship Type="http://schemas.openxmlformats.org/officeDocument/2006/relationships/slide" Target="/ppt/slides/slide1.xml" Id="R32b3bd9880bb4ef2" /><Relationship Type="http://schemas.openxmlformats.org/officeDocument/2006/relationships/slide" Target="/ppt/slides/slide2.xml" Id="R8f2d167ef8a54428" /><Relationship Type="http://schemas.openxmlformats.org/officeDocument/2006/relationships/slide" Target="/ppt/slides/slide3.xml" Id="R1ba74b16e74243f9" /><Relationship Type="http://schemas.openxmlformats.org/officeDocument/2006/relationships/slide" Target="/ppt/slides/slide4.xml" Id="R714d4ec0bc25463e" /><Relationship Type="http://schemas.openxmlformats.org/officeDocument/2006/relationships/slide" Target="/ppt/slides/slide5.xml" Id="R313787aa3a38494d" /><Relationship Type="http://schemas.openxmlformats.org/officeDocument/2006/relationships/slide" Target="/ppt/slides/slide6.xml" Id="Rb13bba34a7c649de" /><Relationship Type="http://schemas.openxmlformats.org/officeDocument/2006/relationships/slide" Target="/ppt/slides/slide7.xml" Id="Rf6377eef209e4e17" /><Relationship Type="http://schemas.openxmlformats.org/officeDocument/2006/relationships/slide" Target="/ppt/slides/slide8.xml" Id="R0c2c66a0e5944e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b042af9b494d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143b94bbca4608" /><Relationship Type="http://schemas.openxmlformats.org/officeDocument/2006/relationships/notesMaster" Target="/ppt/notesMasters/notesMaster1.xml" Id="R00b2e33609de4b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5c3fa5b31740df" /><Relationship Type="http://schemas.openxmlformats.org/officeDocument/2006/relationships/notesMaster" Target="/ppt/notesMasters/notesMaster1.xml" Id="Ra83b4589eb404d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6236e9488c46f5" /><Relationship Type="http://schemas.openxmlformats.org/officeDocument/2006/relationships/notesMaster" Target="/ppt/notesMasters/notesMaster1.xml" Id="R2ca1cf2441bc48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e8b841c4374150" /><Relationship Type="http://schemas.openxmlformats.org/officeDocument/2006/relationships/notesMaster" Target="/ppt/notesMasters/notesMaster1.xml" Id="R52329a69309343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b0ff2245e249fc" /><Relationship Type="http://schemas.openxmlformats.org/officeDocument/2006/relationships/notesMaster" Target="/ppt/notesMasters/notesMaster1.xml" Id="R4e481a12fa0841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6122860304467e" /><Relationship Type="http://schemas.openxmlformats.org/officeDocument/2006/relationships/notesMaster" Target="/ppt/notesMasters/notesMaster1.xml" Id="Rae65d9ae745b41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d72b9b0e0c4a9f" /><Relationship Type="http://schemas.openxmlformats.org/officeDocument/2006/relationships/notesMaster" Target="/ppt/notesMasters/notesMaster1.xml" Id="R37973bdddf6c45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342246f82a49d1" /><Relationship Type="http://schemas.openxmlformats.org/officeDocument/2006/relationships/notesMaster" Target="/ppt/notesMasters/notesMaster1.xml" Id="Ree3b5e40d7e74e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Introduce the module as one connected learning package, not a list of software clicks.</a:t>
            </a:r>
          </a:p>
          <a:p xmlns:a="http://schemas.openxmlformats.org/drawingml/2006/main">
            <a:r>
              <a:t>State the outcome: Define the purpose, audience and original brand direction.</a:t>
            </a:r>
          </a:p>
          <a:p xmlns:a="http://schemas.openxmlformats.org/drawingml/2006/main">
            <a:r>
              <a:t>Prompt: What makes a design direction useful before any software opens?</a:t>
            </a:r>
          </a:p>
          <a:p xmlns:a="http://schemas.openxmlformats.org/drawingml/2006/main">
            <a:r>
              <a:t>Listen for a purposeful link to audience, evidence or communication.</a:t>
            </a:r>
          </a:p>
          <a:p xmlns:a="http://schemas.openxmlformats.org/drawingml/2006/main">
            <a:r>
              <a:t>Transition: Preview the three named sections on the next slide.</a:t>
            </a:r>
          </a:p>
          <a:p xmlns:a="http://schemas.openxmlformats.org/drawingml/2006/main">
            <a:r>
              <a:t/>
            </a:r>
          </a:p>
          <a:p xmlns:a="http://schemas.openxmlformats.org/drawingml/2006/main">
            <a:r>
              <a:t>[Sources]</a:t>
            </a:r>
          </a:p>
          <a:p xmlns:a="http://schemas.openxmlformats.org/drawingml/2006/main">
            <a:r>
              <a:t>- Course sequence: data/course-map.js, Module 1.</a:t>
            </a:r>
          </a:p>
          <a:p xmlns:a="http://schemas.openxmlformats.org/drawingml/2006/main">
            <a:r>
              <a:t>- Theory: data/course-content.js, m01-s01, m01-s02, m01-s03.</a:t>
            </a:r>
          </a:p>
          <a:p xmlns:a="http://schemas.openxmlformats.org/drawingml/2006/main">
            <a:r>
              <a:t>- Visual: assets/visuals/generated-audience-research-workspace.png.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three section titles aloud and explain how each one prepares the next.</a:t>
            </a:r>
          </a:p>
          <a:p xmlns:a="http://schemas.openxmlformats.org/drawingml/2006/main">
            <a:r>
              <a:t>Warm-up: What makes a design direction useful before any software opens?</a:t>
            </a:r>
          </a:p>
          <a:p xmlns:a="http://schemas.openxmlformats.org/drawingml/2006/main">
            <a:r>
              <a:t>Give silent thinking time before pair discussion.</a:t>
            </a:r>
          </a:p>
          <a:p xmlns:a="http://schemas.openxmlformats.org/drawingml/2006/main">
            <a:r>
              <a:t>Listen for: a reason, not only a preference.</a:t>
            </a:r>
          </a:p>
          <a:p xmlns:a="http://schemas.openxmlformats.org/drawingml/2006/main">
            <a:r>
              <a:t>Transition: Start with Problem, purpose and brief.</a:t>
            </a:r>
          </a:p>
          <a:p xmlns:a="http://schemas.openxmlformats.org/drawingml/2006/main">
            <a:r>
              <a:t/>
            </a:r>
          </a:p>
          <a:p xmlns:a="http://schemas.openxmlformats.org/drawingml/2006/main">
            <a:r>
              <a:t>[Sources]</a:t>
            </a:r>
          </a:p>
          <a:p xmlns:a="http://schemas.openxmlformats.org/drawingml/2006/main">
            <a:r>
              <a:t>- Theory sequence: data/course-content.js, m01-s01, m01-s02, m01-s03.</a:t>
            </a:r>
          </a:p>
          <a:p xmlns:a="http://schemas.openxmlformats.org/drawingml/2006/main">
            <a:r>
              <a:t>- Module summary: data/course-map.js, Module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Explain how a clear brief turns a design opportunity into a direction for original work.</a:t>
            </a:r>
          </a:p>
          <a:p xmlns:a="http://schemas.openxmlformats.org/drawingml/2006/main">
            <a:r>
              <a:t>Explain: A design problem is the situation that needs a useful response. The purpose explains why that response matters. A design brief joins these ideas into a concise statement of what will be developed, who it is for and what it should achieve. Fast Food Futures asks students to develop an original fast-food business and a connected digital brand. The brief guides the work; it is not a finished logo, poster or website.</a:t>
            </a:r>
          </a:p>
          <a:p xmlns:a="http://schemas.openxmlformats.org/drawingml/2006/main">
            <a:r>
              <a:t>Clarify: The supplied brainstorm confirms decisions such as a business name, slogan, products, colours and target audience. It does not confirm exact required quantities, software accounts or publication settings. Its space for product ideas is a planning scaffold, not proof of a compulsory quantity. A responsible designer does not turn a genuine unknown into a project rule and follows authorised directions when they are supplied.</a:t>
            </a:r>
          </a:p>
          <a:p xmlns:a="http://schemas.openxmlformats.org/drawingml/2006/main">
            <a:r>
              <a:t>Worked example: “Make a cool burger logo” is narrow and vague. A stronger draft is: “Develop an original visual identity for a fast-food business so its intended audience can recognise the business across a logo, menu, poster, motion advertisement and web portfolio.” This version names the connected outcome and audience purpose while leaving room for original decisions. Later ideas can be judged for recognition, consistency, readability and honesty.</a:t>
            </a:r>
          </a:p>
          <a:p xmlns:a="http://schemas.openxmlformats.org/drawingml/2006/main">
            <a:r>
              <a:t>Ask: Which statement best describes a design brief?</a:t>
            </a:r>
          </a:p>
          <a:p xmlns:a="http://schemas.openxmlformats.org/drawingml/2006/main">
            <a:r>
              <a:t>Listen for: A concise statement of what will be developed, for whom and for what purpose. Correct. A brief frames the task, audience and purpose.</a:t>
            </a:r>
          </a:p>
          <a:p xmlns:a="http://schemas.openxmlformats.org/drawingml/2006/main">
            <a:r>
              <a:t>Misconception to correct: A design brief is a list of finished features. → A brief frames the challenge; features are developed and tested later.</a:t>
            </a:r>
          </a:p>
          <a:p xmlns:a="http://schemas.openxmlformats.org/drawingml/2006/main">
            <a:r>
              <a:t>Transition: Connect this idea to Users and target audiences.</a:t>
            </a:r>
          </a:p>
          <a:p xmlns:a="http://schemas.openxmlformats.org/drawingml/2006/main">
            <a:r>
              <a:t/>
            </a:r>
          </a:p>
          <a:p xmlns:a="http://schemas.openxmlformats.org/drawingml/2006/main">
            <a:r>
              <a:t>[Sources]</a:t>
            </a:r>
          </a:p>
          <a:p xmlns:a="http://schemas.openxmlformats.org/drawingml/2006/main">
            <a:r>
              <a:t>- Theory and check: data/course-content.js, m01-s01 and m01-s01-q01.</a:t>
            </a:r>
          </a:p>
          <a:p xmlns:a="http://schemas.openxmlformats.org/drawingml/2006/main">
            <a:r>
              <a:t>- Native projection-scale diagram adapted from approved visual design-brief-loop and its source-grounded learning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Use audience evidence to make respectful, purposeful communication decisions.</a:t>
            </a:r>
          </a:p>
          <a:p xmlns:a="http://schemas.openxmlformats.org/drawingml/2006/main">
            <a:r>
              <a:t>Explain: A target audience is the group a communication is designed to reach. Age can be relevant, but a useful profile also considers needs, interests, context, access and the action the communication should support. “Teenagers” is too broad to guide many choices. “Students comparing options quickly on a small screen during a short break” gives clearer clues about reading size, information order and tone. These clues are hypotheses until research or feedback supports them.</a:t>
            </a:r>
          </a:p>
          <a:p xmlns:a="http://schemas.openxmlformats.org/drawingml/2006/main">
            <a:r>
              <a:t>Clarify: Designers make weak assumptions when they treat a group as if everyone thinks the same way. A colour or phrase should not be chosen because “young people like it”. Explain the communication purpose and gather suitable evidence. Accessible choices such as readable type, clear contrast, captions and plain navigation widen participation. Accessibility is part of effective audience design, not decoration added at the end.</a:t>
            </a:r>
          </a:p>
          <a:p xmlns:a="http://schemas.openxmlformats.org/drawingml/2006/main">
            <a:r>
              <a:t>Worked example: If users need to compare products quickly, a designer might use clear category headings, brief names, aligned prices and one obvious action. Each choice answers a scanning need. Neon colours chosen only because the audience is young have no strong evidence. A useful justification makes the chain visible: audience evidence leads to a communication need, which leads to a design decision that can be tested.</a:t>
            </a:r>
          </a:p>
          <a:p xmlns:a="http://schemas.openxmlformats.org/drawingml/2006/main">
            <a:r>
              <a:t>Ask: Which audience description gives the strongest design guidance?</a:t>
            </a:r>
          </a:p>
          <a:p xmlns:a="http://schemas.openxmlformats.org/drawingml/2006/main">
            <a:r>
              <a:t>Listen for: Students comparing options quickly on a small screen. Correct. It identifies a context and need.</a:t>
            </a:r>
          </a:p>
          <a:p xmlns:a="http://schemas.openxmlformats.org/drawingml/2006/main">
            <a:r>
              <a:t>Misconception to correct: An audience profile tells the designer exactly which style to use. → It informs choices that still need testing and respectful judgement.</a:t>
            </a:r>
          </a:p>
          <a:p xmlns:a="http://schemas.openxmlformats.org/drawingml/2006/main">
            <a:r>
              <a:t>Transition: Connect this idea to Original ideas and responsible AI.</a:t>
            </a:r>
          </a:p>
          <a:p xmlns:a="http://schemas.openxmlformats.org/drawingml/2006/main">
            <a:r>
              <a:t/>
            </a:r>
          </a:p>
          <a:p xmlns:a="http://schemas.openxmlformats.org/drawingml/2006/main">
            <a:r>
              <a:t>[Sources]</a:t>
            </a:r>
          </a:p>
          <a:p xmlns:a="http://schemas.openxmlformats.org/drawingml/2006/main">
            <a:r>
              <a:t>- Theory and check: data/course-content.js, m01-s02 and m01-s02-q01.</a:t>
            </a:r>
          </a:p>
          <a:p xmlns:a="http://schemas.openxmlformats.org/drawingml/2006/main">
            <a:r>
              <a:t>- Native projection-scale diagram adapted from approved visual audience-needs-map and its source-grounded learning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Use digital and AI tools to extend thinking while keeping authorship, privacy and responsibility with the student.</a:t>
            </a:r>
          </a:p>
          <a:p xmlns:a="http://schemas.openxmlformats.org/drawingml/2006/main">
            <a:r>
              <a:t>Explain: Original ideas can grow through observation, research, sketching, comparison and combination. Originality comes from purposeful choices for this brief rather than copying a finished brand. A mood board can collect colour, type, texture and image-treatment references, but should not become a page of logos to imitate. Record important sources and show how your own decisions change across drafts.</a:t>
            </a:r>
          </a:p>
          <a:p xmlns:a="http://schemas.openxmlformats.org/drawingml/2006/main">
            <a:r>
              <a:t>Clarify: The supplied brainstorm permits AI for ideas only, followed by student selection and editing. A generated result is not automatically accurate, suitable or original. Check suggestions against the brief, reject stereotypes, verify factual claims and transform useful fragments through your own reasoning. Do not enter personal information, student images or controlled school material into a tool unless approved use is confirmed. Accounts and licence conditions remain teacher-controlled.</a:t>
            </a:r>
          </a:p>
          <a:p xmlns:a="http://schemas.openxmlformats.org/drawingml/2006/main">
            <a:r>
              <a:t>Worked example: A student requests words connected to “fast, fresh and playful”, circles two useful results, sketches three symbols, combines one with an original wordmark and tests it with the audience profile. Their note identifies the tool-assisted starting point and explains the changes. Copying a generated logo directly would hide the decisions. The trail makes the student’s contribution, checking and responsibility visible.</a:t>
            </a:r>
          </a:p>
          <a:p xmlns:a="http://schemas.openxmlformats.org/drawingml/2006/main">
            <a:r>
              <a:t>Ask: What does the source allow AI to do in the brainstorm?</a:t>
            </a:r>
          </a:p>
          <a:p xmlns:a="http://schemas.openxmlformats.org/drawingml/2006/main">
            <a:r>
              <a:t>Listen for: Suggest starting ideas that the student checks and edits. Correct. The student remains responsible.</a:t>
            </a:r>
          </a:p>
          <a:p xmlns:a="http://schemas.openxmlformats.org/drawingml/2006/main">
            <a:r>
              <a:t>Misconception to correct: Generated material is automatically safe and original to use. → It still needs suitability, accuracy, privacy and ownership checks.</a:t>
            </a:r>
          </a:p>
          <a:p xmlns:a="http://schemas.openxmlformats.org/drawingml/2006/main">
            <a:r>
              <a:t>Transition: Connect this idea to the retrieval check.</a:t>
            </a:r>
          </a:p>
          <a:p xmlns:a="http://schemas.openxmlformats.org/drawingml/2006/main">
            <a:r>
              <a:t/>
            </a:r>
          </a:p>
          <a:p xmlns:a="http://schemas.openxmlformats.org/drawingml/2006/main">
            <a:r>
              <a:t>[Sources]</a:t>
            </a:r>
          </a:p>
          <a:p xmlns:a="http://schemas.openxmlformats.org/drawingml/2006/main">
            <a:r>
              <a:t>- Theory and check: data/course-content.js, m01-s03 and m01-s03-q01.</a:t>
            </a:r>
          </a:p>
          <a:p xmlns:a="http://schemas.openxmlformats.org/drawingml/2006/main">
            <a:r>
              <a:t>- Native projection-scale diagram adapted from approved visual responsible-ai-filter and its source-grounded learning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60 seconds silent retrieval, pair justification, then whole-class feedback.</a:t>
            </a:r>
          </a:p>
          <a:p xmlns:a="http://schemas.openxmlformats.org/drawingml/2006/main">
            <a:r>
              <a:t>Question 1: A concise statement of what will be developed, for whom and for what purpose. Feedback: Correct. A brief frames the task, audience and purpose.</a:t>
            </a:r>
          </a:p>
          <a:p xmlns:a="http://schemas.openxmlformats.org/drawingml/2006/main">
            <a:r>
              <a:t>Question 2: Students comparing options quickly on a small screen. Feedback: Correct. It identifies a context and need.</a:t>
            </a:r>
          </a:p>
          <a:p xmlns:a="http://schemas.openxmlformats.org/drawingml/2006/main">
            <a:r>
              <a:t>Question 3: Suggest starting ideas that the student checks and edits. Feedback: Correct. The student remains responsible.</a:t>
            </a:r>
          </a:p>
          <a:p xmlns:a="http://schemas.openxmlformats.org/drawingml/2006/main">
            <a:r>
              <a:t>Do not score this as a formal assessment. Use responses to decide whether to reteach or continue.</a:t>
            </a:r>
          </a:p>
          <a:p xmlns:a="http://schemas.openxmlformats.org/drawingml/2006/main">
            <a:r>
              <a:t>Transition: Model how the same knowledge becomes a longer written explanation.</a:t>
            </a:r>
          </a:p>
          <a:p xmlns:a="http://schemas.openxmlformats.org/drawingml/2006/main">
            <a:r>
              <a:t/>
            </a:r>
          </a:p>
          <a:p xmlns:a="http://schemas.openxmlformats.org/drawingml/2006/main">
            <a:r>
              <a:t>[Sources]</a:t>
            </a:r>
          </a:p>
          <a:p xmlns:a="http://schemas.openxmlformats.org/drawingml/2006/main">
            <a:r>
              <a:t>- Formative checks: data/course-content.js, m01-s01-q01, m01-s02-q01, m01-s03-q01.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prompt once, then unpack it using Select, Explain and Check.</a:t>
            </a:r>
          </a:p>
          <a:p xmlns:a="http://schemas.openxmlformats.org/drawingml/2006/main">
            <a:r>
              <a:t>Model one sentence aloud using the supplied starter.</a:t>
            </a:r>
          </a:p>
          <a:p xmlns:a="http://schemas.openxmlformats.org/drawingml/2006/main">
            <a:r>
              <a:t>Prompt: Which section provides the strongest evidence for each part of the question?</a:t>
            </a:r>
          </a:p>
          <a:p xmlns:a="http://schemas.openxmlformats.org/drawingml/2006/main">
            <a:r>
              <a:t>Remind students: this is formative learning evidence. A local save is not a submission.</a:t>
            </a:r>
          </a:p>
          <a:p xmlns:a="http://schemas.openxmlformats.org/drawingml/2006/main">
            <a:r>
              <a:t>Transition: Finish with a three-part exit ticket and save the response in the matching module.</a:t>
            </a:r>
          </a:p>
          <a:p xmlns:a="http://schemas.openxmlformats.org/drawingml/2006/main">
            <a:r>
              <a:t/>
            </a:r>
          </a:p>
          <a:p xmlns:a="http://schemas.openxmlformats.org/drawingml/2006/main">
            <a:r>
              <a:t>[Sources]</a:t>
            </a:r>
          </a:p>
          <a:p xmlns:a="http://schemas.openxmlformats.org/drawingml/2006/main">
            <a:r>
              <a:t>- Section capstones: data/course-content.js, m01-s01-capstone, m01-s02-capstone, m01-s03-capstone.</a:t>
            </a:r>
          </a:p>
          <a:p xmlns:a="http://schemas.openxmlformats.org/drawingml/2006/main">
            <a:r>
              <a:t>- Integrated prompt: Stage 07 synthesis of the three source-grounded section capstones.</a:t>
            </a:r>
          </a:p>
          <a:p xmlns:a="http://schemas.openxmlformats.org/drawingml/2006/main">
            <a:r>
              <a:t>- Evidence boundary: data/course-content.js evidenceLabel, saveNotice and moduleEvidenceKey.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Ask students to answer all three prompts in the matching module response box.</a:t>
            </a:r>
          </a:p>
          <a:p xmlns:a="http://schemas.openxmlformats.org/drawingml/2006/main">
            <a:r>
              <a:t>Invite one voluntary share for the first prompt.</a:t>
            </a:r>
          </a:p>
          <a:p xmlns:a="http://schemas.openxmlformats.org/drawingml/2006/main">
            <a:r>
              <a:t>Use the final question to plan the next explanation or support.</a:t>
            </a:r>
          </a:p>
          <a:p xmlns:a="http://schemas.openxmlformats.org/drawingml/2006/main">
            <a:r>
              <a:t>Remind students that browser-local saving preserves a draft on this device; it does not submit work.</a:t>
            </a:r>
          </a:p>
          <a:p xmlns:a="http://schemas.openxmlformats.org/drawingml/2006/main">
            <a:r>
              <a:t/>
            </a:r>
          </a:p>
          <a:p xmlns:a="http://schemas.openxmlformats.org/drawingml/2006/main">
            <a:r>
              <a:t>[Sources]</a:t>
            </a:r>
          </a:p>
          <a:p xmlns:a="http://schemas.openxmlformats.org/drawingml/2006/main">
            <a:r>
              <a:t>- Exit-ticket structure and evidence boundary: data/course-content.js saveNotice, savedMessage and evidenceDestination.</a:t>
            </a:r>
          </a:p>
          <a:p xmlns:a="http://schemas.openxmlformats.org/drawingml/2006/main">
            <a:r>
              <a:t>- Module theory: data/course-content.js, m01-s01, m01-s02, m01-s03.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13bbf2d0b64f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3f1138bf234e85" /><Relationship Type="http://schemas.openxmlformats.org/officeDocument/2006/relationships/slideLayout" Target="/ppt/slideLayouts/slideLayout1.xml" Id="R52cace8605364b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cace8605364b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1cd2f748f44fbd" /><Relationship Type="http://schemas.openxmlformats.org/officeDocument/2006/relationships/image" Target="/ppt/media/image.png" Id="R40fc6da9b8f14dbb" /><Relationship Type="http://schemas.openxmlformats.org/officeDocument/2006/relationships/notesSlide" Target="/ppt/notesSlides/notesSlide1.xml" Id="R6887f0da898b47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8e5aff0ba34811" /><Relationship Type="http://schemas.openxmlformats.org/officeDocument/2006/relationships/notesSlide" Target="/ppt/notesSlides/notesSlide2.xml" Id="R296524886f9c49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d58a065f6447db" /><Relationship Type="http://schemas.openxmlformats.org/officeDocument/2006/relationships/notesSlide" Target="/ppt/notesSlides/notesSlide3.xml" Id="R732acfee3dc54a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1d2fa5ec4542c8" /><Relationship Type="http://schemas.openxmlformats.org/officeDocument/2006/relationships/notesSlide" Target="/ppt/notesSlides/notesSlide4.xml" Id="R54fa50b4dc0843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85140b4628a4ef1" /><Relationship Type="http://schemas.openxmlformats.org/officeDocument/2006/relationships/notesSlide" Target="/ppt/notesSlides/notesSlide5.xml" Id="Ra4793563773c41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32af20905a441e" /><Relationship Type="http://schemas.openxmlformats.org/officeDocument/2006/relationships/notesSlide" Target="/ppt/notesSlides/notesSlide6.xml" Id="R869e0c09fe054d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7e7bac89f8747eb" /><Relationship Type="http://schemas.openxmlformats.org/officeDocument/2006/relationships/notesSlide" Target="/ppt/notesSlides/notesSlide7.xml" Id="R32570e4592d643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6b47582e9a453e" /><Relationship Type="http://schemas.openxmlformats.org/officeDocument/2006/relationships/notesSlide" Target="/ppt/notesSlides/notesSlide8.xml" Id="R208398e95fef4c27" /></Relationships>
</file>

<file path=ppt/slides/slide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5ACFE7-1E4D-481E-9972-B98FEEA0FA1E}"/>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1734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00CB7E-AA09-46D0-86C7-7D738E9F1F23}"/>
              </a:ext>
            </a:extLst>
          </p:cNvPr>
          <p:cNvSpPr>
            <a:spLocks xmlns:a="http://schemas.openxmlformats.org/drawingml/2006/main" noGrp="1"/>
          </p:cNvSpPr>
          <p:nvPr/>
        </p:nvSpPr>
        <p:spPr>
          <a:xfrm xmlns:a="http://schemas.openxmlformats.org/drawingml/2006/main">
            <a:off x="685800" y="723900"/>
            <a:ext cx="933450" cy="952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BDA0E9-C25D-4E5C-A89A-FDA645B754D9}"/>
              </a:ext>
            </a:extLst>
          </p:cNvPr>
          <p:cNvSpPr>
            <a:spLocks xmlns:a="http://schemas.openxmlformats.org/drawingml/2006/main" noGrp="1"/>
          </p:cNvSpPr>
          <p:nvPr/>
        </p:nvSpPr>
        <p:spPr>
          <a:xfrm xmlns:a="http://schemas.openxmlformats.org/drawingml/2006/main">
            <a:off x="685800" y="112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F2BD3C"/>
                </a:solidFill>
                <a:latin typeface="Arial"/>
                <a:ea typeface="Arial"/>
                <a:cs typeface="Arial"/>
              </a:defRPr>
            </a:pPr>
            <a:r>
              <a:rPr sz="1350" b="1">
                <a:solidFill>
                  <a:srgbClr val="F2BD3C"/>
                </a:solidFill>
                <a:latin typeface="Arial"/>
                <a:ea typeface="Arial"/>
                <a:cs typeface="Arial"/>
              </a:rPr>
              <a:t>MODULE 01</a:t>
            </a:r>
          </a:p>
        </p:txBody>
      </p:sp>
      <p:sp>
        <p:nvSpPr>
          <p:cNvPr id="4" name="">
            <a:extLst xmlns:a="http://schemas.openxmlformats.org/drawingml/2006/main">
              <a:ext uri="{FF2B5EF4-FFF2-40B4-BE49-F238E27FC236}">
                <a16:creationId xmlns:a16="http://schemas.microsoft.com/office/drawing/2014/main" id="{A032EAF7-B1DF-4668-968A-CB7F5181439C}"/>
              </a:ext>
            </a:extLst>
          </p:cNvPr>
          <p:cNvSpPr>
            <a:spLocks xmlns:a="http://schemas.openxmlformats.org/drawingml/2006/main" noGrp="1"/>
          </p:cNvSpPr>
          <p:nvPr/>
        </p:nvSpPr>
        <p:spPr>
          <a:xfrm xmlns:a="http://schemas.openxmlformats.org/drawingml/2006/main">
            <a:off x="685800" y="1790700"/>
            <a:ext cx="44767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The design challenge</a:t>
            </a:r>
          </a:p>
        </p:txBody>
      </p:sp>
      <p:sp>
        <p:nvSpPr>
          <p:cNvPr id="5" name="">
            <a:extLst xmlns:a="http://schemas.openxmlformats.org/drawingml/2006/main">
              <a:ext uri="{FF2B5EF4-FFF2-40B4-BE49-F238E27FC236}">
                <a16:creationId xmlns:a16="http://schemas.microsoft.com/office/drawing/2014/main" id="{A2F8D6E9-ACA0-494B-ADE0-2313D62205BD}"/>
              </a:ext>
            </a:extLst>
          </p:cNvPr>
          <p:cNvSpPr>
            <a:spLocks xmlns:a="http://schemas.openxmlformats.org/drawingml/2006/main" noGrp="1"/>
          </p:cNvSpPr>
          <p:nvPr/>
        </p:nvSpPr>
        <p:spPr>
          <a:xfrm xmlns:a="http://schemas.openxmlformats.org/drawingml/2006/main">
            <a:off x="685800" y="3676650"/>
            <a:ext cx="4333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E6EEE9"/>
                </a:solidFill>
                <a:latin typeface="Arial"/>
                <a:ea typeface="Arial"/>
                <a:cs typeface="Arial"/>
              </a:defRPr>
            </a:pPr>
            <a:r>
              <a:rPr sz="1650" b="0">
                <a:solidFill>
                  <a:srgbClr val="E6EEE9"/>
                </a:solidFill>
                <a:latin typeface="Arial"/>
                <a:ea typeface="Arial"/>
                <a:cs typeface="Arial"/>
              </a:rPr>
              <a:t>Define the purpose, audience and original brand direction.</a:t>
            </a:r>
          </a:p>
        </p:txBody>
      </p:sp>
      <p:sp>
        <p:nvSpPr>
          <p:cNvPr id="6" name="">
            <a:extLst xmlns:a="http://schemas.openxmlformats.org/drawingml/2006/main">
              <a:ext uri="{FF2B5EF4-FFF2-40B4-BE49-F238E27FC236}">
                <a16:creationId xmlns:a16="http://schemas.microsoft.com/office/drawing/2014/main" id="{9FEE4229-E81F-4D41-954B-6ABA298AAC8C}"/>
              </a:ext>
            </a:extLst>
          </p:cNvPr>
          <p:cNvSpPr>
            <a:spLocks xmlns:a="http://schemas.openxmlformats.org/drawingml/2006/main" noGrp="1"/>
          </p:cNvSpPr>
          <p:nvPr/>
        </p:nvSpPr>
        <p:spPr>
          <a:xfrm xmlns:a="http://schemas.openxmlformats.org/drawingml/2006/main">
            <a:off x="685800" y="5010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8674B"/>
                </a:solidFill>
                <a:latin typeface="Arial"/>
                <a:ea typeface="Arial"/>
                <a:cs typeface="Arial"/>
              </a:defRPr>
            </a:pPr>
            <a:r>
              <a:rPr sz="900" b="1">
                <a:solidFill>
                  <a:srgbClr val="E8674B"/>
                </a:solidFill>
                <a:latin typeface="Arial"/>
                <a:ea typeface="Arial"/>
                <a:cs typeface="Arial"/>
              </a:rPr>
              <a:t>TEACHING QUESTION</a:t>
            </a:r>
          </a:p>
        </p:txBody>
      </p:sp>
      <p:sp>
        <p:nvSpPr>
          <p:cNvPr id="7" name="">
            <a:extLst xmlns:a="http://schemas.openxmlformats.org/drawingml/2006/main">
              <a:ext uri="{FF2B5EF4-FFF2-40B4-BE49-F238E27FC236}">
                <a16:creationId xmlns:a16="http://schemas.microsoft.com/office/drawing/2014/main" id="{6DE72ED7-5416-4BD3-B462-315A3EC8BEC5}"/>
              </a:ext>
            </a:extLst>
          </p:cNvPr>
          <p:cNvSpPr>
            <a:spLocks xmlns:a="http://schemas.openxmlformats.org/drawingml/2006/main" noGrp="1"/>
          </p:cNvSpPr>
          <p:nvPr/>
        </p:nvSpPr>
        <p:spPr>
          <a:xfrm xmlns:a="http://schemas.openxmlformats.org/drawingml/2006/main">
            <a:off x="685800" y="5295900"/>
            <a:ext cx="4362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What makes a design direction useful before any software opens?</a:t>
            </a:r>
          </a:p>
        </p:txBody>
      </p:sp>
      <p:sp>
        <p:nvSpPr>
          <p:cNvPr id="8" name="">
            <a:extLst xmlns:a="http://schemas.openxmlformats.org/drawingml/2006/main">
              <a:ext uri="{FF2B5EF4-FFF2-40B4-BE49-F238E27FC236}">
                <a16:creationId xmlns:a16="http://schemas.microsoft.com/office/drawing/2014/main" id="{4C22F2A9-6723-4A30-A55B-DDEB3AA3C7EE}"/>
              </a:ext>
            </a:extLst>
          </p:cNvPr>
          <p:cNvSpPr>
            <a:spLocks xmlns:a="http://schemas.openxmlformats.org/drawingml/2006/main" noGrp="1"/>
          </p:cNvSpPr>
          <p:nvPr/>
        </p:nvSpPr>
        <p:spPr>
          <a:xfrm xmlns:a="http://schemas.openxmlformats.org/drawingml/2006/main">
            <a:off x="6191250" y="514350"/>
            <a:ext cx="5334000" cy="5372100"/>
          </a:xfrm>
          <a:prstGeom xmlns:a="http://schemas.openxmlformats.org/drawingml/2006/main" prst="roundRect">
            <a:avLst>
              <a:gd name="adj" fmla="val 2143"/>
            </a:avLst>
          </a:prstGeom>
          <a:solidFill xmlns:a="http://schemas.openxmlformats.org/drawingml/2006/main">
            <a:srgbClr val="FFFFFF"/>
          </a:solidFill>
          <a:ln xmlns:a="http://schemas.openxmlformats.org/drawingml/2006/main" w="9525">
            <a:solidFill>
              <a:srgbClr val="CFD8D2"/>
            </a:solidFill>
            <a:prstDash val="solid"/>
          </a:ln>
        </p:spPr>
      </p:sp>
      <p:pic>
        <p:nvPicPr>
          <p:cNvPr id="20" name="Audience Research Workspace" title="Audience Research Workspace" descr="Overhead design table with several pairs of hands sorting simple audience-profile symbol cards, colour swatches and blank notes."/>
          <p:cNvPicPr>
            <a:picLocks xmlns:a="http://schemas.openxmlformats.org/drawingml/2006/main" noChangeAspect="1"/>
          </p:cNvPicPr>
          <p:nvPr/>
        </p:nvPicPr>
        <p:blipFill>
          <a:blip xmlns:r="http://schemas.openxmlformats.org/officeDocument/2006/relationships" xmlns:a="http://schemas.openxmlformats.org/drawingml/2006/main" r:embed="R40fc6da9b8f14dbb"/>
          <a:srcRect xmlns:a="http://schemas.openxmlformats.org/drawingml/2006/main" l="22060" t="0" r="22060" b="0"/>
          <a:stretch xmlns:a="http://schemas.openxmlformats.org/drawingml/2006/main">
            <a:fillRect l="0" t="0" r="0" b="0"/>
          </a:stretch>
        </p:blipFill>
        <p:spPr>
          <a:xfrm xmlns:a="http://schemas.openxmlformats.org/drawingml/2006/main">
            <a:off x="6191250" y="514350"/>
            <a:ext cx="5334000" cy="5372100"/>
          </a:xfrm>
          <a:prstGeom xmlns:a="http://schemas.openxmlformats.org/drawingml/2006/main" prst="roundRect">
            <a:avLst>
              <a:gd name="adj" fmla="val 2143"/>
            </a:avLst>
          </a:prstGeom>
        </p:spPr>
      </p:pic>
      <p:sp>
        <p:nvSpPr>
          <p:cNvPr id="10" name="">
            <a:extLst xmlns:a="http://schemas.openxmlformats.org/drawingml/2006/main">
              <a:ext uri="{FF2B5EF4-FFF2-40B4-BE49-F238E27FC236}">
                <a16:creationId xmlns:a16="http://schemas.microsoft.com/office/drawing/2014/main" id="{7689DAD4-ED50-4DEF-BE27-5B98D9EE875B}"/>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01  •  THE DESIGN CHALLENGE</a:t>
            </a:r>
          </a:p>
        </p:txBody>
      </p:sp>
      <p:sp>
        <p:nvSpPr>
          <p:cNvPr id="11" name="">
            <a:extLst xmlns:a="http://schemas.openxmlformats.org/drawingml/2006/main">
              <a:ext uri="{FF2B5EF4-FFF2-40B4-BE49-F238E27FC236}">
                <a16:creationId xmlns:a16="http://schemas.microsoft.com/office/drawing/2014/main" id="{BFA10398-843A-4695-9E49-0818C6D8D0C8}"/>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01</a:t>
            </a:r>
          </a:p>
        </p:txBody>
      </p:sp>
    </p:spTree>
    <p:extLst>
      <p:ext uri="{BB962C8B-B14F-4D97-AF65-F5344CB8AC3E}">
        <p14:creationId xmlns:p14="http://schemas.microsoft.com/office/powerpoint/2010/main" val="1753217342"/>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ECF0D46-8CA2-434A-AA02-CC39FDCD9F2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8222C62-9A2A-41D8-87E3-F882D0FACF83}"/>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TODAY'S LEARNING PATH</a:t>
            </a:r>
          </a:p>
        </p:txBody>
      </p:sp>
      <p:sp>
        <p:nvSpPr>
          <p:cNvPr id="3" name="">
            <a:extLst xmlns:a="http://schemas.openxmlformats.org/drawingml/2006/main">
              <a:ext uri="{FF2B5EF4-FFF2-40B4-BE49-F238E27FC236}">
                <a16:creationId xmlns:a16="http://schemas.microsoft.com/office/drawing/2014/main" id="{47EC152D-93C7-4D29-979F-E8C84065D858}"/>
              </a:ext>
            </a:extLst>
          </p:cNvPr>
          <p:cNvSpPr>
            <a:spLocks xmlns:a="http://schemas.openxmlformats.org/drawingml/2006/main" noGrp="1"/>
          </p:cNvSpPr>
          <p:nvPr/>
        </p:nvSpPr>
        <p:spPr>
          <a:xfrm xmlns:a="http://schemas.openxmlformats.org/drawingml/2006/main">
            <a:off x="685800" y="89535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Where are we going?</a:t>
            </a:r>
          </a:p>
        </p:txBody>
      </p:sp>
      <p:sp>
        <p:nvSpPr>
          <p:cNvPr id="4" name="">
            <a:extLst xmlns:a="http://schemas.openxmlformats.org/drawingml/2006/main">
              <a:ext uri="{FF2B5EF4-FFF2-40B4-BE49-F238E27FC236}">
                <a16:creationId xmlns:a16="http://schemas.microsoft.com/office/drawing/2014/main" id="{64A58C13-6D61-4516-96F8-F427DD7F0B1A}"/>
              </a:ext>
            </a:extLst>
          </p:cNvPr>
          <p:cNvSpPr>
            <a:spLocks xmlns:a="http://schemas.openxmlformats.org/drawingml/2006/main" noGrp="1"/>
          </p:cNvSpPr>
          <p:nvPr/>
        </p:nvSpPr>
        <p:spPr>
          <a:xfrm xmlns:a="http://schemas.openxmlformats.org/drawingml/2006/main">
            <a:off x="685800" y="19526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5" name="">
            <a:extLst xmlns:a="http://schemas.openxmlformats.org/drawingml/2006/main">
              <a:ext uri="{FF2B5EF4-FFF2-40B4-BE49-F238E27FC236}">
                <a16:creationId xmlns:a16="http://schemas.microsoft.com/office/drawing/2014/main" id="{278119AC-135C-47F5-A629-BD5CDA7AF271}"/>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27B9957-FD2D-4B08-83B8-68FB2D29168E}"/>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530FF39A-00FE-41A1-9AE0-8415D5773F4E}"/>
              </a:ext>
            </a:extLst>
          </p:cNvPr>
          <p:cNvSpPr>
            <a:spLocks xmlns:a="http://schemas.openxmlformats.org/drawingml/2006/main" noGrp="1"/>
          </p:cNvSpPr>
          <p:nvPr/>
        </p:nvSpPr>
        <p:spPr>
          <a:xfrm xmlns:a="http://schemas.openxmlformats.org/drawingml/2006/main">
            <a:off x="1733550" y="21431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Problem, purpose and brief</a:t>
            </a:r>
          </a:p>
        </p:txBody>
      </p:sp>
      <p:sp>
        <p:nvSpPr>
          <p:cNvPr id="8" name="">
            <a:extLst xmlns:a="http://schemas.openxmlformats.org/drawingml/2006/main">
              <a:ext uri="{FF2B5EF4-FFF2-40B4-BE49-F238E27FC236}">
                <a16:creationId xmlns:a16="http://schemas.microsoft.com/office/drawing/2014/main" id="{5670C187-3ACD-4C10-8548-CB5E858E966B}"/>
              </a:ext>
            </a:extLst>
          </p:cNvPr>
          <p:cNvSpPr>
            <a:spLocks xmlns:a="http://schemas.openxmlformats.org/drawingml/2006/main" noGrp="1"/>
          </p:cNvSpPr>
          <p:nvPr/>
        </p:nvSpPr>
        <p:spPr>
          <a:xfrm xmlns:a="http://schemas.openxmlformats.org/drawingml/2006/main">
            <a:off x="685800" y="32099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9" name="">
            <a:extLst xmlns:a="http://schemas.openxmlformats.org/drawingml/2006/main">
              <a:ext uri="{FF2B5EF4-FFF2-40B4-BE49-F238E27FC236}">
                <a16:creationId xmlns:a16="http://schemas.microsoft.com/office/drawing/2014/main" id="{2C1B41D2-1E26-4EF1-A5F4-F47997F793BF}"/>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6099C43-A9E4-4007-8438-6C9E15AB5350}"/>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7342C"/>
                </a:solidFill>
                <a:latin typeface="Arial"/>
                <a:ea typeface="Arial"/>
                <a:cs typeface="Arial"/>
              </a:defRPr>
            </a:pPr>
            <a:r>
              <a:rPr sz="1500" b="1">
                <a:solidFill>
                  <a:srgbClr val="17342C"/>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58AF48D4-F05C-4ABE-A0F4-D2B668CC6CAD}"/>
              </a:ext>
            </a:extLst>
          </p:cNvPr>
          <p:cNvSpPr>
            <a:spLocks xmlns:a="http://schemas.openxmlformats.org/drawingml/2006/main" noGrp="1"/>
          </p:cNvSpPr>
          <p:nvPr/>
        </p:nvSpPr>
        <p:spPr>
          <a:xfrm xmlns:a="http://schemas.openxmlformats.org/drawingml/2006/main">
            <a:off x="1733550" y="34004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Users and target audiences</a:t>
            </a:r>
          </a:p>
        </p:txBody>
      </p:sp>
      <p:sp>
        <p:nvSpPr>
          <p:cNvPr id="12" name="">
            <a:extLst xmlns:a="http://schemas.openxmlformats.org/drawingml/2006/main">
              <a:ext uri="{FF2B5EF4-FFF2-40B4-BE49-F238E27FC236}">
                <a16:creationId xmlns:a16="http://schemas.microsoft.com/office/drawing/2014/main" id="{A111A668-B79D-450C-84A0-42BB11C0EF64}"/>
              </a:ext>
            </a:extLst>
          </p:cNvPr>
          <p:cNvSpPr>
            <a:spLocks xmlns:a="http://schemas.openxmlformats.org/drawingml/2006/main" noGrp="1"/>
          </p:cNvSpPr>
          <p:nvPr/>
        </p:nvSpPr>
        <p:spPr>
          <a:xfrm xmlns:a="http://schemas.openxmlformats.org/drawingml/2006/main">
            <a:off x="685800" y="44672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13" name="">
            <a:extLst xmlns:a="http://schemas.openxmlformats.org/drawingml/2006/main">
              <a:ext uri="{FF2B5EF4-FFF2-40B4-BE49-F238E27FC236}">
                <a16:creationId xmlns:a16="http://schemas.microsoft.com/office/drawing/2014/main" id="{A50E7433-388D-4F87-8B81-168F08DD19C1}"/>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4E8008-531E-485B-9D6A-9DA752D1265C}"/>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8B1E901E-E921-4F84-896B-A52D9BC344B5}"/>
              </a:ext>
            </a:extLst>
          </p:cNvPr>
          <p:cNvSpPr>
            <a:spLocks xmlns:a="http://schemas.openxmlformats.org/drawingml/2006/main" noGrp="1"/>
          </p:cNvSpPr>
          <p:nvPr/>
        </p:nvSpPr>
        <p:spPr>
          <a:xfrm xmlns:a="http://schemas.openxmlformats.org/drawingml/2006/main">
            <a:off x="1733550" y="46577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Original ideas and responsible AI</a:t>
            </a:r>
          </a:p>
        </p:txBody>
      </p:sp>
      <p:sp>
        <p:nvSpPr>
          <p:cNvPr id="16" name="">
            <a:extLst xmlns:a="http://schemas.openxmlformats.org/drawingml/2006/main">
              <a:ext uri="{FF2B5EF4-FFF2-40B4-BE49-F238E27FC236}">
                <a16:creationId xmlns:a16="http://schemas.microsoft.com/office/drawing/2014/main" id="{1DC87720-082B-47D3-81ED-0606D5DF9286}"/>
              </a:ext>
            </a:extLst>
          </p:cNvPr>
          <p:cNvSpPr>
            <a:spLocks xmlns:a="http://schemas.openxmlformats.org/drawingml/2006/main" noGrp="1"/>
          </p:cNvSpPr>
          <p:nvPr/>
        </p:nvSpPr>
        <p:spPr>
          <a:xfrm xmlns:a="http://schemas.openxmlformats.org/drawingml/2006/main">
            <a:off x="8191500" y="20764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2BD3C"/>
                </a:solidFill>
                <a:latin typeface="Arial"/>
                <a:ea typeface="Arial"/>
                <a:cs typeface="Arial"/>
              </a:defRPr>
            </a:pPr>
            <a:r>
              <a:rPr sz="1050" b="1">
                <a:solidFill>
                  <a:srgbClr val="F2BD3C"/>
                </a:solidFill>
                <a:latin typeface="Arial"/>
                <a:ea typeface="Arial"/>
                <a:cs typeface="Arial"/>
              </a:rPr>
              <a:t>RETRIEVAL WARM-UP</a:t>
            </a:r>
          </a:p>
        </p:txBody>
      </p:sp>
      <p:sp>
        <p:nvSpPr>
          <p:cNvPr id="17" name="">
            <a:extLst xmlns:a="http://schemas.openxmlformats.org/drawingml/2006/main">
              <a:ext uri="{FF2B5EF4-FFF2-40B4-BE49-F238E27FC236}">
                <a16:creationId xmlns:a16="http://schemas.microsoft.com/office/drawing/2014/main" id="{E0E64526-24F2-40E5-92B4-7381496A6CD2}"/>
              </a:ext>
            </a:extLst>
          </p:cNvPr>
          <p:cNvSpPr>
            <a:spLocks xmlns:a="http://schemas.openxmlformats.org/drawingml/2006/main" noGrp="1"/>
          </p:cNvSpPr>
          <p:nvPr/>
        </p:nvSpPr>
        <p:spPr>
          <a:xfrm xmlns:a="http://schemas.openxmlformats.org/drawingml/2006/main">
            <a:off x="8191500" y="2609850"/>
            <a:ext cx="2952750" cy="1390650"/>
          </a:xfrm>
          <a:prstGeom xmlns:a="http://schemas.openxmlformats.org/drawingml/2006/main" prst="roundRect">
            <a:avLst>
              <a:gd name="adj" fmla="val 8219"/>
            </a:avLst>
          </a:prstGeom>
          <a:solidFill xmlns:a="http://schemas.openxmlformats.org/drawingml/2006/main">
            <a:srgbClr val="17342C"/>
          </a:solidFill>
          <a:ln xmlns:a="http://schemas.openxmlformats.org/drawingml/2006/main" w="0">
            <a:noFill/>
            <a:prstDash val="solid"/>
          </a:ln>
        </p:spPr>
        <p:txBody>
          <a:bodyPr xmlns:a="http://schemas.openxmlformats.org/drawingml/2006/main" lIns="209550" tIns="209550" rIns="209550" bIns="209550" anchor="ctr">
            <a:normAutofit fontScale="96466"/>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What makes a design direction useful before any software opens?</a:t>
            </a:r>
          </a:p>
        </p:txBody>
      </p:sp>
      <p:sp>
        <p:nvSpPr>
          <p:cNvPr id="18" name="">
            <a:extLst xmlns:a="http://schemas.openxmlformats.org/drawingml/2006/main">
              <a:ext uri="{FF2B5EF4-FFF2-40B4-BE49-F238E27FC236}">
                <a16:creationId xmlns:a16="http://schemas.microsoft.com/office/drawing/2014/main" id="{A8A563F7-8309-4344-88D1-57B7EE73F1C8}"/>
              </a:ext>
            </a:extLst>
          </p:cNvPr>
          <p:cNvSpPr>
            <a:spLocks xmlns:a="http://schemas.openxmlformats.org/drawingml/2006/main" noGrp="1"/>
          </p:cNvSpPr>
          <p:nvPr/>
        </p:nvSpPr>
        <p:spPr>
          <a:xfrm xmlns:a="http://schemas.openxmlformats.org/drawingml/2006/main">
            <a:off x="8191500" y="42291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Think silently → pair → share one reason.</a:t>
            </a:r>
          </a:p>
        </p:txBody>
      </p:sp>
      <p:sp>
        <p:nvSpPr>
          <p:cNvPr id="19" name="">
            <a:extLst xmlns:a="http://schemas.openxmlformats.org/drawingml/2006/main">
              <a:ext uri="{FF2B5EF4-FFF2-40B4-BE49-F238E27FC236}">
                <a16:creationId xmlns:a16="http://schemas.microsoft.com/office/drawing/2014/main" id="{AB574AE6-369B-4DA6-A351-CCEE0E1263AE}"/>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01  •  THE DESIGN CHALLENGE</a:t>
            </a:r>
          </a:p>
        </p:txBody>
      </p:sp>
      <p:sp>
        <p:nvSpPr>
          <p:cNvPr id="20" name="">
            <a:extLst xmlns:a="http://schemas.openxmlformats.org/drawingml/2006/main">
              <a:ext uri="{FF2B5EF4-FFF2-40B4-BE49-F238E27FC236}">
                <a16:creationId xmlns:a16="http://schemas.microsoft.com/office/drawing/2014/main" id="{061EE7D1-1F59-4925-9FC1-8F38C289BF92}"/>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02</a:t>
            </a:r>
          </a:p>
        </p:txBody>
      </p:sp>
    </p:spTree>
    <p:extLst>
      <p:ext uri="{BB962C8B-B14F-4D97-AF65-F5344CB8AC3E}">
        <p14:creationId xmlns:p14="http://schemas.microsoft.com/office/powerpoint/2010/main" val="1085651640"/>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7647DDC-AC61-4AA7-9D33-43C8FCB6DDA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4C2E664-30A6-4704-821D-241E03BF1442}"/>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1.1  PROBLEM, PURPOSE AND BRIEF</a:t>
            </a:r>
          </a:p>
        </p:txBody>
      </p:sp>
      <p:sp>
        <p:nvSpPr>
          <p:cNvPr id="3" name="">
            <a:extLst xmlns:a="http://schemas.openxmlformats.org/drawingml/2006/main">
              <a:ext uri="{FF2B5EF4-FFF2-40B4-BE49-F238E27FC236}">
                <a16:creationId xmlns:a16="http://schemas.microsoft.com/office/drawing/2014/main" id="{2A354F91-0D22-4470-8B35-18CF9D110E00}"/>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Problem, purpose and brief</a:t>
            </a:r>
          </a:p>
        </p:txBody>
      </p:sp>
      <p:sp>
        <p:nvSpPr>
          <p:cNvPr id="4" name="">
            <a:extLst xmlns:a="http://schemas.openxmlformats.org/drawingml/2006/main">
              <a:ext uri="{FF2B5EF4-FFF2-40B4-BE49-F238E27FC236}">
                <a16:creationId xmlns:a16="http://schemas.microsoft.com/office/drawing/2014/main" id="{A91B553E-720C-4626-9E11-8DF073F3B92B}"/>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ED0C8BB7-65FD-4B73-8905-A86FA4A04249}"/>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D01930C-62EF-470E-BEE8-A04C694340AE}"/>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Problem explains the need; purpose explains why it matters.</a:t>
            </a:r>
          </a:p>
        </p:txBody>
      </p:sp>
      <p:sp>
        <p:nvSpPr>
          <p:cNvPr id="7" name="">
            <a:extLst xmlns:a="http://schemas.openxmlformats.org/drawingml/2006/main">
              <a:ext uri="{FF2B5EF4-FFF2-40B4-BE49-F238E27FC236}">
                <a16:creationId xmlns:a16="http://schemas.microsoft.com/office/drawing/2014/main" id="{C288411B-F415-4C4A-ABF9-E3962148A7C0}"/>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005DA68-D742-4389-B45D-067847940E42}"/>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brief directs decisions without deciding the final solution.</a:t>
            </a:r>
          </a:p>
        </p:txBody>
      </p:sp>
      <p:sp>
        <p:nvSpPr>
          <p:cNvPr id="9" name="">
            <a:extLst xmlns:a="http://schemas.openxmlformats.org/drawingml/2006/main">
              <a:ext uri="{FF2B5EF4-FFF2-40B4-BE49-F238E27FC236}">
                <a16:creationId xmlns:a16="http://schemas.microsoft.com/office/drawing/2014/main" id="{9C189983-D3CC-436C-888D-AB5297B58A10}"/>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9A6138F-C0F8-4913-B8B9-0166A6979885}"/>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Unconfirmed local rules remain teacher decisions.</a:t>
            </a:r>
          </a:p>
        </p:txBody>
      </p:sp>
      <p:sp>
        <p:nvSpPr>
          <p:cNvPr id="11" name="">
            <a:extLst xmlns:a="http://schemas.openxmlformats.org/drawingml/2006/main">
              <a:ext uri="{FF2B5EF4-FFF2-40B4-BE49-F238E27FC236}">
                <a16:creationId xmlns:a16="http://schemas.microsoft.com/office/drawing/2014/main" id="{663F933A-467B-4D10-A4E9-965608A8E045}"/>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E5A41B14-ADC4-4BDA-8582-F877FE26B4EC}"/>
              </a:ext>
            </a:extLst>
          </p:cNvPr>
          <p:cNvSpPr>
            <a:spLocks xmlns:a="http://schemas.openxmlformats.org/drawingml/2006/main" noGrp="1"/>
          </p:cNvSpPr>
          <p:nvPr/>
        </p:nvSpPr>
        <p:spPr>
          <a:xfrm xmlns:a="http://schemas.openxmlformats.org/drawingml/2006/main">
            <a:off x="7410450" y="1524000"/>
            <a:ext cx="3886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0C5554"/>
                </a:solidFill>
                <a:latin typeface="Arial"/>
                <a:ea typeface="Arial"/>
                <a:cs typeface="Arial"/>
              </a:defRPr>
            </a:pPr>
            <a:r>
              <a:rPr sz="1425" b="1">
                <a:solidFill>
                  <a:srgbClr val="0C5554"/>
                </a:solidFill>
                <a:latin typeface="Arial"/>
                <a:ea typeface="Arial"/>
                <a:cs typeface="Arial"/>
              </a:rPr>
              <a:t>A BRIEF IS A TESTABLE LOOP</a:t>
            </a:r>
          </a:p>
        </p:txBody>
      </p:sp>
      <p:sp>
        <p:nvSpPr>
          <p:cNvPr id="13" name="">
            <a:extLst xmlns:a="http://schemas.openxmlformats.org/drawingml/2006/main">
              <a:ext uri="{FF2B5EF4-FFF2-40B4-BE49-F238E27FC236}">
                <a16:creationId xmlns:a16="http://schemas.microsoft.com/office/drawing/2014/main" id="{3C24035C-C17B-4DCC-AF2E-C0AD50B7964E}"/>
              </a:ext>
            </a:extLst>
          </p:cNvPr>
          <p:cNvSpPr>
            <a:spLocks xmlns:a="http://schemas.openxmlformats.org/drawingml/2006/main" noGrp="1"/>
          </p:cNvSpPr>
          <p:nvPr/>
        </p:nvSpPr>
        <p:spPr>
          <a:xfrm xmlns:a="http://schemas.openxmlformats.org/drawingml/2006/main">
            <a:off x="7696200" y="1924050"/>
            <a:ext cx="3314700" cy="428625"/>
          </a:xfrm>
          <a:prstGeom xmlns:a="http://schemas.openxmlformats.org/drawingml/2006/main" prst="roundRect">
            <a:avLst>
              <a:gd name="adj" fmla="val 17778"/>
            </a:avLst>
          </a:prstGeom>
          <a:solidFill xmlns:a="http://schemas.openxmlformats.org/drawingml/2006/main">
            <a:srgbClr val="0C5554"/>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PROBLEM</a:t>
            </a:r>
          </a:p>
        </p:txBody>
      </p:sp>
      <p:sp>
        <p:nvSpPr>
          <p:cNvPr id="14" name="">
            <a:extLst xmlns:a="http://schemas.openxmlformats.org/drawingml/2006/main">
              <a:ext uri="{FF2B5EF4-FFF2-40B4-BE49-F238E27FC236}">
                <a16:creationId xmlns:a16="http://schemas.microsoft.com/office/drawing/2014/main" id="{5A05957E-6BB8-48C6-9B66-90036F4067C3}"/>
              </a:ext>
            </a:extLst>
          </p:cNvPr>
          <p:cNvSpPr>
            <a:spLocks xmlns:a="http://schemas.openxmlformats.org/drawingml/2006/main" noGrp="1"/>
          </p:cNvSpPr>
          <p:nvPr/>
        </p:nvSpPr>
        <p:spPr>
          <a:xfrm xmlns:a="http://schemas.openxmlformats.org/drawingml/2006/main">
            <a:off x="9182100" y="235267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A636EF10-A53F-48CC-B10B-CDB95290ADE4}"/>
              </a:ext>
            </a:extLst>
          </p:cNvPr>
          <p:cNvSpPr>
            <a:spLocks xmlns:a="http://schemas.openxmlformats.org/drawingml/2006/main" noGrp="1"/>
          </p:cNvSpPr>
          <p:nvPr/>
        </p:nvSpPr>
        <p:spPr>
          <a:xfrm xmlns:a="http://schemas.openxmlformats.org/drawingml/2006/main">
            <a:off x="7696200" y="2466975"/>
            <a:ext cx="3314700" cy="428625"/>
          </a:xfrm>
          <a:prstGeom xmlns:a="http://schemas.openxmlformats.org/drawingml/2006/main" prst="roundRect">
            <a:avLst>
              <a:gd name="adj" fmla="val 17778"/>
            </a:avLst>
          </a:prstGeom>
          <a:solidFill xmlns:a="http://schemas.openxmlformats.org/drawingml/2006/main">
            <a:srgbClr val="F2BD3C"/>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17342C"/>
                </a:solidFill>
                <a:latin typeface="Arial"/>
                <a:ea typeface="Arial"/>
                <a:cs typeface="Arial"/>
              </a:defRPr>
            </a:pPr>
            <a:r>
              <a:rPr sz="1425" b="1">
                <a:solidFill>
                  <a:srgbClr val="17342C"/>
                </a:solidFill>
                <a:latin typeface="Arial"/>
                <a:ea typeface="Arial"/>
                <a:cs typeface="Arial"/>
              </a:rPr>
              <a:t>PURPOSE</a:t>
            </a:r>
          </a:p>
        </p:txBody>
      </p:sp>
      <p:sp>
        <p:nvSpPr>
          <p:cNvPr id="16" name="">
            <a:extLst xmlns:a="http://schemas.openxmlformats.org/drawingml/2006/main">
              <a:ext uri="{FF2B5EF4-FFF2-40B4-BE49-F238E27FC236}">
                <a16:creationId xmlns:a16="http://schemas.microsoft.com/office/drawing/2014/main" id="{7874318A-EF03-4199-B423-EA6E52322530}"/>
              </a:ext>
            </a:extLst>
          </p:cNvPr>
          <p:cNvSpPr>
            <a:spLocks xmlns:a="http://schemas.openxmlformats.org/drawingml/2006/main" noGrp="1"/>
          </p:cNvSpPr>
          <p:nvPr/>
        </p:nvSpPr>
        <p:spPr>
          <a:xfrm xmlns:a="http://schemas.openxmlformats.org/drawingml/2006/main">
            <a:off x="9182100" y="2895600"/>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29686227-4471-4FEF-94AB-86F1D4B04208}"/>
              </a:ext>
            </a:extLst>
          </p:cNvPr>
          <p:cNvSpPr>
            <a:spLocks xmlns:a="http://schemas.openxmlformats.org/drawingml/2006/main" noGrp="1"/>
          </p:cNvSpPr>
          <p:nvPr/>
        </p:nvSpPr>
        <p:spPr>
          <a:xfrm xmlns:a="http://schemas.openxmlformats.org/drawingml/2006/main">
            <a:off x="7696200" y="3009900"/>
            <a:ext cx="3314700" cy="428625"/>
          </a:xfrm>
          <a:prstGeom xmlns:a="http://schemas.openxmlformats.org/drawingml/2006/main" prst="roundRect">
            <a:avLst>
              <a:gd name="adj" fmla="val 17778"/>
            </a:avLst>
          </a:prstGeom>
          <a:solidFill xmlns:a="http://schemas.openxmlformats.org/drawingml/2006/main">
            <a:srgbClr val="17756F"/>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BRIEF</a:t>
            </a:r>
          </a:p>
        </p:txBody>
      </p:sp>
      <p:sp>
        <p:nvSpPr>
          <p:cNvPr id="18" name="">
            <a:extLst xmlns:a="http://schemas.openxmlformats.org/drawingml/2006/main">
              <a:ext uri="{FF2B5EF4-FFF2-40B4-BE49-F238E27FC236}">
                <a16:creationId xmlns:a16="http://schemas.microsoft.com/office/drawing/2014/main" id="{E46F7AE6-2D83-4ECB-AAAF-E22B2A263443}"/>
              </a:ext>
            </a:extLst>
          </p:cNvPr>
          <p:cNvSpPr>
            <a:spLocks xmlns:a="http://schemas.openxmlformats.org/drawingml/2006/main" noGrp="1"/>
          </p:cNvSpPr>
          <p:nvPr/>
        </p:nvSpPr>
        <p:spPr>
          <a:xfrm xmlns:a="http://schemas.openxmlformats.org/drawingml/2006/main">
            <a:off x="9182100" y="343852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E240ABBB-1068-4E6E-BFAC-CF98D5CB0AC1}"/>
              </a:ext>
            </a:extLst>
          </p:cNvPr>
          <p:cNvSpPr>
            <a:spLocks xmlns:a="http://schemas.openxmlformats.org/drawingml/2006/main" noGrp="1"/>
          </p:cNvSpPr>
          <p:nvPr/>
        </p:nvSpPr>
        <p:spPr>
          <a:xfrm xmlns:a="http://schemas.openxmlformats.org/drawingml/2006/main">
            <a:off x="7696200" y="3552825"/>
            <a:ext cx="3314700" cy="428625"/>
          </a:xfrm>
          <a:prstGeom xmlns:a="http://schemas.openxmlformats.org/drawingml/2006/main" prst="roundRect">
            <a:avLst>
              <a:gd name="adj" fmla="val 17778"/>
            </a:avLst>
          </a:prstGeom>
          <a:solidFill xmlns:a="http://schemas.openxmlformats.org/drawingml/2006/main">
            <a:srgbClr val="6A57C8"/>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TEST</a:t>
            </a:r>
          </a:p>
        </p:txBody>
      </p:sp>
      <p:sp>
        <p:nvSpPr>
          <p:cNvPr id="20" name="">
            <a:extLst xmlns:a="http://schemas.openxmlformats.org/drawingml/2006/main">
              <a:ext uri="{FF2B5EF4-FFF2-40B4-BE49-F238E27FC236}">
                <a16:creationId xmlns:a16="http://schemas.microsoft.com/office/drawing/2014/main" id="{B99CB274-DA60-42BF-B0DF-6D5B93E2B81E}"/>
              </a:ext>
            </a:extLst>
          </p:cNvPr>
          <p:cNvSpPr>
            <a:spLocks xmlns:a="http://schemas.openxmlformats.org/drawingml/2006/main" noGrp="1"/>
          </p:cNvSpPr>
          <p:nvPr/>
        </p:nvSpPr>
        <p:spPr>
          <a:xfrm xmlns:a="http://schemas.openxmlformats.org/drawingml/2006/main">
            <a:off x="7429500" y="4343400"/>
            <a:ext cx="3848100" cy="361950"/>
          </a:xfrm>
          <a:prstGeom xmlns:a="http://schemas.openxmlformats.org/drawingml/2006/main" prst="roundRect">
            <a:avLst>
              <a:gd name="adj" fmla="val 2105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95250" tIns="47625" rIns="95250" bIns="47625" anchor="ctr">
            <a:normAutofit fontScale="91897"/>
          </a:bodyPr>
          <a:lstStyle xmlns:a="http://schemas.openxmlformats.org/drawingml/2006/main"/>
          <a:p xmlns:a="http://schemas.openxmlformats.org/drawingml/2006/main">
            <a:pPr algn="ctr">
              <a:defRPr sz="1200" b="1">
                <a:solidFill>
                  <a:srgbClr val="17342C"/>
                </a:solidFill>
                <a:latin typeface="Arial"/>
                <a:ea typeface="Arial"/>
                <a:cs typeface="Arial"/>
              </a:defRPr>
            </a:pPr>
            <a:r>
              <a:rPr sz="1200" b="1">
                <a:solidFill>
                  <a:srgbClr val="17342C"/>
                </a:solidFill>
                <a:latin typeface="Arial"/>
                <a:ea typeface="Arial"/>
                <a:cs typeface="Arial"/>
              </a:rPr>
              <a:t>Use audience needs and criteria to test every revision.</a:t>
            </a:r>
          </a:p>
        </p:txBody>
      </p:sp>
      <p:sp>
        <p:nvSpPr>
          <p:cNvPr id="21" name="">
            <a:extLst xmlns:a="http://schemas.openxmlformats.org/drawingml/2006/main">
              <a:ext uri="{FF2B5EF4-FFF2-40B4-BE49-F238E27FC236}">
                <a16:creationId xmlns:a16="http://schemas.microsoft.com/office/drawing/2014/main" id="{1738D802-28F3-40E9-ACEC-4364862CE464}"/>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2" name="">
            <a:extLst xmlns:a="http://schemas.openxmlformats.org/drawingml/2006/main">
              <a:ext uri="{FF2B5EF4-FFF2-40B4-BE49-F238E27FC236}">
                <a16:creationId xmlns:a16="http://schemas.microsoft.com/office/drawing/2014/main" id="{CAFED32C-C808-4E46-9D9B-D1222204965A}"/>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Which statement best describes a design brief?</a:t>
            </a:r>
          </a:p>
        </p:txBody>
      </p:sp>
      <p:sp>
        <p:nvSpPr>
          <p:cNvPr id="23" name="">
            <a:extLst xmlns:a="http://schemas.openxmlformats.org/drawingml/2006/main">
              <a:ext uri="{FF2B5EF4-FFF2-40B4-BE49-F238E27FC236}">
                <a16:creationId xmlns:a16="http://schemas.microsoft.com/office/drawing/2014/main" id="{FD689F00-F782-4A00-9678-0DF36007337E}"/>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01  •  THE DESIGN CHALLENGE</a:t>
            </a:r>
          </a:p>
        </p:txBody>
      </p:sp>
      <p:sp>
        <p:nvSpPr>
          <p:cNvPr id="24" name="">
            <a:extLst xmlns:a="http://schemas.openxmlformats.org/drawingml/2006/main">
              <a:ext uri="{FF2B5EF4-FFF2-40B4-BE49-F238E27FC236}">
                <a16:creationId xmlns:a16="http://schemas.microsoft.com/office/drawing/2014/main" id="{496A3A19-4704-45A2-A401-B98B902C9BEF}"/>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03</a:t>
            </a:r>
          </a:p>
        </p:txBody>
      </p:sp>
    </p:spTree>
    <p:extLst>
      <p:ext uri="{BB962C8B-B14F-4D97-AF65-F5344CB8AC3E}">
        <p14:creationId xmlns:p14="http://schemas.microsoft.com/office/powerpoint/2010/main" val="2053586596"/>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A728C7B-93B0-42E4-9B23-4199F8B9354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A70135-1B52-486A-9E37-DF6A9D305A90}"/>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1.2  USERS AND TARGET AUDIENCES</a:t>
            </a:r>
          </a:p>
        </p:txBody>
      </p:sp>
      <p:sp>
        <p:nvSpPr>
          <p:cNvPr id="3" name="">
            <a:extLst xmlns:a="http://schemas.openxmlformats.org/drawingml/2006/main">
              <a:ext uri="{FF2B5EF4-FFF2-40B4-BE49-F238E27FC236}">
                <a16:creationId xmlns:a16="http://schemas.microsoft.com/office/drawing/2014/main" id="{C822E74C-9E69-4230-A099-45AAB69BCC3B}"/>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Users and target audiences</a:t>
            </a:r>
          </a:p>
        </p:txBody>
      </p:sp>
      <p:sp>
        <p:nvSpPr>
          <p:cNvPr id="4" name="">
            <a:extLst xmlns:a="http://schemas.openxmlformats.org/drawingml/2006/main">
              <a:ext uri="{FF2B5EF4-FFF2-40B4-BE49-F238E27FC236}">
                <a16:creationId xmlns:a16="http://schemas.microsoft.com/office/drawing/2014/main" id="{B147D923-F70D-4871-852E-43C5B617EC9D}"/>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CAB714C4-03F2-407A-AED8-D964E0A7C645}"/>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7D90C2B-4ADE-49B1-A510-B2527AAA0766}"/>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Profiles describe needs and context, not just demographics.</a:t>
            </a:r>
          </a:p>
        </p:txBody>
      </p:sp>
      <p:sp>
        <p:nvSpPr>
          <p:cNvPr id="7" name="">
            <a:extLst xmlns:a="http://schemas.openxmlformats.org/drawingml/2006/main">
              <a:ext uri="{FF2B5EF4-FFF2-40B4-BE49-F238E27FC236}">
                <a16:creationId xmlns:a16="http://schemas.microsoft.com/office/drawing/2014/main" id="{A7DBDD3D-613C-4CA0-B95B-689E97225F3F}"/>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BC974D0-23B0-4FD3-8CC2-D1F0C795BB5F}"/>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Avoid stereotypes and justify choices with evidence.</a:t>
            </a:r>
          </a:p>
        </p:txBody>
      </p:sp>
      <p:sp>
        <p:nvSpPr>
          <p:cNvPr id="9" name="">
            <a:extLst xmlns:a="http://schemas.openxmlformats.org/drawingml/2006/main">
              <a:ext uri="{FF2B5EF4-FFF2-40B4-BE49-F238E27FC236}">
                <a16:creationId xmlns:a16="http://schemas.microsoft.com/office/drawing/2014/main" id="{69C9EFB2-B370-4979-8BF1-75276C49A8C4}"/>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A877FF0-79EC-4F13-AF74-D25720E783B2}"/>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Accessibility supports a wider range of users.</a:t>
            </a:r>
          </a:p>
        </p:txBody>
      </p:sp>
      <p:sp>
        <p:nvSpPr>
          <p:cNvPr id="11" name="">
            <a:extLst xmlns:a="http://schemas.openxmlformats.org/drawingml/2006/main">
              <a:ext uri="{FF2B5EF4-FFF2-40B4-BE49-F238E27FC236}">
                <a16:creationId xmlns:a16="http://schemas.microsoft.com/office/drawing/2014/main" id="{4C7210FD-23FA-47C1-9C87-0B7CA9C4466B}"/>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F68D867E-0712-4E4C-A47A-077633D2644E}"/>
              </a:ext>
            </a:extLst>
          </p:cNvPr>
          <p:cNvSpPr>
            <a:spLocks xmlns:a="http://schemas.openxmlformats.org/drawingml/2006/main" noGrp="1"/>
          </p:cNvSpPr>
          <p:nvPr/>
        </p:nvSpPr>
        <p:spPr>
          <a:xfrm xmlns:a="http://schemas.openxmlformats.org/drawingml/2006/main">
            <a:off x="7410450" y="1524000"/>
            <a:ext cx="3886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0C5554"/>
                </a:solidFill>
                <a:latin typeface="Arial"/>
                <a:ea typeface="Arial"/>
                <a:cs typeface="Arial"/>
              </a:defRPr>
            </a:pPr>
            <a:r>
              <a:rPr sz="1425" b="1">
                <a:solidFill>
                  <a:srgbClr val="0C5554"/>
                </a:solidFill>
                <a:latin typeface="Arial"/>
                <a:ea typeface="Arial"/>
                <a:cs typeface="Arial"/>
              </a:rPr>
              <a:t>BUILD ONE USEFUL AUDIENCE PROFILE</a:t>
            </a:r>
          </a:p>
        </p:txBody>
      </p:sp>
      <p:sp>
        <p:nvSpPr>
          <p:cNvPr id="13" name="">
            <a:extLst xmlns:a="http://schemas.openxmlformats.org/drawingml/2006/main">
              <a:ext uri="{FF2B5EF4-FFF2-40B4-BE49-F238E27FC236}">
                <a16:creationId xmlns:a16="http://schemas.microsoft.com/office/drawing/2014/main" id="{B50F241F-F0FD-433C-A5B3-BE2228EC3FA6}"/>
              </a:ext>
            </a:extLst>
          </p:cNvPr>
          <p:cNvSpPr>
            <a:spLocks xmlns:a="http://schemas.openxmlformats.org/drawingml/2006/main" noGrp="1"/>
          </p:cNvSpPr>
          <p:nvPr/>
        </p:nvSpPr>
        <p:spPr>
          <a:xfrm xmlns:a="http://schemas.openxmlformats.org/drawingml/2006/main">
            <a:off x="7448550" y="2019300"/>
            <a:ext cx="1733550" cy="666750"/>
          </a:xfrm>
          <a:prstGeom xmlns:a="http://schemas.openxmlformats.org/drawingml/2006/main" prst="roundRect">
            <a:avLst>
              <a:gd name="adj" fmla="val 11429"/>
            </a:avLst>
          </a:prstGeom>
          <a:solidFill xmlns:a="http://schemas.openxmlformats.org/drawingml/2006/main">
            <a:srgbClr val="0C5554"/>
          </a:solidFill>
          <a:ln xmlns:a="http://schemas.openxmlformats.org/drawingml/2006/main" w="0">
            <a:no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NEEDS</a:t>
            </a:r>
          </a:p>
        </p:txBody>
      </p:sp>
      <p:sp>
        <p:nvSpPr>
          <p:cNvPr id="14" name="">
            <a:extLst xmlns:a="http://schemas.openxmlformats.org/drawingml/2006/main">
              <a:ext uri="{FF2B5EF4-FFF2-40B4-BE49-F238E27FC236}">
                <a16:creationId xmlns:a16="http://schemas.microsoft.com/office/drawing/2014/main" id="{B97D34F9-80B5-43F8-8D1D-6D8F8423526D}"/>
              </a:ext>
            </a:extLst>
          </p:cNvPr>
          <p:cNvSpPr>
            <a:spLocks xmlns:a="http://schemas.openxmlformats.org/drawingml/2006/main" noGrp="1"/>
          </p:cNvSpPr>
          <p:nvPr/>
        </p:nvSpPr>
        <p:spPr>
          <a:xfrm xmlns:a="http://schemas.openxmlformats.org/drawingml/2006/main">
            <a:off x="9410700" y="2019300"/>
            <a:ext cx="1733550" cy="666750"/>
          </a:xfrm>
          <a:prstGeom xmlns:a="http://schemas.openxmlformats.org/drawingml/2006/main" prst="roundRect">
            <a:avLst>
              <a:gd name="adj" fmla="val 11429"/>
            </a:avLst>
          </a:prstGeom>
          <a:solidFill xmlns:a="http://schemas.openxmlformats.org/drawingml/2006/main">
            <a:srgbClr val="F2BD3C"/>
          </a:solidFill>
          <a:ln xmlns:a="http://schemas.openxmlformats.org/drawingml/2006/main" w="0">
            <a:no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500" b="1">
                <a:solidFill>
                  <a:srgbClr val="17342C"/>
                </a:solidFill>
                <a:latin typeface="Arial"/>
                <a:ea typeface="Arial"/>
                <a:cs typeface="Arial"/>
              </a:defRPr>
            </a:pPr>
            <a:r>
              <a:rPr sz="1500" b="1">
                <a:solidFill>
                  <a:srgbClr val="17342C"/>
                </a:solidFill>
                <a:latin typeface="Arial"/>
                <a:ea typeface="Arial"/>
                <a:cs typeface="Arial"/>
              </a:rPr>
              <a:t>HABITS</a:t>
            </a:r>
          </a:p>
        </p:txBody>
      </p:sp>
      <p:sp>
        <p:nvSpPr>
          <p:cNvPr id="15" name="">
            <a:extLst xmlns:a="http://schemas.openxmlformats.org/drawingml/2006/main">
              <a:ext uri="{FF2B5EF4-FFF2-40B4-BE49-F238E27FC236}">
                <a16:creationId xmlns:a16="http://schemas.microsoft.com/office/drawing/2014/main" id="{0B9A915D-F054-4B4E-97D2-99945D3F1239}"/>
              </a:ext>
            </a:extLst>
          </p:cNvPr>
          <p:cNvSpPr>
            <a:spLocks xmlns:a="http://schemas.openxmlformats.org/drawingml/2006/main" noGrp="1"/>
          </p:cNvSpPr>
          <p:nvPr/>
        </p:nvSpPr>
        <p:spPr>
          <a:xfrm xmlns:a="http://schemas.openxmlformats.org/drawingml/2006/main">
            <a:off x="7448550" y="2895600"/>
            <a:ext cx="1733550" cy="666750"/>
          </a:xfrm>
          <a:prstGeom xmlns:a="http://schemas.openxmlformats.org/drawingml/2006/main" prst="roundRect">
            <a:avLst>
              <a:gd name="adj" fmla="val 11429"/>
            </a:avLst>
          </a:prstGeom>
          <a:solidFill xmlns:a="http://schemas.openxmlformats.org/drawingml/2006/main">
            <a:srgbClr val="E8674B"/>
          </a:solidFill>
          <a:ln xmlns:a="http://schemas.openxmlformats.org/drawingml/2006/main" w="0">
            <a:no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ACCESS</a:t>
            </a:r>
          </a:p>
        </p:txBody>
      </p:sp>
      <p:sp>
        <p:nvSpPr>
          <p:cNvPr id="16" name="">
            <a:extLst xmlns:a="http://schemas.openxmlformats.org/drawingml/2006/main">
              <a:ext uri="{FF2B5EF4-FFF2-40B4-BE49-F238E27FC236}">
                <a16:creationId xmlns:a16="http://schemas.microsoft.com/office/drawing/2014/main" id="{52023584-942B-40BA-B4C4-C03CD28F2508}"/>
              </a:ext>
            </a:extLst>
          </p:cNvPr>
          <p:cNvSpPr>
            <a:spLocks xmlns:a="http://schemas.openxmlformats.org/drawingml/2006/main" noGrp="1"/>
          </p:cNvSpPr>
          <p:nvPr/>
        </p:nvSpPr>
        <p:spPr>
          <a:xfrm xmlns:a="http://schemas.openxmlformats.org/drawingml/2006/main">
            <a:off x="9410700" y="2895600"/>
            <a:ext cx="1733550" cy="666750"/>
          </a:xfrm>
          <a:prstGeom xmlns:a="http://schemas.openxmlformats.org/drawingml/2006/main" prst="roundRect">
            <a:avLst>
              <a:gd name="adj" fmla="val 11429"/>
            </a:avLst>
          </a:prstGeom>
          <a:solidFill xmlns:a="http://schemas.openxmlformats.org/drawingml/2006/main">
            <a:srgbClr val="17756F"/>
          </a:solidFill>
          <a:ln xmlns:a="http://schemas.openxmlformats.org/drawingml/2006/main" w="0">
            <a:noFill/>
            <a:prstDash val="solid"/>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CONTEXT</a:t>
            </a:r>
          </a:p>
        </p:txBody>
      </p:sp>
      <p:sp>
        <p:nvSpPr>
          <p:cNvPr id="17" name="">
            <a:extLst xmlns:a="http://schemas.openxmlformats.org/drawingml/2006/main">
              <a:ext uri="{FF2B5EF4-FFF2-40B4-BE49-F238E27FC236}">
                <a16:creationId xmlns:a16="http://schemas.microsoft.com/office/drawing/2014/main" id="{A94EE1D9-9DD6-4439-9893-5846CAF4B98C}"/>
              </a:ext>
            </a:extLst>
          </p:cNvPr>
          <p:cNvSpPr>
            <a:spLocks xmlns:a="http://schemas.openxmlformats.org/drawingml/2006/main" noGrp="1"/>
          </p:cNvSpPr>
          <p:nvPr/>
        </p:nvSpPr>
        <p:spPr>
          <a:xfrm xmlns:a="http://schemas.openxmlformats.org/drawingml/2006/main">
            <a:off x="7429500" y="4343400"/>
            <a:ext cx="3848100" cy="361950"/>
          </a:xfrm>
          <a:prstGeom xmlns:a="http://schemas.openxmlformats.org/drawingml/2006/main" prst="roundRect">
            <a:avLst>
              <a:gd name="adj" fmla="val 2105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95250" tIns="47625" rIns="95250" bIns="47625" anchor="ctr">
            <a:normAutofit fontScale="77634"/>
          </a:bodyPr>
          <a:lstStyle xmlns:a="http://schemas.openxmlformats.org/drawingml/2006/main"/>
          <a:p xmlns:a="http://schemas.openxmlformats.org/drawingml/2006/main">
            <a:pPr algn="ctr">
              <a:defRPr sz="1200" b="1">
                <a:solidFill>
                  <a:srgbClr val="17342C"/>
                </a:solidFill>
                <a:latin typeface="Arial"/>
                <a:ea typeface="Arial"/>
                <a:cs typeface="Arial"/>
              </a:defRPr>
            </a:pPr>
            <a:r>
              <a:rPr sz="1200" b="1">
                <a:solidFill>
                  <a:srgbClr val="17342C"/>
                </a:solidFill>
                <a:latin typeface="Arial"/>
                <a:ea typeface="Arial"/>
                <a:cs typeface="Arial"/>
              </a:rPr>
              <a:t>Evidence from all four areas is stronger than an age-only guess.</a:t>
            </a:r>
          </a:p>
        </p:txBody>
      </p:sp>
      <p:sp>
        <p:nvSpPr>
          <p:cNvPr id="18" name="">
            <a:extLst xmlns:a="http://schemas.openxmlformats.org/drawingml/2006/main">
              <a:ext uri="{FF2B5EF4-FFF2-40B4-BE49-F238E27FC236}">
                <a16:creationId xmlns:a16="http://schemas.microsoft.com/office/drawing/2014/main" id="{43A468C3-4A61-4BED-9BC1-CA710D65F07E}"/>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19" name="">
            <a:extLst xmlns:a="http://schemas.openxmlformats.org/drawingml/2006/main">
              <a:ext uri="{FF2B5EF4-FFF2-40B4-BE49-F238E27FC236}">
                <a16:creationId xmlns:a16="http://schemas.microsoft.com/office/drawing/2014/main" id="{A6C8D4AD-EAF3-46EB-B559-D2A689D87A07}"/>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Which audience description gives the strongest design guidance?</a:t>
            </a:r>
          </a:p>
        </p:txBody>
      </p:sp>
      <p:sp>
        <p:nvSpPr>
          <p:cNvPr id="20" name="">
            <a:extLst xmlns:a="http://schemas.openxmlformats.org/drawingml/2006/main">
              <a:ext uri="{FF2B5EF4-FFF2-40B4-BE49-F238E27FC236}">
                <a16:creationId xmlns:a16="http://schemas.microsoft.com/office/drawing/2014/main" id="{81F3AA84-2D1A-4666-B2C0-9ABC9BBE322B}"/>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01  •  THE DESIGN CHALLENGE</a:t>
            </a:r>
          </a:p>
        </p:txBody>
      </p:sp>
      <p:sp>
        <p:nvSpPr>
          <p:cNvPr id="21" name="">
            <a:extLst xmlns:a="http://schemas.openxmlformats.org/drawingml/2006/main">
              <a:ext uri="{FF2B5EF4-FFF2-40B4-BE49-F238E27FC236}">
                <a16:creationId xmlns:a16="http://schemas.microsoft.com/office/drawing/2014/main" id="{F49B7B15-D549-4A63-8931-8E13B71ADABB}"/>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04</a:t>
            </a:r>
          </a:p>
        </p:txBody>
      </p:sp>
    </p:spTree>
    <p:extLst>
      <p:ext uri="{BB962C8B-B14F-4D97-AF65-F5344CB8AC3E}">
        <p14:creationId xmlns:p14="http://schemas.microsoft.com/office/powerpoint/2010/main" val="2134366090"/>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D16CE72-AD3F-4D67-8907-3045734793E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DE8C25-DEA4-40B9-ADCB-9CD86373D116}"/>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1.3  ORIGINAL IDEAS AND RESPONSIBLE AI</a:t>
            </a:r>
          </a:p>
        </p:txBody>
      </p:sp>
      <p:sp>
        <p:nvSpPr>
          <p:cNvPr id="3" name="">
            <a:extLst xmlns:a="http://schemas.openxmlformats.org/drawingml/2006/main">
              <a:ext uri="{FF2B5EF4-FFF2-40B4-BE49-F238E27FC236}">
                <a16:creationId xmlns:a16="http://schemas.microsoft.com/office/drawing/2014/main" id="{F4150B00-3972-4938-B52B-98FEC49A9D44}"/>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Original ideas and responsible AI</a:t>
            </a:r>
          </a:p>
        </p:txBody>
      </p:sp>
      <p:sp>
        <p:nvSpPr>
          <p:cNvPr id="4" name="">
            <a:extLst xmlns:a="http://schemas.openxmlformats.org/drawingml/2006/main">
              <a:ext uri="{FF2B5EF4-FFF2-40B4-BE49-F238E27FC236}">
                <a16:creationId xmlns:a16="http://schemas.microsoft.com/office/drawing/2014/main" id="{59C2D082-1358-4D47-BE23-C36E0782B87E}"/>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8BF9EDC9-EF59-4469-B959-7620A0E04D37}"/>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996D9D3-8BFB-4023-B317-B23B6D279B07}"/>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References can support originality when ideas are transformed.</a:t>
            </a:r>
          </a:p>
        </p:txBody>
      </p:sp>
      <p:sp>
        <p:nvSpPr>
          <p:cNvPr id="7" name="">
            <a:extLst xmlns:a="http://schemas.openxmlformats.org/drawingml/2006/main">
              <a:ext uri="{FF2B5EF4-FFF2-40B4-BE49-F238E27FC236}">
                <a16:creationId xmlns:a16="http://schemas.microsoft.com/office/drawing/2014/main" id="{9F26EDF1-9414-465D-81B7-34562234661D}"/>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896284F-0C47-4FB1-BB3F-5FA447A5FF91}"/>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AI output must be checked, selected and edited.</a:t>
            </a:r>
          </a:p>
        </p:txBody>
      </p:sp>
      <p:sp>
        <p:nvSpPr>
          <p:cNvPr id="9" name="">
            <a:extLst xmlns:a="http://schemas.openxmlformats.org/drawingml/2006/main">
              <a:ext uri="{FF2B5EF4-FFF2-40B4-BE49-F238E27FC236}">
                <a16:creationId xmlns:a16="http://schemas.microsoft.com/office/drawing/2014/main" id="{4E0DAE30-DF25-4DFF-BB97-01F5D0B218A6}"/>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AC8C9A0-AC43-4565-BAEA-87FEC6880559}"/>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Keep personal and controlled information out of unconfirmed tools.</a:t>
            </a:r>
          </a:p>
        </p:txBody>
      </p:sp>
      <p:sp>
        <p:nvSpPr>
          <p:cNvPr id="11" name="">
            <a:extLst xmlns:a="http://schemas.openxmlformats.org/drawingml/2006/main">
              <a:ext uri="{FF2B5EF4-FFF2-40B4-BE49-F238E27FC236}">
                <a16:creationId xmlns:a16="http://schemas.microsoft.com/office/drawing/2014/main" id="{6E4A5455-FA9E-4484-BBA3-ED6D6A119F22}"/>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8394A70C-CC58-499B-AE56-3B496C447A37}"/>
              </a:ext>
            </a:extLst>
          </p:cNvPr>
          <p:cNvSpPr>
            <a:spLocks xmlns:a="http://schemas.openxmlformats.org/drawingml/2006/main" noGrp="1"/>
          </p:cNvSpPr>
          <p:nvPr/>
        </p:nvSpPr>
        <p:spPr>
          <a:xfrm xmlns:a="http://schemas.openxmlformats.org/drawingml/2006/main">
            <a:off x="7410450" y="1524000"/>
            <a:ext cx="3886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0C5554"/>
                </a:solidFill>
                <a:latin typeface="Arial"/>
                <a:ea typeface="Arial"/>
                <a:cs typeface="Arial"/>
              </a:defRPr>
            </a:pPr>
            <a:r>
              <a:rPr sz="1425" b="1">
                <a:solidFill>
                  <a:srgbClr val="0C5554"/>
                </a:solidFill>
                <a:latin typeface="Arial"/>
                <a:ea typeface="Arial"/>
                <a:cs typeface="Arial"/>
              </a:rPr>
              <a:t>KEEP THE DESIGN STUDENT-OWNED</a:t>
            </a:r>
          </a:p>
        </p:txBody>
      </p:sp>
      <p:sp>
        <p:nvSpPr>
          <p:cNvPr id="13" name="">
            <a:extLst xmlns:a="http://schemas.openxmlformats.org/drawingml/2006/main">
              <a:ext uri="{FF2B5EF4-FFF2-40B4-BE49-F238E27FC236}">
                <a16:creationId xmlns:a16="http://schemas.microsoft.com/office/drawing/2014/main" id="{EF8E9EEF-3AB0-4900-AB50-959857EBAF58}"/>
              </a:ext>
            </a:extLst>
          </p:cNvPr>
          <p:cNvSpPr>
            <a:spLocks xmlns:a="http://schemas.openxmlformats.org/drawingml/2006/main" noGrp="1"/>
          </p:cNvSpPr>
          <p:nvPr/>
        </p:nvSpPr>
        <p:spPr>
          <a:xfrm xmlns:a="http://schemas.openxmlformats.org/drawingml/2006/main">
            <a:off x="7696200" y="1924050"/>
            <a:ext cx="3314700" cy="428625"/>
          </a:xfrm>
          <a:prstGeom xmlns:a="http://schemas.openxmlformats.org/drawingml/2006/main" prst="roundRect">
            <a:avLst>
              <a:gd name="adj" fmla="val 17778"/>
            </a:avLst>
          </a:prstGeom>
          <a:solidFill xmlns:a="http://schemas.openxmlformats.org/drawingml/2006/main">
            <a:srgbClr val="0C5554"/>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CHECK SOURCE</a:t>
            </a:r>
          </a:p>
        </p:txBody>
      </p:sp>
      <p:sp>
        <p:nvSpPr>
          <p:cNvPr id="14" name="">
            <a:extLst xmlns:a="http://schemas.openxmlformats.org/drawingml/2006/main">
              <a:ext uri="{FF2B5EF4-FFF2-40B4-BE49-F238E27FC236}">
                <a16:creationId xmlns:a16="http://schemas.microsoft.com/office/drawing/2014/main" id="{FAD1EC5F-8C9A-48DD-9F3C-97321C81E203}"/>
              </a:ext>
            </a:extLst>
          </p:cNvPr>
          <p:cNvSpPr>
            <a:spLocks xmlns:a="http://schemas.openxmlformats.org/drawingml/2006/main" noGrp="1"/>
          </p:cNvSpPr>
          <p:nvPr/>
        </p:nvSpPr>
        <p:spPr>
          <a:xfrm xmlns:a="http://schemas.openxmlformats.org/drawingml/2006/main">
            <a:off x="9182100" y="235267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5E31CCBE-FF4A-4BBE-AD2D-D190F36E1955}"/>
              </a:ext>
            </a:extLst>
          </p:cNvPr>
          <p:cNvSpPr>
            <a:spLocks xmlns:a="http://schemas.openxmlformats.org/drawingml/2006/main" noGrp="1"/>
          </p:cNvSpPr>
          <p:nvPr/>
        </p:nvSpPr>
        <p:spPr>
          <a:xfrm xmlns:a="http://schemas.openxmlformats.org/drawingml/2006/main">
            <a:off x="7696200" y="2466975"/>
            <a:ext cx="3314700" cy="428625"/>
          </a:xfrm>
          <a:prstGeom xmlns:a="http://schemas.openxmlformats.org/drawingml/2006/main" prst="roundRect">
            <a:avLst>
              <a:gd name="adj" fmla="val 17778"/>
            </a:avLst>
          </a:prstGeom>
          <a:solidFill xmlns:a="http://schemas.openxmlformats.org/drawingml/2006/main">
            <a:srgbClr val="F2BD3C"/>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17342C"/>
                </a:solidFill>
                <a:latin typeface="Arial"/>
                <a:ea typeface="Arial"/>
                <a:cs typeface="Arial"/>
              </a:defRPr>
            </a:pPr>
            <a:r>
              <a:rPr sz="1425" b="1">
                <a:solidFill>
                  <a:srgbClr val="17342C"/>
                </a:solidFill>
                <a:latin typeface="Arial"/>
                <a:ea typeface="Arial"/>
                <a:cs typeface="Arial"/>
              </a:rPr>
              <a:t>TRANSFORM</a:t>
            </a:r>
          </a:p>
        </p:txBody>
      </p:sp>
      <p:sp>
        <p:nvSpPr>
          <p:cNvPr id="16" name="">
            <a:extLst xmlns:a="http://schemas.openxmlformats.org/drawingml/2006/main">
              <a:ext uri="{FF2B5EF4-FFF2-40B4-BE49-F238E27FC236}">
                <a16:creationId xmlns:a16="http://schemas.microsoft.com/office/drawing/2014/main" id="{6A49E450-8B47-420D-8B5B-9330B9A01DF7}"/>
              </a:ext>
            </a:extLst>
          </p:cNvPr>
          <p:cNvSpPr>
            <a:spLocks xmlns:a="http://schemas.openxmlformats.org/drawingml/2006/main" noGrp="1"/>
          </p:cNvSpPr>
          <p:nvPr/>
        </p:nvSpPr>
        <p:spPr>
          <a:xfrm xmlns:a="http://schemas.openxmlformats.org/drawingml/2006/main">
            <a:off x="9182100" y="2895600"/>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B08EE1C3-5471-42D0-BF50-680FD30F765B}"/>
              </a:ext>
            </a:extLst>
          </p:cNvPr>
          <p:cNvSpPr>
            <a:spLocks xmlns:a="http://schemas.openxmlformats.org/drawingml/2006/main" noGrp="1"/>
          </p:cNvSpPr>
          <p:nvPr/>
        </p:nvSpPr>
        <p:spPr>
          <a:xfrm xmlns:a="http://schemas.openxmlformats.org/drawingml/2006/main">
            <a:off x="7696200" y="3009900"/>
            <a:ext cx="3314700" cy="428625"/>
          </a:xfrm>
          <a:prstGeom xmlns:a="http://schemas.openxmlformats.org/drawingml/2006/main" prst="roundRect">
            <a:avLst>
              <a:gd name="adj" fmla="val 17778"/>
            </a:avLst>
          </a:prstGeom>
          <a:solidFill xmlns:a="http://schemas.openxmlformats.org/drawingml/2006/main">
            <a:srgbClr val="17756F"/>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EXPLAIN CHOICES</a:t>
            </a:r>
          </a:p>
        </p:txBody>
      </p:sp>
      <p:sp>
        <p:nvSpPr>
          <p:cNvPr id="18" name="">
            <a:extLst xmlns:a="http://schemas.openxmlformats.org/drawingml/2006/main">
              <a:ext uri="{FF2B5EF4-FFF2-40B4-BE49-F238E27FC236}">
                <a16:creationId xmlns:a16="http://schemas.microsoft.com/office/drawing/2014/main" id="{C2FE7803-4F41-4DE4-A08B-680A1C13F16B}"/>
              </a:ext>
            </a:extLst>
          </p:cNvPr>
          <p:cNvSpPr>
            <a:spLocks xmlns:a="http://schemas.openxmlformats.org/drawingml/2006/main" noGrp="1"/>
          </p:cNvSpPr>
          <p:nvPr/>
        </p:nvSpPr>
        <p:spPr>
          <a:xfrm xmlns:a="http://schemas.openxmlformats.org/drawingml/2006/main">
            <a:off x="9182100" y="343852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4AED5D7D-BF7A-401C-87CA-292F52880684}"/>
              </a:ext>
            </a:extLst>
          </p:cNvPr>
          <p:cNvSpPr>
            <a:spLocks xmlns:a="http://schemas.openxmlformats.org/drawingml/2006/main" noGrp="1"/>
          </p:cNvSpPr>
          <p:nvPr/>
        </p:nvSpPr>
        <p:spPr>
          <a:xfrm xmlns:a="http://schemas.openxmlformats.org/drawingml/2006/main">
            <a:off x="7696200" y="3552825"/>
            <a:ext cx="3314700" cy="428625"/>
          </a:xfrm>
          <a:prstGeom xmlns:a="http://schemas.openxmlformats.org/drawingml/2006/main" prst="roundRect">
            <a:avLst>
              <a:gd name="adj" fmla="val 17778"/>
            </a:avLst>
          </a:prstGeom>
          <a:solidFill xmlns:a="http://schemas.openxmlformats.org/drawingml/2006/main">
            <a:srgbClr val="6A57C8"/>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KEEP CONTROL</a:t>
            </a:r>
          </a:p>
        </p:txBody>
      </p:sp>
      <p:sp>
        <p:nvSpPr>
          <p:cNvPr id="20" name="">
            <a:extLst xmlns:a="http://schemas.openxmlformats.org/drawingml/2006/main">
              <a:ext uri="{FF2B5EF4-FFF2-40B4-BE49-F238E27FC236}">
                <a16:creationId xmlns:a16="http://schemas.microsoft.com/office/drawing/2014/main" id="{07D2AF67-660E-4D5F-91EB-0040682B02FC}"/>
              </a:ext>
            </a:extLst>
          </p:cNvPr>
          <p:cNvSpPr>
            <a:spLocks xmlns:a="http://schemas.openxmlformats.org/drawingml/2006/main" noGrp="1"/>
          </p:cNvSpPr>
          <p:nvPr/>
        </p:nvSpPr>
        <p:spPr>
          <a:xfrm xmlns:a="http://schemas.openxmlformats.org/drawingml/2006/main">
            <a:off x="7429500" y="4343400"/>
            <a:ext cx="3848100" cy="361950"/>
          </a:xfrm>
          <a:prstGeom xmlns:a="http://schemas.openxmlformats.org/drawingml/2006/main" prst="roundRect">
            <a:avLst>
              <a:gd name="adj" fmla="val 2105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95250" tIns="47625" rIns="95250" bIns="47625" anchor="ctr">
            <a:normAutofit fontScale="74091"/>
          </a:bodyPr>
          <a:lstStyle xmlns:a="http://schemas.openxmlformats.org/drawingml/2006/main"/>
          <a:p xmlns:a="http://schemas.openxmlformats.org/drawingml/2006/main">
            <a:pPr algn="ctr">
              <a:defRPr sz="1200" b="1">
                <a:solidFill>
                  <a:srgbClr val="17342C"/>
                </a:solidFill>
                <a:latin typeface="Arial"/>
                <a:ea typeface="Arial"/>
                <a:cs typeface="Arial"/>
              </a:defRPr>
            </a:pPr>
            <a:r>
              <a:rPr sz="1200" b="1">
                <a:solidFill>
                  <a:srgbClr val="17342C"/>
                </a:solidFill>
                <a:latin typeface="Arial"/>
                <a:ea typeface="Arial"/>
                <a:cs typeface="Arial"/>
              </a:rPr>
              <a:t>Only keep ideas you can explain, revise and take responsibility for.</a:t>
            </a:r>
          </a:p>
        </p:txBody>
      </p:sp>
      <p:sp>
        <p:nvSpPr>
          <p:cNvPr id="21" name="">
            <a:extLst xmlns:a="http://schemas.openxmlformats.org/drawingml/2006/main">
              <a:ext uri="{FF2B5EF4-FFF2-40B4-BE49-F238E27FC236}">
                <a16:creationId xmlns:a16="http://schemas.microsoft.com/office/drawing/2014/main" id="{8F2C4CFD-F74B-4892-911B-E1FD22E2CE94}"/>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2" name="">
            <a:extLst xmlns:a="http://schemas.openxmlformats.org/drawingml/2006/main">
              <a:ext uri="{FF2B5EF4-FFF2-40B4-BE49-F238E27FC236}">
                <a16:creationId xmlns:a16="http://schemas.microsoft.com/office/drawing/2014/main" id="{4DB063B2-3CFD-4C0C-AFDB-855F8C1AB34A}"/>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does the source allow AI to do in the brainstorm?</a:t>
            </a:r>
          </a:p>
        </p:txBody>
      </p:sp>
      <p:sp>
        <p:nvSpPr>
          <p:cNvPr id="23" name="">
            <a:extLst xmlns:a="http://schemas.openxmlformats.org/drawingml/2006/main">
              <a:ext uri="{FF2B5EF4-FFF2-40B4-BE49-F238E27FC236}">
                <a16:creationId xmlns:a16="http://schemas.microsoft.com/office/drawing/2014/main" id="{486FF829-9BB8-4540-8BA9-A9FAC65C83C6}"/>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01  •  THE DESIGN CHALLENGE</a:t>
            </a:r>
          </a:p>
        </p:txBody>
      </p:sp>
      <p:sp>
        <p:nvSpPr>
          <p:cNvPr id="24" name="">
            <a:extLst xmlns:a="http://schemas.openxmlformats.org/drawingml/2006/main">
              <a:ext uri="{FF2B5EF4-FFF2-40B4-BE49-F238E27FC236}">
                <a16:creationId xmlns:a16="http://schemas.microsoft.com/office/drawing/2014/main" id="{A62B156D-04DD-49DD-9194-B66C3B4EF3DF}"/>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05</a:t>
            </a:r>
          </a:p>
        </p:txBody>
      </p:sp>
    </p:spTree>
    <p:extLst>
      <p:ext uri="{BB962C8B-B14F-4D97-AF65-F5344CB8AC3E}">
        <p14:creationId xmlns:p14="http://schemas.microsoft.com/office/powerpoint/2010/main" val="1330073747"/>
      </p:ext>
    </p:extLst>
  </p:cSld>
</p:sld>
</file>

<file path=ppt/slides/slide6.xml><?xml version="1.0" encoding="utf-8"?>
<p:sld xmlns:p="http://schemas.openxmlformats.org/presentationml/2006/main">
  <p:cSld>
    <p:bg>
      <p:bgPr>
        <a:solidFill xmlns:a="http://schemas.openxmlformats.org/drawingml/2006/main">
          <a:srgbClr val="17342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772DCBD-599B-448E-BCAA-7E869CBF1A1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E5E2780-F201-49C2-9756-757A255B1EB1}"/>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F2BD3C"/>
                </a:solidFill>
                <a:latin typeface="Arial"/>
                <a:ea typeface="Arial"/>
                <a:cs typeface="Arial"/>
              </a:defRPr>
            </a:pPr>
            <a:r>
              <a:rPr sz="975" b="1">
                <a:solidFill>
                  <a:srgbClr val="F2BD3C"/>
                </a:solidFill>
                <a:latin typeface="Arial"/>
                <a:ea typeface="Arial"/>
                <a:cs typeface="Arial"/>
              </a:rPr>
              <a:t>CHECK FOR UNDERSTANDING</a:t>
            </a:r>
          </a:p>
        </p:txBody>
      </p:sp>
      <p:sp>
        <p:nvSpPr>
          <p:cNvPr id="3" name="">
            <a:extLst xmlns:a="http://schemas.openxmlformats.org/drawingml/2006/main">
              <a:ext uri="{FF2B5EF4-FFF2-40B4-BE49-F238E27FC236}">
                <a16:creationId xmlns:a16="http://schemas.microsoft.com/office/drawing/2014/main" id="{2E0B52A5-8905-44EB-A238-BA735395F85F}"/>
              </a:ext>
            </a:extLst>
          </p:cNvPr>
          <p:cNvSpPr>
            <a:spLocks xmlns:a="http://schemas.openxmlformats.org/drawingml/2006/main" noGrp="1"/>
          </p:cNvSpPr>
          <p:nvPr/>
        </p:nvSpPr>
        <p:spPr>
          <a:xfrm xmlns:a="http://schemas.openxmlformats.org/drawingml/2006/main">
            <a:off x="685800" y="91440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75" b="1">
                <a:solidFill>
                  <a:srgbClr val="FFFFFF"/>
                </a:solidFill>
                <a:latin typeface="Arial"/>
                <a:ea typeface="Arial"/>
                <a:cs typeface="Arial"/>
              </a:defRPr>
            </a:pPr>
            <a:r>
              <a:rPr sz="3075" b="1">
                <a:solidFill>
                  <a:srgbClr val="FFFFFF"/>
                </a:solidFill>
                <a:latin typeface="Arial"/>
                <a:ea typeface="Arial"/>
                <a:cs typeface="Arial"/>
              </a:rPr>
              <a:t>Stop. Think. Explain.</a:t>
            </a:r>
          </a:p>
        </p:txBody>
      </p:sp>
      <p:sp>
        <p:nvSpPr>
          <p:cNvPr id="4" name="">
            <a:extLst xmlns:a="http://schemas.openxmlformats.org/drawingml/2006/main">
              <a:ext uri="{FF2B5EF4-FFF2-40B4-BE49-F238E27FC236}">
                <a16:creationId xmlns:a16="http://schemas.microsoft.com/office/drawing/2014/main" id="{735EFDB9-7FAC-4121-BD79-3F1965D731C3}"/>
              </a:ext>
            </a:extLst>
          </p:cNvPr>
          <p:cNvSpPr>
            <a:spLocks xmlns:a="http://schemas.openxmlformats.org/drawingml/2006/main" noGrp="1"/>
          </p:cNvSpPr>
          <p:nvPr/>
        </p:nvSpPr>
        <p:spPr>
          <a:xfrm xmlns:a="http://schemas.openxmlformats.org/drawingml/2006/main">
            <a:off x="685800" y="16573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DCE8E2"/>
                </a:solidFill>
                <a:latin typeface="Arial"/>
                <a:ea typeface="Arial"/>
                <a:cs typeface="Arial"/>
              </a:defRPr>
            </a:pPr>
            <a:r>
              <a:rPr sz="1425" b="0">
                <a:solidFill>
                  <a:srgbClr val="DCE8E2"/>
                </a:solidFill>
                <a:latin typeface="Arial"/>
                <a:ea typeface="Arial"/>
                <a:cs typeface="Arial"/>
              </a:rPr>
              <a:t>Answer silently first, then justify with a partner.</a:t>
            </a:r>
          </a:p>
        </p:txBody>
      </p:sp>
      <p:sp>
        <p:nvSpPr>
          <p:cNvPr id="5" name="">
            <a:extLst xmlns:a="http://schemas.openxmlformats.org/drawingml/2006/main">
              <a:ext uri="{FF2B5EF4-FFF2-40B4-BE49-F238E27FC236}">
                <a16:creationId xmlns:a16="http://schemas.microsoft.com/office/drawing/2014/main" id="{BA08A6CF-8369-4CB5-B732-BE60AF8E3A41}"/>
              </a:ext>
            </a:extLst>
          </p:cNvPr>
          <p:cNvSpPr>
            <a:spLocks xmlns:a="http://schemas.openxmlformats.org/drawingml/2006/main" noGrp="1"/>
          </p:cNvSpPr>
          <p:nvPr/>
        </p:nvSpPr>
        <p:spPr>
          <a:xfrm xmlns:a="http://schemas.openxmlformats.org/drawingml/2006/main">
            <a:off x="685800" y="23241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6" name="">
            <a:extLst xmlns:a="http://schemas.openxmlformats.org/drawingml/2006/main">
              <a:ext uri="{FF2B5EF4-FFF2-40B4-BE49-F238E27FC236}">
                <a16:creationId xmlns:a16="http://schemas.microsoft.com/office/drawing/2014/main" id="{1383E8DF-664C-4D84-9C97-789797F4EF31}"/>
              </a:ext>
            </a:extLst>
          </p:cNvPr>
          <p:cNvSpPr>
            <a:spLocks xmlns:a="http://schemas.openxmlformats.org/drawingml/2006/main" noGrp="1"/>
          </p:cNvSpPr>
          <p:nvPr/>
        </p:nvSpPr>
        <p:spPr>
          <a:xfrm xmlns:a="http://schemas.openxmlformats.org/drawingml/2006/main">
            <a:off x="1028700" y="255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AD90B6C6-7924-4C85-B9EA-0139624ADC6B}"/>
              </a:ext>
            </a:extLst>
          </p:cNvPr>
          <p:cNvSpPr>
            <a:spLocks xmlns:a="http://schemas.openxmlformats.org/drawingml/2006/main" noGrp="1"/>
          </p:cNvSpPr>
          <p:nvPr/>
        </p:nvSpPr>
        <p:spPr>
          <a:xfrm xmlns:a="http://schemas.openxmlformats.org/drawingml/2006/main">
            <a:off x="1676400" y="24574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Which statement best describes a design brief?</a:t>
            </a:r>
          </a:p>
        </p:txBody>
      </p:sp>
      <p:sp>
        <p:nvSpPr>
          <p:cNvPr id="8" name="">
            <a:extLst xmlns:a="http://schemas.openxmlformats.org/drawingml/2006/main">
              <a:ext uri="{FF2B5EF4-FFF2-40B4-BE49-F238E27FC236}">
                <a16:creationId xmlns:a16="http://schemas.microsoft.com/office/drawing/2014/main" id="{B4D10D5C-475C-48B1-8606-E08567F297AC}"/>
              </a:ext>
            </a:extLst>
          </p:cNvPr>
          <p:cNvSpPr>
            <a:spLocks xmlns:a="http://schemas.openxmlformats.org/drawingml/2006/main" noGrp="1"/>
          </p:cNvSpPr>
          <p:nvPr/>
        </p:nvSpPr>
        <p:spPr>
          <a:xfrm xmlns:a="http://schemas.openxmlformats.org/drawingml/2006/main">
            <a:off x="685800" y="352425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9" name="">
            <a:extLst xmlns:a="http://schemas.openxmlformats.org/drawingml/2006/main">
              <a:ext uri="{FF2B5EF4-FFF2-40B4-BE49-F238E27FC236}">
                <a16:creationId xmlns:a16="http://schemas.microsoft.com/office/drawing/2014/main" id="{E2A93A1E-8BCF-4768-A6E9-26BAD9904637}"/>
              </a:ext>
            </a:extLst>
          </p:cNvPr>
          <p:cNvSpPr>
            <a:spLocks xmlns:a="http://schemas.openxmlformats.org/drawingml/2006/main" noGrp="1"/>
          </p:cNvSpPr>
          <p:nvPr/>
        </p:nvSpPr>
        <p:spPr>
          <a:xfrm xmlns:a="http://schemas.openxmlformats.org/drawingml/2006/main">
            <a:off x="1028700" y="3752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1C703D30-78D5-4121-9173-BF14CC965AD2}"/>
              </a:ext>
            </a:extLst>
          </p:cNvPr>
          <p:cNvSpPr>
            <a:spLocks xmlns:a="http://schemas.openxmlformats.org/drawingml/2006/main" noGrp="1"/>
          </p:cNvSpPr>
          <p:nvPr/>
        </p:nvSpPr>
        <p:spPr>
          <a:xfrm xmlns:a="http://schemas.openxmlformats.org/drawingml/2006/main">
            <a:off x="1676400" y="365760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Which audience description gives the strongest design guidance?</a:t>
            </a:r>
          </a:p>
        </p:txBody>
      </p:sp>
      <p:sp>
        <p:nvSpPr>
          <p:cNvPr id="11" name="">
            <a:extLst xmlns:a="http://schemas.openxmlformats.org/drawingml/2006/main">
              <a:ext uri="{FF2B5EF4-FFF2-40B4-BE49-F238E27FC236}">
                <a16:creationId xmlns:a16="http://schemas.microsoft.com/office/drawing/2014/main" id="{F9A3FFD7-FA73-43C2-86D3-9E3C1FFE4098}"/>
              </a:ext>
            </a:extLst>
          </p:cNvPr>
          <p:cNvSpPr>
            <a:spLocks xmlns:a="http://schemas.openxmlformats.org/drawingml/2006/main" noGrp="1"/>
          </p:cNvSpPr>
          <p:nvPr/>
        </p:nvSpPr>
        <p:spPr>
          <a:xfrm xmlns:a="http://schemas.openxmlformats.org/drawingml/2006/main">
            <a:off x="685800" y="47244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12" name="">
            <a:extLst xmlns:a="http://schemas.openxmlformats.org/drawingml/2006/main">
              <a:ext uri="{FF2B5EF4-FFF2-40B4-BE49-F238E27FC236}">
                <a16:creationId xmlns:a16="http://schemas.microsoft.com/office/drawing/2014/main" id="{CC84CEB6-EEE7-4B4A-B7EC-572B252BB4E5}"/>
              </a:ext>
            </a:extLst>
          </p:cNvPr>
          <p:cNvSpPr>
            <a:spLocks xmlns:a="http://schemas.openxmlformats.org/drawingml/2006/main" noGrp="1"/>
          </p:cNvSpPr>
          <p:nvPr/>
        </p:nvSpPr>
        <p:spPr>
          <a:xfrm xmlns:a="http://schemas.openxmlformats.org/drawingml/2006/main">
            <a:off x="102870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FC6AB899-EDEE-4EF7-942F-B2B6F2B22290}"/>
              </a:ext>
            </a:extLst>
          </p:cNvPr>
          <p:cNvSpPr>
            <a:spLocks xmlns:a="http://schemas.openxmlformats.org/drawingml/2006/main" noGrp="1"/>
          </p:cNvSpPr>
          <p:nvPr/>
        </p:nvSpPr>
        <p:spPr>
          <a:xfrm xmlns:a="http://schemas.openxmlformats.org/drawingml/2006/main">
            <a:off x="1676400" y="48577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does the source allow AI to do in the brainstorm?</a:t>
            </a:r>
          </a:p>
        </p:txBody>
      </p:sp>
      <p:sp>
        <p:nvSpPr>
          <p:cNvPr id="14" name="">
            <a:extLst xmlns:a="http://schemas.openxmlformats.org/drawingml/2006/main">
              <a:ext uri="{FF2B5EF4-FFF2-40B4-BE49-F238E27FC236}">
                <a16:creationId xmlns:a16="http://schemas.microsoft.com/office/drawing/2014/main" id="{8E602A8A-2DD4-4B4B-A4A6-FAD541A4DA73}"/>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01  •  THE DESIGN CHALLENGE</a:t>
            </a:r>
          </a:p>
        </p:txBody>
      </p:sp>
      <p:sp>
        <p:nvSpPr>
          <p:cNvPr id="15" name="">
            <a:extLst xmlns:a="http://schemas.openxmlformats.org/drawingml/2006/main">
              <a:ext uri="{FF2B5EF4-FFF2-40B4-BE49-F238E27FC236}">
                <a16:creationId xmlns:a16="http://schemas.microsoft.com/office/drawing/2014/main" id="{A04EF455-24CD-4A70-9681-AFB642C54AE0}"/>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06</a:t>
            </a:r>
          </a:p>
        </p:txBody>
      </p:sp>
    </p:spTree>
    <p:extLst>
      <p:ext uri="{BB962C8B-B14F-4D97-AF65-F5344CB8AC3E}">
        <p14:creationId xmlns:p14="http://schemas.microsoft.com/office/powerpoint/2010/main" val="1513319891"/>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B65B3DD-A9C6-4A01-99BE-388CCE705B9A}"/>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FORMATIVE LEARNING EVIDENCE</a:t>
            </a:r>
          </a:p>
        </p:txBody>
      </p:sp>
      <p:sp>
        <p:nvSpPr>
          <p:cNvPr id="2" name="">
            <a:extLst xmlns:a="http://schemas.openxmlformats.org/drawingml/2006/main">
              <a:ext uri="{FF2B5EF4-FFF2-40B4-BE49-F238E27FC236}">
                <a16:creationId xmlns:a16="http://schemas.microsoft.com/office/drawing/2014/main" id="{68B9C9B7-5F74-496C-AED2-F11A0D032502}"/>
              </a:ext>
            </a:extLst>
          </p:cNvPr>
          <p:cNvSpPr>
            <a:spLocks xmlns:a="http://schemas.openxmlformats.org/drawingml/2006/main" noGrp="1"/>
          </p:cNvSpPr>
          <p:nvPr/>
        </p:nvSpPr>
        <p:spPr>
          <a:xfrm xmlns:a="http://schemas.openxmlformats.org/drawingml/2006/main">
            <a:off x="685800" y="8953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Read → Select → Explain → Check</a:t>
            </a:r>
          </a:p>
        </p:txBody>
      </p:sp>
      <p:sp>
        <p:nvSpPr>
          <p:cNvPr id="3" name="">
            <a:extLst xmlns:a="http://schemas.openxmlformats.org/drawingml/2006/main">
              <a:ext uri="{FF2B5EF4-FFF2-40B4-BE49-F238E27FC236}">
                <a16:creationId xmlns:a16="http://schemas.microsoft.com/office/drawing/2014/main" id="{FF1A073C-9A70-4C1D-8520-CB6F8A9656DB}"/>
              </a:ext>
            </a:extLst>
          </p:cNvPr>
          <p:cNvSpPr>
            <a:spLocks xmlns:a="http://schemas.openxmlformats.org/drawingml/2006/main" noGrp="1"/>
          </p:cNvSpPr>
          <p:nvPr/>
        </p:nvSpPr>
        <p:spPr>
          <a:xfrm xmlns:a="http://schemas.openxmlformats.org/drawingml/2006/main">
            <a:off x="685800" y="1752600"/>
            <a:ext cx="5905500" cy="201930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9525">
            <a:solidFill>
              <a:srgbClr val="CFD8D2"/>
            </a:solidFill>
            <a:prstDash val="solid"/>
          </a:ln>
        </p:spPr>
      </p:sp>
      <p:sp>
        <p:nvSpPr>
          <p:cNvPr id="4" name="">
            <a:extLst xmlns:a="http://schemas.openxmlformats.org/drawingml/2006/main">
              <a:ext uri="{FF2B5EF4-FFF2-40B4-BE49-F238E27FC236}">
                <a16:creationId xmlns:a16="http://schemas.microsoft.com/office/drawing/2014/main" id="{9C9D0AFC-6C78-49AE-8168-20AD81C92C8F}"/>
              </a:ext>
            </a:extLst>
          </p:cNvPr>
          <p:cNvSpPr>
            <a:spLocks xmlns:a="http://schemas.openxmlformats.org/drawingml/2006/main" noGrp="1"/>
          </p:cNvSpPr>
          <p:nvPr/>
        </p:nvSpPr>
        <p:spPr>
          <a:xfrm xmlns:a="http://schemas.openxmlformats.org/drawingml/2006/main">
            <a:off x="6896100" y="1752600"/>
            <a:ext cx="4610100" cy="2019300"/>
          </a:xfrm>
          <a:prstGeom xmlns:a="http://schemas.openxmlformats.org/drawingml/2006/main" prst="roundRect">
            <a:avLst>
              <a:gd name="adj" fmla="val 5660"/>
            </a:avLst>
          </a:prstGeom>
          <a:solidFill xmlns:a="http://schemas.openxmlformats.org/drawingml/2006/main">
            <a:srgbClr val="E7F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7F71406-651D-4EFC-A30F-3A13CB1513E6}"/>
              </a:ext>
            </a:extLst>
          </p:cNvPr>
          <p:cNvSpPr>
            <a:spLocks xmlns:a="http://schemas.openxmlformats.org/drawingml/2006/main" noGrp="1"/>
          </p:cNvSpPr>
          <p:nvPr/>
        </p:nvSpPr>
        <p:spPr>
          <a:xfrm xmlns:a="http://schemas.openxmlformats.org/drawingml/2006/main">
            <a:off x="9525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THE QUESTION</a:t>
            </a:r>
          </a:p>
        </p:txBody>
      </p:sp>
      <p:sp>
        <p:nvSpPr>
          <p:cNvPr id="6" name="">
            <a:extLst xmlns:a="http://schemas.openxmlformats.org/drawingml/2006/main">
              <a:ext uri="{FF2B5EF4-FFF2-40B4-BE49-F238E27FC236}">
                <a16:creationId xmlns:a16="http://schemas.microsoft.com/office/drawing/2014/main" id="{3150AD5B-3BF1-4CD4-8EE4-168ABF0BFA42}"/>
              </a:ext>
            </a:extLst>
          </p:cNvPr>
          <p:cNvSpPr>
            <a:spLocks xmlns:a="http://schemas.openxmlformats.org/drawingml/2006/main" noGrp="1"/>
          </p:cNvSpPr>
          <p:nvPr/>
        </p:nvSpPr>
        <p:spPr>
          <a:xfrm xmlns:a="http://schemas.openxmlformats.org/drawingml/2006/main">
            <a:off x="952500" y="2266950"/>
            <a:ext cx="5238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7342C"/>
                </a:solidFill>
                <a:latin typeface="Arial"/>
                <a:ea typeface="Arial"/>
                <a:cs typeface="Arial"/>
              </a:defRPr>
            </a:pPr>
            <a:r>
              <a:rPr sz="1575" b="1">
                <a:solidFill>
                  <a:srgbClr val="17342C"/>
                </a:solidFill>
                <a:latin typeface="Arial"/>
                <a:ea typeface="Arial"/>
                <a:cs typeface="Arial"/>
              </a:rPr>
              <a:t>Write a brand-direction note that defines the brief, profiles the audience and explains how original ideas will stay student-owned.</a:t>
            </a:r>
          </a:p>
        </p:txBody>
      </p:sp>
      <p:sp>
        <p:nvSpPr>
          <p:cNvPr id="7" name="">
            <a:extLst xmlns:a="http://schemas.openxmlformats.org/drawingml/2006/main">
              <a:ext uri="{FF2B5EF4-FFF2-40B4-BE49-F238E27FC236}">
                <a16:creationId xmlns:a16="http://schemas.microsoft.com/office/drawing/2014/main" id="{5DB8DEA4-8AEF-403C-8200-CF008FDDB9DE}"/>
              </a:ext>
            </a:extLst>
          </p:cNvPr>
          <p:cNvSpPr>
            <a:spLocks xmlns:a="http://schemas.openxmlformats.org/drawingml/2006/main" noGrp="1"/>
          </p:cNvSpPr>
          <p:nvPr/>
        </p:nvSpPr>
        <p:spPr>
          <a:xfrm xmlns:a="http://schemas.openxmlformats.org/drawingml/2006/main">
            <a:off x="7181850" y="1885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WHAT THIS IS ASKING</a:t>
            </a:r>
          </a:p>
        </p:txBody>
      </p:sp>
      <p:sp>
        <p:nvSpPr>
          <p:cNvPr id="8" name="">
            <a:extLst xmlns:a="http://schemas.openxmlformats.org/drawingml/2006/main">
              <a:ext uri="{FF2B5EF4-FFF2-40B4-BE49-F238E27FC236}">
                <a16:creationId xmlns:a16="http://schemas.microsoft.com/office/drawing/2014/main" id="{7534C82C-B23C-41EF-8FE7-60FF2664E232}"/>
              </a:ext>
            </a:extLst>
          </p:cNvPr>
          <p:cNvSpPr>
            <a:spLocks xmlns:a="http://schemas.openxmlformats.org/drawingml/2006/main" noGrp="1"/>
          </p:cNvSpPr>
          <p:nvPr/>
        </p:nvSpPr>
        <p:spPr>
          <a:xfrm xmlns:a="http://schemas.openxmlformats.org/drawingml/2006/main">
            <a:off x="7219950" y="2324100"/>
            <a:ext cx="114300" cy="114300"/>
          </a:xfrm>
          <a:prstGeom xmlns:a="http://schemas.openxmlformats.org/drawingml/2006/main" prst="ellipse">
            <a:avLst/>
          </a:prstGeom>
          <a:solidFill xmlns:a="http://schemas.openxmlformats.org/drawingml/2006/main">
            <a:srgbClr val="0C555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72D3E1A-B3EC-42D5-A380-2ADBD6D5DA67}"/>
              </a:ext>
            </a:extLst>
          </p:cNvPr>
          <p:cNvSpPr>
            <a:spLocks xmlns:a="http://schemas.openxmlformats.org/drawingml/2006/main" noGrp="1"/>
          </p:cNvSpPr>
          <p:nvPr/>
        </p:nvSpPr>
        <p:spPr>
          <a:xfrm xmlns:a="http://schemas.openxmlformats.org/drawingml/2006/main">
            <a:off x="7524750" y="2228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Use confirmed facts</a:t>
            </a:r>
          </a:p>
        </p:txBody>
      </p:sp>
      <p:sp>
        <p:nvSpPr>
          <p:cNvPr id="10" name="">
            <a:extLst xmlns:a="http://schemas.openxmlformats.org/drawingml/2006/main">
              <a:ext uri="{FF2B5EF4-FFF2-40B4-BE49-F238E27FC236}">
                <a16:creationId xmlns:a16="http://schemas.microsoft.com/office/drawing/2014/main" id="{24FE2B5D-8B67-46F2-AE52-5CDC41918DC2}"/>
              </a:ext>
            </a:extLst>
          </p:cNvPr>
          <p:cNvSpPr>
            <a:spLocks xmlns:a="http://schemas.openxmlformats.org/drawingml/2006/main" noGrp="1"/>
          </p:cNvSpPr>
          <p:nvPr/>
        </p:nvSpPr>
        <p:spPr>
          <a:xfrm xmlns:a="http://schemas.openxmlformats.org/drawingml/2006/main">
            <a:off x="7219950" y="2771775"/>
            <a:ext cx="114300" cy="11430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8F148BF-ABBA-4C9C-84A7-ED8ABC8A7309}"/>
              </a:ext>
            </a:extLst>
          </p:cNvPr>
          <p:cNvSpPr>
            <a:spLocks xmlns:a="http://schemas.openxmlformats.org/drawingml/2006/main" noGrp="1"/>
          </p:cNvSpPr>
          <p:nvPr/>
        </p:nvSpPr>
        <p:spPr>
          <a:xfrm xmlns:a="http://schemas.openxmlformats.org/drawingml/2006/main">
            <a:off x="7524750" y="26765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Connect audience to choices</a:t>
            </a:r>
          </a:p>
        </p:txBody>
      </p:sp>
      <p:sp>
        <p:nvSpPr>
          <p:cNvPr id="12" name="">
            <a:extLst xmlns:a="http://schemas.openxmlformats.org/drawingml/2006/main">
              <a:ext uri="{FF2B5EF4-FFF2-40B4-BE49-F238E27FC236}">
                <a16:creationId xmlns:a16="http://schemas.microsoft.com/office/drawing/2014/main" id="{B370D215-9344-47C9-9883-97ECF5EC6EBF}"/>
              </a:ext>
            </a:extLst>
          </p:cNvPr>
          <p:cNvSpPr>
            <a:spLocks xmlns:a="http://schemas.openxmlformats.org/drawingml/2006/main" noGrp="1"/>
          </p:cNvSpPr>
          <p:nvPr/>
        </p:nvSpPr>
        <p:spPr>
          <a:xfrm xmlns:a="http://schemas.openxmlformats.org/drawingml/2006/main">
            <a:off x="7219950" y="3219450"/>
            <a:ext cx="114300" cy="114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5674B7A-589C-4D1A-9231-98D23250FBDA}"/>
              </a:ext>
            </a:extLst>
          </p:cNvPr>
          <p:cNvSpPr>
            <a:spLocks xmlns:a="http://schemas.openxmlformats.org/drawingml/2006/main" noGrp="1"/>
          </p:cNvSpPr>
          <p:nvPr/>
        </p:nvSpPr>
        <p:spPr>
          <a:xfrm xmlns:a="http://schemas.openxmlformats.org/drawingml/2006/main">
            <a:off x="7524750" y="31242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Set an AI and privacy boundary</a:t>
            </a:r>
          </a:p>
        </p:txBody>
      </p:sp>
      <p:sp>
        <p:nvSpPr>
          <p:cNvPr id="14" name="">
            <a:extLst xmlns:a="http://schemas.openxmlformats.org/drawingml/2006/main">
              <a:ext uri="{FF2B5EF4-FFF2-40B4-BE49-F238E27FC236}">
                <a16:creationId xmlns:a16="http://schemas.microsoft.com/office/drawing/2014/main" id="{22532393-DAC8-4FB7-B6F5-3FFE77C595CD}"/>
              </a:ext>
            </a:extLst>
          </p:cNvPr>
          <p:cNvSpPr>
            <a:spLocks xmlns:a="http://schemas.openxmlformats.org/drawingml/2006/main" noGrp="1"/>
          </p:cNvSpPr>
          <p:nvPr/>
        </p:nvSpPr>
        <p:spPr>
          <a:xfrm xmlns:a="http://schemas.openxmlformats.org/drawingml/2006/main">
            <a:off x="685800" y="4095750"/>
            <a:ext cx="3333750" cy="1466850"/>
          </a:xfrm>
          <a:prstGeom xmlns:a="http://schemas.openxmlformats.org/drawingml/2006/main" prst="roundRect">
            <a:avLst>
              <a:gd name="adj" fmla="val 7792"/>
            </a:avLst>
          </a:prstGeom>
          <a:solidFill xmlns:a="http://schemas.openxmlformats.org/drawingml/2006/main">
            <a:srgbClr val="17342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8A1D22C-9FFD-4F2F-BFF8-560D53AAF909}"/>
              </a:ext>
            </a:extLst>
          </p:cNvPr>
          <p:cNvSpPr>
            <a:spLocks xmlns:a="http://schemas.openxmlformats.org/drawingml/2006/main" noGrp="1"/>
          </p:cNvSpPr>
          <p:nvPr/>
        </p:nvSpPr>
        <p:spPr>
          <a:xfrm xmlns:a="http://schemas.openxmlformats.org/drawingml/2006/main">
            <a:off x="8953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1  SELECT</a:t>
            </a:r>
          </a:p>
        </p:txBody>
      </p:sp>
      <p:sp>
        <p:nvSpPr>
          <p:cNvPr id="16" name="">
            <a:extLst xmlns:a="http://schemas.openxmlformats.org/drawingml/2006/main">
              <a:ext uri="{FF2B5EF4-FFF2-40B4-BE49-F238E27FC236}">
                <a16:creationId xmlns:a16="http://schemas.microsoft.com/office/drawing/2014/main" id="{15BE300B-D166-4636-ADAE-30F1EC6527A7}"/>
              </a:ext>
            </a:extLst>
          </p:cNvPr>
          <p:cNvSpPr>
            <a:spLocks xmlns:a="http://schemas.openxmlformats.org/drawingml/2006/main" noGrp="1"/>
          </p:cNvSpPr>
          <p:nvPr/>
        </p:nvSpPr>
        <p:spPr>
          <a:xfrm xmlns:a="http://schemas.openxmlformats.org/drawingml/2006/main">
            <a:off x="8953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Choose precise theory and examples that answer the question.</a:t>
            </a:r>
          </a:p>
        </p:txBody>
      </p:sp>
      <p:sp>
        <p:nvSpPr>
          <p:cNvPr id="17" name="">
            <a:extLst xmlns:a="http://schemas.openxmlformats.org/drawingml/2006/main">
              <a:ext uri="{FF2B5EF4-FFF2-40B4-BE49-F238E27FC236}">
                <a16:creationId xmlns:a16="http://schemas.microsoft.com/office/drawing/2014/main" id="{966E3060-CD84-423F-BCB8-B706D06FD608}"/>
              </a:ext>
            </a:extLst>
          </p:cNvPr>
          <p:cNvSpPr>
            <a:spLocks xmlns:a="http://schemas.openxmlformats.org/drawingml/2006/main" noGrp="1"/>
          </p:cNvSpPr>
          <p:nvPr/>
        </p:nvSpPr>
        <p:spPr>
          <a:xfrm xmlns:a="http://schemas.openxmlformats.org/drawingml/2006/main">
            <a:off x="4362450" y="4095750"/>
            <a:ext cx="3333750" cy="1466850"/>
          </a:xfrm>
          <a:prstGeom xmlns:a="http://schemas.openxmlformats.org/drawingml/2006/main" prst="roundRect">
            <a:avLst>
              <a:gd name="adj" fmla="val 7792"/>
            </a:avLst>
          </a:prstGeom>
          <a:solidFill xmlns:a="http://schemas.openxmlformats.org/drawingml/2006/main">
            <a:srgbClr val="F2BD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BB31B0-B4CA-4A52-92FA-EB5344041234}"/>
              </a:ext>
            </a:extLst>
          </p:cNvPr>
          <p:cNvSpPr>
            <a:spLocks xmlns:a="http://schemas.openxmlformats.org/drawingml/2006/main" noGrp="1"/>
          </p:cNvSpPr>
          <p:nvPr/>
        </p:nvSpPr>
        <p:spPr>
          <a:xfrm xmlns:a="http://schemas.openxmlformats.org/drawingml/2006/main">
            <a:off x="457200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2  EXPLAIN</a:t>
            </a:r>
          </a:p>
        </p:txBody>
      </p:sp>
      <p:sp>
        <p:nvSpPr>
          <p:cNvPr id="19" name="">
            <a:extLst xmlns:a="http://schemas.openxmlformats.org/drawingml/2006/main">
              <a:ext uri="{FF2B5EF4-FFF2-40B4-BE49-F238E27FC236}">
                <a16:creationId xmlns:a16="http://schemas.microsoft.com/office/drawing/2014/main" id="{3E01B820-054C-4676-8ECA-0F0E318652C8}"/>
              </a:ext>
            </a:extLst>
          </p:cNvPr>
          <p:cNvSpPr>
            <a:spLocks xmlns:a="http://schemas.openxmlformats.org/drawingml/2006/main" noGrp="1"/>
          </p:cNvSpPr>
          <p:nvPr/>
        </p:nvSpPr>
        <p:spPr>
          <a:xfrm xmlns:a="http://schemas.openxmlformats.org/drawingml/2006/main">
            <a:off x="457200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Link ideas with because, so or therefore.</a:t>
            </a:r>
          </a:p>
        </p:txBody>
      </p:sp>
      <p:sp>
        <p:nvSpPr>
          <p:cNvPr id="20" name="">
            <a:extLst xmlns:a="http://schemas.openxmlformats.org/drawingml/2006/main">
              <a:ext uri="{FF2B5EF4-FFF2-40B4-BE49-F238E27FC236}">
                <a16:creationId xmlns:a16="http://schemas.microsoft.com/office/drawing/2014/main" id="{FDC78C7F-33FE-4DD9-810F-1D786BE7DB2C}"/>
              </a:ext>
            </a:extLst>
          </p:cNvPr>
          <p:cNvSpPr>
            <a:spLocks xmlns:a="http://schemas.openxmlformats.org/drawingml/2006/main" noGrp="1"/>
          </p:cNvSpPr>
          <p:nvPr/>
        </p:nvSpPr>
        <p:spPr>
          <a:xfrm xmlns:a="http://schemas.openxmlformats.org/drawingml/2006/main">
            <a:off x="8039100" y="4095750"/>
            <a:ext cx="3333750" cy="1466850"/>
          </a:xfrm>
          <a:prstGeom xmlns:a="http://schemas.openxmlformats.org/drawingml/2006/main" prst="roundRect">
            <a:avLst>
              <a:gd name="adj" fmla="val 7792"/>
            </a:avLst>
          </a:prstGeom>
          <a:solidFill xmlns:a="http://schemas.openxmlformats.org/drawingml/2006/main">
            <a:srgbClr val="0C555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2E94E3E-8C92-46C4-9C17-6AABB66AC94A}"/>
              </a:ext>
            </a:extLst>
          </p:cNvPr>
          <p:cNvSpPr>
            <a:spLocks xmlns:a="http://schemas.openxmlformats.org/drawingml/2006/main" noGrp="1"/>
          </p:cNvSpPr>
          <p:nvPr/>
        </p:nvSpPr>
        <p:spPr>
          <a:xfrm xmlns:a="http://schemas.openxmlformats.org/drawingml/2006/main">
            <a:off x="82486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3  CHECK</a:t>
            </a:r>
          </a:p>
        </p:txBody>
      </p:sp>
      <p:sp>
        <p:nvSpPr>
          <p:cNvPr id="22" name="">
            <a:extLst xmlns:a="http://schemas.openxmlformats.org/drawingml/2006/main">
              <a:ext uri="{FF2B5EF4-FFF2-40B4-BE49-F238E27FC236}">
                <a16:creationId xmlns:a16="http://schemas.microsoft.com/office/drawing/2014/main" id="{A8BC4513-3D51-4745-9294-5236425DCFBA}"/>
              </a:ext>
            </a:extLst>
          </p:cNvPr>
          <p:cNvSpPr>
            <a:spLocks xmlns:a="http://schemas.openxmlformats.org/drawingml/2006/main" noGrp="1"/>
          </p:cNvSpPr>
          <p:nvPr/>
        </p:nvSpPr>
        <p:spPr>
          <a:xfrm xmlns:a="http://schemas.openxmlformats.org/drawingml/2006/main">
            <a:off x="82486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Answer every part; keep claims specific and source-safe.</a:t>
            </a:r>
          </a:p>
        </p:txBody>
      </p:sp>
      <p:sp>
        <p:nvSpPr>
          <p:cNvPr id="23" name="">
            <a:extLst xmlns:a="http://schemas.openxmlformats.org/drawingml/2006/main">
              <a:ext uri="{FF2B5EF4-FFF2-40B4-BE49-F238E27FC236}">
                <a16:creationId xmlns:a16="http://schemas.microsoft.com/office/drawing/2014/main" id="{B1F5BC07-80C5-4382-A8C0-92F30548089B}"/>
              </a:ext>
            </a:extLst>
          </p:cNvPr>
          <p:cNvSpPr>
            <a:spLocks xmlns:a="http://schemas.openxmlformats.org/drawingml/2006/main" noGrp="1"/>
          </p:cNvSpPr>
          <p:nvPr/>
        </p:nvSpPr>
        <p:spPr>
          <a:xfrm xmlns:a="http://schemas.openxmlformats.org/drawingml/2006/main">
            <a:off x="685800" y="58102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E8674B"/>
                </a:solidFill>
                <a:latin typeface="Arial"/>
                <a:ea typeface="Arial"/>
                <a:cs typeface="Arial"/>
              </a:defRPr>
            </a:pPr>
            <a:r>
              <a:rPr sz="1200" b="1">
                <a:solidFill>
                  <a:srgbClr val="E8674B"/>
                </a:solidFill>
                <a:latin typeface="Arial"/>
                <a:ea typeface="Arial"/>
                <a:cs typeface="Arial"/>
              </a:rPr>
              <a:t>Sentence starter: My brand direction is to… for… I will keep the work original by…</a:t>
            </a:r>
          </a:p>
        </p:txBody>
      </p:sp>
      <p:sp>
        <p:nvSpPr>
          <p:cNvPr id="24" name="">
            <a:extLst xmlns:a="http://schemas.openxmlformats.org/drawingml/2006/main">
              <a:ext uri="{FF2B5EF4-FFF2-40B4-BE49-F238E27FC236}">
                <a16:creationId xmlns:a16="http://schemas.microsoft.com/office/drawing/2014/main" id="{CD2B1E3D-6590-47E9-B2B8-E3442AD3D401}"/>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01  •  THE DESIGN CHALLENGE</a:t>
            </a:r>
          </a:p>
        </p:txBody>
      </p:sp>
      <p:sp>
        <p:nvSpPr>
          <p:cNvPr id="25" name="">
            <a:extLst xmlns:a="http://schemas.openxmlformats.org/drawingml/2006/main">
              <a:ext uri="{FF2B5EF4-FFF2-40B4-BE49-F238E27FC236}">
                <a16:creationId xmlns:a16="http://schemas.microsoft.com/office/drawing/2014/main" id="{B5F05ACA-F74B-4538-A25C-7768C40E2B96}"/>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07</a:t>
            </a:r>
          </a:p>
        </p:txBody>
      </p:sp>
    </p:spTree>
    <p:extLst>
      <p:ext uri="{BB962C8B-B14F-4D97-AF65-F5344CB8AC3E}">
        <p14:creationId xmlns:p14="http://schemas.microsoft.com/office/powerpoint/2010/main" val="1328146612"/>
      </p:ext>
    </p:extLst>
  </p:cSld>
</p:sld>
</file>

<file path=ppt/slides/slide8.xml><?xml version="1.0" encoding="utf-8"?>
<p:sld xmlns:p="http://schemas.openxmlformats.org/presentationml/2006/main">
  <p:cSld>
    <p:bg>
      <p:bgPr>
        <a:solidFill xmlns:a="http://schemas.openxmlformats.org/drawingml/2006/main">
          <a:srgbClr val="E8674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6CC9F5-C4CC-4836-A0C0-A3A6FC29F48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82DC299-048F-4757-B4BB-1DC2994B62A4}"/>
              </a:ext>
            </a:extLst>
          </p:cNvPr>
          <p:cNvSpPr>
            <a:spLocks xmlns:a="http://schemas.openxmlformats.org/drawingml/2006/main" noGrp="1"/>
          </p:cNvSpPr>
          <p:nvPr/>
        </p:nvSpPr>
        <p:spPr>
          <a:xfrm xmlns:a="http://schemas.openxmlformats.org/drawingml/2006/main">
            <a:off x="685800" y="8382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Before you pack up…</a:t>
            </a:r>
          </a:p>
        </p:txBody>
      </p:sp>
      <p:sp>
        <p:nvSpPr>
          <p:cNvPr id="3" name="">
            <a:extLst xmlns:a="http://schemas.openxmlformats.org/drawingml/2006/main">
              <a:ext uri="{FF2B5EF4-FFF2-40B4-BE49-F238E27FC236}">
                <a16:creationId xmlns:a16="http://schemas.microsoft.com/office/drawing/2014/main" id="{7621B91C-3410-4865-B647-D86DC61A5204}"/>
              </a:ext>
            </a:extLst>
          </p:cNvPr>
          <p:cNvSpPr>
            <a:spLocks xmlns:a="http://schemas.openxmlformats.org/drawingml/2006/main" noGrp="1"/>
          </p:cNvSpPr>
          <p:nvPr/>
        </p:nvSpPr>
        <p:spPr>
          <a:xfrm xmlns:a="http://schemas.openxmlformats.org/drawingml/2006/main">
            <a:off x="685800" y="19621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1. One idea I can now explain is…</a:t>
            </a:r>
          </a:p>
        </p:txBody>
      </p:sp>
      <p:sp>
        <p:nvSpPr>
          <p:cNvPr id="4" name="">
            <a:extLst xmlns:a="http://schemas.openxmlformats.org/drawingml/2006/main">
              <a:ext uri="{FF2B5EF4-FFF2-40B4-BE49-F238E27FC236}">
                <a16:creationId xmlns:a16="http://schemas.microsoft.com/office/drawing/2014/main" id="{2BAB5FF2-080A-4A81-AAB4-8FBA223DA56B}"/>
              </a:ext>
            </a:extLst>
          </p:cNvPr>
          <p:cNvSpPr>
            <a:spLocks xmlns:a="http://schemas.openxmlformats.org/drawingml/2006/main" noGrp="1"/>
          </p:cNvSpPr>
          <p:nvPr/>
        </p:nvSpPr>
        <p:spPr>
          <a:xfrm xmlns:a="http://schemas.openxmlformats.org/drawingml/2006/main">
            <a:off x="685800" y="308610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2. One design decision or practical action this changes is…</a:t>
            </a:r>
          </a:p>
        </p:txBody>
      </p:sp>
      <p:sp>
        <p:nvSpPr>
          <p:cNvPr id="5" name="">
            <a:extLst xmlns:a="http://schemas.openxmlformats.org/drawingml/2006/main">
              <a:ext uri="{FF2B5EF4-FFF2-40B4-BE49-F238E27FC236}">
                <a16:creationId xmlns:a16="http://schemas.microsoft.com/office/drawing/2014/main" id="{9C956C0D-BA70-4B47-88F5-448037E4FB28}"/>
              </a:ext>
            </a:extLst>
          </p:cNvPr>
          <p:cNvSpPr>
            <a:spLocks xmlns:a="http://schemas.openxmlformats.org/drawingml/2006/main" noGrp="1"/>
          </p:cNvSpPr>
          <p:nvPr/>
        </p:nvSpPr>
        <p:spPr>
          <a:xfrm xmlns:a="http://schemas.openxmlformats.org/drawingml/2006/main">
            <a:off x="685800" y="42100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3. One question I still need answered is…</a:t>
            </a:r>
          </a:p>
        </p:txBody>
      </p:sp>
      <p:sp>
        <p:nvSpPr>
          <p:cNvPr id="6" name="">
            <a:extLst xmlns:a="http://schemas.openxmlformats.org/drawingml/2006/main">
              <a:ext uri="{FF2B5EF4-FFF2-40B4-BE49-F238E27FC236}">
                <a16:creationId xmlns:a16="http://schemas.microsoft.com/office/drawing/2014/main" id="{2DB6A8FF-DDA7-430F-AEA9-043E52EA23D5}"/>
              </a:ext>
            </a:extLst>
          </p:cNvPr>
          <p:cNvSpPr>
            <a:spLocks xmlns:a="http://schemas.openxmlformats.org/drawingml/2006/main" noGrp="1"/>
          </p:cNvSpPr>
          <p:nvPr/>
        </p:nvSpPr>
        <p:spPr>
          <a:xfrm xmlns:a="http://schemas.openxmlformats.org/drawingml/2006/main">
            <a:off x="9810750" y="2609850"/>
            <a:ext cx="1638300" cy="1638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194A716-1785-4893-9D2C-6FE86D775669}"/>
              </a:ext>
            </a:extLst>
          </p:cNvPr>
          <p:cNvSpPr>
            <a:spLocks xmlns:a="http://schemas.openxmlformats.org/drawingml/2006/main" noGrp="1"/>
          </p:cNvSpPr>
          <p:nvPr/>
        </p:nvSpPr>
        <p:spPr>
          <a:xfrm xmlns:a="http://schemas.openxmlformats.org/drawingml/2006/main">
            <a:off x="9944100" y="2876550"/>
            <a:ext cx="1371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SAVE</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YOUR</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EVIDENCE</a:t>
            </a:r>
          </a:p>
        </p:txBody>
      </p:sp>
      <p:sp>
        <p:nvSpPr>
          <p:cNvPr id="8" name="">
            <a:extLst xmlns:a="http://schemas.openxmlformats.org/drawingml/2006/main">
              <a:ext uri="{FF2B5EF4-FFF2-40B4-BE49-F238E27FC236}">
                <a16:creationId xmlns:a16="http://schemas.microsoft.com/office/drawing/2014/main" id="{D109D98A-42F3-497E-8788-5380308BD0F4}"/>
              </a:ext>
            </a:extLst>
          </p:cNvPr>
          <p:cNvSpPr>
            <a:spLocks xmlns:a="http://schemas.openxmlformats.org/drawingml/2006/main" noGrp="1"/>
          </p:cNvSpPr>
          <p:nvPr/>
        </p:nvSpPr>
        <p:spPr>
          <a:xfrm xmlns:a="http://schemas.openxmlformats.org/drawingml/2006/main">
            <a:off x="685800" y="57531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Save in the matching course module. Local save is not submission.</a:t>
            </a:r>
          </a:p>
        </p:txBody>
      </p:sp>
      <p:sp>
        <p:nvSpPr>
          <p:cNvPr id="9" name="">
            <a:extLst xmlns:a="http://schemas.openxmlformats.org/drawingml/2006/main">
              <a:ext uri="{FF2B5EF4-FFF2-40B4-BE49-F238E27FC236}">
                <a16:creationId xmlns:a16="http://schemas.microsoft.com/office/drawing/2014/main" id="{6DF88FDC-EBB5-461A-8C2C-BE08BEF1A547}"/>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01  •  THE DESIGN CHALLENGE</a:t>
            </a:r>
          </a:p>
        </p:txBody>
      </p:sp>
      <p:sp>
        <p:nvSpPr>
          <p:cNvPr id="10" name="">
            <a:extLst xmlns:a="http://schemas.openxmlformats.org/drawingml/2006/main">
              <a:ext uri="{FF2B5EF4-FFF2-40B4-BE49-F238E27FC236}">
                <a16:creationId xmlns:a16="http://schemas.microsoft.com/office/drawing/2014/main" id="{4BDD58B1-49C7-4F65-935B-4E77ABE81BAA}"/>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08</a:t>
            </a:r>
          </a:p>
        </p:txBody>
      </p:sp>
    </p:spTree>
    <p:extLst>
      <p:ext uri="{BB962C8B-B14F-4D97-AF65-F5344CB8AC3E}">
        <p14:creationId xmlns:p14="http://schemas.microsoft.com/office/powerpoint/2010/main" val="17960880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2026-08-24T00:53:53.8190000Z</dcterms:created>
  <dcterms:modified xsi:type="dcterms:W3CDTF">2026-08-24T00:53:53.8190000Z</dcterms:modified>
</coreProperties>
</file>