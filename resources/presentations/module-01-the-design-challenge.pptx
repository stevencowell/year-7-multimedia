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3f653798d44889" /><Relationship Type="http://schemas.openxmlformats.org/officeDocument/2006/relationships/extended-properties" Target="/docProps/app.xml" Id="Rff8a2fa4365e4905" /><Relationship Type="http://schemas.openxmlformats.org/officeDocument/2006/relationships/officeDocument" Target="/ppt/presentation.xml" Id="R8f2856fe57504338" /></Relationships>
</file>

<file path=ppt/presentation.xml><?xml version="1.0" encoding="utf-8"?>
<p:presentation xmlns:p="http://schemas.openxmlformats.org/presentationml/2006/main">
  <p:sldMasterIdLst>
    <p:sldMasterId xmlns:r="http://schemas.openxmlformats.org/officeDocument/2006/relationships" id="2147483648" r:id="R0d47d05afcab4917"/>
  </p:sldMasterIdLst>
  <p:notesMasterIdLst>
    <p:notesMasterId xmlns:r="http://schemas.openxmlformats.org/officeDocument/2006/relationships" r:id="Rbe4a36e9830e4fd5"/>
  </p:notesMasterIdLst>
  <p:sldIdLst>
    <p:sldId xmlns:r="http://schemas.openxmlformats.org/officeDocument/2006/relationships" id="256" r:id="Re4ed1670e8b74ef6"/>
    <p:sldId xmlns:r="http://schemas.openxmlformats.org/officeDocument/2006/relationships" id="257" r:id="R0175378f32b74a81"/>
    <p:sldId xmlns:r="http://schemas.openxmlformats.org/officeDocument/2006/relationships" id="258" r:id="R849fafe519874afe"/>
    <p:sldId xmlns:r="http://schemas.openxmlformats.org/officeDocument/2006/relationships" id="259" r:id="R04d3b94174eb485c"/>
    <p:sldId xmlns:r="http://schemas.openxmlformats.org/officeDocument/2006/relationships" id="260" r:id="Rff4989fc6d76425e"/>
    <p:sldId xmlns:r="http://schemas.openxmlformats.org/officeDocument/2006/relationships" id="261" r:id="R89fbf029ff2c4cd3"/>
    <p:sldId xmlns:r="http://schemas.openxmlformats.org/officeDocument/2006/relationships" id="262" r:id="Rda7d251a233043ff"/>
    <p:sldId xmlns:r="http://schemas.openxmlformats.org/officeDocument/2006/relationships" id="263" r:id="R20275c733a2243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8b279ca47b14b45" /><Relationship Type="http://schemas.openxmlformats.org/officeDocument/2006/relationships/slideMaster" Target="/ppt/slideMasters/slideMaster1.xml" Id="R0d47d05afcab4917" /><Relationship Type="http://schemas.openxmlformats.org/officeDocument/2006/relationships/notesMaster" Target="/ppt/notesMasters/notesMaster1.xml" Id="Rbe4a36e9830e4fd5" /><Relationship Type="http://schemas.openxmlformats.org/officeDocument/2006/relationships/presProps" Target="/ppt/presProps.xml" Id="R8ff73e2c818848a1" /><Relationship Type="http://schemas.openxmlformats.org/officeDocument/2006/relationships/tableStyles" Target="/ppt/tableStyles.xml" Id="R4746a2a8832f4ad0" /><Relationship Type="http://schemas.openxmlformats.org/officeDocument/2006/relationships/slide" Target="/ppt/slides/slide1.xml" Id="Re4ed1670e8b74ef6" /><Relationship Type="http://schemas.openxmlformats.org/officeDocument/2006/relationships/slide" Target="/ppt/slides/slide2.xml" Id="R0175378f32b74a81" /><Relationship Type="http://schemas.openxmlformats.org/officeDocument/2006/relationships/slide" Target="/ppt/slides/slide3.xml" Id="R849fafe519874afe" /><Relationship Type="http://schemas.openxmlformats.org/officeDocument/2006/relationships/slide" Target="/ppt/slides/slide4.xml" Id="R04d3b94174eb485c" /><Relationship Type="http://schemas.openxmlformats.org/officeDocument/2006/relationships/slide" Target="/ppt/slides/slide5.xml" Id="Rff4989fc6d76425e" /><Relationship Type="http://schemas.openxmlformats.org/officeDocument/2006/relationships/slide" Target="/ppt/slides/slide6.xml" Id="R89fbf029ff2c4cd3" /><Relationship Type="http://schemas.openxmlformats.org/officeDocument/2006/relationships/slide" Target="/ppt/slides/slide7.xml" Id="Rda7d251a233043ff" /><Relationship Type="http://schemas.openxmlformats.org/officeDocument/2006/relationships/slide" Target="/ppt/slides/slide8.xml" Id="R20275c733a2243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8bab6d0a5b45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0c16919b72495b" /><Relationship Type="http://schemas.openxmlformats.org/officeDocument/2006/relationships/notesMaster" Target="/ppt/notesMasters/notesMaster1.xml" Id="Ra7caffc12521474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a7d8d9db8840de" /><Relationship Type="http://schemas.openxmlformats.org/officeDocument/2006/relationships/notesMaster" Target="/ppt/notesMasters/notesMaster1.xml" Id="R6e7b273ac6af46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d37bc29c86f408f" /><Relationship Type="http://schemas.openxmlformats.org/officeDocument/2006/relationships/notesMaster" Target="/ppt/notesMasters/notesMaster1.xml" Id="Rcebb2f3b51f446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7be5129eb64c77" /><Relationship Type="http://schemas.openxmlformats.org/officeDocument/2006/relationships/notesMaster" Target="/ppt/notesMasters/notesMaster1.xml" Id="R64beac3259ef48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8f563c626f41a6" /><Relationship Type="http://schemas.openxmlformats.org/officeDocument/2006/relationships/notesMaster" Target="/ppt/notesMasters/notesMaster1.xml" Id="R8958179a8a0543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c605c3593745f8" /><Relationship Type="http://schemas.openxmlformats.org/officeDocument/2006/relationships/notesMaster" Target="/ppt/notesMasters/notesMaster1.xml" Id="R3debb10d44034f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6dddc0eb2d524a8b" /><Relationship Type="http://schemas.openxmlformats.org/officeDocument/2006/relationships/notesMaster" Target="/ppt/notesMasters/notesMaster1.xml" Id="R57ee0875af1b44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6f6ecccb97dc4a18" /><Relationship Type="http://schemas.openxmlformats.org/officeDocument/2006/relationships/notesMaster" Target="/ppt/notesMasters/notesMaster1.xml" Id="Rf1dcef73aa294e9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Define the purpose, audience and original brand direction.</a:t>
            </a:r>
          </a:p>
          <a:p xmlns:a="http://schemas.openxmlformats.org/drawingml/2006/main">
            <a:r>
              <a:t>Prompt: What makes a design direction useful before any software opens?</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1.</a:t>
            </a:r>
          </a:p>
          <a:p xmlns:a="http://schemas.openxmlformats.org/drawingml/2006/main">
            <a:r>
              <a:t>- Theory: data/course-content.js, m01-s01, m01-s02, m01-s03.</a:t>
            </a:r>
          </a:p>
          <a:p xmlns:a="http://schemas.openxmlformats.org/drawingml/2006/main">
            <a:r>
              <a:t>- Visual: assets/visuals/generated-audience-research-workspace.png.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What makes a design direction useful before any software opens?</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Problem, purpose and brief.</a:t>
            </a:r>
          </a:p>
          <a:p xmlns:a="http://schemas.openxmlformats.org/drawingml/2006/main">
            <a:r>
              <a:t/>
            </a:r>
          </a:p>
          <a:p xmlns:a="http://schemas.openxmlformats.org/drawingml/2006/main">
            <a:r>
              <a:t>[Sources]</a:t>
            </a:r>
          </a:p>
          <a:p xmlns:a="http://schemas.openxmlformats.org/drawingml/2006/main">
            <a:r>
              <a:t>- Theory sequence: data/course-content.js, m01-s01, m01-s02, m01-s03.</a:t>
            </a:r>
          </a:p>
          <a:p xmlns:a="http://schemas.openxmlformats.org/drawingml/2006/main">
            <a:r>
              <a:t>- Module summary: data/course-map.js, Module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Explain how a clear brief turns a design opportunity into a direction for original work.</a:t>
            </a:r>
          </a:p>
          <a:p xmlns:a="http://schemas.openxmlformats.org/drawingml/2006/main">
            <a:r>
              <a:t>Explain: A design problem is the situation that needs a useful response. The purpose explains why that response matters. A design brief joins these ideas into a concise statement of what will be developed, who it is for and what it should achieve. Fast Food Futures asks students to develop an original fast-food business and a connected digital brand. The brief guides the work; it is not a finished logo, poster or website.</a:t>
            </a:r>
          </a:p>
          <a:p xmlns:a="http://schemas.openxmlformats.org/drawingml/2006/main">
            <a:r>
              <a:t>Clarify: The supplied brainstorm confirms decisions such as a business name, slogan, products, colours and target audience. It does not confirm exact required quantities, software accounts or publication settings. Its space for product ideas is a planning scaffold, not proof of a compulsory quantity. A responsible designer does not turn a genuine unknown into a project rule and follows authorised directions when they are supplied.</a:t>
            </a:r>
          </a:p>
          <a:p xmlns:a="http://schemas.openxmlformats.org/drawingml/2006/main">
            <a:r>
              <a:t>Worked example: “Make a cool burger logo” is narrow and vague. A stronger draft is: “Develop an original visual identity for a fast-food business so its intended audience can recognise the business across a logo, menu, poster, motion advertisement and web portfolio.” This version names the connected outcome and audience purpose while leaving room for original decisions. Later ideas can be judged for recognition, consistency, readability and honesty.</a:t>
            </a:r>
          </a:p>
          <a:p xmlns:a="http://schemas.openxmlformats.org/drawingml/2006/main">
            <a:r>
              <a:t>Ask: Which statement best describes a design brief?</a:t>
            </a:r>
          </a:p>
          <a:p xmlns:a="http://schemas.openxmlformats.org/drawingml/2006/main">
            <a:r>
              <a:t>Listen for: A concise statement of what will be developed, for whom and for what purpose. Correct. A brief frames the task, audience and purpose.</a:t>
            </a:r>
          </a:p>
          <a:p xmlns:a="http://schemas.openxmlformats.org/drawingml/2006/main">
            <a:r>
              <a:t>Misconception to correct: A design brief is a list of finished features. → A brief frames the challenge; features are developed and tested later.</a:t>
            </a:r>
          </a:p>
          <a:p xmlns:a="http://schemas.openxmlformats.org/drawingml/2006/main">
            <a:r>
              <a:t>Transition: Connect this idea to Users and target audiences.</a:t>
            </a:r>
          </a:p>
          <a:p xmlns:a="http://schemas.openxmlformats.org/drawingml/2006/main">
            <a:r>
              <a:t/>
            </a:r>
          </a:p>
          <a:p xmlns:a="http://schemas.openxmlformats.org/drawingml/2006/main">
            <a:r>
              <a:t>[Sources]</a:t>
            </a:r>
          </a:p>
          <a:p xmlns:a="http://schemas.openxmlformats.org/drawingml/2006/main">
            <a:r>
              <a:t>- Theory and check: data/course-content.js, m01-s01 and m01-s01-q01.</a:t>
            </a:r>
          </a:p>
          <a:p xmlns:a="http://schemas.openxmlformats.org/drawingml/2006/main">
            <a:r>
              <a:t>- Image-first teaching visual: assets/visuals/generated-design-brief-planning-workspace.png. AI-generated with the built-in image tool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Use audience evidence to make respectful, purposeful communication decisions.</a:t>
            </a:r>
          </a:p>
          <a:p xmlns:a="http://schemas.openxmlformats.org/drawingml/2006/main">
            <a:r>
              <a:t>Explain: A target audience is the group a communication is designed to reach. Age can be relevant, but a useful profile also considers needs, interests, context, access and the action the communication should support. “Teenagers” is too broad to guide many choices. “Students comparing options quickly on a small screen during a short break” gives clearer clues about reading size, information order and tone. These clues are hypotheses until research or feedback supports them.</a:t>
            </a:r>
          </a:p>
          <a:p xmlns:a="http://schemas.openxmlformats.org/drawingml/2006/main">
            <a:r>
              <a:t>Clarify: Designers make weak assumptions when they treat a group as if everyone thinks the same way. A colour or phrase should not be chosen because “young people like it”. Explain the communication purpose and gather suitable evidence. Accessible choices such as readable type, clear contrast, captions and plain navigation widen participation. Accessibility is part of effective audience design, not decoration added at the end.</a:t>
            </a:r>
          </a:p>
          <a:p xmlns:a="http://schemas.openxmlformats.org/drawingml/2006/main">
            <a:r>
              <a:t>Worked example: If users need to compare products quickly, a designer might use clear category headings, brief names, aligned prices and one obvious action. Each choice answers a scanning need. Neon colours chosen only because the audience is young have no strong evidence. A useful justification makes the chain visible: audience evidence leads to a communication need, which leads to a design decision that can be tested.</a:t>
            </a:r>
          </a:p>
          <a:p xmlns:a="http://schemas.openxmlformats.org/drawingml/2006/main">
            <a:r>
              <a:t>Ask: Which audience description gives the strongest design guidance?</a:t>
            </a:r>
          </a:p>
          <a:p xmlns:a="http://schemas.openxmlformats.org/drawingml/2006/main">
            <a:r>
              <a:t>Listen for: Students comparing options quickly on a small screen. Correct. It identifies a context and need.</a:t>
            </a:r>
          </a:p>
          <a:p xmlns:a="http://schemas.openxmlformats.org/drawingml/2006/main">
            <a:r>
              <a:t>Misconception to correct: An audience profile tells the designer exactly which style to use. → It informs choices that still need testing and respectful judgement.</a:t>
            </a:r>
          </a:p>
          <a:p xmlns:a="http://schemas.openxmlformats.org/drawingml/2006/main">
            <a:r>
              <a:t>Transition: Connect this idea to Original ideas and responsible AI.</a:t>
            </a:r>
          </a:p>
          <a:p xmlns:a="http://schemas.openxmlformats.org/drawingml/2006/main">
            <a:r>
              <a:t/>
            </a:r>
          </a:p>
          <a:p xmlns:a="http://schemas.openxmlformats.org/drawingml/2006/main">
            <a:r>
              <a:t>[Sources]</a:t>
            </a:r>
          </a:p>
          <a:p xmlns:a="http://schemas.openxmlformats.org/drawingml/2006/main">
            <a:r>
              <a:t>- Theory and check: data/course-content.js, m01-s02 and m01-s02-q01.</a:t>
            </a:r>
          </a:p>
          <a:p xmlns:a="http://schemas.openxmlformats.org/drawingml/2006/main">
            <a:r>
              <a:t>- Image-first teaching visual: assets/visuals/generated-audience-research-workspace.png. AI-generated with the built-in image tool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Use digital and AI tools to extend thinking while keeping authorship, privacy and responsibility with the student.</a:t>
            </a:r>
          </a:p>
          <a:p xmlns:a="http://schemas.openxmlformats.org/drawingml/2006/main">
            <a:r>
              <a:t>Explain: Original ideas can grow through observation, research, sketching, comparison and combination. Originality comes from purposeful choices for this brief rather than copying a finished brand. A mood board can collect colour, type, texture and image-treatment references, but should not become a page of logos to imitate. Record important sources and show how your own decisions change across drafts.</a:t>
            </a:r>
          </a:p>
          <a:p xmlns:a="http://schemas.openxmlformats.org/drawingml/2006/main">
            <a:r>
              <a:t>Clarify: The supplied brainstorm permits AI for ideas only, followed by student selection and editing. A generated result is not automatically accurate, suitable or original. Check suggestions against the brief, reject stereotypes, verify factual claims and transform useful fragments through your own reasoning. Do not enter personal information, student images or controlled school material into a tool unless approved use is confirmed. Accounts and licence conditions remain teacher-controlled.</a:t>
            </a:r>
          </a:p>
          <a:p xmlns:a="http://schemas.openxmlformats.org/drawingml/2006/main">
            <a:r>
              <a:t>Worked example: A student requests words connected to “fast, fresh and playful”, circles two useful results, sketches three symbols, combines one with an original wordmark and tests it with the audience profile. Their note identifies the tool-assisted starting point and explains the changes. Copying a generated logo directly would hide the decisions. The trail makes the student’s contribution, checking and responsibility visible.</a:t>
            </a:r>
          </a:p>
          <a:p xmlns:a="http://schemas.openxmlformats.org/drawingml/2006/main">
            <a:r>
              <a:t>Ask: What does the source allow AI to do in the brainstorm?</a:t>
            </a:r>
          </a:p>
          <a:p xmlns:a="http://schemas.openxmlformats.org/drawingml/2006/main">
            <a:r>
              <a:t>Listen for: Suggest starting ideas that the student checks and edits. Correct. The student remains responsible.</a:t>
            </a:r>
          </a:p>
          <a:p xmlns:a="http://schemas.openxmlformats.org/drawingml/2006/main">
            <a:r>
              <a:t>Misconception to correct: Generated material is automatically safe and original to use. → It still needs suitability, accuracy, privacy and ownership checks.</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m01-s03 and m01-s03-q01.</a:t>
            </a:r>
          </a:p>
          <a:p xmlns:a="http://schemas.openxmlformats.org/drawingml/2006/main">
            <a:r>
              <a:t>- Image-first teaching visual: assets/visuals/generated-m01-responsible-ai-decision-trail-v2.png. AI-generated with the built-in OpenAI image creator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A concise statement of what will be developed, for whom and for what purpose. Feedback: Correct. A brief frames the task, audience and purpose.</a:t>
            </a:r>
          </a:p>
          <a:p xmlns:a="http://schemas.openxmlformats.org/drawingml/2006/main">
            <a:r>
              <a:t>Question 2: Students comparing options quickly on a small screen. Feedback: Correct. It identifies a context and need.</a:t>
            </a:r>
          </a:p>
          <a:p xmlns:a="http://schemas.openxmlformats.org/drawingml/2006/main">
            <a:r>
              <a:t>Question 3: Suggest starting ideas that the student checks and edits. Feedback: Correct. The student remains responsible.</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m01-s01-q01, m01-s02-q01, m01-s03-q01.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m01-s01-capstone, m01-s02-capstone, m01-s03-capstone.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m01-s01, m01-s02, m01-s03.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7e3faabbab4f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f5af6791214c80" /><Relationship Type="http://schemas.openxmlformats.org/officeDocument/2006/relationships/slideLayout" Target="/ppt/slideLayouts/slideLayout1.xml" Id="Rc48bac08168041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8bac08168041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f0e55652230401f" /><Relationship Type="http://schemas.openxmlformats.org/officeDocument/2006/relationships/image" Target="/ppt/media/image.png" Id="R20bb44e201834098" /><Relationship Type="http://schemas.openxmlformats.org/officeDocument/2006/relationships/notesSlide" Target="/ppt/notesSlides/notesSlide1.xml" Id="Rfb6a35f6d92843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b8972038bb84ed9" /><Relationship Type="http://schemas.openxmlformats.org/officeDocument/2006/relationships/notesSlide" Target="/ppt/notesSlides/notesSlide2.xml" Id="R2e388b49813443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b3dc3180d446b0" /><Relationship Type="http://schemas.openxmlformats.org/officeDocument/2006/relationships/image" Target="/ppt/media/image2.png" Id="R79524b746d9a416d" /><Relationship Type="http://schemas.openxmlformats.org/officeDocument/2006/relationships/notesSlide" Target="/ppt/notesSlides/notesSlide3.xml" Id="R90d5f3abe5f149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b76b59d16142e6" /><Relationship Type="http://schemas.openxmlformats.org/officeDocument/2006/relationships/image" Target="/ppt/media/image3.png" Id="Rb2125682b94e46d9" /><Relationship Type="http://schemas.openxmlformats.org/officeDocument/2006/relationships/notesSlide" Target="/ppt/notesSlides/notesSlide4.xml" Id="R5c5d05fc604547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3c752ef5e514e8a" /><Relationship Type="http://schemas.openxmlformats.org/officeDocument/2006/relationships/image" Target="/ppt/media/image4.png" Id="Rd15bb196c3614f4b" /><Relationship Type="http://schemas.openxmlformats.org/officeDocument/2006/relationships/notesSlide" Target="/ppt/notesSlides/notesSlide5.xml" Id="R5ae039c420bd44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0865bc996ed4f78" /><Relationship Type="http://schemas.openxmlformats.org/officeDocument/2006/relationships/notesSlide" Target="/ppt/notesSlides/notesSlide6.xml" Id="R3e829ca631644a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8707c8f36041a9" /><Relationship Type="http://schemas.openxmlformats.org/officeDocument/2006/relationships/notesSlide" Target="/ppt/notesSlides/notesSlide7.xml" Id="R8dcc721d6b9f49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3ec795523b749ee" /><Relationship Type="http://schemas.openxmlformats.org/officeDocument/2006/relationships/notesSlide" Target="/ppt/notesSlides/notesSlide8.xml" Id="Rd103dfd0128a4591"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09A3924-CA4B-4978-A9B9-3A08C1FDF52A}"/>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BCAB619-41FA-4D2A-95F6-243ED3CBDF30}"/>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D065801-D1DC-47B6-9390-1C0741084FCC}"/>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01</a:t>
            </a:r>
          </a:p>
        </p:txBody>
      </p:sp>
      <p:sp>
        <p:nvSpPr>
          <p:cNvPr id="4" name="">
            <a:extLst xmlns:a="http://schemas.openxmlformats.org/drawingml/2006/main">
              <a:ext uri="{FF2B5EF4-FFF2-40B4-BE49-F238E27FC236}">
                <a16:creationId xmlns:a16="http://schemas.microsoft.com/office/drawing/2014/main" id="{0FD20C28-CAD7-4A0B-BE02-95CE780685D7}"/>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The design challenge</a:t>
            </a:r>
          </a:p>
        </p:txBody>
      </p:sp>
      <p:sp>
        <p:nvSpPr>
          <p:cNvPr id="5" name="">
            <a:extLst xmlns:a="http://schemas.openxmlformats.org/drawingml/2006/main">
              <a:ext uri="{FF2B5EF4-FFF2-40B4-BE49-F238E27FC236}">
                <a16:creationId xmlns:a16="http://schemas.microsoft.com/office/drawing/2014/main" id="{84021EF8-A791-4138-86BA-535E23DD4002}"/>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Define the purpose, audience and original brand direction.</a:t>
            </a:r>
          </a:p>
        </p:txBody>
      </p:sp>
      <p:sp>
        <p:nvSpPr>
          <p:cNvPr id="6" name="">
            <a:extLst xmlns:a="http://schemas.openxmlformats.org/drawingml/2006/main">
              <a:ext uri="{FF2B5EF4-FFF2-40B4-BE49-F238E27FC236}">
                <a16:creationId xmlns:a16="http://schemas.microsoft.com/office/drawing/2014/main" id="{0A37CBFA-4731-49D6-BBA0-1CB8CAFBF7F1}"/>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8D9A11FD-12E8-4E7F-A760-FEBE3DC67724}"/>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What makes a design direction useful before any software opens?</a:t>
            </a:r>
          </a:p>
        </p:txBody>
      </p:sp>
      <p:sp>
        <p:nvSpPr>
          <p:cNvPr id="8" name="">
            <a:extLst xmlns:a="http://schemas.openxmlformats.org/drawingml/2006/main">
              <a:ext uri="{FF2B5EF4-FFF2-40B4-BE49-F238E27FC236}">
                <a16:creationId xmlns:a16="http://schemas.microsoft.com/office/drawing/2014/main" id="{DA6AACCB-205D-4D18-9F74-371B3B22B661}"/>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pic>
        <p:nvPicPr>
          <p:cNvPr id="20" name="Audience Research Workspace" title="Audience Research Workspace" descr="Overhead design table with several pairs of hands sorting simple audience-profile symbol cards, colour swatches and blank notes."/>
          <p:cNvPicPr>
            <a:picLocks xmlns:a="http://schemas.openxmlformats.org/drawingml/2006/main" noChangeAspect="1"/>
          </p:cNvPicPr>
          <p:nvPr/>
        </p:nvPicPr>
        <p:blipFill>
          <a:blip xmlns:r="http://schemas.openxmlformats.org/officeDocument/2006/relationships" xmlns:a="http://schemas.openxmlformats.org/drawingml/2006/main" r:embed="R20bb44e201834098"/>
          <a:srcRect xmlns:a="http://schemas.openxmlformats.org/drawingml/2006/main" l="22060" t="0" r="22060" b="0"/>
          <a:stretch xmlns:a="http://schemas.openxmlformats.org/drawingml/2006/main">
            <a:fillRect l="0" t="0" r="0" b="0"/>
          </a:stretch>
        </p:blipFill>
        <p:spPr>
          <a:xfrm xmlns:a="http://schemas.openxmlformats.org/drawingml/2006/main">
            <a:off x="6191250" y="514350"/>
            <a:ext cx="5334000" cy="5372100"/>
          </a:xfrm>
          <a:prstGeom xmlns:a="http://schemas.openxmlformats.org/drawingml/2006/main" prst="roundRect">
            <a:avLst>
              <a:gd name="adj" fmla="val 2143"/>
            </a:avLst>
          </a:prstGeom>
        </p:spPr>
      </p:pic>
      <p:sp>
        <p:nvSpPr>
          <p:cNvPr id="10" name="">
            <a:extLst xmlns:a="http://schemas.openxmlformats.org/drawingml/2006/main">
              <a:ext uri="{FF2B5EF4-FFF2-40B4-BE49-F238E27FC236}">
                <a16:creationId xmlns:a16="http://schemas.microsoft.com/office/drawing/2014/main" id="{C48A5977-CB77-412F-BDD2-903AF11A2F3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01  •  THE DESIGN CHALLENGE</a:t>
            </a:r>
          </a:p>
        </p:txBody>
      </p:sp>
      <p:sp>
        <p:nvSpPr>
          <p:cNvPr id="11" name="">
            <a:extLst xmlns:a="http://schemas.openxmlformats.org/drawingml/2006/main">
              <a:ext uri="{FF2B5EF4-FFF2-40B4-BE49-F238E27FC236}">
                <a16:creationId xmlns:a16="http://schemas.microsoft.com/office/drawing/2014/main" id="{01ABD253-A80D-4FC4-ADCB-B9D96950C85C}"/>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1064484338"/>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7E0CCA6-FCB8-4114-9600-7B994E99A3B3}"/>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74DD0C5-4D93-4886-9C44-AE05B3F39E1C}"/>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0571401D-9A57-428D-A902-C9BAFA6652D3}"/>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E8BA5F8B-D892-4975-B290-B0F8E9E2E8A8}"/>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63D2D29A-1180-4105-954E-6A92267D5241}"/>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89F1BF-FC0F-4610-BDFE-687341051FB8}"/>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CE848827-CB3E-408F-89C7-33D0734A76DD}"/>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Problem, purpose and brief</a:t>
            </a:r>
          </a:p>
        </p:txBody>
      </p:sp>
      <p:sp>
        <p:nvSpPr>
          <p:cNvPr id="8" name="">
            <a:extLst xmlns:a="http://schemas.openxmlformats.org/drawingml/2006/main">
              <a:ext uri="{FF2B5EF4-FFF2-40B4-BE49-F238E27FC236}">
                <a16:creationId xmlns:a16="http://schemas.microsoft.com/office/drawing/2014/main" id="{3382206C-B8F7-465F-8E76-0FC48002FEEC}"/>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32B1282C-A9FB-40BE-BC83-357F970ECA0E}"/>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923EA68-AC95-423C-94D8-0089A3E5B946}"/>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CF2D9809-0937-4B76-A02D-7C637C726BF6}"/>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Users and target audiences</a:t>
            </a:r>
          </a:p>
        </p:txBody>
      </p:sp>
      <p:sp>
        <p:nvSpPr>
          <p:cNvPr id="12" name="">
            <a:extLst xmlns:a="http://schemas.openxmlformats.org/drawingml/2006/main">
              <a:ext uri="{FF2B5EF4-FFF2-40B4-BE49-F238E27FC236}">
                <a16:creationId xmlns:a16="http://schemas.microsoft.com/office/drawing/2014/main" id="{DEDA276B-3D6F-4F76-943F-ABBA5F81B0BA}"/>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AB5455E0-7312-46B6-B3D5-CB3849ADB656}"/>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3AA588-ADF8-4728-B3BA-27B23BECE48B}"/>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C98FE3FB-8849-4C74-A133-5A0FCA7A39AC}"/>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Original ideas and responsible AI</a:t>
            </a:r>
          </a:p>
        </p:txBody>
      </p:sp>
      <p:sp>
        <p:nvSpPr>
          <p:cNvPr id="16" name="">
            <a:extLst xmlns:a="http://schemas.openxmlformats.org/drawingml/2006/main">
              <a:ext uri="{FF2B5EF4-FFF2-40B4-BE49-F238E27FC236}">
                <a16:creationId xmlns:a16="http://schemas.microsoft.com/office/drawing/2014/main" id="{A74350E2-0780-4CCE-A48E-E046A5ED1A2A}"/>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8C2F5BDA-E9C9-48DC-89CA-9F079B12C88F}"/>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96466"/>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What makes a design direction useful before any software opens?</a:t>
            </a:r>
          </a:p>
        </p:txBody>
      </p:sp>
      <p:sp>
        <p:nvSpPr>
          <p:cNvPr id="18" name="">
            <a:extLst xmlns:a="http://schemas.openxmlformats.org/drawingml/2006/main">
              <a:ext uri="{FF2B5EF4-FFF2-40B4-BE49-F238E27FC236}">
                <a16:creationId xmlns:a16="http://schemas.microsoft.com/office/drawing/2014/main" id="{BB50E9B1-D732-447E-B690-CEEA5027C3F4}"/>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3AD74073-8FFB-476D-B901-C3B73D01E471}"/>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01  •  THE DESIGN CHALLENGE</a:t>
            </a:r>
          </a:p>
        </p:txBody>
      </p:sp>
      <p:sp>
        <p:nvSpPr>
          <p:cNvPr id="20" name="">
            <a:extLst xmlns:a="http://schemas.openxmlformats.org/drawingml/2006/main">
              <a:ext uri="{FF2B5EF4-FFF2-40B4-BE49-F238E27FC236}">
                <a16:creationId xmlns:a16="http://schemas.microsoft.com/office/drawing/2014/main" id="{9876EC88-C968-4418-BFF2-0CB2165079CD}"/>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751944196"/>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418066C-E911-4824-95FC-687BC5B1BCA3}"/>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A44879C-E1B4-4B6D-84BE-27953EEFFC9D}"/>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1.1  PROBLEM, PURPOSE AND BRIEF</a:t>
            </a:r>
          </a:p>
        </p:txBody>
      </p:sp>
      <p:sp>
        <p:nvSpPr>
          <p:cNvPr id="3" name="">
            <a:extLst xmlns:a="http://schemas.openxmlformats.org/drawingml/2006/main">
              <a:ext uri="{FF2B5EF4-FFF2-40B4-BE49-F238E27FC236}">
                <a16:creationId xmlns:a16="http://schemas.microsoft.com/office/drawing/2014/main" id="{90FC62D2-295B-4052-ABCF-04687422E0BB}"/>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Problem, purpose and brief</a:t>
            </a:r>
          </a:p>
        </p:txBody>
      </p:sp>
      <p:sp>
        <p:nvSpPr>
          <p:cNvPr id="4" name="">
            <a:extLst xmlns:a="http://schemas.openxmlformats.org/drawingml/2006/main">
              <a:ext uri="{FF2B5EF4-FFF2-40B4-BE49-F238E27FC236}">
                <a16:creationId xmlns:a16="http://schemas.microsoft.com/office/drawing/2014/main" id="{F73FC132-4848-4812-9505-E2B1A6A3F8C2}"/>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7D6C6905-6E9E-4854-8616-4BE1219E8470}"/>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5BA5636-6143-436F-8E67-CD875E4510F5}"/>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Problem explains the need; purpose explains why it matters.</a:t>
            </a:r>
          </a:p>
        </p:txBody>
      </p:sp>
      <p:sp>
        <p:nvSpPr>
          <p:cNvPr id="7" name="">
            <a:extLst xmlns:a="http://schemas.openxmlformats.org/drawingml/2006/main">
              <a:ext uri="{FF2B5EF4-FFF2-40B4-BE49-F238E27FC236}">
                <a16:creationId xmlns:a16="http://schemas.microsoft.com/office/drawing/2014/main" id="{8ADDA87D-7C40-401F-8F1D-55F331F14042}"/>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B0A4C84-917F-485E-90CB-4B0BDFAA5B8F}"/>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brief directs decisions without deciding the final solution.</a:t>
            </a:r>
          </a:p>
        </p:txBody>
      </p:sp>
      <p:sp>
        <p:nvSpPr>
          <p:cNvPr id="9" name="">
            <a:extLst xmlns:a="http://schemas.openxmlformats.org/drawingml/2006/main">
              <a:ext uri="{FF2B5EF4-FFF2-40B4-BE49-F238E27FC236}">
                <a16:creationId xmlns:a16="http://schemas.microsoft.com/office/drawing/2014/main" id="{3E4189DC-4C76-40DC-9824-3D9580F0E065}"/>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343D3CA-D8DF-4F44-9311-764FCF7B9376}"/>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Unconfirmed local rules remain teacher decisions.</a:t>
            </a:r>
          </a:p>
        </p:txBody>
      </p:sp>
      <p:sp>
        <p:nvSpPr>
          <p:cNvPr id="11" name="">
            <a:extLst xmlns:a="http://schemas.openxmlformats.org/drawingml/2006/main">
              <a:ext uri="{FF2B5EF4-FFF2-40B4-BE49-F238E27FC236}">
                <a16:creationId xmlns:a16="http://schemas.microsoft.com/office/drawing/2014/main" id="{13275A1F-6C13-4565-BFA2-B03CD74C1712}"/>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Design Brief Planning Workspace" title="Design Brief Planning Workspace" descr="Overhead design table with a four-part brief sheet, thumbnail wireframes, an audience card, colour swatches and a checklist."/>
          <p:cNvPicPr>
            <a:picLocks xmlns:a="http://schemas.openxmlformats.org/drawingml/2006/main" noChangeAspect="1"/>
          </p:cNvPicPr>
          <p:nvPr/>
        </p:nvPicPr>
        <p:blipFill>
          <a:blip xmlns:r="http://schemas.openxmlformats.org/officeDocument/2006/relationships" xmlns:a="http://schemas.openxmlformats.org/drawingml/2006/main" r:embed="R79524b746d9a416d"/>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1ECD724F-05C1-462C-B32C-2C3A344DE04C}"/>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3004"/>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A fictional planning workspace separates purpose, audience, constraints and intended outputs before sketches become finished media.</a:t>
            </a:r>
          </a:p>
        </p:txBody>
      </p:sp>
      <p:sp>
        <p:nvSpPr>
          <p:cNvPr id="14" name="">
            <a:extLst xmlns:a="http://schemas.openxmlformats.org/drawingml/2006/main">
              <a:ext uri="{FF2B5EF4-FFF2-40B4-BE49-F238E27FC236}">
                <a16:creationId xmlns:a16="http://schemas.microsoft.com/office/drawing/2014/main" id="{22267B16-3ED7-4B38-8FBB-0540547D9F13}"/>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part of the brief would stop a polished idea from drifting away from its audience and purpose?</a:t>
            </a:r>
          </a:p>
        </p:txBody>
      </p:sp>
      <p:sp>
        <p:nvSpPr>
          <p:cNvPr id="15" name="">
            <a:extLst xmlns:a="http://schemas.openxmlformats.org/drawingml/2006/main">
              <a:ext uri="{FF2B5EF4-FFF2-40B4-BE49-F238E27FC236}">
                <a16:creationId xmlns:a16="http://schemas.microsoft.com/office/drawing/2014/main" id="{22C2D48A-6294-4E44-B5DB-CD06C91C6198}"/>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86133CFE-AAD2-46F2-B1C9-767973F7512A}"/>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Which statement best describes a design brief?</a:t>
            </a:r>
          </a:p>
        </p:txBody>
      </p:sp>
      <p:sp>
        <p:nvSpPr>
          <p:cNvPr id="17" name="">
            <a:extLst xmlns:a="http://schemas.openxmlformats.org/drawingml/2006/main">
              <a:ext uri="{FF2B5EF4-FFF2-40B4-BE49-F238E27FC236}">
                <a16:creationId xmlns:a16="http://schemas.microsoft.com/office/drawing/2014/main" id="{4263DE0E-AA1B-40B1-B6EF-22BA8D875E80}"/>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01  •  THE DESIGN CHALLENGE</a:t>
            </a:r>
          </a:p>
        </p:txBody>
      </p:sp>
      <p:sp>
        <p:nvSpPr>
          <p:cNvPr id="18" name="">
            <a:extLst xmlns:a="http://schemas.openxmlformats.org/drawingml/2006/main">
              <a:ext uri="{FF2B5EF4-FFF2-40B4-BE49-F238E27FC236}">
                <a16:creationId xmlns:a16="http://schemas.microsoft.com/office/drawing/2014/main" id="{6CCEA429-0B40-4568-B1A7-87A344E7F7ED}"/>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980440147"/>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BE954FE-0343-4685-AE2F-AA246E461FDE}"/>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F8802E2-ED20-437D-B13B-44BB6CC13C90}"/>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1.2  USERS AND TARGET AUDIENCES</a:t>
            </a:r>
          </a:p>
        </p:txBody>
      </p:sp>
      <p:sp>
        <p:nvSpPr>
          <p:cNvPr id="3" name="">
            <a:extLst xmlns:a="http://schemas.openxmlformats.org/drawingml/2006/main">
              <a:ext uri="{FF2B5EF4-FFF2-40B4-BE49-F238E27FC236}">
                <a16:creationId xmlns:a16="http://schemas.microsoft.com/office/drawing/2014/main" id="{E0DE991C-5C28-4BA7-A139-A4F98B548BF2}"/>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Users and target audiences</a:t>
            </a:r>
          </a:p>
        </p:txBody>
      </p:sp>
      <p:sp>
        <p:nvSpPr>
          <p:cNvPr id="4" name="">
            <a:extLst xmlns:a="http://schemas.openxmlformats.org/drawingml/2006/main">
              <a:ext uri="{FF2B5EF4-FFF2-40B4-BE49-F238E27FC236}">
                <a16:creationId xmlns:a16="http://schemas.microsoft.com/office/drawing/2014/main" id="{D8CC4503-5EC4-4C3C-A23E-3FEA435569C6}"/>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08DA7096-52EE-42E8-8FF3-32DE9654B2C1}"/>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F84CC4-96CB-46C7-B402-8CFE7FA4D0FC}"/>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Profiles describe needs and context, not just demographics.</a:t>
            </a:r>
          </a:p>
        </p:txBody>
      </p:sp>
      <p:sp>
        <p:nvSpPr>
          <p:cNvPr id="7" name="">
            <a:extLst xmlns:a="http://schemas.openxmlformats.org/drawingml/2006/main">
              <a:ext uri="{FF2B5EF4-FFF2-40B4-BE49-F238E27FC236}">
                <a16:creationId xmlns:a16="http://schemas.microsoft.com/office/drawing/2014/main" id="{F0F73081-D4FA-4653-90F6-9CBC901DD905}"/>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BA7F90-2536-4FDA-ADF9-6F21AFCC2870}"/>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Avoid stereotypes and justify choices with evidence.</a:t>
            </a:r>
          </a:p>
        </p:txBody>
      </p:sp>
      <p:sp>
        <p:nvSpPr>
          <p:cNvPr id="9" name="">
            <a:extLst xmlns:a="http://schemas.openxmlformats.org/drawingml/2006/main">
              <a:ext uri="{FF2B5EF4-FFF2-40B4-BE49-F238E27FC236}">
                <a16:creationId xmlns:a16="http://schemas.microsoft.com/office/drawing/2014/main" id="{2BE042DB-5D36-48E7-BCE8-7123F0310B17}"/>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823B99-0429-451A-B726-0ADCACC6C075}"/>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Accessibility supports a wider range of users.</a:t>
            </a:r>
          </a:p>
        </p:txBody>
      </p:sp>
      <p:sp>
        <p:nvSpPr>
          <p:cNvPr id="11" name="">
            <a:extLst xmlns:a="http://schemas.openxmlformats.org/drawingml/2006/main">
              <a:ext uri="{FF2B5EF4-FFF2-40B4-BE49-F238E27FC236}">
                <a16:creationId xmlns:a16="http://schemas.microsoft.com/office/drawing/2014/main" id="{FE39A224-294F-4409-9D5C-7949864F9F30}"/>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Audience Research Workspace" title="Audience Research Workspace" descr="Overhead design table with several pairs of hands sorting simple audience-profile symbol cards, colour swatches and blank notes."/>
          <p:cNvPicPr>
            <a:picLocks xmlns:a="http://schemas.openxmlformats.org/drawingml/2006/main" noChangeAspect="1"/>
          </p:cNvPicPr>
          <p:nvPr/>
        </p:nvPicPr>
        <p:blipFill>
          <a:blip xmlns:r="http://schemas.openxmlformats.org/officeDocument/2006/relationships" xmlns:a="http://schemas.openxmlformats.org/drawingml/2006/main" r:embed="Rb2125682b94e46d9"/>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1BBD0817-9956-41AF-9536-7220E7F6C4CF}"/>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782"/>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A privacy-safe audience-research workspace shows students sorting user-profile symbols and colour samples before choosing a brand direction.</a:t>
            </a:r>
          </a:p>
        </p:txBody>
      </p:sp>
      <p:sp>
        <p:nvSpPr>
          <p:cNvPr id="14" name="">
            <a:extLst xmlns:a="http://schemas.openxmlformats.org/drawingml/2006/main">
              <a:ext uri="{FF2B5EF4-FFF2-40B4-BE49-F238E27FC236}">
                <a16:creationId xmlns:a16="http://schemas.microsoft.com/office/drawing/2014/main" id="{2AA073AC-0020-42D4-A1D7-885AC9A5280C}"/>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visible choices help the group compare users rather than guess what everyone likes?</a:t>
            </a:r>
          </a:p>
        </p:txBody>
      </p:sp>
      <p:sp>
        <p:nvSpPr>
          <p:cNvPr id="15" name="">
            <a:extLst xmlns:a="http://schemas.openxmlformats.org/drawingml/2006/main">
              <a:ext uri="{FF2B5EF4-FFF2-40B4-BE49-F238E27FC236}">
                <a16:creationId xmlns:a16="http://schemas.microsoft.com/office/drawing/2014/main" id="{055FA0ED-3DEE-4F53-AEE0-70D433192519}"/>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D19EE33B-141E-40F0-A7EB-963F264731EC}"/>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Which audience description gives the strongest design guidance?</a:t>
            </a:r>
          </a:p>
        </p:txBody>
      </p:sp>
      <p:sp>
        <p:nvSpPr>
          <p:cNvPr id="17" name="">
            <a:extLst xmlns:a="http://schemas.openxmlformats.org/drawingml/2006/main">
              <a:ext uri="{FF2B5EF4-FFF2-40B4-BE49-F238E27FC236}">
                <a16:creationId xmlns:a16="http://schemas.microsoft.com/office/drawing/2014/main" id="{EB2A87C0-5C73-48B7-B385-8666D7898DD8}"/>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01  •  THE DESIGN CHALLENGE</a:t>
            </a:r>
          </a:p>
        </p:txBody>
      </p:sp>
      <p:sp>
        <p:nvSpPr>
          <p:cNvPr id="18" name="">
            <a:extLst xmlns:a="http://schemas.openxmlformats.org/drawingml/2006/main">
              <a:ext uri="{FF2B5EF4-FFF2-40B4-BE49-F238E27FC236}">
                <a16:creationId xmlns:a16="http://schemas.microsoft.com/office/drawing/2014/main" id="{D9C71CFA-6A98-4B8C-B482-B75A84EF78AD}"/>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1999488450"/>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CAC2393-C92F-42E3-9782-2965EC8FEE9C}"/>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113AF8-8CE3-4972-A256-6FBF532F57DE}"/>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1.3  ORIGINAL IDEAS AND RESPONSIBLE AI</a:t>
            </a:r>
          </a:p>
        </p:txBody>
      </p:sp>
      <p:sp>
        <p:nvSpPr>
          <p:cNvPr id="3" name="">
            <a:extLst xmlns:a="http://schemas.openxmlformats.org/drawingml/2006/main">
              <a:ext uri="{FF2B5EF4-FFF2-40B4-BE49-F238E27FC236}">
                <a16:creationId xmlns:a16="http://schemas.microsoft.com/office/drawing/2014/main" id="{17A7E482-B48A-4031-A534-975C1D19CB88}"/>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Original ideas and responsible AI</a:t>
            </a:r>
          </a:p>
        </p:txBody>
      </p:sp>
      <p:sp>
        <p:nvSpPr>
          <p:cNvPr id="4" name="">
            <a:extLst xmlns:a="http://schemas.openxmlformats.org/drawingml/2006/main">
              <a:ext uri="{FF2B5EF4-FFF2-40B4-BE49-F238E27FC236}">
                <a16:creationId xmlns:a16="http://schemas.microsoft.com/office/drawing/2014/main" id="{25A0CEAA-46D5-48B1-8489-2F87D315F6C5}"/>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793D406E-968C-4876-8E52-363008E127B1}"/>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08E904-A157-4C90-A4D6-395275319B1A}"/>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References can support originality when ideas are transformed.</a:t>
            </a:r>
          </a:p>
        </p:txBody>
      </p:sp>
      <p:sp>
        <p:nvSpPr>
          <p:cNvPr id="7" name="">
            <a:extLst xmlns:a="http://schemas.openxmlformats.org/drawingml/2006/main">
              <a:ext uri="{FF2B5EF4-FFF2-40B4-BE49-F238E27FC236}">
                <a16:creationId xmlns:a16="http://schemas.microsoft.com/office/drawing/2014/main" id="{EE879DA5-BE09-4A9D-AB2B-8F20C69400FC}"/>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8CF20D0-6B20-4537-84B1-9C3E885B6CA8}"/>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AI output must be checked, selected and edited.</a:t>
            </a:r>
          </a:p>
        </p:txBody>
      </p:sp>
      <p:sp>
        <p:nvSpPr>
          <p:cNvPr id="9" name="">
            <a:extLst xmlns:a="http://schemas.openxmlformats.org/drawingml/2006/main">
              <a:ext uri="{FF2B5EF4-FFF2-40B4-BE49-F238E27FC236}">
                <a16:creationId xmlns:a16="http://schemas.microsoft.com/office/drawing/2014/main" id="{5C8F801A-97CE-4913-AA1F-301F86DE9F3A}"/>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702403E-80EE-4889-9AC8-30DDAFD3EACE}"/>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Keep personal and controlled information out of unconfirmed tools.</a:t>
            </a:r>
          </a:p>
        </p:txBody>
      </p:sp>
      <p:sp>
        <p:nvSpPr>
          <p:cNvPr id="11" name="">
            <a:extLst xmlns:a="http://schemas.openxmlformats.org/drawingml/2006/main">
              <a:ext uri="{FF2B5EF4-FFF2-40B4-BE49-F238E27FC236}">
                <a16:creationId xmlns:a16="http://schemas.microsoft.com/office/drawing/2014/main" id="{86EB61CF-DD00-4B90-B931-25AB1DEB5909}"/>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Responsible Ai Filter" title="Responsible Ai Filter" descr="Overhead design workspace with blank source-check cards, hand-developed alternatives and decision tokens arranged as a responsible AI trail."/>
          <p:cNvPicPr>
            <a:picLocks xmlns:a="http://schemas.openxmlformats.org/drawingml/2006/main" noChangeAspect="1"/>
          </p:cNvPicPr>
          <p:nvPr/>
        </p:nvPicPr>
        <p:blipFill>
          <a:blip xmlns:r="http://schemas.openxmlformats.org/officeDocument/2006/relationships" xmlns:a="http://schemas.openxmlformats.org/drawingml/2006/main" r:embed="Rd15bb196c3614f4b"/>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909BDC13-B18C-4AE9-A7A2-A4D3736D5B37}"/>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A decision trail helps students keep AI-assisted ideas traceable, transformed and genuinely their own.</a:t>
            </a:r>
          </a:p>
        </p:txBody>
      </p:sp>
      <p:sp>
        <p:nvSpPr>
          <p:cNvPr id="14" name="">
            <a:extLst xmlns:a="http://schemas.openxmlformats.org/drawingml/2006/main">
              <a:ext uri="{FF2B5EF4-FFF2-40B4-BE49-F238E27FC236}">
                <a16:creationId xmlns:a16="http://schemas.microsoft.com/office/drawing/2014/main" id="{F874DCAD-4F6D-4540-97FE-20997673B7CC}"/>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steps show a student checking, changing and taking responsibility for an idea?</a:t>
            </a:r>
          </a:p>
        </p:txBody>
      </p:sp>
      <p:sp>
        <p:nvSpPr>
          <p:cNvPr id="15" name="">
            <a:extLst xmlns:a="http://schemas.openxmlformats.org/drawingml/2006/main">
              <a:ext uri="{FF2B5EF4-FFF2-40B4-BE49-F238E27FC236}">
                <a16:creationId xmlns:a16="http://schemas.microsoft.com/office/drawing/2014/main" id="{655DEDDF-25A1-4C3E-85F4-D536D16DF782}"/>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31D58433-F6EC-4EFE-ABB1-7EA1A478AF57}"/>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does the source allow AI to do in the brainstorm?</a:t>
            </a:r>
          </a:p>
        </p:txBody>
      </p:sp>
      <p:sp>
        <p:nvSpPr>
          <p:cNvPr id="17" name="">
            <a:extLst xmlns:a="http://schemas.openxmlformats.org/drawingml/2006/main">
              <a:ext uri="{FF2B5EF4-FFF2-40B4-BE49-F238E27FC236}">
                <a16:creationId xmlns:a16="http://schemas.microsoft.com/office/drawing/2014/main" id="{C31AE93B-3239-4889-A7FD-F6824880A1BD}"/>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01  •  THE DESIGN CHALLENGE</a:t>
            </a:r>
          </a:p>
        </p:txBody>
      </p:sp>
      <p:sp>
        <p:nvSpPr>
          <p:cNvPr id="18" name="">
            <a:extLst xmlns:a="http://schemas.openxmlformats.org/drawingml/2006/main">
              <a:ext uri="{FF2B5EF4-FFF2-40B4-BE49-F238E27FC236}">
                <a16:creationId xmlns:a16="http://schemas.microsoft.com/office/drawing/2014/main" id="{849581F0-2F85-4231-9A32-36247D4A0AF7}"/>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788667844"/>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DA9B3B7-5143-462D-B80E-C71663F09BEC}"/>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B0D6B1C-E41C-4AD2-8E37-72391C753A6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8CD1CBE8-98BE-4538-B0AC-88B46BB4B611}"/>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A71118F6-97FB-4897-B6CC-7EAEF728E2AB}"/>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ED1FE841-5396-42A8-9BA3-F644CB188AE3}"/>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99B29C63-BEE2-41C6-B5FB-175B5B3AD964}"/>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F8AB14E2-0F0D-471C-981E-74FE62908DB6}"/>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Which statement best describes a design brief?</a:t>
            </a:r>
          </a:p>
        </p:txBody>
      </p:sp>
      <p:sp>
        <p:nvSpPr>
          <p:cNvPr id="8" name="">
            <a:extLst xmlns:a="http://schemas.openxmlformats.org/drawingml/2006/main">
              <a:ext uri="{FF2B5EF4-FFF2-40B4-BE49-F238E27FC236}">
                <a16:creationId xmlns:a16="http://schemas.microsoft.com/office/drawing/2014/main" id="{6644C180-5B2F-4DD1-A048-B4286E8E2F54}"/>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AE1327ED-9F46-4ED3-B63F-E2EC7E2F5BF1}"/>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E7DD8E40-3F74-4EB5-BD3B-E0FB97495F5B}"/>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Which audience description gives the strongest design guidance?</a:t>
            </a:r>
          </a:p>
        </p:txBody>
      </p:sp>
      <p:sp>
        <p:nvSpPr>
          <p:cNvPr id="11" name="">
            <a:extLst xmlns:a="http://schemas.openxmlformats.org/drawingml/2006/main">
              <a:ext uri="{FF2B5EF4-FFF2-40B4-BE49-F238E27FC236}">
                <a16:creationId xmlns:a16="http://schemas.microsoft.com/office/drawing/2014/main" id="{52161030-FBAC-428F-BFF8-081FDDAAA259}"/>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06A71781-D63B-400D-9101-7697A17580ED}"/>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7040E9B6-7CAE-4054-8594-D859AB66A1A2}"/>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does the source allow AI to do in the brainstorm?</a:t>
            </a:r>
          </a:p>
        </p:txBody>
      </p:sp>
      <p:sp>
        <p:nvSpPr>
          <p:cNvPr id="14" name="">
            <a:extLst xmlns:a="http://schemas.openxmlformats.org/drawingml/2006/main">
              <a:ext uri="{FF2B5EF4-FFF2-40B4-BE49-F238E27FC236}">
                <a16:creationId xmlns:a16="http://schemas.microsoft.com/office/drawing/2014/main" id="{D7A3DE0A-104C-40B9-8659-99168EBDDB7F}"/>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01  •  THE DESIGN CHALLENGE</a:t>
            </a:r>
          </a:p>
        </p:txBody>
      </p:sp>
      <p:sp>
        <p:nvSpPr>
          <p:cNvPr id="15" name="">
            <a:extLst xmlns:a="http://schemas.openxmlformats.org/drawingml/2006/main">
              <a:ext uri="{FF2B5EF4-FFF2-40B4-BE49-F238E27FC236}">
                <a16:creationId xmlns:a16="http://schemas.microsoft.com/office/drawing/2014/main" id="{9760F906-2B96-4E0F-A674-AC9C3F956089}"/>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1818092392"/>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50D2580-45DA-4FCF-A9C4-669C58F29D81}"/>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1D5C8B39-4C1A-48BF-A234-6499CCF51329}"/>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60CEA884-43C4-4628-9727-93C94CDDD869}"/>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07994423-6EE9-4ACC-9F06-01DC7077939C}"/>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FFF2152-7E81-4C38-A2C0-BE09BF5332F3}"/>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C4D3FC17-3C01-4D7B-BB5B-F5B00EF0123E}"/>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Write a brand-direction note that defines the brief, profiles the audience and explains how original ideas will stay student-owned.</a:t>
            </a:r>
          </a:p>
        </p:txBody>
      </p:sp>
      <p:sp>
        <p:nvSpPr>
          <p:cNvPr id="7" name="">
            <a:extLst xmlns:a="http://schemas.openxmlformats.org/drawingml/2006/main">
              <a:ext uri="{FF2B5EF4-FFF2-40B4-BE49-F238E27FC236}">
                <a16:creationId xmlns:a16="http://schemas.microsoft.com/office/drawing/2014/main" id="{4D980904-892B-4E6B-B2A7-74DDC84AEDD5}"/>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C909F049-B801-4CDF-B19B-8DA55EA6C158}"/>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3A4A20-7197-45EC-BAB3-2708917C3B97}"/>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Use confirmed facts</a:t>
            </a:r>
          </a:p>
        </p:txBody>
      </p:sp>
      <p:sp>
        <p:nvSpPr>
          <p:cNvPr id="10" name="">
            <a:extLst xmlns:a="http://schemas.openxmlformats.org/drawingml/2006/main">
              <a:ext uri="{FF2B5EF4-FFF2-40B4-BE49-F238E27FC236}">
                <a16:creationId xmlns:a16="http://schemas.microsoft.com/office/drawing/2014/main" id="{EC0EC794-9724-4DF5-9E86-EE90B4FD184F}"/>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E31A2AE-6B7C-44AE-9D8D-06CC5AD35EBD}"/>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Connect audience to choices</a:t>
            </a:r>
          </a:p>
        </p:txBody>
      </p:sp>
      <p:sp>
        <p:nvSpPr>
          <p:cNvPr id="12" name="">
            <a:extLst xmlns:a="http://schemas.openxmlformats.org/drawingml/2006/main">
              <a:ext uri="{FF2B5EF4-FFF2-40B4-BE49-F238E27FC236}">
                <a16:creationId xmlns:a16="http://schemas.microsoft.com/office/drawing/2014/main" id="{56C90378-D768-4056-94CF-C199B7974516}"/>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D56BF41-3C7B-4662-ACB6-F5E6D6CEF43A}"/>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Set an AI and privacy boundary</a:t>
            </a:r>
          </a:p>
        </p:txBody>
      </p:sp>
      <p:sp>
        <p:nvSpPr>
          <p:cNvPr id="14" name="">
            <a:extLst xmlns:a="http://schemas.openxmlformats.org/drawingml/2006/main">
              <a:ext uri="{FF2B5EF4-FFF2-40B4-BE49-F238E27FC236}">
                <a16:creationId xmlns:a16="http://schemas.microsoft.com/office/drawing/2014/main" id="{E6B08CDE-730B-473F-844C-02548D11B653}"/>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36B6893-941D-45C5-85EB-08D54CC09CCB}"/>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93D4D34A-5BCE-475D-ADA4-97BB632186A4}"/>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5CF0D2B5-BCBA-4924-93A2-C55510AF397F}"/>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4398223-7F7E-4451-958D-CA2F521AE275}"/>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37B3818F-D1F4-4A50-9E16-A3EDC098DEC5}"/>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10969172-D1EE-4180-A6B1-6CB10416AD6E}"/>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3E7381E-1E18-4092-94EF-6E449DA6C283}"/>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97D190CE-C53B-45E1-93CA-06A396624E94}"/>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379EB3AC-3EA4-4494-9991-B1054670D15E}"/>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My brand direction is to… for… I will keep the work original by…</a:t>
            </a:r>
          </a:p>
        </p:txBody>
      </p:sp>
      <p:sp>
        <p:nvSpPr>
          <p:cNvPr id="24" name="">
            <a:extLst xmlns:a="http://schemas.openxmlformats.org/drawingml/2006/main">
              <a:ext uri="{FF2B5EF4-FFF2-40B4-BE49-F238E27FC236}">
                <a16:creationId xmlns:a16="http://schemas.microsoft.com/office/drawing/2014/main" id="{70429596-20B6-4324-9412-52E90581496F}"/>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01  •  THE DESIGN CHALLENGE</a:t>
            </a:r>
          </a:p>
        </p:txBody>
      </p:sp>
      <p:sp>
        <p:nvSpPr>
          <p:cNvPr id="25" name="">
            <a:extLst xmlns:a="http://schemas.openxmlformats.org/drawingml/2006/main">
              <a:ext uri="{FF2B5EF4-FFF2-40B4-BE49-F238E27FC236}">
                <a16:creationId xmlns:a16="http://schemas.microsoft.com/office/drawing/2014/main" id="{CB737721-B562-4EDD-A100-94D6755E7408}"/>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667269320"/>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96EF4E-43C7-4E52-9F09-89F73A15DBAD}"/>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8BAF28-5AE9-4F0D-ABB5-19CFD9712E64}"/>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EC8B1FA8-4055-48F7-8AEE-18167D5780F4}"/>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E891F9C1-36E0-4445-9672-CB7E23C30F9C}"/>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E0AD13D8-3009-46B3-9795-4B228DF7999D}"/>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2815C38B-6D7D-48CE-9916-1A79B3DE26BC}"/>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52549BE-B5CF-4B06-90E8-B7CF165453F9}"/>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43BB8639-507F-4400-BD3D-E7F46028A0CF}"/>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DB68BE4D-33AD-4098-A5B7-A83A9B1F8748}"/>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01  •  THE DESIGN CHALLENGE</a:t>
            </a:r>
          </a:p>
        </p:txBody>
      </p:sp>
      <p:sp>
        <p:nvSpPr>
          <p:cNvPr id="10" name="">
            <a:extLst xmlns:a="http://schemas.openxmlformats.org/drawingml/2006/main">
              <a:ext uri="{FF2B5EF4-FFF2-40B4-BE49-F238E27FC236}">
                <a16:creationId xmlns:a16="http://schemas.microsoft.com/office/drawing/2014/main" id="{30ABB9B7-C651-4B53-9576-15246D37752C}"/>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6651086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2026-08-24T09:10:17.6300000Z</dcterms:created>
  <dcterms:modified xsi:type="dcterms:W3CDTF">2026-08-24T09:10:17.6300000Z</dcterms:modified>
</coreProperties>
</file>