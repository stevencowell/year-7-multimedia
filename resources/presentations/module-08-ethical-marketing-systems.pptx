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9af1eb6fa14a58" /><Relationship Type="http://schemas.openxmlformats.org/officeDocument/2006/relationships/extended-properties" Target="/docProps/app.xml" Id="R475da464a1654b0b" /><Relationship Type="http://schemas.openxmlformats.org/officeDocument/2006/relationships/officeDocument" Target="/ppt/presentation.xml" Id="Rc73464f611e44ab5" /></Relationships>
</file>

<file path=ppt/presentation.xml><?xml version="1.0" encoding="utf-8"?>
<p:presentation xmlns:p="http://schemas.openxmlformats.org/presentationml/2006/main">
  <p:sldMasterIdLst>
    <p:sldMasterId xmlns:r="http://schemas.openxmlformats.org/officeDocument/2006/relationships" id="2147483648" r:id="R2fb59e14837d409d"/>
  </p:sldMasterIdLst>
  <p:notesMasterIdLst>
    <p:notesMasterId xmlns:r="http://schemas.openxmlformats.org/officeDocument/2006/relationships" r:id="R883abc80ce1142a5"/>
  </p:notesMasterIdLst>
  <p:sldIdLst>
    <p:sldId xmlns:r="http://schemas.openxmlformats.org/officeDocument/2006/relationships" id="256" r:id="R493aeb203bdf4095"/>
    <p:sldId xmlns:r="http://schemas.openxmlformats.org/officeDocument/2006/relationships" id="257" r:id="Rbfeaf2eda1214ee9"/>
    <p:sldId xmlns:r="http://schemas.openxmlformats.org/officeDocument/2006/relationships" id="258" r:id="R3d504f35f8564617"/>
    <p:sldId xmlns:r="http://schemas.openxmlformats.org/officeDocument/2006/relationships" id="259" r:id="Rb4b2d0a21914451c"/>
    <p:sldId xmlns:r="http://schemas.openxmlformats.org/officeDocument/2006/relationships" id="260" r:id="Rbf918744135d48e4"/>
    <p:sldId xmlns:r="http://schemas.openxmlformats.org/officeDocument/2006/relationships" id="261" r:id="R781f735fb6284e26"/>
    <p:sldId xmlns:r="http://schemas.openxmlformats.org/officeDocument/2006/relationships" id="262" r:id="R4786f7208ea54627"/>
    <p:sldId xmlns:r="http://schemas.openxmlformats.org/officeDocument/2006/relationships" id="263" r:id="R30b4f8b8509043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485d05937d432b" /><Relationship Type="http://schemas.openxmlformats.org/officeDocument/2006/relationships/slideMaster" Target="/ppt/slideMasters/slideMaster1.xml" Id="R2fb59e14837d409d" /><Relationship Type="http://schemas.openxmlformats.org/officeDocument/2006/relationships/notesMaster" Target="/ppt/notesMasters/notesMaster1.xml" Id="R883abc80ce1142a5" /><Relationship Type="http://schemas.openxmlformats.org/officeDocument/2006/relationships/presProps" Target="/ppt/presProps.xml" Id="R1d46950b2f1a49a8" /><Relationship Type="http://schemas.openxmlformats.org/officeDocument/2006/relationships/tableStyles" Target="/ppt/tableStyles.xml" Id="Rd7b9b203404e4ea4" /><Relationship Type="http://schemas.openxmlformats.org/officeDocument/2006/relationships/slide" Target="/ppt/slides/slide1.xml" Id="R493aeb203bdf4095" /><Relationship Type="http://schemas.openxmlformats.org/officeDocument/2006/relationships/slide" Target="/ppt/slides/slide2.xml" Id="Rbfeaf2eda1214ee9" /><Relationship Type="http://schemas.openxmlformats.org/officeDocument/2006/relationships/slide" Target="/ppt/slides/slide3.xml" Id="R3d504f35f8564617" /><Relationship Type="http://schemas.openxmlformats.org/officeDocument/2006/relationships/slide" Target="/ppt/slides/slide4.xml" Id="Rb4b2d0a21914451c" /><Relationship Type="http://schemas.openxmlformats.org/officeDocument/2006/relationships/slide" Target="/ppt/slides/slide5.xml" Id="Rbf918744135d48e4" /><Relationship Type="http://schemas.openxmlformats.org/officeDocument/2006/relationships/slide" Target="/ppt/slides/slide6.xml" Id="R781f735fb6284e26" /><Relationship Type="http://schemas.openxmlformats.org/officeDocument/2006/relationships/slide" Target="/ppt/slides/slide7.xml" Id="R4786f7208ea54627" /><Relationship Type="http://schemas.openxmlformats.org/officeDocument/2006/relationships/slide" Target="/ppt/slides/slide8.xml" Id="R30b4f8b8509043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79b832a5e841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81aa7ae31c455a" /><Relationship Type="http://schemas.openxmlformats.org/officeDocument/2006/relationships/notesMaster" Target="/ppt/notesMasters/notesMaster1.xml" Id="R78eea0a9bdc743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915569602c4a26" /><Relationship Type="http://schemas.openxmlformats.org/officeDocument/2006/relationships/notesMaster" Target="/ppt/notesMasters/notesMaster1.xml" Id="Rd351c5971f5e49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01044d82654786" /><Relationship Type="http://schemas.openxmlformats.org/officeDocument/2006/relationships/notesMaster" Target="/ppt/notesMasters/notesMaster1.xml" Id="R52d22050a8e04b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caf09ab2234e88" /><Relationship Type="http://schemas.openxmlformats.org/officeDocument/2006/relationships/notesMaster" Target="/ppt/notesMasters/notesMaster1.xml" Id="Rc56592d57d1047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97040b169c482f" /><Relationship Type="http://schemas.openxmlformats.org/officeDocument/2006/relationships/notesMaster" Target="/ppt/notesMasters/notesMaster1.xml" Id="Ra3d89ffebf0c4a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e81f23ad7a4299" /><Relationship Type="http://schemas.openxmlformats.org/officeDocument/2006/relationships/notesMaster" Target="/ppt/notesMasters/notesMaster1.xml" Id="Rf94516bba9434f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b55b57d2c54273" /><Relationship Type="http://schemas.openxmlformats.org/officeDocument/2006/relationships/notesMaster" Target="/ppt/notesMasters/notesMaster1.xml" Id="Rdb1bbe1c59864f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730938f101448b" /><Relationship Type="http://schemas.openxmlformats.org/officeDocument/2006/relationships/notesMaster" Target="/ppt/notesMasters/notesMaster1.xml" Id="R0891bde9a25944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Examine persuasion, greenwashing and business ripple effects.</a:t>
            </a:r>
          </a:p>
          <a:p xmlns:a="http://schemas.openxmlformats.org/drawingml/2006/main">
            <a:r>
              <a:t>Prompt: When does persuasive design stop informing and start applying unfair pressure?</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8.</a:t>
            </a:r>
          </a:p>
          <a:p xmlns:a="http://schemas.openxmlformats.org/drawingml/2006/main">
            <a:r>
              <a:t>- Theory: data/course-content.js, m08-s01, m08-s02, m08-s03.</a:t>
            </a:r>
          </a:p>
          <a:p xmlns:a="http://schemas.openxmlformats.org/drawingml/2006/main">
            <a:r>
              <a:t>- Visual: assets/visuals/generated-green-claim-audit.png.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When does persuasive design stop informing and start applying unfair pressure?</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Persuasion and target groups.</a:t>
            </a:r>
          </a:p>
          <a:p xmlns:a="http://schemas.openxmlformats.org/drawingml/2006/main">
            <a:r>
              <a:t/>
            </a:r>
          </a:p>
          <a:p xmlns:a="http://schemas.openxmlformats.org/drawingml/2006/main">
            <a:r>
              <a:t>[Sources]</a:t>
            </a:r>
          </a:p>
          <a:p xmlns:a="http://schemas.openxmlformats.org/drawingml/2006/main">
            <a:r>
              <a:t>- Theory sequence: data/course-content.js, m08-s01, m08-s02, m08-s03.</a:t>
            </a:r>
          </a:p>
          <a:p xmlns:a="http://schemas.openxmlformats.org/drawingml/2006/main">
            <a:r>
              <a:t>- Module summary: data/course-map.js, Module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Recognise persuasive choices and judge whether they inform, influence or unfairly pressure a target group.</a:t>
            </a:r>
          </a:p>
          <a:p xmlns:a="http://schemas.openxmlformats.org/drawingml/2006/main">
            <a:r>
              <a:t>Explain: Marketing can use imagery, colour, framing, social proof, scarcity language and calls to action to influence decisions. Persuasion is not automatically dishonest; a clear poster can help people notice and understand an offer. Ethical concern grows when a message hides important information, exploits a vulnerable audience or creates an impression that evidence cannot support. The designer must consider both intention and likely effect.</a:t>
            </a:r>
          </a:p>
          <a:p xmlns:a="http://schemas.openxmlformats.org/drawingml/2006/main">
            <a:r>
              <a:t>Clarify: Audience knowledge makes communication more relevant, but it can also make pressure more precise. Avoid stereotypes and do not collect unnecessary personal data. Ask whether the audience can recognise the message as promotion, whether the next step is genuinely available and whether the design respects their ability to decide. Strong design can persuade without pretending that every person needs the product.</a:t>
            </a:r>
          </a:p>
          <a:p xmlns:a="http://schemas.openxmlformats.org/drawingml/2006/main">
            <a:r>
              <a:t>Worked example: “Explore our new menu” offers a clear next step. “Everyone has already bought it — don’t be the only one left out” uses social pressure and an unsupported claim. A student rewrites it as “See the new product range and decide what suits you.” The revised line still invites action but removes fabricated popularity and exclusion pressure. The design remains energetic through hierarchy and imagery rather than misleading wording.</a:t>
            </a:r>
          </a:p>
          <a:p xmlns:a="http://schemas.openxmlformats.org/drawingml/2006/main">
            <a:r>
              <a:t>Ask: When does persuasion become ethically concerning?</a:t>
            </a:r>
          </a:p>
          <a:p xmlns:a="http://schemas.openxmlformats.org/drawingml/2006/main">
            <a:r>
              <a:t>Listen for: When it misleads, hides important facts or unfairly pressures people. Correct. These features weaken informed choice.</a:t>
            </a:r>
          </a:p>
          <a:p xmlns:a="http://schemas.openxmlformats.org/drawingml/2006/main">
            <a:r>
              <a:t>Misconception to correct: Marketing is ethical whenever the designer intends no harm. → Likely audience effects, truthfulness and hidden information also matter.</a:t>
            </a:r>
          </a:p>
          <a:p xmlns:a="http://schemas.openxmlformats.org/drawingml/2006/main">
            <a:r>
              <a:t>Transition: Connect this idea to Greenwashing and truth.</a:t>
            </a:r>
          </a:p>
          <a:p xmlns:a="http://schemas.openxmlformats.org/drawingml/2006/main">
            <a:r>
              <a:t/>
            </a:r>
          </a:p>
          <a:p xmlns:a="http://schemas.openxmlformats.org/drawingml/2006/main">
            <a:r>
              <a:t>[Sources]</a:t>
            </a:r>
          </a:p>
          <a:p xmlns:a="http://schemas.openxmlformats.org/drawingml/2006/main">
            <a:r>
              <a:t>- Theory and check: data/course-content.js, m08-s01 and m08-s01-q01.</a:t>
            </a:r>
          </a:p>
          <a:p xmlns:a="http://schemas.openxmlformats.org/drawingml/2006/main">
            <a:r>
              <a:t>- Image-first teaching visual: assets/visuals/generated-m08-honest-persuasion-comparison-v2.png.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Distinguish supported environmental information from vague, irrelevant or misleading green claims.</a:t>
            </a:r>
          </a:p>
          <a:p xmlns:a="http://schemas.openxmlformats.org/drawingml/2006/main">
            <a:r>
              <a:t>Explain: Greenwashing occurs when communication makes a product, service or organisation appear more environmentally responsible than the evidence supports. It can use vague words, nature imagery, selective facts or claims with no clear measure. A green palette alone is not proof of greenwashing, but colour can contribute to a misleading impression when paired with unsupported environmental language.</a:t>
            </a:r>
          </a:p>
          <a:p xmlns:a="http://schemas.openxmlformats.org/drawingml/2006/main">
            <a:r>
              <a:t>Clarify: Ask exactly what is being claimed, what part of the business it covers, how it is measured and whether a suitable source can verify it. “Eco-friendly” is vague. A narrower statement may be checkable if the exact action and comparison are identified. If evidence is unavailable, remove the claim or frame it as a proposed improvement rather than a completed achievement.</a:t>
            </a:r>
          </a:p>
          <a:p xmlns:a="http://schemas.openxmlformats.org/drawingml/2006/main">
            <a:r>
              <a:t>Worked example: A poster says “100% sustainable brand” beside leaves and a recycling symbol. The claim covers the entire business but has no measure or source. The student removes it and writes an investigation question: “What packaging choice could reduce material use, and what evidence would show the reduction?” The green imagery is also reviewed so it does not continue implying a result that has not been demonstrated.</a:t>
            </a:r>
          </a:p>
          <a:p xmlns:a="http://schemas.openxmlformats.org/drawingml/2006/main">
            <a:r>
              <a:t>Ask: What is greenwashing?</a:t>
            </a:r>
          </a:p>
          <a:p xmlns:a="http://schemas.openxmlformats.org/drawingml/2006/main">
            <a:r>
              <a:t>Listen for: An environmental impression stronger than its supporting evidence. Correct. The communication misleads about responsibility.</a:t>
            </a:r>
          </a:p>
          <a:p xmlns:a="http://schemas.openxmlformats.org/drawingml/2006/main">
            <a:r>
              <a:t>Misconception to correct: Using leaves or green automatically proves greenwashing. → The test is whether the whole message creates an unsupported environmental impression.</a:t>
            </a:r>
          </a:p>
          <a:p xmlns:a="http://schemas.openxmlformats.org/drawingml/2006/main">
            <a:r>
              <a:t>Transition: Connect this idea to Ripple effects and designer responsibility.</a:t>
            </a:r>
          </a:p>
          <a:p xmlns:a="http://schemas.openxmlformats.org/drawingml/2006/main">
            <a:r>
              <a:t/>
            </a:r>
          </a:p>
          <a:p xmlns:a="http://schemas.openxmlformats.org/drawingml/2006/main">
            <a:r>
              <a:t>[Sources]</a:t>
            </a:r>
          </a:p>
          <a:p xmlns:a="http://schemas.openxmlformats.org/drawingml/2006/main">
            <a:r>
              <a:t>- Theory and check: data/course-content.js, m08-s02 and m08-s02-q01.</a:t>
            </a:r>
          </a:p>
          <a:p xmlns:a="http://schemas.openxmlformats.org/drawingml/2006/main">
            <a:r>
              <a:t>- Image-first teaching visual: assets/visuals/generated-green-claim-audit.png. AI-generated with the built-in image tool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Trace how one marketing or management decision can affect connected parts of a business system and its stakeholders.</a:t>
            </a:r>
          </a:p>
          <a:p xmlns:a="http://schemas.openxmlformats.org/drawingml/2006/main">
            <a:r>
              <a:t>Explain: The supplied investigation treats the simulated business as connected sectors rather than isolated tasks. A change in marketing can alter demand; demand can affect operations, resources, customer experience and public response. A ripple effect is an indirect consequence that moves through these connections. The exact result should not be guessed as certain: map a plausible pathway and identify what evidence would confirm it.</a:t>
            </a:r>
          </a:p>
          <a:p xmlns:a="http://schemas.openxmlformats.org/drawingml/2006/main">
            <a:r>
              <a:t>Clarify: A designer chooses how information is framed, which audience is targeted and which impacts are visible or hidden. They may not control every business decision, but they are responsible for raising concerns, checking claims and communicating limitations. Ethical responsibility includes likely environmental, social and economic effects, not just whether a graphic looks effective.</a:t>
            </a:r>
          </a:p>
          <a:p xmlns:a="http://schemas.openxmlformats.org/drawingml/2006/main">
            <a:r>
              <a:t>Worked example: A campaign creates a sharp increase in demand. A plausible chain might be: more orders → greater workload and resource use → longer wait times or more waste if preparation cannot adjust → customer complaints → pressure for another communication response. Each arrow is a hypothesis, not a guaranteed fact. The designer can ask whether the campaign promise, target and pace are responsible, then recommend monitoring evidence before repeating it.</a:t>
            </a:r>
          </a:p>
          <a:p xmlns:a="http://schemas.openxmlformats.org/drawingml/2006/main">
            <a:r>
              <a:t>Ask: What is a ripple effect?</a:t>
            </a:r>
          </a:p>
          <a:p xmlns:a="http://schemas.openxmlformats.org/drawingml/2006/main">
            <a:r>
              <a:t>Listen for: An indirect effect moving through connected parts of a system. Correct. One change can influence later parts.</a:t>
            </a:r>
          </a:p>
          <a:p xmlns:a="http://schemas.openxmlformats.org/drawingml/2006/main">
            <a:r>
              <a:t>Misconception to correct: Designers are responsible only for how the advertisement looks. → Framing, targeting and claims can affect people and connected systems.</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m08-s03 and m08-s03-q01.</a:t>
            </a:r>
          </a:p>
          <a:p xmlns:a="http://schemas.openxmlformats.org/drawingml/2006/main">
            <a:r>
              <a:t>- Image-first teaching visual: assets/visuals/generated-packaging-ripple-context.png. AI-generated with the built-in image tool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When it misleads, hides important facts or unfairly pressures people. Feedback: Correct. These features weaken informed choice.</a:t>
            </a:r>
          </a:p>
          <a:p xmlns:a="http://schemas.openxmlformats.org/drawingml/2006/main">
            <a:r>
              <a:t>Question 2: An environmental impression stronger than its supporting evidence. Feedback: Correct. The communication misleads about responsibility.</a:t>
            </a:r>
          </a:p>
          <a:p xmlns:a="http://schemas.openxmlformats.org/drawingml/2006/main">
            <a:r>
              <a:t>Question 3: An indirect effect moving through connected parts of a system. Feedback: Correct. One change can influence later parts.</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m08-s01-q01, m08-s02-q01, m08-s03-q01.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m08-s01-capstone, m08-s02-capstone, m08-s03-capstone.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m08-s01, m08-s02, m08-s03.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e6ec0b69ac48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6a4f8e93b74996" /><Relationship Type="http://schemas.openxmlformats.org/officeDocument/2006/relationships/slideLayout" Target="/ppt/slideLayouts/slideLayout1.xml" Id="R991a02cbd1e3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1a02cbd1e3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8ce60b141c4517" /><Relationship Type="http://schemas.openxmlformats.org/officeDocument/2006/relationships/image" Target="/ppt/media/image.png" Id="R79fd84105e6f4bb5" /><Relationship Type="http://schemas.openxmlformats.org/officeDocument/2006/relationships/notesSlide" Target="/ppt/notesSlides/notesSlide1.xml" Id="Rf6398c76d399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217ed8afbb4c3e" /><Relationship Type="http://schemas.openxmlformats.org/officeDocument/2006/relationships/notesSlide" Target="/ppt/notesSlides/notesSlide2.xml" Id="R484ae92bb8fe48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c187e35a0643c4" /><Relationship Type="http://schemas.openxmlformats.org/officeDocument/2006/relationships/image" Target="/ppt/media/image2.png" Id="R5a9b0c96084546e3" /><Relationship Type="http://schemas.openxmlformats.org/officeDocument/2006/relationships/notesSlide" Target="/ppt/notesSlides/notesSlide3.xml" Id="R4f4fa12ef1994f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a2e5aba9dd4ea3" /><Relationship Type="http://schemas.openxmlformats.org/officeDocument/2006/relationships/image" Target="/ppt/media/image3.png" Id="R06bee703e9ec4a1b" /><Relationship Type="http://schemas.openxmlformats.org/officeDocument/2006/relationships/notesSlide" Target="/ppt/notesSlides/notesSlide4.xml" Id="R159cf190f22746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d7fe888e814adb" /><Relationship Type="http://schemas.openxmlformats.org/officeDocument/2006/relationships/image" Target="/ppt/media/image4.png" Id="Rfdb93cf22fb24840" /><Relationship Type="http://schemas.openxmlformats.org/officeDocument/2006/relationships/notesSlide" Target="/ppt/notesSlides/notesSlide5.xml" Id="R03c963d393fb45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5a5f9887914c05" /><Relationship Type="http://schemas.openxmlformats.org/officeDocument/2006/relationships/notesSlide" Target="/ppt/notesSlides/notesSlide6.xml" Id="R44e3f671442e4b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d4b997f4b94efb" /><Relationship Type="http://schemas.openxmlformats.org/officeDocument/2006/relationships/notesSlide" Target="/ppt/notesSlides/notesSlide7.xml" Id="R537bc32345b54a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f70cbfffab4a91" /><Relationship Type="http://schemas.openxmlformats.org/officeDocument/2006/relationships/notesSlide" Target="/ppt/notesSlides/notesSlide8.xml" Id="Ra30b07b2059340f1"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C3770C-895B-464B-A9EA-6ED9721C88BA}"/>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D45B23-3950-4473-BFB0-D49CB93C6BD5}"/>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F2F399-A478-437E-B9A8-AF7CA1E41B5A}"/>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08</a:t>
            </a:r>
          </a:p>
        </p:txBody>
      </p:sp>
      <p:sp>
        <p:nvSpPr>
          <p:cNvPr id="4" name="">
            <a:extLst xmlns:a="http://schemas.openxmlformats.org/drawingml/2006/main">
              <a:ext uri="{FF2B5EF4-FFF2-40B4-BE49-F238E27FC236}">
                <a16:creationId xmlns:a16="http://schemas.microsoft.com/office/drawing/2014/main" id="{924B342A-1DB8-43FA-A051-9B95DECAEC59}"/>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Ethical marketing systems</a:t>
            </a:r>
          </a:p>
        </p:txBody>
      </p:sp>
      <p:sp>
        <p:nvSpPr>
          <p:cNvPr id="5" name="">
            <a:extLst xmlns:a="http://schemas.openxmlformats.org/drawingml/2006/main">
              <a:ext uri="{FF2B5EF4-FFF2-40B4-BE49-F238E27FC236}">
                <a16:creationId xmlns:a16="http://schemas.microsoft.com/office/drawing/2014/main" id="{12582165-ABD8-4A33-9E47-224082957BBB}"/>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Examine persuasion, greenwashing and business ripple effects.</a:t>
            </a:r>
          </a:p>
        </p:txBody>
      </p:sp>
      <p:sp>
        <p:nvSpPr>
          <p:cNvPr id="6" name="">
            <a:extLst xmlns:a="http://schemas.openxmlformats.org/drawingml/2006/main">
              <a:ext uri="{FF2B5EF4-FFF2-40B4-BE49-F238E27FC236}">
                <a16:creationId xmlns:a16="http://schemas.microsoft.com/office/drawing/2014/main" id="{E70D9804-6777-43D9-A319-80836F3DAAE4}"/>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C6DABBE8-FEBD-44E4-839C-35A7D6D64464}"/>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When does persuasive design stop informing and start applying unfair pressure?</a:t>
            </a:r>
          </a:p>
        </p:txBody>
      </p:sp>
      <p:sp>
        <p:nvSpPr>
          <p:cNvPr id="8" name="">
            <a:extLst xmlns:a="http://schemas.openxmlformats.org/drawingml/2006/main">
              <a:ext uri="{FF2B5EF4-FFF2-40B4-BE49-F238E27FC236}">
                <a16:creationId xmlns:a16="http://schemas.microsoft.com/office/drawing/2014/main" id="{580D5C8F-190A-48AA-998B-253DC162365A}"/>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Green Claim Audit" title="Green Claim Audit" descr="Overhead audit table with a leaf-patterned takeaway box, material samples, blank claim and evidence cards, and a magnifier."/>
          <p:cNvPicPr>
            <a:picLocks xmlns:a="http://schemas.openxmlformats.org/drawingml/2006/main" noChangeAspect="1"/>
          </p:cNvPicPr>
          <p:nvPr/>
        </p:nvPicPr>
        <p:blipFill>
          <a:blip xmlns:r="http://schemas.openxmlformats.org/officeDocument/2006/relationships" xmlns:a="http://schemas.openxmlformats.org/drawingml/2006/main" r:embed="R79fd84105e6f4bb5"/>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35DA92D2-C713-4A68-B722-DAE711CA8C34}"/>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08  •  ETHICAL MARKETING SYSTEMS</a:t>
            </a:r>
          </a:p>
        </p:txBody>
      </p:sp>
      <p:sp>
        <p:nvSpPr>
          <p:cNvPr id="11" name="">
            <a:extLst xmlns:a="http://schemas.openxmlformats.org/drawingml/2006/main">
              <a:ext uri="{FF2B5EF4-FFF2-40B4-BE49-F238E27FC236}">
                <a16:creationId xmlns:a16="http://schemas.microsoft.com/office/drawing/2014/main" id="{F1DA1051-B9FD-49AB-B7DA-660B610126B7}"/>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078844959"/>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761D0E1-0A96-476F-B865-788D5F08AA0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BF337E-51FD-4216-BB95-E531673358A2}"/>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3A986FEB-D06D-4D59-9F7F-2AD5EAEF80E1}"/>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0917465D-B01F-410E-A180-42020F01A4FA}"/>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C21CF36E-2518-42DF-9B68-E9AC66C11955}"/>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68194CC-52A9-4413-BA15-71BE0A4AEC80}"/>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00440F4-E6AE-44CA-9E8A-303BB8CA9450}"/>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Persuasion and target groups</a:t>
            </a:r>
          </a:p>
        </p:txBody>
      </p:sp>
      <p:sp>
        <p:nvSpPr>
          <p:cNvPr id="8" name="">
            <a:extLst xmlns:a="http://schemas.openxmlformats.org/drawingml/2006/main">
              <a:ext uri="{FF2B5EF4-FFF2-40B4-BE49-F238E27FC236}">
                <a16:creationId xmlns:a16="http://schemas.microsoft.com/office/drawing/2014/main" id="{A841272C-721E-4768-98D8-E187B16E99AC}"/>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456DF503-0357-4355-A7B9-E7F0030B8B0C}"/>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1E4CD0-1CEC-49CB-845B-8A97A39863A4}"/>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5C64EDE8-5B81-4BAD-957D-18C642A92878}"/>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Greenwashing and truth</a:t>
            </a:r>
          </a:p>
        </p:txBody>
      </p:sp>
      <p:sp>
        <p:nvSpPr>
          <p:cNvPr id="12" name="">
            <a:extLst xmlns:a="http://schemas.openxmlformats.org/drawingml/2006/main">
              <a:ext uri="{FF2B5EF4-FFF2-40B4-BE49-F238E27FC236}">
                <a16:creationId xmlns:a16="http://schemas.microsoft.com/office/drawing/2014/main" id="{69D1ABED-B7F1-48C2-A28E-638407613DBE}"/>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63F68F60-5D37-4C23-A328-FBB34835A163}"/>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8FB238-CB86-40FE-AC1E-9A0DB5AAF1E0}"/>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C6E8A7B-552A-4AAB-A6DE-AC2A1859F8D2}"/>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Ripple effects and designer responsibility</a:t>
            </a:r>
          </a:p>
        </p:txBody>
      </p:sp>
      <p:sp>
        <p:nvSpPr>
          <p:cNvPr id="16" name="">
            <a:extLst xmlns:a="http://schemas.openxmlformats.org/drawingml/2006/main">
              <a:ext uri="{FF2B5EF4-FFF2-40B4-BE49-F238E27FC236}">
                <a16:creationId xmlns:a16="http://schemas.microsoft.com/office/drawing/2014/main" id="{7E9E6587-96CD-446C-9090-6550281ECA73}"/>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94605DF1-DBD5-46BA-8A25-CBBD63508C3F}"/>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79142"/>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When does persuasive design stop informing and start applying unfair pressure?</a:t>
            </a:r>
          </a:p>
        </p:txBody>
      </p:sp>
      <p:sp>
        <p:nvSpPr>
          <p:cNvPr id="18" name="">
            <a:extLst xmlns:a="http://schemas.openxmlformats.org/drawingml/2006/main">
              <a:ext uri="{FF2B5EF4-FFF2-40B4-BE49-F238E27FC236}">
                <a16:creationId xmlns:a16="http://schemas.microsoft.com/office/drawing/2014/main" id="{72477966-7FC2-4C3B-8CBA-89ED1D674CE2}"/>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F6D3B482-4208-478C-9C58-C6C99DBD9E2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08  •  ETHICAL MARKETING SYSTEMS</a:t>
            </a:r>
          </a:p>
        </p:txBody>
      </p:sp>
      <p:sp>
        <p:nvSpPr>
          <p:cNvPr id="20" name="">
            <a:extLst xmlns:a="http://schemas.openxmlformats.org/drawingml/2006/main">
              <a:ext uri="{FF2B5EF4-FFF2-40B4-BE49-F238E27FC236}">
                <a16:creationId xmlns:a16="http://schemas.microsoft.com/office/drawing/2014/main" id="{ACE7D07B-84C4-4CFE-B183-03B85C3546E9}"/>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383664657"/>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831357-267D-4CFF-96AA-D7BDB46B4BE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D9ED37-179E-4D97-8A67-56BEAB0A7173}"/>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8.1  PERSUASION AND TARGET GROUPS</a:t>
            </a:r>
          </a:p>
        </p:txBody>
      </p:sp>
      <p:sp>
        <p:nvSpPr>
          <p:cNvPr id="3" name="">
            <a:extLst xmlns:a="http://schemas.openxmlformats.org/drawingml/2006/main">
              <a:ext uri="{FF2B5EF4-FFF2-40B4-BE49-F238E27FC236}">
                <a16:creationId xmlns:a16="http://schemas.microsoft.com/office/drawing/2014/main" id="{41E2DC72-190F-415E-8723-4D789E1282D6}"/>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Persuasion and target groups</a:t>
            </a:r>
          </a:p>
        </p:txBody>
      </p:sp>
      <p:sp>
        <p:nvSpPr>
          <p:cNvPr id="4" name="">
            <a:extLst xmlns:a="http://schemas.openxmlformats.org/drawingml/2006/main">
              <a:ext uri="{FF2B5EF4-FFF2-40B4-BE49-F238E27FC236}">
                <a16:creationId xmlns:a16="http://schemas.microsoft.com/office/drawing/2014/main" id="{AFE55F38-43CE-427C-A7B0-92A75C440F4A}"/>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AE47B6BA-8C74-4B47-A5E1-3679BB1EF632}"/>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003DC3-2C2B-4B6A-80C7-E6C2920B15CD}"/>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Persuasion can inform or manipulate depending on evidence and effect.</a:t>
            </a:r>
          </a:p>
        </p:txBody>
      </p:sp>
      <p:sp>
        <p:nvSpPr>
          <p:cNvPr id="7" name="">
            <a:extLst xmlns:a="http://schemas.openxmlformats.org/drawingml/2006/main">
              <a:ext uri="{FF2B5EF4-FFF2-40B4-BE49-F238E27FC236}">
                <a16:creationId xmlns:a16="http://schemas.microsoft.com/office/drawing/2014/main" id="{B0DAA523-11B3-486D-A1DA-6C7EA85CF25B}"/>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B5DFF3-3174-4BEA-8C4F-934558A5B57A}"/>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Targeting creates a duty to avoid stereotypes and unnecessary data.</a:t>
            </a:r>
          </a:p>
        </p:txBody>
      </p:sp>
      <p:sp>
        <p:nvSpPr>
          <p:cNvPr id="9" name="">
            <a:extLst xmlns:a="http://schemas.openxmlformats.org/drawingml/2006/main">
              <a:ext uri="{FF2B5EF4-FFF2-40B4-BE49-F238E27FC236}">
                <a16:creationId xmlns:a16="http://schemas.microsoft.com/office/drawing/2014/main" id="{8BA91D16-F0A9-4CFA-9674-ADE6DF29EEBA}"/>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CE77EA-1F8F-4914-BD80-8A23986ED9D9}"/>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call to action should preserve meaningful choice.</a:t>
            </a:r>
          </a:p>
        </p:txBody>
      </p:sp>
      <p:sp>
        <p:nvSpPr>
          <p:cNvPr id="11" name="">
            <a:extLst xmlns:a="http://schemas.openxmlformats.org/drawingml/2006/main">
              <a:ext uri="{FF2B5EF4-FFF2-40B4-BE49-F238E27FC236}">
                <a16:creationId xmlns:a16="http://schemas.microsoft.com/office/drawing/2014/main" id="{7D6AC0C9-53B1-498B-A406-54130EEF2585}"/>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Persuasion Evidence Ladder" title="Persuasion Evidence Ladder" descr="Side-by-side advertising mock-ups for the same invented product, one calm and evidence-led and one visually pressuring."/>
          <p:cNvPicPr>
            <a:picLocks xmlns:a="http://schemas.openxmlformats.org/drawingml/2006/main" noChangeAspect="1"/>
          </p:cNvPicPr>
          <p:nvPr/>
        </p:nvPicPr>
        <p:blipFill>
          <a:blip xmlns:r="http://schemas.openxmlformats.org/officeDocument/2006/relationships" xmlns:a="http://schemas.openxmlformats.org/drawingml/2006/main" r:embed="R5a9b0c96084546e3"/>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CC269D23-8BD7-4746-8FA7-5734FF7435E9}"/>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Two advertisements for the same product show how fair persuasion can inform choice without manufactured pressure.</a:t>
            </a:r>
          </a:p>
        </p:txBody>
      </p:sp>
      <p:sp>
        <p:nvSpPr>
          <p:cNvPr id="14" name="">
            <a:extLst xmlns:a="http://schemas.openxmlformats.org/drawingml/2006/main">
              <a:ext uri="{FF2B5EF4-FFF2-40B4-BE49-F238E27FC236}">
                <a16:creationId xmlns:a16="http://schemas.microsoft.com/office/drawing/2014/main" id="{12743744-136B-4208-B4F8-865FB1FD3854}"/>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version supports an informed choice, and which relies on urgency or emotional pressure?</a:t>
            </a:r>
          </a:p>
        </p:txBody>
      </p:sp>
      <p:sp>
        <p:nvSpPr>
          <p:cNvPr id="15" name="">
            <a:extLst xmlns:a="http://schemas.openxmlformats.org/drawingml/2006/main">
              <a:ext uri="{FF2B5EF4-FFF2-40B4-BE49-F238E27FC236}">
                <a16:creationId xmlns:a16="http://schemas.microsoft.com/office/drawing/2014/main" id="{F6833096-2979-4AA0-BF45-FF32D4C86601}"/>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03C5B860-907D-432E-8397-4CFC81D3703F}"/>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When does persuasion become ethically concerning?</a:t>
            </a:r>
          </a:p>
        </p:txBody>
      </p:sp>
      <p:sp>
        <p:nvSpPr>
          <p:cNvPr id="17" name="">
            <a:extLst xmlns:a="http://schemas.openxmlformats.org/drawingml/2006/main">
              <a:ext uri="{FF2B5EF4-FFF2-40B4-BE49-F238E27FC236}">
                <a16:creationId xmlns:a16="http://schemas.microsoft.com/office/drawing/2014/main" id="{C9420046-5356-4EA6-8F7D-D6BC1416322F}"/>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08  •  ETHICAL MARKETING SYSTEMS</a:t>
            </a:r>
          </a:p>
        </p:txBody>
      </p:sp>
      <p:sp>
        <p:nvSpPr>
          <p:cNvPr id="18" name="">
            <a:extLst xmlns:a="http://schemas.openxmlformats.org/drawingml/2006/main">
              <a:ext uri="{FF2B5EF4-FFF2-40B4-BE49-F238E27FC236}">
                <a16:creationId xmlns:a16="http://schemas.microsoft.com/office/drawing/2014/main" id="{13E41662-C687-4C8F-A989-786A09FBAEF7}"/>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340571781"/>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9F3D2DE-1BE0-45D4-86D5-9E7C528DFA9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835A4C-90AD-49EA-BD05-C3349E0E393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8.2  GREENWASHING AND TRUTH</a:t>
            </a:r>
          </a:p>
        </p:txBody>
      </p:sp>
      <p:sp>
        <p:nvSpPr>
          <p:cNvPr id="3" name="">
            <a:extLst xmlns:a="http://schemas.openxmlformats.org/drawingml/2006/main">
              <a:ext uri="{FF2B5EF4-FFF2-40B4-BE49-F238E27FC236}">
                <a16:creationId xmlns:a16="http://schemas.microsoft.com/office/drawing/2014/main" id="{327C2273-A250-4261-A0C4-C210A7CCA9C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Greenwashing and truth</a:t>
            </a:r>
          </a:p>
        </p:txBody>
      </p:sp>
      <p:sp>
        <p:nvSpPr>
          <p:cNvPr id="4" name="">
            <a:extLst xmlns:a="http://schemas.openxmlformats.org/drawingml/2006/main">
              <a:ext uri="{FF2B5EF4-FFF2-40B4-BE49-F238E27FC236}">
                <a16:creationId xmlns:a16="http://schemas.microsoft.com/office/drawing/2014/main" id="{7B9E1009-10FC-4E20-BCE8-45F0EAFC20FA}"/>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3BECB8C7-EEC5-459C-8D33-4B73D745DE03}"/>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87685B-9BCE-4337-A467-FBA1A20363CB}"/>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Greenwashing is about misleading impressions, not the colour green alone.</a:t>
            </a:r>
          </a:p>
        </p:txBody>
      </p:sp>
      <p:sp>
        <p:nvSpPr>
          <p:cNvPr id="7" name="">
            <a:extLst xmlns:a="http://schemas.openxmlformats.org/drawingml/2006/main">
              <a:ext uri="{FF2B5EF4-FFF2-40B4-BE49-F238E27FC236}">
                <a16:creationId xmlns:a16="http://schemas.microsoft.com/office/drawing/2014/main" id="{0123511F-D0E4-43E5-8F91-0ACD190E0C7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A4D0D6-BEC8-4A40-AFD4-3CFC50D975B0}"/>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strong claim names scope, measure and evidence.</a:t>
            </a:r>
          </a:p>
        </p:txBody>
      </p:sp>
      <p:sp>
        <p:nvSpPr>
          <p:cNvPr id="9" name="">
            <a:extLst xmlns:a="http://schemas.openxmlformats.org/drawingml/2006/main">
              <a:ext uri="{FF2B5EF4-FFF2-40B4-BE49-F238E27FC236}">
                <a16:creationId xmlns:a16="http://schemas.microsoft.com/office/drawing/2014/main" id="{15FD94EE-AD07-478F-A2D0-7B3F15C72D20}"/>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F5E275-AE88-4258-8632-8654C5514C12}"/>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Unverified achievements can become honest investigation questions.</a:t>
            </a:r>
          </a:p>
        </p:txBody>
      </p:sp>
      <p:sp>
        <p:nvSpPr>
          <p:cNvPr id="11" name="">
            <a:extLst xmlns:a="http://schemas.openxmlformats.org/drawingml/2006/main">
              <a:ext uri="{FF2B5EF4-FFF2-40B4-BE49-F238E27FC236}">
                <a16:creationId xmlns:a16="http://schemas.microsoft.com/office/drawing/2014/main" id="{CCFF362C-51FD-4CB7-BFAB-9FB7DB9D9310}"/>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Green Claim Audit" title="Green Claim Audit" descr="Overhead audit table with a leaf-patterned takeaway box, material samples, blank claim and evidence cards, and a magnifier."/>
          <p:cNvPicPr>
            <a:picLocks xmlns:a="http://schemas.openxmlformats.org/drawingml/2006/main" noChangeAspect="1"/>
          </p:cNvPicPr>
          <p:nvPr/>
        </p:nvPicPr>
        <p:blipFill>
          <a:blip xmlns:r="http://schemas.openxmlformats.org/officeDocument/2006/relationships" xmlns:a="http://schemas.openxmlformats.org/drawingml/2006/main" r:embed="R06bee703e9ec4a1b"/>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A9ECDA1B-2610-4D7F-BE23-9FEC1C73FA95}"/>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A fictional green package sits apart from the material sample, claim card and evidence card that would need checking.</a:t>
            </a:r>
          </a:p>
        </p:txBody>
      </p:sp>
      <p:sp>
        <p:nvSpPr>
          <p:cNvPr id="14" name="">
            <a:extLst xmlns:a="http://schemas.openxmlformats.org/drawingml/2006/main">
              <a:ext uri="{FF2B5EF4-FFF2-40B4-BE49-F238E27FC236}">
                <a16:creationId xmlns:a16="http://schemas.microsoft.com/office/drawing/2014/main" id="{6068961A-5047-4EAF-BFB7-BD90A851AE44}"/>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99389"/>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features merely suggest an environmental benefit, and which separate items could provide testable evidence?</a:t>
            </a:r>
          </a:p>
        </p:txBody>
      </p:sp>
      <p:sp>
        <p:nvSpPr>
          <p:cNvPr id="15" name="">
            <a:extLst xmlns:a="http://schemas.openxmlformats.org/drawingml/2006/main">
              <a:ext uri="{FF2B5EF4-FFF2-40B4-BE49-F238E27FC236}">
                <a16:creationId xmlns:a16="http://schemas.microsoft.com/office/drawing/2014/main" id="{2BB5D3E9-52D0-4247-B9D0-3CEF3112286A}"/>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524DE4B0-105A-492B-8E79-DC1A9AE3C943}"/>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greenwashing?</a:t>
            </a:r>
          </a:p>
        </p:txBody>
      </p:sp>
      <p:sp>
        <p:nvSpPr>
          <p:cNvPr id="17" name="">
            <a:extLst xmlns:a="http://schemas.openxmlformats.org/drawingml/2006/main">
              <a:ext uri="{FF2B5EF4-FFF2-40B4-BE49-F238E27FC236}">
                <a16:creationId xmlns:a16="http://schemas.microsoft.com/office/drawing/2014/main" id="{BA3BADDF-BF81-42F2-ACD4-37D3CD49195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08  •  ETHICAL MARKETING SYSTEMS</a:t>
            </a:r>
          </a:p>
        </p:txBody>
      </p:sp>
      <p:sp>
        <p:nvSpPr>
          <p:cNvPr id="18" name="">
            <a:extLst xmlns:a="http://schemas.openxmlformats.org/drawingml/2006/main">
              <a:ext uri="{FF2B5EF4-FFF2-40B4-BE49-F238E27FC236}">
                <a16:creationId xmlns:a16="http://schemas.microsoft.com/office/drawing/2014/main" id="{E7ABBD1E-C1CD-4D64-A12B-E0F790D1B13D}"/>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477924276"/>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1657EA1-C883-42D1-8AEC-581BECFF953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E488B5-A4BD-4207-9D26-462F60B2452E}"/>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8.3  RIPPLE EFFECTS AND DESIGNER RESPONSIBILITY</a:t>
            </a:r>
          </a:p>
        </p:txBody>
      </p:sp>
      <p:sp>
        <p:nvSpPr>
          <p:cNvPr id="3" name="">
            <a:extLst xmlns:a="http://schemas.openxmlformats.org/drawingml/2006/main">
              <a:ext uri="{FF2B5EF4-FFF2-40B4-BE49-F238E27FC236}">
                <a16:creationId xmlns:a16="http://schemas.microsoft.com/office/drawing/2014/main" id="{0B839207-32D9-4031-828E-DC39B1679E16}"/>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38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Ripple effects and designer responsibility</a:t>
            </a:r>
          </a:p>
        </p:txBody>
      </p:sp>
      <p:sp>
        <p:nvSpPr>
          <p:cNvPr id="4" name="">
            <a:extLst xmlns:a="http://schemas.openxmlformats.org/drawingml/2006/main">
              <a:ext uri="{FF2B5EF4-FFF2-40B4-BE49-F238E27FC236}">
                <a16:creationId xmlns:a16="http://schemas.microsoft.com/office/drawing/2014/main" id="{751C90E1-390D-46AF-A917-EF222E5F0153}"/>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2DB1690D-EF92-45A8-89F4-51BB14BAAF7C}"/>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7B4410-B2F1-4C94-B7AF-6049154F9B11}"/>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System decisions can create indirect ripple effects.</a:t>
            </a:r>
          </a:p>
        </p:txBody>
      </p:sp>
      <p:sp>
        <p:nvSpPr>
          <p:cNvPr id="7" name="">
            <a:extLst xmlns:a="http://schemas.openxmlformats.org/drawingml/2006/main">
              <a:ext uri="{FF2B5EF4-FFF2-40B4-BE49-F238E27FC236}">
                <a16:creationId xmlns:a16="http://schemas.microsoft.com/office/drawing/2014/main" id="{FA143C98-B89F-4498-9844-3947342BACE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4D661C-2194-44BE-9C5F-E951CE9DF357}"/>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pathway should separate plausible inference from confirmed fact.</a:t>
            </a:r>
          </a:p>
        </p:txBody>
      </p:sp>
      <p:sp>
        <p:nvSpPr>
          <p:cNvPr id="9" name="">
            <a:extLst xmlns:a="http://schemas.openxmlformats.org/drawingml/2006/main">
              <a:ext uri="{FF2B5EF4-FFF2-40B4-BE49-F238E27FC236}">
                <a16:creationId xmlns:a16="http://schemas.microsoft.com/office/drawing/2014/main" id="{A9F511D7-08DF-4FC7-BA27-5F9AE430797D}"/>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747AA5-C0DE-4ABF-B2AF-752247018DA6}"/>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Designers remain responsible for claims and likely effects even without controlling the whole business.</a:t>
            </a:r>
          </a:p>
        </p:txBody>
      </p:sp>
      <p:sp>
        <p:nvSpPr>
          <p:cNvPr id="11" name="">
            <a:extLst xmlns:a="http://schemas.openxmlformats.org/drawingml/2006/main">
              <a:ext uri="{FF2B5EF4-FFF2-40B4-BE49-F238E27FC236}">
                <a16:creationId xmlns:a16="http://schemas.microsoft.com/office/drawing/2014/main" id="{32D32322-71DF-4D0E-AC49-8A4F83F10783}"/>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Packaging Ripple Context" title="Packaging Ripple Context" descr="Photographic takeaway workbench with a supplier carton, food box, delivery bag and used packaging tray sharing one geometric motif."/>
          <p:cNvPicPr>
            <a:picLocks xmlns:a="http://schemas.openxmlformats.org/drawingml/2006/main" noChangeAspect="1"/>
          </p:cNvPicPr>
          <p:nvPr/>
        </p:nvPicPr>
        <p:blipFill>
          <a:blip xmlns:r="http://schemas.openxmlformats.org/officeDocument/2006/relationships" xmlns:a="http://schemas.openxmlformats.org/drawingml/2006/main" r:embed="Rfdb93cf22fb24840"/>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2C4B93C9-649E-4FD9-8C5B-6867AAF9108A}"/>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One fictional packaging system appears on a supplier carton, service pack, delivery bag and end-of-use sorting tray.</a:t>
            </a:r>
          </a:p>
        </p:txBody>
      </p:sp>
      <p:sp>
        <p:nvSpPr>
          <p:cNvPr id="14" name="">
            <a:extLst xmlns:a="http://schemas.openxmlformats.org/drawingml/2006/main">
              <a:ext uri="{FF2B5EF4-FFF2-40B4-BE49-F238E27FC236}">
                <a16:creationId xmlns:a16="http://schemas.microsoft.com/office/drawing/2014/main" id="{53787751-1B52-4ADB-BF7B-86A551A8411B}"/>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parts of the business would have to change if the package material or printed design changed?</a:t>
            </a:r>
          </a:p>
        </p:txBody>
      </p:sp>
      <p:sp>
        <p:nvSpPr>
          <p:cNvPr id="15" name="">
            <a:extLst xmlns:a="http://schemas.openxmlformats.org/drawingml/2006/main">
              <a:ext uri="{FF2B5EF4-FFF2-40B4-BE49-F238E27FC236}">
                <a16:creationId xmlns:a16="http://schemas.microsoft.com/office/drawing/2014/main" id="{0F26BEDE-FAEF-4646-AB62-7B63E1556E49}"/>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11315EF1-6805-471B-B07B-69C4D8482D14}"/>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a ripple effect?</a:t>
            </a:r>
          </a:p>
        </p:txBody>
      </p:sp>
      <p:sp>
        <p:nvSpPr>
          <p:cNvPr id="17" name="">
            <a:extLst xmlns:a="http://schemas.openxmlformats.org/drawingml/2006/main">
              <a:ext uri="{FF2B5EF4-FFF2-40B4-BE49-F238E27FC236}">
                <a16:creationId xmlns:a16="http://schemas.microsoft.com/office/drawing/2014/main" id="{EBFBE482-995D-4832-8AD7-B03F1FBE0855}"/>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08  •  ETHICAL MARKETING SYSTEMS</a:t>
            </a:r>
          </a:p>
        </p:txBody>
      </p:sp>
      <p:sp>
        <p:nvSpPr>
          <p:cNvPr id="18" name="">
            <a:extLst xmlns:a="http://schemas.openxmlformats.org/drawingml/2006/main">
              <a:ext uri="{FF2B5EF4-FFF2-40B4-BE49-F238E27FC236}">
                <a16:creationId xmlns:a16="http://schemas.microsoft.com/office/drawing/2014/main" id="{E24E8200-84D7-40DE-BFC8-F06881BB0F8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763366595"/>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8FB927-8A07-4A6E-A0D9-3DDF049E3C9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12A76F-DCFC-475D-B26A-9B38E1C43F9D}"/>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D1605D32-5914-4F39-A7CF-94DA96BC511C}"/>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9D0E9D4E-6620-44D1-86A1-048F78281C8F}"/>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C49F2E4F-BF6D-4FF7-9628-89D7FCAD5EB3}"/>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6D1EBACB-78EA-4757-B280-B4691731CFF2}"/>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5A186C0-A1A3-464F-B827-D965960E1B56}"/>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When does persuasion become ethically concerning?</a:t>
            </a:r>
          </a:p>
        </p:txBody>
      </p:sp>
      <p:sp>
        <p:nvSpPr>
          <p:cNvPr id="8" name="">
            <a:extLst xmlns:a="http://schemas.openxmlformats.org/drawingml/2006/main">
              <a:ext uri="{FF2B5EF4-FFF2-40B4-BE49-F238E27FC236}">
                <a16:creationId xmlns:a16="http://schemas.microsoft.com/office/drawing/2014/main" id="{7D53209A-A0D6-4631-9E04-67C8AB95B665}"/>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6C47105E-00FC-47F2-9B9A-86EC10BDC12F}"/>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83FE6A68-6EAA-45A6-B75B-1660DE4FDA21}"/>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greenwashing?</a:t>
            </a:r>
          </a:p>
        </p:txBody>
      </p:sp>
      <p:sp>
        <p:nvSpPr>
          <p:cNvPr id="11" name="">
            <a:extLst xmlns:a="http://schemas.openxmlformats.org/drawingml/2006/main">
              <a:ext uri="{FF2B5EF4-FFF2-40B4-BE49-F238E27FC236}">
                <a16:creationId xmlns:a16="http://schemas.microsoft.com/office/drawing/2014/main" id="{11D2C77B-9884-48BB-8300-771D91182874}"/>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6604EC19-593C-4483-AA0E-944ACFCE8A76}"/>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90C8D2E2-7FDA-4F18-9BDA-AB12913D8672}"/>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a ripple effect?</a:t>
            </a:r>
          </a:p>
        </p:txBody>
      </p:sp>
      <p:sp>
        <p:nvSpPr>
          <p:cNvPr id="14" name="">
            <a:extLst xmlns:a="http://schemas.openxmlformats.org/drawingml/2006/main">
              <a:ext uri="{FF2B5EF4-FFF2-40B4-BE49-F238E27FC236}">
                <a16:creationId xmlns:a16="http://schemas.microsoft.com/office/drawing/2014/main" id="{F1D0E7C0-647E-451D-A864-193C7B6EA84A}"/>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08  •  ETHICAL MARKETING SYSTEMS</a:t>
            </a:r>
          </a:p>
        </p:txBody>
      </p:sp>
      <p:sp>
        <p:nvSpPr>
          <p:cNvPr id="15" name="">
            <a:extLst xmlns:a="http://schemas.openxmlformats.org/drawingml/2006/main">
              <a:ext uri="{FF2B5EF4-FFF2-40B4-BE49-F238E27FC236}">
                <a16:creationId xmlns:a16="http://schemas.microsoft.com/office/drawing/2014/main" id="{41C453F3-03DF-45BC-9B4B-22934415659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2083145234"/>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BFCD5D-319F-41C3-8722-337CD0518B17}"/>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73FE6795-80C5-45F2-998A-2C256B1ACA0B}"/>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AB465F15-6A1B-4214-86E1-59A097799AAF}"/>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D069CC90-B8A1-40EA-90C9-A3312A9AA4EA}"/>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9E4DB1-E841-4B80-8379-F14E8261F3C9}"/>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EE151ADC-2F0A-4DD1-9670-A96388FF907B}"/>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Audit one marketing message for persuasive pressure and environmental evidence, then trace a four-step ripple effect on stakeholders.</a:t>
            </a:r>
          </a:p>
        </p:txBody>
      </p:sp>
      <p:sp>
        <p:nvSpPr>
          <p:cNvPr id="7" name="">
            <a:extLst xmlns:a="http://schemas.openxmlformats.org/drawingml/2006/main">
              <a:ext uri="{FF2B5EF4-FFF2-40B4-BE49-F238E27FC236}">
                <a16:creationId xmlns:a16="http://schemas.microsoft.com/office/drawing/2014/main" id="{185816D5-0EF3-438A-B3A9-7E45A987808B}"/>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CCDF92E6-1227-4AA8-B80E-C054BF8B0D16}"/>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A2BBCB-16B1-463B-9612-6CF7EA3A7504}"/>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Preserve meaningful choice</a:t>
            </a:r>
          </a:p>
        </p:txBody>
      </p:sp>
      <p:sp>
        <p:nvSpPr>
          <p:cNvPr id="10" name="">
            <a:extLst xmlns:a="http://schemas.openxmlformats.org/drawingml/2006/main">
              <a:ext uri="{FF2B5EF4-FFF2-40B4-BE49-F238E27FC236}">
                <a16:creationId xmlns:a16="http://schemas.microsoft.com/office/drawing/2014/main" id="{6C922FC3-1902-4198-B8AC-46F1890CB096}"/>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D6C742-6360-44D3-B71E-1E9A4594D3A7}"/>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Check claim, scope and evidence</a:t>
            </a:r>
          </a:p>
        </p:txBody>
      </p:sp>
      <p:sp>
        <p:nvSpPr>
          <p:cNvPr id="12" name="">
            <a:extLst xmlns:a="http://schemas.openxmlformats.org/drawingml/2006/main">
              <a:ext uri="{FF2B5EF4-FFF2-40B4-BE49-F238E27FC236}">
                <a16:creationId xmlns:a16="http://schemas.microsoft.com/office/drawing/2014/main" id="{954498DF-A628-44F8-A5AF-BC099C08A360}"/>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1AAEEF-F89D-4B40-B88F-0256584D81D1}"/>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Label facts and assumptions</a:t>
            </a:r>
          </a:p>
        </p:txBody>
      </p:sp>
      <p:sp>
        <p:nvSpPr>
          <p:cNvPr id="14" name="">
            <a:extLst xmlns:a="http://schemas.openxmlformats.org/drawingml/2006/main">
              <a:ext uri="{FF2B5EF4-FFF2-40B4-BE49-F238E27FC236}">
                <a16:creationId xmlns:a16="http://schemas.microsoft.com/office/drawing/2014/main" id="{997D7A73-3341-4130-8A55-CDE562FE675F}"/>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830DB23-C453-41AF-88EF-7FC92DBC3DEC}"/>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6E8BCB90-42B1-45CC-8301-44C28D3DE21D}"/>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28370D6E-0326-4FC4-AEB4-F8C6B75E9EFB}"/>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8602150-A00C-43A6-98BB-996EB05A07EE}"/>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63733EE6-FDAE-4BDE-B195-592B0C6B66AC}"/>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CF82A7DC-D7C7-4463-A379-A701DBBFA050}"/>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BBD7BB-2A7C-4379-A40B-79F02478FDCE}"/>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2E5949CE-09CC-4064-9829-01C834F22AF2}"/>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895C8326-FE29-474A-ADE7-5FBEF012E935}"/>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The message influences the audience by… The claim needs… A likely ripple is…</a:t>
            </a:r>
          </a:p>
        </p:txBody>
      </p:sp>
      <p:sp>
        <p:nvSpPr>
          <p:cNvPr id="24" name="">
            <a:extLst xmlns:a="http://schemas.openxmlformats.org/drawingml/2006/main">
              <a:ext uri="{FF2B5EF4-FFF2-40B4-BE49-F238E27FC236}">
                <a16:creationId xmlns:a16="http://schemas.microsoft.com/office/drawing/2014/main" id="{7EDEC052-771F-42FD-950E-CEC01A3108F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08  •  ETHICAL MARKETING SYSTEMS</a:t>
            </a:r>
          </a:p>
        </p:txBody>
      </p:sp>
      <p:sp>
        <p:nvSpPr>
          <p:cNvPr id="25" name="">
            <a:extLst xmlns:a="http://schemas.openxmlformats.org/drawingml/2006/main">
              <a:ext uri="{FF2B5EF4-FFF2-40B4-BE49-F238E27FC236}">
                <a16:creationId xmlns:a16="http://schemas.microsoft.com/office/drawing/2014/main" id="{65A1EBF8-80C5-44AF-8589-697FD80BBEA0}"/>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440153608"/>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F868B3-2423-4CA8-8B80-E26B7BDE363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E54740-A465-4AA4-8C07-ADBDF1CCC6AD}"/>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2F6FDC80-50D6-42DD-B6B2-9622A3E3B464}"/>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E53585BB-2124-4CA9-99C1-3023C9B8A91B}"/>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052502B7-4A3D-4037-A8C9-818512E4F09B}"/>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75D013DD-B18B-4F67-AA5D-3D09BEF6A4A0}"/>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0B6380-C9BE-4E65-842C-325A35C80E60}"/>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A1794973-C287-46C2-A8B0-183D74DB0F8F}"/>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A68CD280-A834-47A5-B298-0E835DCBF91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08  •  ETHICAL MARKETING SYSTEMS</a:t>
            </a:r>
          </a:p>
        </p:txBody>
      </p:sp>
      <p:sp>
        <p:nvSpPr>
          <p:cNvPr id="10" name="">
            <a:extLst xmlns:a="http://schemas.openxmlformats.org/drawingml/2006/main">
              <a:ext uri="{FF2B5EF4-FFF2-40B4-BE49-F238E27FC236}">
                <a16:creationId xmlns:a16="http://schemas.microsoft.com/office/drawing/2014/main" id="{0777DD53-C025-425E-B52D-F34C5EFD7A0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22538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2026-08-24T09:10:32.9250000Z</dcterms:created>
  <dcterms:modified xsi:type="dcterms:W3CDTF">2026-08-24T09:10:32.9250000Z</dcterms:modified>
</coreProperties>
</file>