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043c91d9e854ab1" /><Relationship Type="http://schemas.openxmlformats.org/officeDocument/2006/relationships/extended-properties" Target="/docProps/app.xml" Id="R97fed7bfa588473d" /><Relationship Type="http://schemas.openxmlformats.org/officeDocument/2006/relationships/officeDocument" Target="/ppt/presentation.xml" Id="R6acab63e5a934af1" /></Relationships>
</file>

<file path=ppt/presentation.xml><?xml version="1.0" encoding="utf-8"?>
<p:presentation xmlns:p="http://schemas.openxmlformats.org/presentationml/2006/main">
  <p:sldMasterIdLst>
    <p:sldMasterId xmlns:r="http://schemas.openxmlformats.org/officeDocument/2006/relationships" id="2147483648" r:id="Rc6d9f19334e34132"/>
  </p:sldMasterIdLst>
  <p:notesMasterIdLst>
    <p:notesMasterId xmlns:r="http://schemas.openxmlformats.org/officeDocument/2006/relationships" r:id="R72037d2722a14161"/>
  </p:notesMasterIdLst>
  <p:sldIdLst>
    <p:sldId xmlns:r="http://schemas.openxmlformats.org/officeDocument/2006/relationships" id="256" r:id="Rbe18bcbcd57c40fb"/>
    <p:sldId xmlns:r="http://schemas.openxmlformats.org/officeDocument/2006/relationships" id="257" r:id="R1e28ce418da84a40"/>
    <p:sldId xmlns:r="http://schemas.openxmlformats.org/officeDocument/2006/relationships" id="258" r:id="R01fcb3140934402a"/>
    <p:sldId xmlns:r="http://schemas.openxmlformats.org/officeDocument/2006/relationships" id="259" r:id="R056dee2f56f84ae3"/>
    <p:sldId xmlns:r="http://schemas.openxmlformats.org/officeDocument/2006/relationships" id="260" r:id="R563161cb0d704c57"/>
    <p:sldId xmlns:r="http://schemas.openxmlformats.org/officeDocument/2006/relationships" id="261" r:id="Rff61e2fa7ea94c0d"/>
    <p:sldId xmlns:r="http://schemas.openxmlformats.org/officeDocument/2006/relationships" id="262" r:id="R500744c32dd74883"/>
    <p:sldId xmlns:r="http://schemas.openxmlformats.org/officeDocument/2006/relationships" id="263" r:id="R211cd2c5b7214f0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802a8476d5c4c2c" /><Relationship Type="http://schemas.openxmlformats.org/officeDocument/2006/relationships/slideMaster" Target="/ppt/slideMasters/slideMaster1.xml" Id="Rc6d9f19334e34132" /><Relationship Type="http://schemas.openxmlformats.org/officeDocument/2006/relationships/notesMaster" Target="/ppt/notesMasters/notesMaster1.xml" Id="R72037d2722a14161" /><Relationship Type="http://schemas.openxmlformats.org/officeDocument/2006/relationships/presProps" Target="/ppt/presProps.xml" Id="Rd507841abac44af1" /><Relationship Type="http://schemas.openxmlformats.org/officeDocument/2006/relationships/tableStyles" Target="/ppt/tableStyles.xml" Id="R26f3f6931f204212" /><Relationship Type="http://schemas.openxmlformats.org/officeDocument/2006/relationships/slide" Target="/ppt/slides/slide1.xml" Id="Rbe18bcbcd57c40fb" /><Relationship Type="http://schemas.openxmlformats.org/officeDocument/2006/relationships/slide" Target="/ppt/slides/slide2.xml" Id="R1e28ce418da84a40" /><Relationship Type="http://schemas.openxmlformats.org/officeDocument/2006/relationships/slide" Target="/ppt/slides/slide3.xml" Id="R01fcb3140934402a" /><Relationship Type="http://schemas.openxmlformats.org/officeDocument/2006/relationships/slide" Target="/ppt/slides/slide4.xml" Id="R056dee2f56f84ae3" /><Relationship Type="http://schemas.openxmlformats.org/officeDocument/2006/relationships/slide" Target="/ppt/slides/slide5.xml" Id="R563161cb0d704c57" /><Relationship Type="http://schemas.openxmlformats.org/officeDocument/2006/relationships/slide" Target="/ppt/slides/slide6.xml" Id="Rff61e2fa7ea94c0d" /><Relationship Type="http://schemas.openxmlformats.org/officeDocument/2006/relationships/slide" Target="/ppt/slides/slide7.xml" Id="R500744c32dd74883" /><Relationship Type="http://schemas.openxmlformats.org/officeDocument/2006/relationships/slide" Target="/ppt/slides/slide8.xml" Id="R211cd2c5b7214f0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de25c045a2845c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313b25a7b9443f4" /><Relationship Type="http://schemas.openxmlformats.org/officeDocument/2006/relationships/notesMaster" Target="/ppt/notesMasters/notesMaster1.xml" Id="R97e1e15408554056" /></Relationships>
</file>

<file path=ppt/notesSlides/_rels/notesSlide2.xml.rels>&#65279;<?xml version="1.0" encoding="utf-8"?><Relationships xmlns="http://schemas.openxmlformats.org/package/2006/relationships"><Relationship Type="http://schemas.openxmlformats.org/officeDocument/2006/relationships/slide" Target="/ppt/slides/slide2.xml" Id="R9ffe032c28354145" /><Relationship Type="http://schemas.openxmlformats.org/officeDocument/2006/relationships/notesMaster" Target="/ppt/notesMasters/notesMaster1.xml" Id="R8064daa5061f4cc8" /></Relationships>
</file>

<file path=ppt/notesSlides/_rels/notesSlide3.xml.rels>&#65279;<?xml version="1.0" encoding="utf-8"?><Relationships xmlns="http://schemas.openxmlformats.org/package/2006/relationships"><Relationship Type="http://schemas.openxmlformats.org/officeDocument/2006/relationships/slide" Target="/ppt/slides/slide3.xml" Id="R29a8b9478cbf410c" /><Relationship Type="http://schemas.openxmlformats.org/officeDocument/2006/relationships/notesMaster" Target="/ppt/notesMasters/notesMaster1.xml" Id="R79a90e1ea04d4f0b" /></Relationships>
</file>

<file path=ppt/notesSlides/_rels/notesSlide4.xml.rels>&#65279;<?xml version="1.0" encoding="utf-8"?><Relationships xmlns="http://schemas.openxmlformats.org/package/2006/relationships"><Relationship Type="http://schemas.openxmlformats.org/officeDocument/2006/relationships/slide" Target="/ppt/slides/slide4.xml" Id="R593438a86a284215" /><Relationship Type="http://schemas.openxmlformats.org/officeDocument/2006/relationships/notesMaster" Target="/ppt/notesMasters/notesMaster1.xml" Id="R734cda79100d4c62" /></Relationships>
</file>

<file path=ppt/notesSlides/_rels/notesSlide5.xml.rels>&#65279;<?xml version="1.0" encoding="utf-8"?><Relationships xmlns="http://schemas.openxmlformats.org/package/2006/relationships"><Relationship Type="http://schemas.openxmlformats.org/officeDocument/2006/relationships/slide" Target="/ppt/slides/slide5.xml" Id="R9a95b141cf1541ad" /><Relationship Type="http://schemas.openxmlformats.org/officeDocument/2006/relationships/notesMaster" Target="/ppt/notesMasters/notesMaster1.xml" Id="R30c265836a7d4bce" /></Relationships>
</file>

<file path=ppt/notesSlides/_rels/notesSlide6.xml.rels>&#65279;<?xml version="1.0" encoding="utf-8"?><Relationships xmlns="http://schemas.openxmlformats.org/package/2006/relationships"><Relationship Type="http://schemas.openxmlformats.org/officeDocument/2006/relationships/slide" Target="/ppt/slides/slide6.xml" Id="Rcb70f70606b04486" /><Relationship Type="http://schemas.openxmlformats.org/officeDocument/2006/relationships/notesMaster" Target="/ppt/notesMasters/notesMaster1.xml" Id="R169a38cf11e947b4" /></Relationships>
</file>

<file path=ppt/notesSlides/_rels/notesSlide7.xml.rels>&#65279;<?xml version="1.0" encoding="utf-8"?><Relationships xmlns="http://schemas.openxmlformats.org/package/2006/relationships"><Relationship Type="http://schemas.openxmlformats.org/officeDocument/2006/relationships/slide" Target="/ppt/slides/slide7.xml" Id="Rbf55084c456c4b8d" /><Relationship Type="http://schemas.openxmlformats.org/officeDocument/2006/relationships/notesMaster" Target="/ppt/notesMasters/notesMaster1.xml" Id="R5295b00ebc1b40bc" /></Relationships>
</file>

<file path=ppt/notesSlides/_rels/notesSlide8.xml.rels>&#65279;<?xml version="1.0" encoding="utf-8"?><Relationships xmlns="http://schemas.openxmlformats.org/package/2006/relationships"><Relationship Type="http://schemas.openxmlformats.org/officeDocument/2006/relationships/slide" Target="/ppt/slides/slide8.xml" Id="R474c1e8ccb7843fa" /><Relationship Type="http://schemas.openxmlformats.org/officeDocument/2006/relationships/notesMaster" Target="/ppt/notesMasters/notesMaster1.xml" Id="R3f537d894777495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Introduce the module as one connected learning package, not a list of software clicks.</a:t>
            </a:r>
          </a:p>
          <a:p xmlns:a="http://schemas.openxmlformats.org/drawingml/2006/main">
            <a:r>
              <a:t>State the outcome: Examine persuasion, greenwashing and business ripple effects.</a:t>
            </a:r>
          </a:p>
          <a:p xmlns:a="http://schemas.openxmlformats.org/drawingml/2006/main">
            <a:r>
              <a:t>Prompt: When does persuasive design stop informing and start applying unfair pressure?</a:t>
            </a:r>
          </a:p>
          <a:p xmlns:a="http://schemas.openxmlformats.org/drawingml/2006/main">
            <a:r>
              <a:t>Listen for a purposeful link to audience, evidence or communication.</a:t>
            </a:r>
          </a:p>
          <a:p xmlns:a="http://schemas.openxmlformats.org/drawingml/2006/main">
            <a:r>
              <a:t>Transition: Preview the three named sections on the next slide.</a:t>
            </a:r>
          </a:p>
          <a:p xmlns:a="http://schemas.openxmlformats.org/drawingml/2006/main">
            <a:r>
              <a:t/>
            </a:r>
          </a:p>
          <a:p xmlns:a="http://schemas.openxmlformats.org/drawingml/2006/main">
            <a:r>
              <a:t>[Sources]</a:t>
            </a:r>
          </a:p>
          <a:p xmlns:a="http://schemas.openxmlformats.org/drawingml/2006/main">
            <a:r>
              <a:t>- Course sequence: data/course-map.js, Module 8.</a:t>
            </a:r>
          </a:p>
          <a:p xmlns:a="http://schemas.openxmlformats.org/drawingml/2006/main">
            <a:r>
              <a:t>- Theory: data/course-content.js, m08-s01, m08-s02, m08-s03.</a:t>
            </a:r>
          </a:p>
          <a:p xmlns:a="http://schemas.openxmlformats.org/drawingml/2006/main">
            <a:r>
              <a:t>- Native editable overview diagram derived from the three named module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Read the three section titles aloud and explain how each one prepares the next.</a:t>
            </a:r>
          </a:p>
          <a:p xmlns:a="http://schemas.openxmlformats.org/drawingml/2006/main">
            <a:r>
              <a:t>Warm-up: When does persuasive design stop informing and start applying unfair pressure?</a:t>
            </a:r>
          </a:p>
          <a:p xmlns:a="http://schemas.openxmlformats.org/drawingml/2006/main">
            <a:r>
              <a:t>Give silent thinking time before pair discussion.</a:t>
            </a:r>
          </a:p>
          <a:p xmlns:a="http://schemas.openxmlformats.org/drawingml/2006/main">
            <a:r>
              <a:t>Listen for: a reason, not only a preference.</a:t>
            </a:r>
          </a:p>
          <a:p xmlns:a="http://schemas.openxmlformats.org/drawingml/2006/main">
            <a:r>
              <a:t>Transition: Start with Persuasion and target groups.</a:t>
            </a:r>
          </a:p>
          <a:p xmlns:a="http://schemas.openxmlformats.org/drawingml/2006/main">
            <a:r>
              <a:t/>
            </a:r>
          </a:p>
          <a:p xmlns:a="http://schemas.openxmlformats.org/drawingml/2006/main">
            <a:r>
              <a:t>[Sources]</a:t>
            </a:r>
          </a:p>
          <a:p xmlns:a="http://schemas.openxmlformats.org/drawingml/2006/main">
            <a:r>
              <a:t>- Theory sequence: data/course-content.js, m08-s01, m08-s02, m08-s03.</a:t>
            </a:r>
          </a:p>
          <a:p xmlns:a="http://schemas.openxmlformats.org/drawingml/2006/main">
            <a:r>
              <a:t>- Module summary: data/course-map.js, Module 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Recognise persuasive choices and judge whether they inform, influence or unfairly pressure a target group.</a:t>
            </a:r>
          </a:p>
          <a:p xmlns:a="http://schemas.openxmlformats.org/drawingml/2006/main">
            <a:r>
              <a:t>Explain: Marketing can use imagery, colour, framing, social proof, scarcity language and calls to action to influence decisions. Persuasion is not automatically dishonest; a clear poster can help people notice and understand an offer. Ethical concern grows when a message hides important information, exploits a vulnerable audience or creates an impression that evidence cannot support. The designer must consider both intention and likely effect.</a:t>
            </a:r>
          </a:p>
          <a:p xmlns:a="http://schemas.openxmlformats.org/drawingml/2006/main">
            <a:r>
              <a:t>Clarify: Audience knowledge makes communication more relevant, but it can also make pressure more precise. Avoid stereotypes and do not collect unnecessary personal data. Ask whether the audience can recognise the message as promotion, whether the next step is genuinely available and whether the design respects their ability to decide. Strong design can persuade without pretending that every person needs the product.</a:t>
            </a:r>
          </a:p>
          <a:p xmlns:a="http://schemas.openxmlformats.org/drawingml/2006/main">
            <a:r>
              <a:t>Worked example: “Explore our new menu” offers a clear next step. “Everyone has already bought it — don’t be the only one left out” uses social pressure and an unsupported claim. A student rewrites it as “See the new product range and decide what suits you.” The revised line still invites action but removes fabricated popularity and exclusion pressure. The design remains energetic through hierarchy and imagery rather than misleading wording.</a:t>
            </a:r>
          </a:p>
          <a:p xmlns:a="http://schemas.openxmlformats.org/drawingml/2006/main">
            <a:r>
              <a:t>Ask: When does persuasion become ethically concerning?</a:t>
            </a:r>
          </a:p>
          <a:p xmlns:a="http://schemas.openxmlformats.org/drawingml/2006/main">
            <a:r>
              <a:t>Listen for: When it misleads, hides important facts or unfairly pressures people. Correct. These features weaken informed choice.</a:t>
            </a:r>
          </a:p>
          <a:p xmlns:a="http://schemas.openxmlformats.org/drawingml/2006/main">
            <a:r>
              <a:t>Misconception to correct: Marketing is ethical whenever the designer intends no harm. → Likely audience effects, truthfulness and hidden information also matter.</a:t>
            </a:r>
          </a:p>
          <a:p xmlns:a="http://schemas.openxmlformats.org/drawingml/2006/main">
            <a:r>
              <a:t>Transition: Connect this idea to Greenwashing and truth.</a:t>
            </a:r>
          </a:p>
          <a:p xmlns:a="http://schemas.openxmlformats.org/drawingml/2006/main">
            <a:r>
              <a:t/>
            </a:r>
          </a:p>
          <a:p xmlns:a="http://schemas.openxmlformats.org/drawingml/2006/main">
            <a:r>
              <a:t>[Sources]</a:t>
            </a:r>
          </a:p>
          <a:p xmlns:a="http://schemas.openxmlformats.org/drawingml/2006/main">
            <a:r>
              <a:t>- Theory and check: data/course-content.js, m08-s01 and m08-s01-q01.</a:t>
            </a:r>
          </a:p>
          <a:p xmlns:a="http://schemas.openxmlformats.org/drawingml/2006/main">
            <a:r>
              <a:t>- Native projection-scale diagram adapted from approved visual persuasion-evidence-ladder and its source-grounded learning purpose.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Distinguish supported environmental information from vague, irrelevant or misleading green claims.</a:t>
            </a:r>
          </a:p>
          <a:p xmlns:a="http://schemas.openxmlformats.org/drawingml/2006/main">
            <a:r>
              <a:t>Explain: Greenwashing occurs when communication makes a product, service or organisation appear more environmentally responsible than the evidence supports. It can use vague words, nature imagery, selective facts or claims with no clear measure. A green palette alone is not proof of greenwashing, but colour can contribute to a misleading impression when paired with unsupported environmental language.</a:t>
            </a:r>
          </a:p>
          <a:p xmlns:a="http://schemas.openxmlformats.org/drawingml/2006/main">
            <a:r>
              <a:t>Clarify: Ask exactly what is being claimed, what part of the business it covers, how it is measured and whether a suitable source can verify it. “Eco-friendly” is vague. A narrower statement may be checkable if the exact action and comparison are identified. If evidence is unavailable, remove the claim or frame it as a proposed improvement rather than a completed achievement.</a:t>
            </a:r>
          </a:p>
          <a:p xmlns:a="http://schemas.openxmlformats.org/drawingml/2006/main">
            <a:r>
              <a:t>Worked example: A poster says “100% sustainable brand” beside leaves and a recycling symbol. The claim covers the entire business but has no measure or source. The student removes it and writes an investigation question: “What packaging choice could reduce material use, and what evidence would show the reduction?” The green imagery is also reviewed so it does not continue implying a result that has not been demonstrated.</a:t>
            </a:r>
          </a:p>
          <a:p xmlns:a="http://schemas.openxmlformats.org/drawingml/2006/main">
            <a:r>
              <a:t>Ask: What is greenwashing?</a:t>
            </a:r>
          </a:p>
          <a:p xmlns:a="http://schemas.openxmlformats.org/drawingml/2006/main">
            <a:r>
              <a:t>Listen for: An environmental impression stronger than its supporting evidence. Correct. The communication misleads about responsibility.</a:t>
            </a:r>
          </a:p>
          <a:p xmlns:a="http://schemas.openxmlformats.org/drawingml/2006/main">
            <a:r>
              <a:t>Misconception to correct: Using leaves or green automatically proves greenwashing. → The test is whether the whole message creates an unsupported environmental impression.</a:t>
            </a:r>
          </a:p>
          <a:p xmlns:a="http://schemas.openxmlformats.org/drawingml/2006/main">
            <a:r>
              <a:t>Transition: Connect this idea to Ripple effects and designer responsibility.</a:t>
            </a:r>
          </a:p>
          <a:p xmlns:a="http://schemas.openxmlformats.org/drawingml/2006/main">
            <a:r>
              <a:t/>
            </a:r>
          </a:p>
          <a:p xmlns:a="http://schemas.openxmlformats.org/drawingml/2006/main">
            <a:r>
              <a:t>[Sources]</a:t>
            </a:r>
          </a:p>
          <a:p xmlns:a="http://schemas.openxmlformats.org/drawingml/2006/main">
            <a:r>
              <a:t>- Theory and check: data/course-content.js, m08-s02 and m08-s02-q01.</a:t>
            </a:r>
          </a:p>
          <a:p xmlns:a="http://schemas.openxmlformats.org/drawingml/2006/main">
            <a:r>
              <a:t>- Native projection-scale diagram adapted from approved visual greenwashing-claim-check and its source-grounded learning purpose.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Trace how one marketing or management decision can affect connected parts of a business system and its stakeholders.</a:t>
            </a:r>
          </a:p>
          <a:p xmlns:a="http://schemas.openxmlformats.org/drawingml/2006/main">
            <a:r>
              <a:t>Explain: The supplied investigation treats the simulated business as connected sectors rather than isolated tasks. A change in marketing can alter demand; demand can affect operations, resources, customer experience and public response. A ripple effect is an indirect consequence that moves through these connections. The exact result should not be guessed as certain: map a plausible pathway and identify what evidence would confirm it.</a:t>
            </a:r>
          </a:p>
          <a:p xmlns:a="http://schemas.openxmlformats.org/drawingml/2006/main">
            <a:r>
              <a:t>Clarify: A designer chooses how information is framed, which audience is targeted and which impacts are visible or hidden. They may not control every business decision, but they are responsible for raising concerns, checking claims and communicating limitations. Ethical responsibility includes likely environmental, social and economic effects, not just whether a graphic looks effective.</a:t>
            </a:r>
          </a:p>
          <a:p xmlns:a="http://schemas.openxmlformats.org/drawingml/2006/main">
            <a:r>
              <a:t>Worked example: A campaign creates a sharp increase in demand. A plausible chain might be: more orders → greater workload and resource use → longer wait times or more waste if preparation cannot adjust → customer complaints → pressure for another communication response. Each arrow is a hypothesis, not a guaranteed fact. The designer can ask whether the campaign promise, target and pace are responsible, then recommend monitoring evidence before repeating it.</a:t>
            </a:r>
          </a:p>
          <a:p xmlns:a="http://schemas.openxmlformats.org/drawingml/2006/main">
            <a:r>
              <a:t>Ask: What is a ripple effect?</a:t>
            </a:r>
          </a:p>
          <a:p xmlns:a="http://schemas.openxmlformats.org/drawingml/2006/main">
            <a:r>
              <a:t>Listen for: An indirect effect moving through connected parts of a system. Correct. One change can influence later parts.</a:t>
            </a:r>
          </a:p>
          <a:p xmlns:a="http://schemas.openxmlformats.org/drawingml/2006/main">
            <a:r>
              <a:t>Misconception to correct: Designers are responsible only for how the advertisement looks. → Framing, targeting and claims can affect people and connected systems.</a:t>
            </a:r>
          </a:p>
          <a:p xmlns:a="http://schemas.openxmlformats.org/drawingml/2006/main">
            <a:r>
              <a:t>Transition: Connect this idea to the retrieval check.</a:t>
            </a:r>
          </a:p>
          <a:p xmlns:a="http://schemas.openxmlformats.org/drawingml/2006/main">
            <a:r>
              <a:t/>
            </a:r>
          </a:p>
          <a:p xmlns:a="http://schemas.openxmlformats.org/drawingml/2006/main">
            <a:r>
              <a:t>[Sources]</a:t>
            </a:r>
          </a:p>
          <a:p xmlns:a="http://schemas.openxmlformats.org/drawingml/2006/main">
            <a:r>
              <a:t>- Theory and check: data/course-content.js, m08-s03 and m08-s03-q01.</a:t>
            </a:r>
          </a:p>
          <a:p xmlns:a="http://schemas.openxmlformats.org/drawingml/2006/main">
            <a:r>
              <a:t>- Native projection-scale diagram adapted from approved visual systems-ripple-effect and its source-grounded learning purpose.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routine: 60 seconds silent retrieval, pair justification, then whole-class feedback.</a:t>
            </a:r>
          </a:p>
          <a:p xmlns:a="http://schemas.openxmlformats.org/drawingml/2006/main">
            <a:r>
              <a:t>Question 1: When it misleads, hides important facts or unfairly pressures people. Feedback: Correct. These features weaken informed choice.</a:t>
            </a:r>
          </a:p>
          <a:p xmlns:a="http://schemas.openxmlformats.org/drawingml/2006/main">
            <a:r>
              <a:t>Question 2: An environmental impression stronger than its supporting evidence. Feedback: Correct. The communication misleads about responsibility.</a:t>
            </a:r>
          </a:p>
          <a:p xmlns:a="http://schemas.openxmlformats.org/drawingml/2006/main">
            <a:r>
              <a:t>Question 3: An indirect effect moving through connected parts of a system. Feedback: Correct. One change can influence later parts.</a:t>
            </a:r>
          </a:p>
          <a:p xmlns:a="http://schemas.openxmlformats.org/drawingml/2006/main">
            <a:r>
              <a:t>Do not score this as a formal assessment. Use responses to decide whether to reteach or continue.</a:t>
            </a:r>
          </a:p>
          <a:p xmlns:a="http://schemas.openxmlformats.org/drawingml/2006/main">
            <a:r>
              <a:t>Transition: Model how the same knowledge becomes a longer written explanation.</a:t>
            </a:r>
          </a:p>
          <a:p xmlns:a="http://schemas.openxmlformats.org/drawingml/2006/main">
            <a:r>
              <a:t/>
            </a:r>
          </a:p>
          <a:p xmlns:a="http://schemas.openxmlformats.org/drawingml/2006/main">
            <a:r>
              <a:t>[Sources]</a:t>
            </a:r>
          </a:p>
          <a:p xmlns:a="http://schemas.openxmlformats.org/drawingml/2006/main">
            <a:r>
              <a:t>- Formative checks: data/course-content.js, m08-s01-q01, m08-s02-q01, m08-s03-q01.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Read the prompt once, then unpack it using Select, Explain and Check.</a:t>
            </a:r>
          </a:p>
          <a:p xmlns:a="http://schemas.openxmlformats.org/drawingml/2006/main">
            <a:r>
              <a:t>Model one sentence aloud using the supplied starter.</a:t>
            </a:r>
          </a:p>
          <a:p xmlns:a="http://schemas.openxmlformats.org/drawingml/2006/main">
            <a:r>
              <a:t>Prompt: Which section provides the strongest evidence for each part of the question?</a:t>
            </a:r>
          </a:p>
          <a:p xmlns:a="http://schemas.openxmlformats.org/drawingml/2006/main">
            <a:r>
              <a:t>Remind students: this is formative learning evidence. A local save is not a submission.</a:t>
            </a:r>
          </a:p>
          <a:p xmlns:a="http://schemas.openxmlformats.org/drawingml/2006/main">
            <a:r>
              <a:t>Transition: Finish with a three-part exit ticket and save the response in the matching module.</a:t>
            </a:r>
          </a:p>
          <a:p xmlns:a="http://schemas.openxmlformats.org/drawingml/2006/main">
            <a:r>
              <a:t/>
            </a:r>
          </a:p>
          <a:p xmlns:a="http://schemas.openxmlformats.org/drawingml/2006/main">
            <a:r>
              <a:t>[Sources]</a:t>
            </a:r>
          </a:p>
          <a:p xmlns:a="http://schemas.openxmlformats.org/drawingml/2006/main">
            <a:r>
              <a:t>- Section capstones: data/course-content.js, m08-s01-capstone, m08-s02-capstone, m08-s03-capstone.</a:t>
            </a:r>
          </a:p>
          <a:p xmlns:a="http://schemas.openxmlformats.org/drawingml/2006/main">
            <a:r>
              <a:t>- Integrated prompt: Stage 07 synthesis of the three source-grounded section capstones.</a:t>
            </a:r>
          </a:p>
          <a:p xmlns:a="http://schemas.openxmlformats.org/drawingml/2006/main">
            <a:r>
              <a:t>- Evidence boundary: data/course-content.js evidenceLabel, saveNotice and moduleEvidenceKey.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routine: Ask students to answer all three prompts in the matching module response box.</a:t>
            </a:r>
          </a:p>
          <a:p xmlns:a="http://schemas.openxmlformats.org/drawingml/2006/main">
            <a:r>
              <a:t>Invite one voluntary share for the first prompt.</a:t>
            </a:r>
          </a:p>
          <a:p xmlns:a="http://schemas.openxmlformats.org/drawingml/2006/main">
            <a:r>
              <a:t>Use the final question to plan the next explanation or support.</a:t>
            </a:r>
          </a:p>
          <a:p xmlns:a="http://schemas.openxmlformats.org/drawingml/2006/main">
            <a:r>
              <a:t>Remind students that browser-local saving preserves a draft on this device; it does not submit work.</a:t>
            </a:r>
          </a:p>
          <a:p xmlns:a="http://schemas.openxmlformats.org/drawingml/2006/main">
            <a:r>
              <a:t/>
            </a:r>
          </a:p>
          <a:p xmlns:a="http://schemas.openxmlformats.org/drawingml/2006/main">
            <a:r>
              <a:t>[Sources]</a:t>
            </a:r>
          </a:p>
          <a:p xmlns:a="http://schemas.openxmlformats.org/drawingml/2006/main">
            <a:r>
              <a:t>- Exit-ticket structure and evidence boundary: data/course-content.js saveNotice, savedMessage and evidenceDestination.</a:t>
            </a:r>
          </a:p>
          <a:p xmlns:a="http://schemas.openxmlformats.org/drawingml/2006/main">
            <a:r>
              <a:t>- Module theory: data/course-content.js, m08-s01, m08-s02, m08-s03.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ccc5b2c860048b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baca2b7db6d4ad5" /><Relationship Type="http://schemas.openxmlformats.org/officeDocument/2006/relationships/slideLayout" Target="/ppt/slideLayouts/slideLayout1.xml" Id="R0339597aa9e14cd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339597aa9e14cd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2e31389ab794d2d" /><Relationship Type="http://schemas.openxmlformats.org/officeDocument/2006/relationships/notesSlide" Target="/ppt/notesSlides/notesSlide1.xml" Id="Rd9a72db150b644f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886a1aecf004dc2" /><Relationship Type="http://schemas.openxmlformats.org/officeDocument/2006/relationships/notesSlide" Target="/ppt/notesSlides/notesSlide2.xml" Id="Rf4e99ab857a84cb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0cccc9d34cc4ff0" /><Relationship Type="http://schemas.openxmlformats.org/officeDocument/2006/relationships/notesSlide" Target="/ppt/notesSlides/notesSlide3.xml" Id="R60c034a50b9147d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2f4a5934d1543a0" /><Relationship Type="http://schemas.openxmlformats.org/officeDocument/2006/relationships/notesSlide" Target="/ppt/notesSlides/notesSlide4.xml" Id="R4fbbb91791754df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eb9a8fbe7a94e85" /><Relationship Type="http://schemas.openxmlformats.org/officeDocument/2006/relationships/notesSlide" Target="/ppt/notesSlides/notesSlide5.xml" Id="R5a6a62b914ea451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bc52845d54c4312" /><Relationship Type="http://schemas.openxmlformats.org/officeDocument/2006/relationships/notesSlide" Target="/ppt/notesSlides/notesSlide6.xml" Id="R3eb1563a79904e0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0bc511b639b4c71" /><Relationship Type="http://schemas.openxmlformats.org/officeDocument/2006/relationships/notesSlide" Target="/ppt/notesSlides/notesSlide7.xml" Id="R0def5b35673d4bf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f570e632ad94a72" /><Relationship Type="http://schemas.openxmlformats.org/officeDocument/2006/relationships/notesSlide" Target="/ppt/notesSlides/notesSlide8.xml" Id="R279623b9c8b945e1" /></Relationships>
</file>

<file path=ppt/slides/slide1.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06AD343-EC57-4B6F-BC98-583AF3B161F3}"/>
              </a:ext>
            </a:extLst>
          </p:cNvPr>
          <p:cNvSpPr>
            <a:spLocks xmlns:a="http://schemas.openxmlformats.org/drawingml/2006/main" noGrp="1"/>
          </p:cNvSpPr>
          <p:nvPr/>
        </p:nvSpPr>
        <p:spPr>
          <a:xfrm xmlns:a="http://schemas.openxmlformats.org/drawingml/2006/main">
            <a:off x="0" y="0"/>
            <a:ext cx="5810250" cy="6858000"/>
          </a:xfrm>
          <a:prstGeom xmlns:a="http://schemas.openxmlformats.org/drawingml/2006/main" prst="rect">
            <a:avLst/>
          </a:prstGeom>
          <a:solidFill xmlns:a="http://schemas.openxmlformats.org/drawingml/2006/main">
            <a:srgbClr val="1734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BEFA6C9-628D-4BBF-BF62-DB558B88938B}"/>
              </a:ext>
            </a:extLst>
          </p:cNvPr>
          <p:cNvSpPr>
            <a:spLocks xmlns:a="http://schemas.openxmlformats.org/drawingml/2006/main" noGrp="1"/>
          </p:cNvSpPr>
          <p:nvPr/>
        </p:nvSpPr>
        <p:spPr>
          <a:xfrm xmlns:a="http://schemas.openxmlformats.org/drawingml/2006/main">
            <a:off x="685800" y="723900"/>
            <a:ext cx="933450" cy="952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DAEA1B9-63C0-4B14-A1F1-E2DB4CF2A455}"/>
              </a:ext>
            </a:extLst>
          </p:cNvPr>
          <p:cNvSpPr>
            <a:spLocks xmlns:a="http://schemas.openxmlformats.org/drawingml/2006/main" noGrp="1"/>
          </p:cNvSpPr>
          <p:nvPr/>
        </p:nvSpPr>
        <p:spPr>
          <a:xfrm xmlns:a="http://schemas.openxmlformats.org/drawingml/2006/main">
            <a:off x="685800" y="11239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F2BD3C"/>
                </a:solidFill>
                <a:latin typeface="Arial"/>
                <a:ea typeface="Arial"/>
                <a:cs typeface="Arial"/>
              </a:defRPr>
            </a:pPr>
            <a:r>
              <a:rPr sz="1350" b="1">
                <a:solidFill>
                  <a:srgbClr val="F2BD3C"/>
                </a:solidFill>
                <a:latin typeface="Arial"/>
                <a:ea typeface="Arial"/>
                <a:cs typeface="Arial"/>
              </a:rPr>
              <a:t>MODULE 08</a:t>
            </a:r>
          </a:p>
        </p:txBody>
      </p:sp>
      <p:sp>
        <p:nvSpPr>
          <p:cNvPr id="4" name="">
            <a:extLst xmlns:a="http://schemas.openxmlformats.org/drawingml/2006/main">
              <a:ext uri="{FF2B5EF4-FFF2-40B4-BE49-F238E27FC236}">
                <a16:creationId xmlns:a16="http://schemas.microsoft.com/office/drawing/2014/main" id="{FD26DF3B-E273-4285-80AA-ABD2BE2DBB93}"/>
              </a:ext>
            </a:extLst>
          </p:cNvPr>
          <p:cNvSpPr>
            <a:spLocks xmlns:a="http://schemas.openxmlformats.org/drawingml/2006/main" noGrp="1"/>
          </p:cNvSpPr>
          <p:nvPr/>
        </p:nvSpPr>
        <p:spPr>
          <a:xfrm xmlns:a="http://schemas.openxmlformats.org/drawingml/2006/main">
            <a:off x="685800" y="1790700"/>
            <a:ext cx="4476750" cy="1543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675" b="1">
                <a:solidFill>
                  <a:srgbClr val="FFFFFF"/>
                </a:solidFill>
                <a:latin typeface="Arial"/>
                <a:ea typeface="Arial"/>
                <a:cs typeface="Arial"/>
              </a:defRPr>
            </a:pPr>
            <a:r>
              <a:rPr sz="3675" b="1">
                <a:solidFill>
                  <a:srgbClr val="FFFFFF"/>
                </a:solidFill>
                <a:latin typeface="Arial"/>
                <a:ea typeface="Arial"/>
                <a:cs typeface="Arial"/>
              </a:rPr>
              <a:t>Ethical marketing systems</a:t>
            </a:r>
          </a:p>
        </p:txBody>
      </p:sp>
      <p:sp>
        <p:nvSpPr>
          <p:cNvPr id="5" name="">
            <a:extLst xmlns:a="http://schemas.openxmlformats.org/drawingml/2006/main">
              <a:ext uri="{FF2B5EF4-FFF2-40B4-BE49-F238E27FC236}">
                <a16:creationId xmlns:a16="http://schemas.microsoft.com/office/drawing/2014/main" id="{247F88BE-EECA-4356-B039-ABBB2FF958AC}"/>
              </a:ext>
            </a:extLst>
          </p:cNvPr>
          <p:cNvSpPr>
            <a:spLocks xmlns:a="http://schemas.openxmlformats.org/drawingml/2006/main" noGrp="1"/>
          </p:cNvSpPr>
          <p:nvPr/>
        </p:nvSpPr>
        <p:spPr>
          <a:xfrm xmlns:a="http://schemas.openxmlformats.org/drawingml/2006/main">
            <a:off x="685800" y="3676650"/>
            <a:ext cx="43338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E6EEE9"/>
                </a:solidFill>
                <a:latin typeface="Arial"/>
                <a:ea typeface="Arial"/>
                <a:cs typeface="Arial"/>
              </a:defRPr>
            </a:pPr>
            <a:r>
              <a:rPr sz="1650" b="0">
                <a:solidFill>
                  <a:srgbClr val="E6EEE9"/>
                </a:solidFill>
                <a:latin typeface="Arial"/>
                <a:ea typeface="Arial"/>
                <a:cs typeface="Arial"/>
              </a:rPr>
              <a:t>Examine persuasion, greenwashing and business ripple effects.</a:t>
            </a:r>
          </a:p>
        </p:txBody>
      </p:sp>
      <p:sp>
        <p:nvSpPr>
          <p:cNvPr id="6" name="">
            <a:extLst xmlns:a="http://schemas.openxmlformats.org/drawingml/2006/main">
              <a:ext uri="{FF2B5EF4-FFF2-40B4-BE49-F238E27FC236}">
                <a16:creationId xmlns:a16="http://schemas.microsoft.com/office/drawing/2014/main" id="{4D3F6CCC-8B88-4426-B7C2-F423BF821AE4}"/>
              </a:ext>
            </a:extLst>
          </p:cNvPr>
          <p:cNvSpPr>
            <a:spLocks xmlns:a="http://schemas.openxmlformats.org/drawingml/2006/main" noGrp="1"/>
          </p:cNvSpPr>
          <p:nvPr/>
        </p:nvSpPr>
        <p:spPr>
          <a:xfrm xmlns:a="http://schemas.openxmlformats.org/drawingml/2006/main">
            <a:off x="685800" y="50101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1">
                <a:solidFill>
                  <a:srgbClr val="E8674B"/>
                </a:solidFill>
                <a:latin typeface="Arial"/>
                <a:ea typeface="Arial"/>
                <a:cs typeface="Arial"/>
              </a:defRPr>
            </a:pPr>
            <a:r>
              <a:rPr sz="900" b="1">
                <a:solidFill>
                  <a:srgbClr val="E8674B"/>
                </a:solidFill>
                <a:latin typeface="Arial"/>
                <a:ea typeface="Arial"/>
                <a:cs typeface="Arial"/>
              </a:rPr>
              <a:t>TEACHING QUESTION</a:t>
            </a:r>
          </a:p>
        </p:txBody>
      </p:sp>
      <p:sp>
        <p:nvSpPr>
          <p:cNvPr id="7" name="">
            <a:extLst xmlns:a="http://schemas.openxmlformats.org/drawingml/2006/main">
              <a:ext uri="{FF2B5EF4-FFF2-40B4-BE49-F238E27FC236}">
                <a16:creationId xmlns:a16="http://schemas.microsoft.com/office/drawing/2014/main" id="{F9EABBA5-C8DF-469F-A5D7-B0516173E5CB}"/>
              </a:ext>
            </a:extLst>
          </p:cNvPr>
          <p:cNvSpPr>
            <a:spLocks xmlns:a="http://schemas.openxmlformats.org/drawingml/2006/main" noGrp="1"/>
          </p:cNvSpPr>
          <p:nvPr/>
        </p:nvSpPr>
        <p:spPr>
          <a:xfrm xmlns:a="http://schemas.openxmlformats.org/drawingml/2006/main">
            <a:off x="685800" y="5295900"/>
            <a:ext cx="43624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a:solidFill>
                  <a:srgbClr val="FFFFFF"/>
                </a:solidFill>
                <a:latin typeface="Arial"/>
                <a:ea typeface="Arial"/>
                <a:cs typeface="Arial"/>
              </a:defRPr>
            </a:pPr>
            <a:r>
              <a:rPr sz="1425" b="1">
                <a:solidFill>
                  <a:srgbClr val="FFFFFF"/>
                </a:solidFill>
                <a:latin typeface="Arial"/>
                <a:ea typeface="Arial"/>
                <a:cs typeface="Arial"/>
              </a:rPr>
              <a:t>When does persuasive design stop informing and start applying unfair pressure?</a:t>
            </a:r>
          </a:p>
        </p:txBody>
      </p:sp>
      <p:sp>
        <p:nvSpPr>
          <p:cNvPr id="8" name="">
            <a:extLst xmlns:a="http://schemas.openxmlformats.org/drawingml/2006/main">
              <a:ext uri="{FF2B5EF4-FFF2-40B4-BE49-F238E27FC236}">
                <a16:creationId xmlns:a16="http://schemas.microsoft.com/office/drawing/2014/main" id="{003AB89C-D24B-4E0E-B134-5BF3E378B631}"/>
              </a:ext>
            </a:extLst>
          </p:cNvPr>
          <p:cNvSpPr>
            <a:spLocks xmlns:a="http://schemas.openxmlformats.org/drawingml/2006/main" noGrp="1"/>
          </p:cNvSpPr>
          <p:nvPr/>
        </p:nvSpPr>
        <p:spPr>
          <a:xfrm xmlns:a="http://schemas.openxmlformats.org/drawingml/2006/main">
            <a:off x="6191250" y="514350"/>
            <a:ext cx="5334000" cy="5372100"/>
          </a:xfrm>
          <a:prstGeom xmlns:a="http://schemas.openxmlformats.org/drawingml/2006/main" prst="roundRect">
            <a:avLst>
              <a:gd name="adj" fmla="val 2143"/>
            </a:avLst>
          </a:prstGeom>
          <a:solidFill xmlns:a="http://schemas.openxmlformats.org/drawingml/2006/main">
            <a:srgbClr val="FFFFFF"/>
          </a:solidFill>
          <a:ln xmlns:a="http://schemas.openxmlformats.org/drawingml/2006/main" w="9525">
            <a:solidFill>
              <a:srgbClr val="CFD8D2"/>
            </a:solidFill>
            <a:prstDash val="solid"/>
          </a:ln>
        </p:spPr>
      </p:sp>
      <p:sp>
        <p:nvSpPr>
          <p:cNvPr id="9" name="">
            <a:extLst xmlns:a="http://schemas.openxmlformats.org/drawingml/2006/main">
              <a:ext uri="{FF2B5EF4-FFF2-40B4-BE49-F238E27FC236}">
                <a16:creationId xmlns:a16="http://schemas.microsoft.com/office/drawing/2014/main" id="{2DBF52A4-EDE9-40A7-B203-EDCE54964198}"/>
              </a:ext>
            </a:extLst>
          </p:cNvPr>
          <p:cNvSpPr>
            <a:spLocks xmlns:a="http://schemas.openxmlformats.org/drawingml/2006/main" noGrp="1"/>
          </p:cNvSpPr>
          <p:nvPr/>
        </p:nvSpPr>
        <p:spPr>
          <a:xfrm xmlns:a="http://schemas.openxmlformats.org/drawingml/2006/main">
            <a:off x="6743700" y="1200150"/>
            <a:ext cx="4229100" cy="838200"/>
          </a:xfrm>
          <a:prstGeom xmlns:a="http://schemas.openxmlformats.org/drawingml/2006/main" prst="roundRect">
            <a:avLst>
              <a:gd name="adj" fmla="val 13636"/>
            </a:avLst>
          </a:prstGeom>
          <a:solidFill xmlns:a="http://schemas.openxmlformats.org/drawingml/2006/main">
            <a:srgbClr val="E7F0EC"/>
          </a:solidFill>
          <a:ln xmlns:a="http://schemas.openxmlformats.org/drawingml/2006/main" w="0">
            <a:noFill/>
            <a:prstDash val="solid"/>
          </a:ln>
        </p:spPr>
        <p:txBody>
          <a:bodyPr xmlns:a="http://schemas.openxmlformats.org/drawingml/2006/main" lIns="76200" tIns="76200" rIns="76200" bIns="76200" anchor="ctr">
            <a:normAutofit fontScale="100000"/>
          </a:bodyPr>
          <a:lstStyle xmlns:a="http://schemas.openxmlformats.org/drawingml/2006/main"/>
          <a:p xmlns:a="http://schemas.openxmlformats.org/drawingml/2006/main">
            <a:pPr algn="ctr">
              <a:defRPr sz="2625" b="1">
                <a:solidFill>
                  <a:srgbClr val="0C5554"/>
                </a:solidFill>
                <a:latin typeface="Arial"/>
                <a:ea typeface="Arial"/>
                <a:cs typeface="Arial"/>
              </a:defRPr>
            </a:pPr>
            <a:r>
              <a:rPr sz="2625" b="1">
                <a:solidFill>
                  <a:srgbClr val="0C5554"/>
                </a:solidFill>
                <a:latin typeface="Arial"/>
                <a:ea typeface="Arial"/>
                <a:cs typeface="Arial"/>
              </a:rPr>
              <a:t>ATTENTION</a:t>
            </a:r>
          </a:p>
        </p:txBody>
      </p:sp>
      <p:sp>
        <p:nvSpPr>
          <p:cNvPr id="10" name="">
            <a:extLst xmlns:a="http://schemas.openxmlformats.org/drawingml/2006/main">
              <a:ext uri="{FF2B5EF4-FFF2-40B4-BE49-F238E27FC236}">
                <a16:creationId xmlns:a16="http://schemas.microsoft.com/office/drawing/2014/main" id="{8F7B42CA-5D63-42A8-91F5-1C5312F9DF7C}"/>
              </a:ext>
            </a:extLst>
          </p:cNvPr>
          <p:cNvSpPr>
            <a:spLocks xmlns:a="http://schemas.openxmlformats.org/drawingml/2006/main" noGrp="1"/>
          </p:cNvSpPr>
          <p:nvPr/>
        </p:nvSpPr>
        <p:spPr>
          <a:xfrm xmlns:a="http://schemas.openxmlformats.org/drawingml/2006/main">
            <a:off x="8667750" y="21145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875" b="1">
                <a:solidFill>
                  <a:srgbClr val="17342C"/>
                </a:solidFill>
                <a:latin typeface="Arial"/>
                <a:ea typeface="Arial"/>
                <a:cs typeface="Arial"/>
              </a:defRPr>
            </a:pPr>
            <a:r>
              <a:rPr sz="1875" b="1">
                <a:solidFill>
                  <a:srgbClr val="17342C"/>
                </a:solidFill>
                <a:latin typeface="Arial"/>
                <a:ea typeface="Arial"/>
                <a:cs typeface="Arial"/>
              </a:rPr>
              <a:t>↓</a:t>
            </a:r>
          </a:p>
        </p:txBody>
      </p:sp>
      <p:sp>
        <p:nvSpPr>
          <p:cNvPr id="11" name="">
            <a:extLst xmlns:a="http://schemas.openxmlformats.org/drawingml/2006/main">
              <a:ext uri="{FF2B5EF4-FFF2-40B4-BE49-F238E27FC236}">
                <a16:creationId xmlns:a16="http://schemas.microsoft.com/office/drawing/2014/main" id="{1DEFB3F4-E539-485F-8D78-02B4D68B9541}"/>
              </a:ext>
            </a:extLst>
          </p:cNvPr>
          <p:cNvSpPr>
            <a:spLocks xmlns:a="http://schemas.openxmlformats.org/drawingml/2006/main" noGrp="1"/>
          </p:cNvSpPr>
          <p:nvPr/>
        </p:nvSpPr>
        <p:spPr>
          <a:xfrm xmlns:a="http://schemas.openxmlformats.org/drawingml/2006/main">
            <a:off x="6743700" y="2647950"/>
            <a:ext cx="4229100" cy="838200"/>
          </a:xfrm>
          <a:prstGeom xmlns:a="http://schemas.openxmlformats.org/drawingml/2006/main" prst="roundRect">
            <a:avLst>
              <a:gd name="adj" fmla="val 13636"/>
            </a:avLst>
          </a:prstGeom>
          <a:solidFill xmlns:a="http://schemas.openxmlformats.org/drawingml/2006/main">
            <a:srgbClr val="F7E8E3"/>
          </a:solidFill>
          <a:ln xmlns:a="http://schemas.openxmlformats.org/drawingml/2006/main" w="0">
            <a:noFill/>
            <a:prstDash val="solid"/>
          </a:ln>
        </p:spPr>
        <p:txBody>
          <a:bodyPr xmlns:a="http://schemas.openxmlformats.org/drawingml/2006/main" lIns="76200" tIns="76200" rIns="76200" bIns="76200" anchor="ctr">
            <a:normAutofit fontScale="100000"/>
          </a:bodyPr>
          <a:lstStyle xmlns:a="http://schemas.openxmlformats.org/drawingml/2006/main"/>
          <a:p xmlns:a="http://schemas.openxmlformats.org/drawingml/2006/main">
            <a:pPr algn="ctr">
              <a:defRPr sz="2625" b="1">
                <a:solidFill>
                  <a:srgbClr val="E8674B"/>
                </a:solidFill>
                <a:latin typeface="Arial"/>
                <a:ea typeface="Arial"/>
                <a:cs typeface="Arial"/>
              </a:defRPr>
            </a:pPr>
            <a:r>
              <a:rPr sz="2625" b="1">
                <a:solidFill>
                  <a:srgbClr val="E8674B"/>
                </a:solidFill>
                <a:latin typeface="Arial"/>
                <a:ea typeface="Arial"/>
                <a:cs typeface="Arial"/>
              </a:rPr>
              <a:t>CLAIM</a:t>
            </a:r>
          </a:p>
        </p:txBody>
      </p:sp>
      <p:sp>
        <p:nvSpPr>
          <p:cNvPr id="12" name="">
            <a:extLst xmlns:a="http://schemas.openxmlformats.org/drawingml/2006/main">
              <a:ext uri="{FF2B5EF4-FFF2-40B4-BE49-F238E27FC236}">
                <a16:creationId xmlns:a16="http://schemas.microsoft.com/office/drawing/2014/main" id="{ADA097A1-8B60-4075-A60E-882A36F53008}"/>
              </a:ext>
            </a:extLst>
          </p:cNvPr>
          <p:cNvSpPr>
            <a:spLocks xmlns:a="http://schemas.openxmlformats.org/drawingml/2006/main" noGrp="1"/>
          </p:cNvSpPr>
          <p:nvPr/>
        </p:nvSpPr>
        <p:spPr>
          <a:xfrm xmlns:a="http://schemas.openxmlformats.org/drawingml/2006/main">
            <a:off x="8667750" y="35623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875" b="1">
                <a:solidFill>
                  <a:srgbClr val="17342C"/>
                </a:solidFill>
                <a:latin typeface="Arial"/>
                <a:ea typeface="Arial"/>
                <a:cs typeface="Arial"/>
              </a:defRPr>
            </a:pPr>
            <a:r>
              <a:rPr sz="1875" b="1">
                <a:solidFill>
                  <a:srgbClr val="17342C"/>
                </a:solidFill>
                <a:latin typeface="Arial"/>
                <a:ea typeface="Arial"/>
                <a:cs typeface="Arial"/>
              </a:rPr>
              <a:t>↓</a:t>
            </a:r>
          </a:p>
        </p:txBody>
      </p:sp>
      <p:sp>
        <p:nvSpPr>
          <p:cNvPr id="13" name="">
            <a:extLst xmlns:a="http://schemas.openxmlformats.org/drawingml/2006/main">
              <a:ext uri="{FF2B5EF4-FFF2-40B4-BE49-F238E27FC236}">
                <a16:creationId xmlns:a16="http://schemas.microsoft.com/office/drawing/2014/main" id="{B7712ACC-1E35-4335-BA6B-0C56521950F8}"/>
              </a:ext>
            </a:extLst>
          </p:cNvPr>
          <p:cNvSpPr>
            <a:spLocks xmlns:a="http://schemas.openxmlformats.org/drawingml/2006/main" noGrp="1"/>
          </p:cNvSpPr>
          <p:nvPr/>
        </p:nvSpPr>
        <p:spPr>
          <a:xfrm xmlns:a="http://schemas.openxmlformats.org/drawingml/2006/main">
            <a:off x="6743700" y="4095750"/>
            <a:ext cx="4229100" cy="838200"/>
          </a:xfrm>
          <a:prstGeom xmlns:a="http://schemas.openxmlformats.org/drawingml/2006/main" prst="roundRect">
            <a:avLst>
              <a:gd name="adj" fmla="val 13636"/>
            </a:avLst>
          </a:prstGeom>
          <a:solidFill xmlns:a="http://schemas.openxmlformats.org/drawingml/2006/main">
            <a:srgbClr val="EEEAFB"/>
          </a:solidFill>
          <a:ln xmlns:a="http://schemas.openxmlformats.org/drawingml/2006/main" w="0">
            <a:noFill/>
            <a:prstDash val="solid"/>
          </a:ln>
        </p:spPr>
        <p:txBody>
          <a:bodyPr xmlns:a="http://schemas.openxmlformats.org/drawingml/2006/main" lIns="76200" tIns="76200" rIns="76200" bIns="76200" anchor="ctr">
            <a:normAutofit fontScale="100000"/>
          </a:bodyPr>
          <a:lstStyle xmlns:a="http://schemas.openxmlformats.org/drawingml/2006/main"/>
          <a:p xmlns:a="http://schemas.openxmlformats.org/drawingml/2006/main">
            <a:pPr algn="ctr">
              <a:defRPr sz="2625" b="1">
                <a:solidFill>
                  <a:srgbClr val="6A57C8"/>
                </a:solidFill>
                <a:latin typeface="Arial"/>
                <a:ea typeface="Arial"/>
                <a:cs typeface="Arial"/>
              </a:defRPr>
            </a:pPr>
            <a:r>
              <a:rPr sz="2625" b="1">
                <a:solidFill>
                  <a:srgbClr val="6A57C8"/>
                </a:solidFill>
                <a:latin typeface="Arial"/>
                <a:ea typeface="Arial"/>
                <a:cs typeface="Arial"/>
              </a:rPr>
              <a:t>EFFECT</a:t>
            </a:r>
          </a:p>
        </p:txBody>
      </p:sp>
      <p:sp>
        <p:nvSpPr>
          <p:cNvPr id="14" name="">
            <a:extLst xmlns:a="http://schemas.openxmlformats.org/drawingml/2006/main">
              <a:ext uri="{FF2B5EF4-FFF2-40B4-BE49-F238E27FC236}">
                <a16:creationId xmlns:a16="http://schemas.microsoft.com/office/drawing/2014/main" id="{3ABC85B9-7768-4B38-8817-01F70ADA6F03}"/>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08  •  ETHICAL MARKETING SYSTEMS</a:t>
            </a:r>
          </a:p>
        </p:txBody>
      </p:sp>
      <p:sp>
        <p:nvSpPr>
          <p:cNvPr id="15" name="">
            <a:extLst xmlns:a="http://schemas.openxmlformats.org/drawingml/2006/main">
              <a:ext uri="{FF2B5EF4-FFF2-40B4-BE49-F238E27FC236}">
                <a16:creationId xmlns:a16="http://schemas.microsoft.com/office/drawing/2014/main" id="{27A25621-0F40-44A0-B9C7-5E36846AABF9}"/>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01</a:t>
            </a:r>
          </a:p>
        </p:txBody>
      </p:sp>
    </p:spTree>
    <p:extLst>
      <p:ext uri="{BB962C8B-B14F-4D97-AF65-F5344CB8AC3E}">
        <p14:creationId xmlns:p14="http://schemas.microsoft.com/office/powerpoint/2010/main" val="2020530485"/>
      </p:ext>
    </p:extLst>
  </p:cSld>
</p:sld>
</file>

<file path=ppt/slides/slide2.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CFB3AFB9-CB90-49EF-881B-CA01748D013D}"/>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48374B6-AD1E-4C63-ADCF-29D1B1EED9F2}"/>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TODAY'S LEARNING PATH</a:t>
            </a:r>
          </a:p>
        </p:txBody>
      </p:sp>
      <p:sp>
        <p:nvSpPr>
          <p:cNvPr id="3" name="">
            <a:extLst xmlns:a="http://schemas.openxmlformats.org/drawingml/2006/main">
              <a:ext uri="{FF2B5EF4-FFF2-40B4-BE49-F238E27FC236}">
                <a16:creationId xmlns:a16="http://schemas.microsoft.com/office/drawing/2014/main" id="{F5F82FD9-9786-46DF-9A90-60C03C938E4E}"/>
              </a:ext>
            </a:extLst>
          </p:cNvPr>
          <p:cNvSpPr>
            <a:spLocks xmlns:a="http://schemas.openxmlformats.org/drawingml/2006/main" noGrp="1"/>
          </p:cNvSpPr>
          <p:nvPr/>
        </p:nvSpPr>
        <p:spPr>
          <a:xfrm xmlns:a="http://schemas.openxmlformats.org/drawingml/2006/main">
            <a:off x="685800" y="895350"/>
            <a:ext cx="7429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925" b="1">
                <a:solidFill>
                  <a:srgbClr val="17342C"/>
                </a:solidFill>
                <a:latin typeface="Arial"/>
                <a:ea typeface="Arial"/>
                <a:cs typeface="Arial"/>
              </a:defRPr>
            </a:pPr>
            <a:r>
              <a:rPr sz="2925" b="1">
                <a:solidFill>
                  <a:srgbClr val="17342C"/>
                </a:solidFill>
                <a:latin typeface="Arial"/>
                <a:ea typeface="Arial"/>
                <a:cs typeface="Arial"/>
              </a:rPr>
              <a:t>Where are we going?</a:t>
            </a:r>
          </a:p>
        </p:txBody>
      </p:sp>
      <p:sp>
        <p:nvSpPr>
          <p:cNvPr id="4" name="">
            <a:extLst xmlns:a="http://schemas.openxmlformats.org/drawingml/2006/main">
              <a:ext uri="{FF2B5EF4-FFF2-40B4-BE49-F238E27FC236}">
                <a16:creationId xmlns:a16="http://schemas.microsoft.com/office/drawing/2014/main" id="{23B248E7-5F3D-40AD-83B1-62B78B90311C}"/>
              </a:ext>
            </a:extLst>
          </p:cNvPr>
          <p:cNvSpPr>
            <a:spLocks xmlns:a="http://schemas.openxmlformats.org/drawingml/2006/main" noGrp="1"/>
          </p:cNvSpPr>
          <p:nvPr/>
        </p:nvSpPr>
        <p:spPr>
          <a:xfrm xmlns:a="http://schemas.openxmlformats.org/drawingml/2006/main">
            <a:off x="685800" y="19526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5" name="">
            <a:extLst xmlns:a="http://schemas.openxmlformats.org/drawingml/2006/main">
              <a:ext uri="{FF2B5EF4-FFF2-40B4-BE49-F238E27FC236}">
                <a16:creationId xmlns:a16="http://schemas.microsoft.com/office/drawing/2014/main" id="{16FF8DE6-325F-4E95-8C7D-91CBF86979FC}"/>
              </a:ext>
            </a:extLst>
          </p:cNvPr>
          <p:cNvSpPr>
            <a:spLocks xmlns:a="http://schemas.openxmlformats.org/drawingml/2006/main" noGrp="1"/>
          </p:cNvSpPr>
          <p:nvPr/>
        </p:nvSpPr>
        <p:spPr>
          <a:xfrm xmlns:a="http://schemas.openxmlformats.org/drawingml/2006/main">
            <a:off x="933450" y="2162175"/>
            <a:ext cx="476250" cy="476250"/>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16E97E1-34CC-4617-86D2-4AB1042087D8}"/>
              </a:ext>
            </a:extLst>
          </p:cNvPr>
          <p:cNvSpPr>
            <a:spLocks xmlns:a="http://schemas.openxmlformats.org/drawingml/2006/main" noGrp="1"/>
          </p:cNvSpPr>
          <p:nvPr/>
        </p:nvSpPr>
        <p:spPr>
          <a:xfrm xmlns:a="http://schemas.openxmlformats.org/drawingml/2006/main">
            <a:off x="933450" y="21621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CBBC19D3-B621-4FE7-A8F9-3A56EF289227}"/>
              </a:ext>
            </a:extLst>
          </p:cNvPr>
          <p:cNvSpPr>
            <a:spLocks xmlns:a="http://schemas.openxmlformats.org/drawingml/2006/main" noGrp="1"/>
          </p:cNvSpPr>
          <p:nvPr/>
        </p:nvSpPr>
        <p:spPr>
          <a:xfrm xmlns:a="http://schemas.openxmlformats.org/drawingml/2006/main">
            <a:off x="1733550" y="21431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Persuasion and target groups</a:t>
            </a:r>
          </a:p>
        </p:txBody>
      </p:sp>
      <p:sp>
        <p:nvSpPr>
          <p:cNvPr id="8" name="">
            <a:extLst xmlns:a="http://schemas.openxmlformats.org/drawingml/2006/main">
              <a:ext uri="{FF2B5EF4-FFF2-40B4-BE49-F238E27FC236}">
                <a16:creationId xmlns:a16="http://schemas.microsoft.com/office/drawing/2014/main" id="{9A44EB02-22E7-41FF-9640-C09C1F509758}"/>
              </a:ext>
            </a:extLst>
          </p:cNvPr>
          <p:cNvSpPr>
            <a:spLocks xmlns:a="http://schemas.openxmlformats.org/drawingml/2006/main" noGrp="1"/>
          </p:cNvSpPr>
          <p:nvPr/>
        </p:nvSpPr>
        <p:spPr>
          <a:xfrm xmlns:a="http://schemas.openxmlformats.org/drawingml/2006/main">
            <a:off x="685800" y="32099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9" name="">
            <a:extLst xmlns:a="http://schemas.openxmlformats.org/drawingml/2006/main">
              <a:ext uri="{FF2B5EF4-FFF2-40B4-BE49-F238E27FC236}">
                <a16:creationId xmlns:a16="http://schemas.microsoft.com/office/drawing/2014/main" id="{CBAEAC76-9559-4178-BDA8-A82E2FFAB315}"/>
              </a:ext>
            </a:extLst>
          </p:cNvPr>
          <p:cNvSpPr>
            <a:spLocks xmlns:a="http://schemas.openxmlformats.org/drawingml/2006/main" noGrp="1"/>
          </p:cNvSpPr>
          <p:nvPr/>
        </p:nvSpPr>
        <p:spPr>
          <a:xfrm xmlns:a="http://schemas.openxmlformats.org/drawingml/2006/main">
            <a:off x="933450" y="3419475"/>
            <a:ext cx="476250" cy="47625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C20C6C4-2CEF-489A-A472-CAC150CB37D0}"/>
              </a:ext>
            </a:extLst>
          </p:cNvPr>
          <p:cNvSpPr>
            <a:spLocks xmlns:a="http://schemas.openxmlformats.org/drawingml/2006/main" noGrp="1"/>
          </p:cNvSpPr>
          <p:nvPr/>
        </p:nvSpPr>
        <p:spPr>
          <a:xfrm xmlns:a="http://schemas.openxmlformats.org/drawingml/2006/main">
            <a:off x="933450" y="34194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7342C"/>
                </a:solidFill>
                <a:latin typeface="Arial"/>
                <a:ea typeface="Arial"/>
                <a:cs typeface="Arial"/>
              </a:defRPr>
            </a:pPr>
            <a:r>
              <a:rPr sz="1500" b="1">
                <a:solidFill>
                  <a:srgbClr val="17342C"/>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32D400E4-47BD-4E25-BB4D-0DDB79081AC8}"/>
              </a:ext>
            </a:extLst>
          </p:cNvPr>
          <p:cNvSpPr>
            <a:spLocks xmlns:a="http://schemas.openxmlformats.org/drawingml/2006/main" noGrp="1"/>
          </p:cNvSpPr>
          <p:nvPr/>
        </p:nvSpPr>
        <p:spPr>
          <a:xfrm xmlns:a="http://schemas.openxmlformats.org/drawingml/2006/main">
            <a:off x="1733550" y="34004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Greenwashing and truth</a:t>
            </a:r>
          </a:p>
        </p:txBody>
      </p:sp>
      <p:sp>
        <p:nvSpPr>
          <p:cNvPr id="12" name="">
            <a:extLst xmlns:a="http://schemas.openxmlformats.org/drawingml/2006/main">
              <a:ext uri="{FF2B5EF4-FFF2-40B4-BE49-F238E27FC236}">
                <a16:creationId xmlns:a16="http://schemas.microsoft.com/office/drawing/2014/main" id="{644E78D5-7B05-4306-AB9D-1819EB1728C9}"/>
              </a:ext>
            </a:extLst>
          </p:cNvPr>
          <p:cNvSpPr>
            <a:spLocks xmlns:a="http://schemas.openxmlformats.org/drawingml/2006/main" noGrp="1"/>
          </p:cNvSpPr>
          <p:nvPr/>
        </p:nvSpPr>
        <p:spPr>
          <a:xfrm xmlns:a="http://schemas.openxmlformats.org/drawingml/2006/main">
            <a:off x="685800" y="44672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13" name="">
            <a:extLst xmlns:a="http://schemas.openxmlformats.org/drawingml/2006/main">
              <a:ext uri="{FF2B5EF4-FFF2-40B4-BE49-F238E27FC236}">
                <a16:creationId xmlns:a16="http://schemas.microsoft.com/office/drawing/2014/main" id="{7D5B9577-F021-486E-BA1B-CBD3D3600E00}"/>
              </a:ext>
            </a:extLst>
          </p:cNvPr>
          <p:cNvSpPr>
            <a:spLocks xmlns:a="http://schemas.openxmlformats.org/drawingml/2006/main" noGrp="1"/>
          </p:cNvSpPr>
          <p:nvPr/>
        </p:nvSpPr>
        <p:spPr>
          <a:xfrm xmlns:a="http://schemas.openxmlformats.org/drawingml/2006/main">
            <a:off x="933450" y="4676775"/>
            <a:ext cx="476250" cy="476250"/>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86C8228-C549-432B-BE4D-24B0A608FA6B}"/>
              </a:ext>
            </a:extLst>
          </p:cNvPr>
          <p:cNvSpPr>
            <a:spLocks xmlns:a="http://schemas.openxmlformats.org/drawingml/2006/main" noGrp="1"/>
          </p:cNvSpPr>
          <p:nvPr/>
        </p:nvSpPr>
        <p:spPr>
          <a:xfrm xmlns:a="http://schemas.openxmlformats.org/drawingml/2006/main">
            <a:off x="933450" y="46767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C22CC548-9C46-4EE3-8ABF-A04B2A726FA9}"/>
              </a:ext>
            </a:extLst>
          </p:cNvPr>
          <p:cNvSpPr>
            <a:spLocks xmlns:a="http://schemas.openxmlformats.org/drawingml/2006/main" noGrp="1"/>
          </p:cNvSpPr>
          <p:nvPr/>
        </p:nvSpPr>
        <p:spPr>
          <a:xfrm xmlns:a="http://schemas.openxmlformats.org/drawingml/2006/main">
            <a:off x="1733550" y="46577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Ripple effects and designer responsibility</a:t>
            </a:r>
          </a:p>
        </p:txBody>
      </p:sp>
      <p:sp>
        <p:nvSpPr>
          <p:cNvPr id="16" name="">
            <a:extLst xmlns:a="http://schemas.openxmlformats.org/drawingml/2006/main">
              <a:ext uri="{FF2B5EF4-FFF2-40B4-BE49-F238E27FC236}">
                <a16:creationId xmlns:a16="http://schemas.microsoft.com/office/drawing/2014/main" id="{C6F3D1CC-92C9-4999-B502-2652FA4F171C}"/>
              </a:ext>
            </a:extLst>
          </p:cNvPr>
          <p:cNvSpPr>
            <a:spLocks xmlns:a="http://schemas.openxmlformats.org/drawingml/2006/main" noGrp="1"/>
          </p:cNvSpPr>
          <p:nvPr/>
        </p:nvSpPr>
        <p:spPr>
          <a:xfrm xmlns:a="http://schemas.openxmlformats.org/drawingml/2006/main">
            <a:off x="8191500" y="20764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F2BD3C"/>
                </a:solidFill>
                <a:latin typeface="Arial"/>
                <a:ea typeface="Arial"/>
                <a:cs typeface="Arial"/>
              </a:defRPr>
            </a:pPr>
            <a:r>
              <a:rPr sz="1050" b="1">
                <a:solidFill>
                  <a:srgbClr val="F2BD3C"/>
                </a:solidFill>
                <a:latin typeface="Arial"/>
                <a:ea typeface="Arial"/>
                <a:cs typeface="Arial"/>
              </a:rPr>
              <a:t>RETRIEVAL WARM-UP</a:t>
            </a:r>
          </a:p>
        </p:txBody>
      </p:sp>
      <p:sp>
        <p:nvSpPr>
          <p:cNvPr id="17" name="">
            <a:extLst xmlns:a="http://schemas.openxmlformats.org/drawingml/2006/main">
              <a:ext uri="{FF2B5EF4-FFF2-40B4-BE49-F238E27FC236}">
                <a16:creationId xmlns:a16="http://schemas.microsoft.com/office/drawing/2014/main" id="{EBC18138-7C12-4422-8008-51B63807DF57}"/>
              </a:ext>
            </a:extLst>
          </p:cNvPr>
          <p:cNvSpPr>
            <a:spLocks xmlns:a="http://schemas.openxmlformats.org/drawingml/2006/main" noGrp="1"/>
          </p:cNvSpPr>
          <p:nvPr/>
        </p:nvSpPr>
        <p:spPr>
          <a:xfrm xmlns:a="http://schemas.openxmlformats.org/drawingml/2006/main">
            <a:off x="8191500" y="2609850"/>
            <a:ext cx="2952750" cy="1390650"/>
          </a:xfrm>
          <a:prstGeom xmlns:a="http://schemas.openxmlformats.org/drawingml/2006/main" prst="roundRect">
            <a:avLst>
              <a:gd name="adj" fmla="val 8219"/>
            </a:avLst>
          </a:prstGeom>
          <a:solidFill xmlns:a="http://schemas.openxmlformats.org/drawingml/2006/main">
            <a:srgbClr val="17342C"/>
          </a:solidFill>
          <a:ln xmlns:a="http://schemas.openxmlformats.org/drawingml/2006/main" w="0">
            <a:noFill/>
            <a:prstDash val="solid"/>
          </a:ln>
        </p:spPr>
        <p:txBody>
          <a:bodyPr xmlns:a="http://schemas.openxmlformats.org/drawingml/2006/main" lIns="209550" tIns="209550" rIns="209550" bIns="209550" anchor="ctr">
            <a:normAutofit fontScale="79142"/>
          </a:bodyPr>
          <a:lstStyle xmlns:a="http://schemas.openxmlformats.org/drawingml/2006/main"/>
          <a:p xmlns:a="http://schemas.openxmlformats.org/drawingml/2006/main">
            <a:pPr algn="l">
              <a:defRPr sz="1875" b="1">
                <a:solidFill>
                  <a:srgbClr val="FFFFFF"/>
                </a:solidFill>
                <a:latin typeface="Arial"/>
                <a:ea typeface="Arial"/>
                <a:cs typeface="Arial"/>
              </a:defRPr>
            </a:pPr>
            <a:r>
              <a:rPr sz="1875" b="1">
                <a:solidFill>
                  <a:srgbClr val="FFFFFF"/>
                </a:solidFill>
                <a:latin typeface="Arial"/>
                <a:ea typeface="Arial"/>
                <a:cs typeface="Arial"/>
              </a:rPr>
              <a:t>When does persuasive design stop informing and start applying unfair pressure?</a:t>
            </a:r>
          </a:p>
        </p:txBody>
      </p:sp>
      <p:sp>
        <p:nvSpPr>
          <p:cNvPr id="18" name="">
            <a:extLst xmlns:a="http://schemas.openxmlformats.org/drawingml/2006/main">
              <a:ext uri="{FF2B5EF4-FFF2-40B4-BE49-F238E27FC236}">
                <a16:creationId xmlns:a16="http://schemas.microsoft.com/office/drawing/2014/main" id="{ACFE6BB1-F223-48A7-8C70-D4E357536FAF}"/>
              </a:ext>
            </a:extLst>
          </p:cNvPr>
          <p:cNvSpPr>
            <a:spLocks xmlns:a="http://schemas.openxmlformats.org/drawingml/2006/main" noGrp="1"/>
          </p:cNvSpPr>
          <p:nvPr/>
        </p:nvSpPr>
        <p:spPr>
          <a:xfrm xmlns:a="http://schemas.openxmlformats.org/drawingml/2006/main">
            <a:off x="8191500" y="42291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17342C"/>
                </a:solidFill>
                <a:latin typeface="Arial"/>
                <a:ea typeface="Arial"/>
                <a:cs typeface="Arial"/>
              </a:defRPr>
            </a:pPr>
            <a:r>
              <a:rPr sz="1275" b="0">
                <a:solidFill>
                  <a:srgbClr val="17342C"/>
                </a:solidFill>
                <a:latin typeface="Arial"/>
                <a:ea typeface="Arial"/>
                <a:cs typeface="Arial"/>
              </a:rPr>
              <a:t>Think silently → pair → share one reason.</a:t>
            </a:r>
          </a:p>
        </p:txBody>
      </p:sp>
      <p:sp>
        <p:nvSpPr>
          <p:cNvPr id="19" name="">
            <a:extLst xmlns:a="http://schemas.openxmlformats.org/drawingml/2006/main">
              <a:ext uri="{FF2B5EF4-FFF2-40B4-BE49-F238E27FC236}">
                <a16:creationId xmlns:a16="http://schemas.microsoft.com/office/drawing/2014/main" id="{5ECBD0DE-DD4A-4615-8EE7-BEF3146B66B2}"/>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08  •  ETHICAL MARKETING SYSTEMS</a:t>
            </a:r>
          </a:p>
        </p:txBody>
      </p:sp>
      <p:sp>
        <p:nvSpPr>
          <p:cNvPr id="20" name="">
            <a:extLst xmlns:a="http://schemas.openxmlformats.org/drawingml/2006/main">
              <a:ext uri="{FF2B5EF4-FFF2-40B4-BE49-F238E27FC236}">
                <a16:creationId xmlns:a16="http://schemas.microsoft.com/office/drawing/2014/main" id="{326C86D7-8738-4089-AC63-511B428D7B1A}"/>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02</a:t>
            </a:r>
          </a:p>
        </p:txBody>
      </p:sp>
    </p:spTree>
    <p:extLst>
      <p:ext uri="{BB962C8B-B14F-4D97-AF65-F5344CB8AC3E}">
        <p14:creationId xmlns:p14="http://schemas.microsoft.com/office/powerpoint/2010/main" val="1691769157"/>
      </p:ext>
    </p:extLst>
  </p:cSld>
</p:sld>
</file>

<file path=ppt/slides/slide3.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57E449EE-E799-4BEF-8D3E-57BD7C3E5A84}"/>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4314E39-DAE9-4A8D-A78C-6A1294BB7C84}"/>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8.1  PERSUASION AND TARGET GROUPS</a:t>
            </a:r>
          </a:p>
        </p:txBody>
      </p:sp>
      <p:sp>
        <p:nvSpPr>
          <p:cNvPr id="3" name="">
            <a:extLst xmlns:a="http://schemas.openxmlformats.org/drawingml/2006/main">
              <a:ext uri="{FF2B5EF4-FFF2-40B4-BE49-F238E27FC236}">
                <a16:creationId xmlns:a16="http://schemas.microsoft.com/office/drawing/2014/main" id="{74E13936-80FA-4037-AADE-D6C9A7119818}"/>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Persuasion and target groups</a:t>
            </a:r>
          </a:p>
        </p:txBody>
      </p:sp>
      <p:sp>
        <p:nvSpPr>
          <p:cNvPr id="4" name="">
            <a:extLst xmlns:a="http://schemas.openxmlformats.org/drawingml/2006/main">
              <a:ext uri="{FF2B5EF4-FFF2-40B4-BE49-F238E27FC236}">
                <a16:creationId xmlns:a16="http://schemas.microsoft.com/office/drawing/2014/main" id="{0E742D40-4772-44E7-A1A6-4BBE369C2588}"/>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FF05C4DD-8721-47A0-AB1D-D1D7CEC120E1}"/>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D4F3E98-2BAD-49BD-9BE9-D6E0B62FB207}"/>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Persuasion can inform or manipulate depending on evidence and effect.</a:t>
            </a:r>
          </a:p>
        </p:txBody>
      </p:sp>
      <p:sp>
        <p:nvSpPr>
          <p:cNvPr id="7" name="">
            <a:extLst xmlns:a="http://schemas.openxmlformats.org/drawingml/2006/main">
              <a:ext uri="{FF2B5EF4-FFF2-40B4-BE49-F238E27FC236}">
                <a16:creationId xmlns:a16="http://schemas.microsoft.com/office/drawing/2014/main" id="{39688704-66C0-4B01-BD1E-06E39FE3C8DD}"/>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D81DF67-B5CF-4772-9BC5-E7AA18E6044B}"/>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Targeting creates a duty to avoid stereotypes and unnecessary data.</a:t>
            </a:r>
          </a:p>
        </p:txBody>
      </p:sp>
      <p:sp>
        <p:nvSpPr>
          <p:cNvPr id="9" name="">
            <a:extLst xmlns:a="http://schemas.openxmlformats.org/drawingml/2006/main">
              <a:ext uri="{FF2B5EF4-FFF2-40B4-BE49-F238E27FC236}">
                <a16:creationId xmlns:a16="http://schemas.microsoft.com/office/drawing/2014/main" id="{CF31CF7B-A169-4DB9-8005-4AC2AE0C89FF}"/>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84EC90C-0321-4816-AF87-1B7F47ED9677}"/>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A call to action should preserve meaningful choice.</a:t>
            </a:r>
          </a:p>
        </p:txBody>
      </p:sp>
      <p:sp>
        <p:nvSpPr>
          <p:cNvPr id="11" name="">
            <a:extLst xmlns:a="http://schemas.openxmlformats.org/drawingml/2006/main">
              <a:ext uri="{FF2B5EF4-FFF2-40B4-BE49-F238E27FC236}">
                <a16:creationId xmlns:a16="http://schemas.microsoft.com/office/drawing/2014/main" id="{4ECB7C2D-EFB2-4190-BF18-50D3F855964B}"/>
              </a:ext>
            </a:extLst>
          </p:cNvPr>
          <p:cNvSpPr>
            <a:spLocks xmlns:a="http://schemas.openxmlformats.org/drawingml/2006/main" noGrp="1"/>
          </p:cNvSpPr>
          <p:nvPr/>
        </p:nvSpPr>
        <p:spPr>
          <a:xfrm xmlns:a="http://schemas.openxmlformats.org/drawingml/2006/main">
            <a:off x="7200900" y="1352550"/>
            <a:ext cx="4305300" cy="3505200"/>
          </a:xfrm>
          <a:prstGeom xmlns:a="http://schemas.openxmlformats.org/drawingml/2006/main" prst="roundRect">
            <a:avLst>
              <a:gd name="adj" fmla="val 3261"/>
            </a:avLst>
          </a:prstGeom>
          <a:solidFill xmlns:a="http://schemas.openxmlformats.org/drawingml/2006/main">
            <a:srgbClr val="FFFFFF"/>
          </a:solidFill>
          <a:ln xmlns:a="http://schemas.openxmlformats.org/drawingml/2006/main" w="9525">
            <a:solidFill>
              <a:srgbClr val="CFD8D2"/>
            </a:solidFill>
            <a:prstDash val="solid"/>
          </a:ln>
        </p:spPr>
      </p:sp>
      <p:sp>
        <p:nvSpPr>
          <p:cNvPr id="12" name="">
            <a:extLst xmlns:a="http://schemas.openxmlformats.org/drawingml/2006/main">
              <a:ext uri="{FF2B5EF4-FFF2-40B4-BE49-F238E27FC236}">
                <a16:creationId xmlns:a16="http://schemas.microsoft.com/office/drawing/2014/main" id="{5E5CD06F-2E2B-478B-A35D-AA041A6C7AB2}"/>
              </a:ext>
            </a:extLst>
          </p:cNvPr>
          <p:cNvSpPr>
            <a:spLocks xmlns:a="http://schemas.openxmlformats.org/drawingml/2006/main" noGrp="1"/>
          </p:cNvSpPr>
          <p:nvPr/>
        </p:nvSpPr>
        <p:spPr>
          <a:xfrm xmlns:a="http://schemas.openxmlformats.org/drawingml/2006/main">
            <a:off x="7410450" y="1524000"/>
            <a:ext cx="3886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0C5554"/>
                </a:solidFill>
                <a:latin typeface="Arial"/>
                <a:ea typeface="Arial"/>
                <a:cs typeface="Arial"/>
              </a:defRPr>
            </a:pPr>
            <a:r>
              <a:rPr sz="1425" b="1">
                <a:solidFill>
                  <a:srgbClr val="0C5554"/>
                </a:solidFill>
                <a:latin typeface="Arial"/>
                <a:ea typeface="Arial"/>
                <a:cs typeface="Arial"/>
              </a:rPr>
              <a:t>PERSUASION NEEDS AN EVIDENCE CHECK</a:t>
            </a:r>
          </a:p>
        </p:txBody>
      </p:sp>
      <p:sp>
        <p:nvSpPr>
          <p:cNvPr id="13" name="">
            <a:extLst xmlns:a="http://schemas.openxmlformats.org/drawingml/2006/main">
              <a:ext uri="{FF2B5EF4-FFF2-40B4-BE49-F238E27FC236}">
                <a16:creationId xmlns:a16="http://schemas.microsoft.com/office/drawing/2014/main" id="{3B3071FC-21FF-4CD2-A61A-FB14FE27E9E0}"/>
              </a:ext>
            </a:extLst>
          </p:cNvPr>
          <p:cNvSpPr>
            <a:spLocks xmlns:a="http://schemas.openxmlformats.org/drawingml/2006/main" noGrp="1"/>
          </p:cNvSpPr>
          <p:nvPr/>
        </p:nvSpPr>
        <p:spPr>
          <a:xfrm xmlns:a="http://schemas.openxmlformats.org/drawingml/2006/main">
            <a:off x="7696200" y="1924050"/>
            <a:ext cx="3314700" cy="428625"/>
          </a:xfrm>
          <a:prstGeom xmlns:a="http://schemas.openxmlformats.org/drawingml/2006/main" prst="roundRect">
            <a:avLst>
              <a:gd name="adj" fmla="val 17778"/>
            </a:avLst>
          </a:prstGeom>
          <a:solidFill xmlns:a="http://schemas.openxmlformats.org/drawingml/2006/main">
            <a:srgbClr val="0C5554"/>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ATTENTION</a:t>
            </a:r>
          </a:p>
        </p:txBody>
      </p:sp>
      <p:sp>
        <p:nvSpPr>
          <p:cNvPr id="14" name="">
            <a:extLst xmlns:a="http://schemas.openxmlformats.org/drawingml/2006/main">
              <a:ext uri="{FF2B5EF4-FFF2-40B4-BE49-F238E27FC236}">
                <a16:creationId xmlns:a16="http://schemas.microsoft.com/office/drawing/2014/main" id="{C84888F4-FAFB-4846-8E82-724BCF31FAC8}"/>
              </a:ext>
            </a:extLst>
          </p:cNvPr>
          <p:cNvSpPr>
            <a:spLocks xmlns:a="http://schemas.openxmlformats.org/drawingml/2006/main" noGrp="1"/>
          </p:cNvSpPr>
          <p:nvPr/>
        </p:nvSpPr>
        <p:spPr>
          <a:xfrm xmlns:a="http://schemas.openxmlformats.org/drawingml/2006/main">
            <a:off x="9182100" y="2352675"/>
            <a:ext cx="342900"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71429"/>
          </a:bodyPr>
          <a:lstStyle xmlns:a="http://schemas.openxmlformats.org/drawingml/2006/main"/>
          <a:p xmlns:a="http://schemas.openxmlformats.org/drawingml/2006/main">
            <a:pPr algn="ctr">
              <a:defRPr sz="1050" b="1">
                <a:solidFill>
                  <a:srgbClr val="64706B"/>
                </a:solidFill>
                <a:latin typeface="Arial"/>
                <a:ea typeface="Arial"/>
                <a:cs typeface="Arial"/>
              </a:defRPr>
            </a:pPr>
            <a:r>
              <a:rPr sz="1050" b="1">
                <a:solidFill>
                  <a:srgbClr val="64706B"/>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F18FD152-39B1-48FF-8A0B-B9CFE55BB3D5}"/>
              </a:ext>
            </a:extLst>
          </p:cNvPr>
          <p:cNvSpPr>
            <a:spLocks xmlns:a="http://schemas.openxmlformats.org/drawingml/2006/main" noGrp="1"/>
          </p:cNvSpPr>
          <p:nvPr/>
        </p:nvSpPr>
        <p:spPr>
          <a:xfrm xmlns:a="http://schemas.openxmlformats.org/drawingml/2006/main">
            <a:off x="7696200" y="2466975"/>
            <a:ext cx="3314700" cy="428625"/>
          </a:xfrm>
          <a:prstGeom xmlns:a="http://schemas.openxmlformats.org/drawingml/2006/main" prst="roundRect">
            <a:avLst>
              <a:gd name="adj" fmla="val 17778"/>
            </a:avLst>
          </a:prstGeom>
          <a:solidFill xmlns:a="http://schemas.openxmlformats.org/drawingml/2006/main">
            <a:srgbClr val="F2BD3C"/>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425" b="1">
                <a:solidFill>
                  <a:srgbClr val="17342C"/>
                </a:solidFill>
                <a:latin typeface="Arial"/>
                <a:ea typeface="Arial"/>
                <a:cs typeface="Arial"/>
              </a:defRPr>
            </a:pPr>
            <a:r>
              <a:rPr sz="1425" b="1">
                <a:solidFill>
                  <a:srgbClr val="17342C"/>
                </a:solidFill>
                <a:latin typeface="Arial"/>
                <a:ea typeface="Arial"/>
                <a:cs typeface="Arial"/>
              </a:rPr>
              <a:t>CLAIM</a:t>
            </a:r>
          </a:p>
        </p:txBody>
      </p:sp>
      <p:sp>
        <p:nvSpPr>
          <p:cNvPr id="16" name="">
            <a:extLst xmlns:a="http://schemas.openxmlformats.org/drawingml/2006/main">
              <a:ext uri="{FF2B5EF4-FFF2-40B4-BE49-F238E27FC236}">
                <a16:creationId xmlns:a16="http://schemas.microsoft.com/office/drawing/2014/main" id="{10331E63-328D-421B-A426-A6D6B88ADF72}"/>
              </a:ext>
            </a:extLst>
          </p:cNvPr>
          <p:cNvSpPr>
            <a:spLocks xmlns:a="http://schemas.openxmlformats.org/drawingml/2006/main" noGrp="1"/>
          </p:cNvSpPr>
          <p:nvPr/>
        </p:nvSpPr>
        <p:spPr>
          <a:xfrm xmlns:a="http://schemas.openxmlformats.org/drawingml/2006/main">
            <a:off x="9182100" y="2895600"/>
            <a:ext cx="342900"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71429"/>
          </a:bodyPr>
          <a:lstStyle xmlns:a="http://schemas.openxmlformats.org/drawingml/2006/main"/>
          <a:p xmlns:a="http://schemas.openxmlformats.org/drawingml/2006/main">
            <a:pPr algn="ctr">
              <a:defRPr sz="1050" b="1">
                <a:solidFill>
                  <a:srgbClr val="64706B"/>
                </a:solidFill>
                <a:latin typeface="Arial"/>
                <a:ea typeface="Arial"/>
                <a:cs typeface="Arial"/>
              </a:defRPr>
            </a:pPr>
            <a:r>
              <a:rPr sz="1050" b="1">
                <a:solidFill>
                  <a:srgbClr val="64706B"/>
                </a:solidFill>
                <a:latin typeface="Arial"/>
                <a:ea typeface="Arial"/>
                <a:cs typeface="Arial"/>
              </a:rPr>
              <a:t>↓</a:t>
            </a:r>
          </a:p>
        </p:txBody>
      </p:sp>
      <p:sp>
        <p:nvSpPr>
          <p:cNvPr id="17" name="">
            <a:extLst xmlns:a="http://schemas.openxmlformats.org/drawingml/2006/main">
              <a:ext uri="{FF2B5EF4-FFF2-40B4-BE49-F238E27FC236}">
                <a16:creationId xmlns:a16="http://schemas.microsoft.com/office/drawing/2014/main" id="{29A1E604-3E2C-4419-B042-7C2DF158A67D}"/>
              </a:ext>
            </a:extLst>
          </p:cNvPr>
          <p:cNvSpPr>
            <a:spLocks xmlns:a="http://schemas.openxmlformats.org/drawingml/2006/main" noGrp="1"/>
          </p:cNvSpPr>
          <p:nvPr/>
        </p:nvSpPr>
        <p:spPr>
          <a:xfrm xmlns:a="http://schemas.openxmlformats.org/drawingml/2006/main">
            <a:off x="7696200" y="3009900"/>
            <a:ext cx="3314700" cy="428625"/>
          </a:xfrm>
          <a:prstGeom xmlns:a="http://schemas.openxmlformats.org/drawingml/2006/main" prst="roundRect">
            <a:avLst>
              <a:gd name="adj" fmla="val 17778"/>
            </a:avLst>
          </a:prstGeom>
          <a:solidFill xmlns:a="http://schemas.openxmlformats.org/drawingml/2006/main">
            <a:srgbClr val="17756F"/>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EVIDENCE</a:t>
            </a:r>
          </a:p>
        </p:txBody>
      </p:sp>
      <p:sp>
        <p:nvSpPr>
          <p:cNvPr id="18" name="">
            <a:extLst xmlns:a="http://schemas.openxmlformats.org/drawingml/2006/main">
              <a:ext uri="{FF2B5EF4-FFF2-40B4-BE49-F238E27FC236}">
                <a16:creationId xmlns:a16="http://schemas.microsoft.com/office/drawing/2014/main" id="{289AC363-5F0F-468A-830D-DD28AC9B4346}"/>
              </a:ext>
            </a:extLst>
          </p:cNvPr>
          <p:cNvSpPr>
            <a:spLocks xmlns:a="http://schemas.openxmlformats.org/drawingml/2006/main" noGrp="1"/>
          </p:cNvSpPr>
          <p:nvPr/>
        </p:nvSpPr>
        <p:spPr>
          <a:xfrm xmlns:a="http://schemas.openxmlformats.org/drawingml/2006/main">
            <a:off x="9182100" y="3438525"/>
            <a:ext cx="342900"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71429"/>
          </a:bodyPr>
          <a:lstStyle xmlns:a="http://schemas.openxmlformats.org/drawingml/2006/main"/>
          <a:p xmlns:a="http://schemas.openxmlformats.org/drawingml/2006/main">
            <a:pPr algn="ctr">
              <a:defRPr sz="1050" b="1">
                <a:solidFill>
                  <a:srgbClr val="64706B"/>
                </a:solidFill>
                <a:latin typeface="Arial"/>
                <a:ea typeface="Arial"/>
                <a:cs typeface="Arial"/>
              </a:defRPr>
            </a:pPr>
            <a:r>
              <a:rPr sz="1050" b="1">
                <a:solidFill>
                  <a:srgbClr val="64706B"/>
                </a:solidFill>
                <a:latin typeface="Arial"/>
                <a:ea typeface="Arial"/>
                <a:cs typeface="Arial"/>
              </a:rPr>
              <a:t>↓</a:t>
            </a:r>
          </a:p>
        </p:txBody>
      </p:sp>
      <p:sp>
        <p:nvSpPr>
          <p:cNvPr id="19" name="">
            <a:extLst xmlns:a="http://schemas.openxmlformats.org/drawingml/2006/main">
              <a:ext uri="{FF2B5EF4-FFF2-40B4-BE49-F238E27FC236}">
                <a16:creationId xmlns:a16="http://schemas.microsoft.com/office/drawing/2014/main" id="{B8732560-F6B1-49DB-A4DE-9FDC6513A757}"/>
              </a:ext>
            </a:extLst>
          </p:cNvPr>
          <p:cNvSpPr>
            <a:spLocks xmlns:a="http://schemas.openxmlformats.org/drawingml/2006/main" noGrp="1"/>
          </p:cNvSpPr>
          <p:nvPr/>
        </p:nvSpPr>
        <p:spPr>
          <a:xfrm xmlns:a="http://schemas.openxmlformats.org/drawingml/2006/main">
            <a:off x="7696200" y="3552825"/>
            <a:ext cx="3314700" cy="428625"/>
          </a:xfrm>
          <a:prstGeom xmlns:a="http://schemas.openxmlformats.org/drawingml/2006/main" prst="roundRect">
            <a:avLst>
              <a:gd name="adj" fmla="val 17778"/>
            </a:avLst>
          </a:prstGeom>
          <a:solidFill xmlns:a="http://schemas.openxmlformats.org/drawingml/2006/main">
            <a:srgbClr val="6A57C8"/>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INFORMED CHOICE</a:t>
            </a:r>
          </a:p>
        </p:txBody>
      </p:sp>
      <p:sp>
        <p:nvSpPr>
          <p:cNvPr id="20" name="">
            <a:extLst xmlns:a="http://schemas.openxmlformats.org/drawingml/2006/main">
              <a:ext uri="{FF2B5EF4-FFF2-40B4-BE49-F238E27FC236}">
                <a16:creationId xmlns:a16="http://schemas.microsoft.com/office/drawing/2014/main" id="{9B5BFE79-B764-48AC-BC33-2ABF6CB9DFCF}"/>
              </a:ext>
            </a:extLst>
          </p:cNvPr>
          <p:cNvSpPr>
            <a:spLocks xmlns:a="http://schemas.openxmlformats.org/drawingml/2006/main" noGrp="1"/>
          </p:cNvSpPr>
          <p:nvPr/>
        </p:nvSpPr>
        <p:spPr>
          <a:xfrm xmlns:a="http://schemas.openxmlformats.org/drawingml/2006/main">
            <a:off x="7429500" y="4343400"/>
            <a:ext cx="3848100" cy="361950"/>
          </a:xfrm>
          <a:prstGeom xmlns:a="http://schemas.openxmlformats.org/drawingml/2006/main" prst="roundRect">
            <a:avLst>
              <a:gd name="adj" fmla="val 2105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95250" tIns="47625" rIns="95250" bIns="47625" anchor="ctr">
            <a:normAutofit fontScale="77659"/>
          </a:bodyPr>
          <a:lstStyle xmlns:a="http://schemas.openxmlformats.org/drawingml/2006/main"/>
          <a:p xmlns:a="http://schemas.openxmlformats.org/drawingml/2006/main">
            <a:pPr algn="ctr">
              <a:defRPr sz="1200" b="1">
                <a:solidFill>
                  <a:srgbClr val="17342C"/>
                </a:solidFill>
                <a:latin typeface="Arial"/>
                <a:ea typeface="Arial"/>
                <a:cs typeface="Arial"/>
              </a:defRPr>
            </a:pPr>
            <a:r>
              <a:rPr sz="1200" b="1">
                <a:solidFill>
                  <a:srgbClr val="17342C"/>
                </a:solidFill>
                <a:latin typeface="Arial"/>
                <a:ea typeface="Arial"/>
                <a:cs typeface="Arial"/>
              </a:rPr>
              <a:t>Fair persuasion supports choice instead of hiding what matters.</a:t>
            </a:r>
          </a:p>
        </p:txBody>
      </p:sp>
      <p:sp>
        <p:nvSpPr>
          <p:cNvPr id="21" name="">
            <a:extLst xmlns:a="http://schemas.openxmlformats.org/drawingml/2006/main">
              <a:ext uri="{FF2B5EF4-FFF2-40B4-BE49-F238E27FC236}">
                <a16:creationId xmlns:a16="http://schemas.microsoft.com/office/drawing/2014/main" id="{721E3E9B-7F95-475E-B59B-A628B0F5E6BB}"/>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22" name="">
            <a:extLst xmlns:a="http://schemas.openxmlformats.org/drawingml/2006/main">
              <a:ext uri="{FF2B5EF4-FFF2-40B4-BE49-F238E27FC236}">
                <a16:creationId xmlns:a16="http://schemas.microsoft.com/office/drawing/2014/main" id="{1599A7DF-17A3-419B-AC4A-E899E0ED5A7B}"/>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When does persuasion become ethically concerning?</a:t>
            </a:r>
          </a:p>
        </p:txBody>
      </p:sp>
      <p:sp>
        <p:nvSpPr>
          <p:cNvPr id="23" name="">
            <a:extLst xmlns:a="http://schemas.openxmlformats.org/drawingml/2006/main">
              <a:ext uri="{FF2B5EF4-FFF2-40B4-BE49-F238E27FC236}">
                <a16:creationId xmlns:a16="http://schemas.microsoft.com/office/drawing/2014/main" id="{6AF31B43-9578-4F85-B205-D57B41F1BDC9}"/>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08  •  ETHICAL MARKETING SYSTEMS</a:t>
            </a:r>
          </a:p>
        </p:txBody>
      </p:sp>
      <p:sp>
        <p:nvSpPr>
          <p:cNvPr id="24" name="">
            <a:extLst xmlns:a="http://schemas.openxmlformats.org/drawingml/2006/main">
              <a:ext uri="{FF2B5EF4-FFF2-40B4-BE49-F238E27FC236}">
                <a16:creationId xmlns:a16="http://schemas.microsoft.com/office/drawing/2014/main" id="{177BA13E-73EF-4095-995C-66AF9E8DCB9A}"/>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03</a:t>
            </a:r>
          </a:p>
        </p:txBody>
      </p:sp>
    </p:spTree>
    <p:extLst>
      <p:ext uri="{BB962C8B-B14F-4D97-AF65-F5344CB8AC3E}">
        <p14:creationId xmlns:p14="http://schemas.microsoft.com/office/powerpoint/2010/main" val="505741828"/>
      </p:ext>
    </p:extLst>
  </p:cSld>
</p:sld>
</file>

<file path=ppt/slides/slide4.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F652DD0D-2DCD-4BB2-B044-AD6B3EC746A8}"/>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7AE3BC2-3F20-4858-93F2-6E4C07419A56}"/>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8.2  GREENWASHING AND TRUTH</a:t>
            </a:r>
          </a:p>
        </p:txBody>
      </p:sp>
      <p:sp>
        <p:nvSpPr>
          <p:cNvPr id="3" name="">
            <a:extLst xmlns:a="http://schemas.openxmlformats.org/drawingml/2006/main">
              <a:ext uri="{FF2B5EF4-FFF2-40B4-BE49-F238E27FC236}">
                <a16:creationId xmlns:a16="http://schemas.microsoft.com/office/drawing/2014/main" id="{3F5184F9-43AC-4012-A802-2AD53E9A3EC5}"/>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Greenwashing and truth</a:t>
            </a:r>
          </a:p>
        </p:txBody>
      </p:sp>
      <p:sp>
        <p:nvSpPr>
          <p:cNvPr id="4" name="">
            <a:extLst xmlns:a="http://schemas.openxmlformats.org/drawingml/2006/main">
              <a:ext uri="{FF2B5EF4-FFF2-40B4-BE49-F238E27FC236}">
                <a16:creationId xmlns:a16="http://schemas.microsoft.com/office/drawing/2014/main" id="{42FC82D2-C7B3-4A49-B21A-8FCF4249CCCF}"/>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B5B3BE77-8F54-4526-A9B3-6EB31CF07404}"/>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2279E58-3785-44D2-865C-D8DF3F63746C}"/>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Greenwashing is about misleading impressions, not the colour green alone.</a:t>
            </a:r>
          </a:p>
        </p:txBody>
      </p:sp>
      <p:sp>
        <p:nvSpPr>
          <p:cNvPr id="7" name="">
            <a:extLst xmlns:a="http://schemas.openxmlformats.org/drawingml/2006/main">
              <a:ext uri="{FF2B5EF4-FFF2-40B4-BE49-F238E27FC236}">
                <a16:creationId xmlns:a16="http://schemas.microsoft.com/office/drawing/2014/main" id="{B45D74AE-28CF-45D5-BDD3-CCC88B886F51}"/>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08F8D29-FC20-440C-A174-D4F32DF17755}"/>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A strong claim names scope, measure and evidence.</a:t>
            </a:r>
          </a:p>
        </p:txBody>
      </p:sp>
      <p:sp>
        <p:nvSpPr>
          <p:cNvPr id="9" name="">
            <a:extLst xmlns:a="http://schemas.openxmlformats.org/drawingml/2006/main">
              <a:ext uri="{FF2B5EF4-FFF2-40B4-BE49-F238E27FC236}">
                <a16:creationId xmlns:a16="http://schemas.microsoft.com/office/drawing/2014/main" id="{6220D1B6-A863-44A1-B316-00B86CE1C448}"/>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226F661-B574-4325-8252-1128D0BC8AA1}"/>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Unverified achievements can become honest investigation questions.</a:t>
            </a:r>
          </a:p>
        </p:txBody>
      </p:sp>
      <p:sp>
        <p:nvSpPr>
          <p:cNvPr id="11" name="">
            <a:extLst xmlns:a="http://schemas.openxmlformats.org/drawingml/2006/main">
              <a:ext uri="{FF2B5EF4-FFF2-40B4-BE49-F238E27FC236}">
                <a16:creationId xmlns:a16="http://schemas.microsoft.com/office/drawing/2014/main" id="{9C4CD9B1-9D04-4F8E-B4BB-4394629ACED5}"/>
              </a:ext>
            </a:extLst>
          </p:cNvPr>
          <p:cNvSpPr>
            <a:spLocks xmlns:a="http://schemas.openxmlformats.org/drawingml/2006/main" noGrp="1"/>
          </p:cNvSpPr>
          <p:nvPr/>
        </p:nvSpPr>
        <p:spPr>
          <a:xfrm xmlns:a="http://schemas.openxmlformats.org/drawingml/2006/main">
            <a:off x="7200900" y="1352550"/>
            <a:ext cx="4305300" cy="3505200"/>
          </a:xfrm>
          <a:prstGeom xmlns:a="http://schemas.openxmlformats.org/drawingml/2006/main" prst="roundRect">
            <a:avLst>
              <a:gd name="adj" fmla="val 3261"/>
            </a:avLst>
          </a:prstGeom>
          <a:solidFill xmlns:a="http://schemas.openxmlformats.org/drawingml/2006/main">
            <a:srgbClr val="FFFFFF"/>
          </a:solidFill>
          <a:ln xmlns:a="http://schemas.openxmlformats.org/drawingml/2006/main" w="9525">
            <a:solidFill>
              <a:srgbClr val="CFD8D2"/>
            </a:solidFill>
            <a:prstDash val="solid"/>
          </a:ln>
        </p:spPr>
      </p:sp>
      <p:sp>
        <p:nvSpPr>
          <p:cNvPr id="12" name="">
            <a:extLst xmlns:a="http://schemas.openxmlformats.org/drawingml/2006/main">
              <a:ext uri="{FF2B5EF4-FFF2-40B4-BE49-F238E27FC236}">
                <a16:creationId xmlns:a16="http://schemas.microsoft.com/office/drawing/2014/main" id="{0DDB84BC-9CF3-46EB-A55B-5FA558C5942C}"/>
              </a:ext>
            </a:extLst>
          </p:cNvPr>
          <p:cNvSpPr>
            <a:spLocks xmlns:a="http://schemas.openxmlformats.org/drawingml/2006/main" noGrp="1"/>
          </p:cNvSpPr>
          <p:nvPr/>
        </p:nvSpPr>
        <p:spPr>
          <a:xfrm xmlns:a="http://schemas.openxmlformats.org/drawingml/2006/main">
            <a:off x="7410450" y="1524000"/>
            <a:ext cx="3886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0C5554"/>
                </a:solidFill>
                <a:latin typeface="Arial"/>
                <a:ea typeface="Arial"/>
                <a:cs typeface="Arial"/>
              </a:defRPr>
            </a:pPr>
            <a:r>
              <a:rPr sz="1425" b="1">
                <a:solidFill>
                  <a:srgbClr val="0C5554"/>
                </a:solidFill>
                <a:latin typeface="Arial"/>
                <a:ea typeface="Arial"/>
                <a:cs typeface="Arial"/>
              </a:rPr>
              <a:t>TEST AN ENVIRONMENTAL CLAIM</a:t>
            </a:r>
          </a:p>
        </p:txBody>
      </p:sp>
      <p:sp>
        <p:nvSpPr>
          <p:cNvPr id="13" name="">
            <a:extLst xmlns:a="http://schemas.openxmlformats.org/drawingml/2006/main">
              <a:ext uri="{FF2B5EF4-FFF2-40B4-BE49-F238E27FC236}">
                <a16:creationId xmlns:a16="http://schemas.microsoft.com/office/drawing/2014/main" id="{00347B50-1C2F-48AC-948B-04D9036479CC}"/>
              </a:ext>
            </a:extLst>
          </p:cNvPr>
          <p:cNvSpPr>
            <a:spLocks xmlns:a="http://schemas.openxmlformats.org/drawingml/2006/main" noGrp="1"/>
          </p:cNvSpPr>
          <p:nvPr/>
        </p:nvSpPr>
        <p:spPr>
          <a:xfrm xmlns:a="http://schemas.openxmlformats.org/drawingml/2006/main">
            <a:off x="7696200" y="1924050"/>
            <a:ext cx="3314700" cy="428625"/>
          </a:xfrm>
          <a:prstGeom xmlns:a="http://schemas.openxmlformats.org/drawingml/2006/main" prst="roundRect">
            <a:avLst>
              <a:gd name="adj" fmla="val 17778"/>
            </a:avLst>
          </a:prstGeom>
          <a:solidFill xmlns:a="http://schemas.openxmlformats.org/drawingml/2006/main">
            <a:srgbClr val="0C5554"/>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CLAIM</a:t>
            </a:r>
          </a:p>
        </p:txBody>
      </p:sp>
      <p:sp>
        <p:nvSpPr>
          <p:cNvPr id="14" name="">
            <a:extLst xmlns:a="http://schemas.openxmlformats.org/drawingml/2006/main">
              <a:ext uri="{FF2B5EF4-FFF2-40B4-BE49-F238E27FC236}">
                <a16:creationId xmlns:a16="http://schemas.microsoft.com/office/drawing/2014/main" id="{C3E33AE3-6DEE-414D-A84F-92C6C5496EBD}"/>
              </a:ext>
            </a:extLst>
          </p:cNvPr>
          <p:cNvSpPr>
            <a:spLocks xmlns:a="http://schemas.openxmlformats.org/drawingml/2006/main" noGrp="1"/>
          </p:cNvSpPr>
          <p:nvPr/>
        </p:nvSpPr>
        <p:spPr>
          <a:xfrm xmlns:a="http://schemas.openxmlformats.org/drawingml/2006/main">
            <a:off x="9182100" y="2352675"/>
            <a:ext cx="342900"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71429"/>
          </a:bodyPr>
          <a:lstStyle xmlns:a="http://schemas.openxmlformats.org/drawingml/2006/main"/>
          <a:p xmlns:a="http://schemas.openxmlformats.org/drawingml/2006/main">
            <a:pPr algn="ctr">
              <a:defRPr sz="1050" b="1">
                <a:solidFill>
                  <a:srgbClr val="64706B"/>
                </a:solidFill>
                <a:latin typeface="Arial"/>
                <a:ea typeface="Arial"/>
                <a:cs typeface="Arial"/>
              </a:defRPr>
            </a:pPr>
            <a:r>
              <a:rPr sz="1050" b="1">
                <a:solidFill>
                  <a:srgbClr val="64706B"/>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2C10E77B-E7A0-4A6C-A313-4D30287D4239}"/>
              </a:ext>
            </a:extLst>
          </p:cNvPr>
          <p:cNvSpPr>
            <a:spLocks xmlns:a="http://schemas.openxmlformats.org/drawingml/2006/main" noGrp="1"/>
          </p:cNvSpPr>
          <p:nvPr/>
        </p:nvSpPr>
        <p:spPr>
          <a:xfrm xmlns:a="http://schemas.openxmlformats.org/drawingml/2006/main">
            <a:off x="7696200" y="2466975"/>
            <a:ext cx="3314700" cy="428625"/>
          </a:xfrm>
          <a:prstGeom xmlns:a="http://schemas.openxmlformats.org/drawingml/2006/main" prst="roundRect">
            <a:avLst>
              <a:gd name="adj" fmla="val 17778"/>
            </a:avLst>
          </a:prstGeom>
          <a:solidFill xmlns:a="http://schemas.openxmlformats.org/drawingml/2006/main">
            <a:srgbClr val="F2BD3C"/>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425" b="1">
                <a:solidFill>
                  <a:srgbClr val="17342C"/>
                </a:solidFill>
                <a:latin typeface="Arial"/>
                <a:ea typeface="Arial"/>
                <a:cs typeface="Arial"/>
              </a:defRPr>
            </a:pPr>
            <a:r>
              <a:rPr sz="1425" b="1">
                <a:solidFill>
                  <a:srgbClr val="17342C"/>
                </a:solidFill>
                <a:latin typeface="Arial"/>
                <a:ea typeface="Arial"/>
                <a:cs typeface="Arial"/>
              </a:rPr>
              <a:t>SCOPE</a:t>
            </a:r>
          </a:p>
        </p:txBody>
      </p:sp>
      <p:sp>
        <p:nvSpPr>
          <p:cNvPr id="16" name="">
            <a:extLst xmlns:a="http://schemas.openxmlformats.org/drawingml/2006/main">
              <a:ext uri="{FF2B5EF4-FFF2-40B4-BE49-F238E27FC236}">
                <a16:creationId xmlns:a16="http://schemas.microsoft.com/office/drawing/2014/main" id="{DA4859FC-6219-41DE-87BF-114CC9225E44}"/>
              </a:ext>
            </a:extLst>
          </p:cNvPr>
          <p:cNvSpPr>
            <a:spLocks xmlns:a="http://schemas.openxmlformats.org/drawingml/2006/main" noGrp="1"/>
          </p:cNvSpPr>
          <p:nvPr/>
        </p:nvSpPr>
        <p:spPr>
          <a:xfrm xmlns:a="http://schemas.openxmlformats.org/drawingml/2006/main">
            <a:off x="9182100" y="2895600"/>
            <a:ext cx="342900"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71429"/>
          </a:bodyPr>
          <a:lstStyle xmlns:a="http://schemas.openxmlformats.org/drawingml/2006/main"/>
          <a:p xmlns:a="http://schemas.openxmlformats.org/drawingml/2006/main">
            <a:pPr algn="ctr">
              <a:defRPr sz="1050" b="1">
                <a:solidFill>
                  <a:srgbClr val="64706B"/>
                </a:solidFill>
                <a:latin typeface="Arial"/>
                <a:ea typeface="Arial"/>
                <a:cs typeface="Arial"/>
              </a:defRPr>
            </a:pPr>
            <a:r>
              <a:rPr sz="1050" b="1">
                <a:solidFill>
                  <a:srgbClr val="64706B"/>
                </a:solidFill>
                <a:latin typeface="Arial"/>
                <a:ea typeface="Arial"/>
                <a:cs typeface="Arial"/>
              </a:rPr>
              <a:t>↓</a:t>
            </a:r>
          </a:p>
        </p:txBody>
      </p:sp>
      <p:sp>
        <p:nvSpPr>
          <p:cNvPr id="17" name="">
            <a:extLst xmlns:a="http://schemas.openxmlformats.org/drawingml/2006/main">
              <a:ext uri="{FF2B5EF4-FFF2-40B4-BE49-F238E27FC236}">
                <a16:creationId xmlns:a16="http://schemas.microsoft.com/office/drawing/2014/main" id="{7FA01F3C-A9BD-4198-B8AF-D77304AB42B4}"/>
              </a:ext>
            </a:extLst>
          </p:cNvPr>
          <p:cNvSpPr>
            <a:spLocks xmlns:a="http://schemas.openxmlformats.org/drawingml/2006/main" noGrp="1"/>
          </p:cNvSpPr>
          <p:nvPr/>
        </p:nvSpPr>
        <p:spPr>
          <a:xfrm xmlns:a="http://schemas.openxmlformats.org/drawingml/2006/main">
            <a:off x="7696200" y="3009900"/>
            <a:ext cx="3314700" cy="428625"/>
          </a:xfrm>
          <a:prstGeom xmlns:a="http://schemas.openxmlformats.org/drawingml/2006/main" prst="roundRect">
            <a:avLst>
              <a:gd name="adj" fmla="val 17778"/>
            </a:avLst>
          </a:prstGeom>
          <a:solidFill xmlns:a="http://schemas.openxmlformats.org/drawingml/2006/main">
            <a:srgbClr val="17756F"/>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EVIDENCE</a:t>
            </a:r>
          </a:p>
        </p:txBody>
      </p:sp>
      <p:sp>
        <p:nvSpPr>
          <p:cNvPr id="18" name="">
            <a:extLst xmlns:a="http://schemas.openxmlformats.org/drawingml/2006/main">
              <a:ext uri="{FF2B5EF4-FFF2-40B4-BE49-F238E27FC236}">
                <a16:creationId xmlns:a16="http://schemas.microsoft.com/office/drawing/2014/main" id="{1ECF1CF5-AFCA-4DDF-9678-458EAEB46558}"/>
              </a:ext>
            </a:extLst>
          </p:cNvPr>
          <p:cNvSpPr>
            <a:spLocks xmlns:a="http://schemas.openxmlformats.org/drawingml/2006/main" noGrp="1"/>
          </p:cNvSpPr>
          <p:nvPr/>
        </p:nvSpPr>
        <p:spPr>
          <a:xfrm xmlns:a="http://schemas.openxmlformats.org/drawingml/2006/main">
            <a:off x="9182100" y="3438525"/>
            <a:ext cx="342900"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71429"/>
          </a:bodyPr>
          <a:lstStyle xmlns:a="http://schemas.openxmlformats.org/drawingml/2006/main"/>
          <a:p xmlns:a="http://schemas.openxmlformats.org/drawingml/2006/main">
            <a:pPr algn="ctr">
              <a:defRPr sz="1050" b="1">
                <a:solidFill>
                  <a:srgbClr val="64706B"/>
                </a:solidFill>
                <a:latin typeface="Arial"/>
                <a:ea typeface="Arial"/>
                <a:cs typeface="Arial"/>
              </a:defRPr>
            </a:pPr>
            <a:r>
              <a:rPr sz="1050" b="1">
                <a:solidFill>
                  <a:srgbClr val="64706B"/>
                </a:solidFill>
                <a:latin typeface="Arial"/>
                <a:ea typeface="Arial"/>
                <a:cs typeface="Arial"/>
              </a:rPr>
              <a:t>↓</a:t>
            </a:r>
          </a:p>
        </p:txBody>
      </p:sp>
      <p:sp>
        <p:nvSpPr>
          <p:cNvPr id="19" name="">
            <a:extLst xmlns:a="http://schemas.openxmlformats.org/drawingml/2006/main">
              <a:ext uri="{FF2B5EF4-FFF2-40B4-BE49-F238E27FC236}">
                <a16:creationId xmlns:a16="http://schemas.microsoft.com/office/drawing/2014/main" id="{2EED7F9E-A148-4E63-8DDB-180ECBF60F90}"/>
              </a:ext>
            </a:extLst>
          </p:cNvPr>
          <p:cNvSpPr>
            <a:spLocks xmlns:a="http://schemas.openxmlformats.org/drawingml/2006/main" noGrp="1"/>
          </p:cNvSpPr>
          <p:nvPr/>
        </p:nvSpPr>
        <p:spPr>
          <a:xfrm xmlns:a="http://schemas.openxmlformats.org/drawingml/2006/main">
            <a:off x="7696200" y="3552825"/>
            <a:ext cx="3314700" cy="428625"/>
          </a:xfrm>
          <a:prstGeom xmlns:a="http://schemas.openxmlformats.org/drawingml/2006/main" prst="roundRect">
            <a:avLst>
              <a:gd name="adj" fmla="val 17778"/>
            </a:avLst>
          </a:prstGeom>
          <a:solidFill xmlns:a="http://schemas.openxmlformats.org/drawingml/2006/main">
            <a:srgbClr val="6A57C8"/>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DECIDE</a:t>
            </a:r>
          </a:p>
        </p:txBody>
      </p:sp>
      <p:sp>
        <p:nvSpPr>
          <p:cNvPr id="20" name="">
            <a:extLst xmlns:a="http://schemas.openxmlformats.org/drawingml/2006/main">
              <a:ext uri="{FF2B5EF4-FFF2-40B4-BE49-F238E27FC236}">
                <a16:creationId xmlns:a16="http://schemas.microsoft.com/office/drawing/2014/main" id="{139AB08E-6676-469A-9252-320AE6EFC5AA}"/>
              </a:ext>
            </a:extLst>
          </p:cNvPr>
          <p:cNvSpPr>
            <a:spLocks xmlns:a="http://schemas.openxmlformats.org/drawingml/2006/main" noGrp="1"/>
          </p:cNvSpPr>
          <p:nvPr/>
        </p:nvSpPr>
        <p:spPr>
          <a:xfrm xmlns:a="http://schemas.openxmlformats.org/drawingml/2006/main">
            <a:off x="7429500" y="4343400"/>
            <a:ext cx="3848100" cy="361950"/>
          </a:xfrm>
          <a:prstGeom xmlns:a="http://schemas.openxmlformats.org/drawingml/2006/main" prst="roundRect">
            <a:avLst>
              <a:gd name="adj" fmla="val 2105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95250" tIns="47625" rIns="95250" bIns="47625" anchor="ctr">
            <a:normAutofit fontScale="70178"/>
          </a:bodyPr>
          <a:lstStyle xmlns:a="http://schemas.openxmlformats.org/drawingml/2006/main"/>
          <a:p xmlns:a="http://schemas.openxmlformats.org/drawingml/2006/main">
            <a:pPr algn="ctr">
              <a:defRPr sz="1200" b="1">
                <a:solidFill>
                  <a:srgbClr val="17342C"/>
                </a:solidFill>
                <a:latin typeface="Arial"/>
                <a:ea typeface="Arial"/>
                <a:cs typeface="Arial"/>
              </a:defRPr>
            </a:pPr>
            <a:r>
              <a:rPr sz="1200" b="1">
                <a:solidFill>
                  <a:srgbClr val="17342C"/>
                </a:solidFill>
                <a:latin typeface="Arial"/>
                <a:ea typeface="Arial"/>
                <a:cs typeface="Arial"/>
              </a:rPr>
              <a:t>Narrow, supported claims are more honest than vague green language.</a:t>
            </a:r>
          </a:p>
        </p:txBody>
      </p:sp>
      <p:sp>
        <p:nvSpPr>
          <p:cNvPr id="21" name="">
            <a:extLst xmlns:a="http://schemas.openxmlformats.org/drawingml/2006/main">
              <a:ext uri="{FF2B5EF4-FFF2-40B4-BE49-F238E27FC236}">
                <a16:creationId xmlns:a16="http://schemas.microsoft.com/office/drawing/2014/main" id="{F094A8B1-DC28-4DF1-84F3-8DF1D75225BF}"/>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22" name="">
            <a:extLst xmlns:a="http://schemas.openxmlformats.org/drawingml/2006/main">
              <a:ext uri="{FF2B5EF4-FFF2-40B4-BE49-F238E27FC236}">
                <a16:creationId xmlns:a16="http://schemas.microsoft.com/office/drawing/2014/main" id="{9591AC49-2E74-4685-A1EA-00065BD824CE}"/>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What is greenwashing?</a:t>
            </a:r>
          </a:p>
        </p:txBody>
      </p:sp>
      <p:sp>
        <p:nvSpPr>
          <p:cNvPr id="23" name="">
            <a:extLst xmlns:a="http://schemas.openxmlformats.org/drawingml/2006/main">
              <a:ext uri="{FF2B5EF4-FFF2-40B4-BE49-F238E27FC236}">
                <a16:creationId xmlns:a16="http://schemas.microsoft.com/office/drawing/2014/main" id="{3803DE37-B550-482E-9E11-FF172253D80D}"/>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08  •  ETHICAL MARKETING SYSTEMS</a:t>
            </a:r>
          </a:p>
        </p:txBody>
      </p:sp>
      <p:sp>
        <p:nvSpPr>
          <p:cNvPr id="24" name="">
            <a:extLst xmlns:a="http://schemas.openxmlformats.org/drawingml/2006/main">
              <a:ext uri="{FF2B5EF4-FFF2-40B4-BE49-F238E27FC236}">
                <a16:creationId xmlns:a16="http://schemas.microsoft.com/office/drawing/2014/main" id="{571F3C48-F562-4D03-8EE3-0A01EAC7FC51}"/>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04</a:t>
            </a:r>
          </a:p>
        </p:txBody>
      </p:sp>
    </p:spTree>
    <p:extLst>
      <p:ext uri="{BB962C8B-B14F-4D97-AF65-F5344CB8AC3E}">
        <p14:creationId xmlns:p14="http://schemas.microsoft.com/office/powerpoint/2010/main" val="789402539"/>
      </p:ext>
    </p:extLst>
  </p:cSld>
</p:sld>
</file>

<file path=ppt/slides/slide5.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4FC39923-3954-41CA-B5E6-E6C64E9813BB}"/>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44B6C2A-3488-4DEB-92B0-779633F4932C}"/>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8.3  RIPPLE EFFECTS AND DESIGNER RESPONSIBILITY</a:t>
            </a:r>
          </a:p>
        </p:txBody>
      </p:sp>
      <p:sp>
        <p:nvSpPr>
          <p:cNvPr id="3" name="">
            <a:extLst xmlns:a="http://schemas.openxmlformats.org/drawingml/2006/main">
              <a:ext uri="{FF2B5EF4-FFF2-40B4-BE49-F238E27FC236}">
                <a16:creationId xmlns:a16="http://schemas.microsoft.com/office/drawing/2014/main" id="{DE2B3872-F1E2-49F7-AA8A-F97A29D5D9AC}"/>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938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Ripple effects and designer responsibility</a:t>
            </a:r>
          </a:p>
        </p:txBody>
      </p:sp>
      <p:sp>
        <p:nvSpPr>
          <p:cNvPr id="4" name="">
            <a:extLst xmlns:a="http://schemas.openxmlformats.org/drawingml/2006/main">
              <a:ext uri="{FF2B5EF4-FFF2-40B4-BE49-F238E27FC236}">
                <a16:creationId xmlns:a16="http://schemas.microsoft.com/office/drawing/2014/main" id="{5D66867C-4A31-4FBE-A5F9-EBF5A8B2E75D}"/>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AAC28A5D-EE8F-4040-BA84-36529C0F0FF1}"/>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3232228-B237-43C6-9B2D-4E361BB0545F}"/>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System decisions can create indirect ripple effects.</a:t>
            </a:r>
          </a:p>
        </p:txBody>
      </p:sp>
      <p:sp>
        <p:nvSpPr>
          <p:cNvPr id="7" name="">
            <a:extLst xmlns:a="http://schemas.openxmlformats.org/drawingml/2006/main">
              <a:ext uri="{FF2B5EF4-FFF2-40B4-BE49-F238E27FC236}">
                <a16:creationId xmlns:a16="http://schemas.microsoft.com/office/drawing/2014/main" id="{9ED3C03E-FF16-40D6-961A-C4530B4C40A3}"/>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355983E-D469-44EC-9698-140A93802171}"/>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A pathway should separate plausible inference from confirmed fact.</a:t>
            </a:r>
          </a:p>
        </p:txBody>
      </p:sp>
      <p:sp>
        <p:nvSpPr>
          <p:cNvPr id="9" name="">
            <a:extLst xmlns:a="http://schemas.openxmlformats.org/drawingml/2006/main">
              <a:ext uri="{FF2B5EF4-FFF2-40B4-BE49-F238E27FC236}">
                <a16:creationId xmlns:a16="http://schemas.microsoft.com/office/drawing/2014/main" id="{3ED875B3-F2DC-4DFD-A7D1-5F95C454F7D3}"/>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CD72F7E-B8F5-4A8F-914C-54CC5040ACE7}"/>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Designers remain responsible for claims and likely effects even without controlling the whole business.</a:t>
            </a:r>
          </a:p>
        </p:txBody>
      </p:sp>
      <p:sp>
        <p:nvSpPr>
          <p:cNvPr id="11" name="">
            <a:extLst xmlns:a="http://schemas.openxmlformats.org/drawingml/2006/main">
              <a:ext uri="{FF2B5EF4-FFF2-40B4-BE49-F238E27FC236}">
                <a16:creationId xmlns:a16="http://schemas.microsoft.com/office/drawing/2014/main" id="{527A1B1D-C64D-4F42-A774-55F889C51883}"/>
              </a:ext>
            </a:extLst>
          </p:cNvPr>
          <p:cNvSpPr>
            <a:spLocks xmlns:a="http://schemas.openxmlformats.org/drawingml/2006/main" noGrp="1"/>
          </p:cNvSpPr>
          <p:nvPr/>
        </p:nvSpPr>
        <p:spPr>
          <a:xfrm xmlns:a="http://schemas.openxmlformats.org/drawingml/2006/main">
            <a:off x="7200900" y="1352550"/>
            <a:ext cx="4305300" cy="3505200"/>
          </a:xfrm>
          <a:prstGeom xmlns:a="http://schemas.openxmlformats.org/drawingml/2006/main" prst="roundRect">
            <a:avLst>
              <a:gd name="adj" fmla="val 3261"/>
            </a:avLst>
          </a:prstGeom>
          <a:solidFill xmlns:a="http://schemas.openxmlformats.org/drawingml/2006/main">
            <a:srgbClr val="FFFFFF"/>
          </a:solidFill>
          <a:ln xmlns:a="http://schemas.openxmlformats.org/drawingml/2006/main" w="9525">
            <a:solidFill>
              <a:srgbClr val="CFD8D2"/>
            </a:solidFill>
            <a:prstDash val="solid"/>
          </a:ln>
        </p:spPr>
      </p:sp>
      <p:sp>
        <p:nvSpPr>
          <p:cNvPr id="12" name="">
            <a:extLst xmlns:a="http://schemas.openxmlformats.org/drawingml/2006/main">
              <a:ext uri="{FF2B5EF4-FFF2-40B4-BE49-F238E27FC236}">
                <a16:creationId xmlns:a16="http://schemas.microsoft.com/office/drawing/2014/main" id="{9E9B8EAA-AFBA-4974-BD90-1A01C1A89CB8}"/>
              </a:ext>
            </a:extLst>
          </p:cNvPr>
          <p:cNvSpPr>
            <a:spLocks xmlns:a="http://schemas.openxmlformats.org/drawingml/2006/main" noGrp="1"/>
          </p:cNvSpPr>
          <p:nvPr/>
        </p:nvSpPr>
        <p:spPr>
          <a:xfrm xmlns:a="http://schemas.openxmlformats.org/drawingml/2006/main">
            <a:off x="7410450" y="1524000"/>
            <a:ext cx="3886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0C5554"/>
                </a:solidFill>
                <a:latin typeface="Arial"/>
                <a:ea typeface="Arial"/>
                <a:cs typeface="Arial"/>
              </a:defRPr>
            </a:pPr>
            <a:r>
              <a:rPr sz="1425" b="1">
                <a:solidFill>
                  <a:srgbClr val="0C5554"/>
                </a:solidFill>
                <a:latin typeface="Arial"/>
                <a:ea typeface="Arial"/>
                <a:cs typeface="Arial"/>
              </a:rPr>
              <a:t>ONE CHOICE CAN RIPPLE OUTWARD</a:t>
            </a:r>
          </a:p>
        </p:txBody>
      </p:sp>
      <p:sp>
        <p:nvSpPr>
          <p:cNvPr id="13" name="">
            <a:extLst xmlns:a="http://schemas.openxmlformats.org/drawingml/2006/main">
              <a:ext uri="{FF2B5EF4-FFF2-40B4-BE49-F238E27FC236}">
                <a16:creationId xmlns:a16="http://schemas.microsoft.com/office/drawing/2014/main" id="{41D5106B-B5C6-4A98-AF75-BD77F50A3ED5}"/>
              </a:ext>
            </a:extLst>
          </p:cNvPr>
          <p:cNvSpPr>
            <a:spLocks xmlns:a="http://schemas.openxmlformats.org/drawingml/2006/main" noGrp="1"/>
          </p:cNvSpPr>
          <p:nvPr/>
        </p:nvSpPr>
        <p:spPr>
          <a:xfrm xmlns:a="http://schemas.openxmlformats.org/drawingml/2006/main">
            <a:off x="7696200" y="1924050"/>
            <a:ext cx="3314700" cy="428625"/>
          </a:xfrm>
          <a:prstGeom xmlns:a="http://schemas.openxmlformats.org/drawingml/2006/main" prst="roundRect">
            <a:avLst>
              <a:gd name="adj" fmla="val 17778"/>
            </a:avLst>
          </a:prstGeom>
          <a:solidFill xmlns:a="http://schemas.openxmlformats.org/drawingml/2006/main">
            <a:srgbClr val="0C5554"/>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DESIGN CHOICE</a:t>
            </a:r>
          </a:p>
        </p:txBody>
      </p:sp>
      <p:sp>
        <p:nvSpPr>
          <p:cNvPr id="14" name="">
            <a:extLst xmlns:a="http://schemas.openxmlformats.org/drawingml/2006/main">
              <a:ext uri="{FF2B5EF4-FFF2-40B4-BE49-F238E27FC236}">
                <a16:creationId xmlns:a16="http://schemas.microsoft.com/office/drawing/2014/main" id="{09CF1BF1-7855-44F6-95A8-40486BBE3CC9}"/>
              </a:ext>
            </a:extLst>
          </p:cNvPr>
          <p:cNvSpPr>
            <a:spLocks xmlns:a="http://schemas.openxmlformats.org/drawingml/2006/main" noGrp="1"/>
          </p:cNvSpPr>
          <p:nvPr/>
        </p:nvSpPr>
        <p:spPr>
          <a:xfrm xmlns:a="http://schemas.openxmlformats.org/drawingml/2006/main">
            <a:off x="9182100" y="2352675"/>
            <a:ext cx="342900"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71429"/>
          </a:bodyPr>
          <a:lstStyle xmlns:a="http://schemas.openxmlformats.org/drawingml/2006/main"/>
          <a:p xmlns:a="http://schemas.openxmlformats.org/drawingml/2006/main">
            <a:pPr algn="ctr">
              <a:defRPr sz="1050" b="1">
                <a:solidFill>
                  <a:srgbClr val="64706B"/>
                </a:solidFill>
                <a:latin typeface="Arial"/>
                <a:ea typeface="Arial"/>
                <a:cs typeface="Arial"/>
              </a:defRPr>
            </a:pPr>
            <a:r>
              <a:rPr sz="1050" b="1">
                <a:solidFill>
                  <a:srgbClr val="64706B"/>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06C9C405-401F-4DE9-B1CD-A1119B9F847F}"/>
              </a:ext>
            </a:extLst>
          </p:cNvPr>
          <p:cNvSpPr>
            <a:spLocks xmlns:a="http://schemas.openxmlformats.org/drawingml/2006/main" noGrp="1"/>
          </p:cNvSpPr>
          <p:nvPr/>
        </p:nvSpPr>
        <p:spPr>
          <a:xfrm xmlns:a="http://schemas.openxmlformats.org/drawingml/2006/main">
            <a:off x="7696200" y="2466975"/>
            <a:ext cx="3314700" cy="428625"/>
          </a:xfrm>
          <a:prstGeom xmlns:a="http://schemas.openxmlformats.org/drawingml/2006/main" prst="roundRect">
            <a:avLst>
              <a:gd name="adj" fmla="val 17778"/>
            </a:avLst>
          </a:prstGeom>
          <a:solidFill xmlns:a="http://schemas.openxmlformats.org/drawingml/2006/main">
            <a:srgbClr val="F2BD3C"/>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425" b="1">
                <a:solidFill>
                  <a:srgbClr val="17342C"/>
                </a:solidFill>
                <a:latin typeface="Arial"/>
                <a:ea typeface="Arial"/>
                <a:cs typeface="Arial"/>
              </a:defRPr>
            </a:pPr>
            <a:r>
              <a:rPr sz="1425" b="1">
                <a:solidFill>
                  <a:srgbClr val="17342C"/>
                </a:solidFill>
                <a:latin typeface="Arial"/>
                <a:ea typeface="Arial"/>
                <a:cs typeface="Arial"/>
              </a:rPr>
              <a:t>USER</a:t>
            </a:r>
          </a:p>
        </p:txBody>
      </p:sp>
      <p:sp>
        <p:nvSpPr>
          <p:cNvPr id="16" name="">
            <a:extLst xmlns:a="http://schemas.openxmlformats.org/drawingml/2006/main">
              <a:ext uri="{FF2B5EF4-FFF2-40B4-BE49-F238E27FC236}">
                <a16:creationId xmlns:a16="http://schemas.microsoft.com/office/drawing/2014/main" id="{F10880B0-A1FE-4EEB-970E-22C7205D927B}"/>
              </a:ext>
            </a:extLst>
          </p:cNvPr>
          <p:cNvSpPr>
            <a:spLocks xmlns:a="http://schemas.openxmlformats.org/drawingml/2006/main" noGrp="1"/>
          </p:cNvSpPr>
          <p:nvPr/>
        </p:nvSpPr>
        <p:spPr>
          <a:xfrm xmlns:a="http://schemas.openxmlformats.org/drawingml/2006/main">
            <a:off x="9182100" y="2895600"/>
            <a:ext cx="342900"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71429"/>
          </a:bodyPr>
          <a:lstStyle xmlns:a="http://schemas.openxmlformats.org/drawingml/2006/main"/>
          <a:p xmlns:a="http://schemas.openxmlformats.org/drawingml/2006/main">
            <a:pPr algn="ctr">
              <a:defRPr sz="1050" b="1">
                <a:solidFill>
                  <a:srgbClr val="64706B"/>
                </a:solidFill>
                <a:latin typeface="Arial"/>
                <a:ea typeface="Arial"/>
                <a:cs typeface="Arial"/>
              </a:defRPr>
            </a:pPr>
            <a:r>
              <a:rPr sz="1050" b="1">
                <a:solidFill>
                  <a:srgbClr val="64706B"/>
                </a:solidFill>
                <a:latin typeface="Arial"/>
                <a:ea typeface="Arial"/>
                <a:cs typeface="Arial"/>
              </a:rPr>
              <a:t>↓</a:t>
            </a:r>
          </a:p>
        </p:txBody>
      </p:sp>
      <p:sp>
        <p:nvSpPr>
          <p:cNvPr id="17" name="">
            <a:extLst xmlns:a="http://schemas.openxmlformats.org/drawingml/2006/main">
              <a:ext uri="{FF2B5EF4-FFF2-40B4-BE49-F238E27FC236}">
                <a16:creationId xmlns:a16="http://schemas.microsoft.com/office/drawing/2014/main" id="{4AB4FF0C-A84F-4632-AFDD-56895E322456}"/>
              </a:ext>
            </a:extLst>
          </p:cNvPr>
          <p:cNvSpPr>
            <a:spLocks xmlns:a="http://schemas.openxmlformats.org/drawingml/2006/main" noGrp="1"/>
          </p:cNvSpPr>
          <p:nvPr/>
        </p:nvSpPr>
        <p:spPr>
          <a:xfrm xmlns:a="http://schemas.openxmlformats.org/drawingml/2006/main">
            <a:off x="7696200" y="3009900"/>
            <a:ext cx="3314700" cy="428625"/>
          </a:xfrm>
          <a:prstGeom xmlns:a="http://schemas.openxmlformats.org/drawingml/2006/main" prst="roundRect">
            <a:avLst>
              <a:gd name="adj" fmla="val 17778"/>
            </a:avLst>
          </a:prstGeom>
          <a:solidFill xmlns:a="http://schemas.openxmlformats.org/drawingml/2006/main">
            <a:srgbClr val="17756F"/>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BUSINESS</a:t>
            </a:r>
          </a:p>
        </p:txBody>
      </p:sp>
      <p:sp>
        <p:nvSpPr>
          <p:cNvPr id="18" name="">
            <a:extLst xmlns:a="http://schemas.openxmlformats.org/drawingml/2006/main">
              <a:ext uri="{FF2B5EF4-FFF2-40B4-BE49-F238E27FC236}">
                <a16:creationId xmlns:a16="http://schemas.microsoft.com/office/drawing/2014/main" id="{9433357C-0C95-4604-BE73-957C2C09F5A3}"/>
              </a:ext>
            </a:extLst>
          </p:cNvPr>
          <p:cNvSpPr>
            <a:spLocks xmlns:a="http://schemas.openxmlformats.org/drawingml/2006/main" noGrp="1"/>
          </p:cNvSpPr>
          <p:nvPr/>
        </p:nvSpPr>
        <p:spPr>
          <a:xfrm xmlns:a="http://schemas.openxmlformats.org/drawingml/2006/main">
            <a:off x="9182100" y="3438525"/>
            <a:ext cx="342900"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71429"/>
          </a:bodyPr>
          <a:lstStyle xmlns:a="http://schemas.openxmlformats.org/drawingml/2006/main"/>
          <a:p xmlns:a="http://schemas.openxmlformats.org/drawingml/2006/main">
            <a:pPr algn="ctr">
              <a:defRPr sz="1050" b="1">
                <a:solidFill>
                  <a:srgbClr val="64706B"/>
                </a:solidFill>
                <a:latin typeface="Arial"/>
                <a:ea typeface="Arial"/>
                <a:cs typeface="Arial"/>
              </a:defRPr>
            </a:pPr>
            <a:r>
              <a:rPr sz="1050" b="1">
                <a:solidFill>
                  <a:srgbClr val="64706B"/>
                </a:solidFill>
                <a:latin typeface="Arial"/>
                <a:ea typeface="Arial"/>
                <a:cs typeface="Arial"/>
              </a:rPr>
              <a:t>↓</a:t>
            </a:r>
          </a:p>
        </p:txBody>
      </p:sp>
      <p:sp>
        <p:nvSpPr>
          <p:cNvPr id="19" name="">
            <a:extLst xmlns:a="http://schemas.openxmlformats.org/drawingml/2006/main">
              <a:ext uri="{FF2B5EF4-FFF2-40B4-BE49-F238E27FC236}">
                <a16:creationId xmlns:a16="http://schemas.microsoft.com/office/drawing/2014/main" id="{F992EDB6-D2DB-4A53-A7A1-5B71E52AFADC}"/>
              </a:ext>
            </a:extLst>
          </p:cNvPr>
          <p:cNvSpPr>
            <a:spLocks xmlns:a="http://schemas.openxmlformats.org/drawingml/2006/main" noGrp="1"/>
          </p:cNvSpPr>
          <p:nvPr/>
        </p:nvSpPr>
        <p:spPr>
          <a:xfrm xmlns:a="http://schemas.openxmlformats.org/drawingml/2006/main">
            <a:off x="7696200" y="3552825"/>
            <a:ext cx="3314700" cy="428625"/>
          </a:xfrm>
          <a:prstGeom xmlns:a="http://schemas.openxmlformats.org/drawingml/2006/main" prst="roundRect">
            <a:avLst>
              <a:gd name="adj" fmla="val 17778"/>
            </a:avLst>
          </a:prstGeom>
          <a:solidFill xmlns:a="http://schemas.openxmlformats.org/drawingml/2006/main">
            <a:srgbClr val="6A57C8"/>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ENVIRONMENT</a:t>
            </a:r>
          </a:p>
        </p:txBody>
      </p:sp>
      <p:sp>
        <p:nvSpPr>
          <p:cNvPr id="20" name="">
            <a:extLst xmlns:a="http://schemas.openxmlformats.org/drawingml/2006/main">
              <a:ext uri="{FF2B5EF4-FFF2-40B4-BE49-F238E27FC236}">
                <a16:creationId xmlns:a16="http://schemas.microsoft.com/office/drawing/2014/main" id="{0B08046A-C04B-4889-A536-6F5D38F1DE11}"/>
              </a:ext>
            </a:extLst>
          </p:cNvPr>
          <p:cNvSpPr>
            <a:spLocks xmlns:a="http://schemas.openxmlformats.org/drawingml/2006/main" noGrp="1"/>
          </p:cNvSpPr>
          <p:nvPr/>
        </p:nvSpPr>
        <p:spPr>
          <a:xfrm xmlns:a="http://schemas.openxmlformats.org/drawingml/2006/main">
            <a:off x="7429500" y="4343400"/>
            <a:ext cx="3848100" cy="361950"/>
          </a:xfrm>
          <a:prstGeom xmlns:a="http://schemas.openxmlformats.org/drawingml/2006/main" prst="roundRect">
            <a:avLst>
              <a:gd name="adj" fmla="val 2105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95250" tIns="47625" rIns="95250" bIns="47625" anchor="ctr">
            <a:normAutofit fontScale="81447"/>
          </a:bodyPr>
          <a:lstStyle xmlns:a="http://schemas.openxmlformats.org/drawingml/2006/main"/>
          <a:p xmlns:a="http://schemas.openxmlformats.org/drawingml/2006/main">
            <a:pPr algn="ctr">
              <a:defRPr sz="1200" b="1">
                <a:solidFill>
                  <a:srgbClr val="17342C"/>
                </a:solidFill>
                <a:latin typeface="Arial"/>
                <a:ea typeface="Arial"/>
                <a:cs typeface="Arial"/>
              </a:defRPr>
            </a:pPr>
            <a:r>
              <a:rPr sz="1200" b="1">
                <a:solidFill>
                  <a:srgbClr val="17342C"/>
                </a:solidFill>
                <a:latin typeface="Arial"/>
                <a:ea typeface="Arial"/>
                <a:cs typeface="Arial"/>
              </a:rPr>
              <a:t>Label each effect as a fact, an observation or an assumption.</a:t>
            </a:r>
          </a:p>
        </p:txBody>
      </p:sp>
      <p:sp>
        <p:nvSpPr>
          <p:cNvPr id="21" name="">
            <a:extLst xmlns:a="http://schemas.openxmlformats.org/drawingml/2006/main">
              <a:ext uri="{FF2B5EF4-FFF2-40B4-BE49-F238E27FC236}">
                <a16:creationId xmlns:a16="http://schemas.microsoft.com/office/drawing/2014/main" id="{347A280D-DC0D-4ED4-A112-7E649BF614E8}"/>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22" name="">
            <a:extLst xmlns:a="http://schemas.openxmlformats.org/drawingml/2006/main">
              <a:ext uri="{FF2B5EF4-FFF2-40B4-BE49-F238E27FC236}">
                <a16:creationId xmlns:a16="http://schemas.microsoft.com/office/drawing/2014/main" id="{101DF589-BA5B-47C9-96F1-A1D07EE72242}"/>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What is a ripple effect?</a:t>
            </a:r>
          </a:p>
        </p:txBody>
      </p:sp>
      <p:sp>
        <p:nvSpPr>
          <p:cNvPr id="23" name="">
            <a:extLst xmlns:a="http://schemas.openxmlformats.org/drawingml/2006/main">
              <a:ext uri="{FF2B5EF4-FFF2-40B4-BE49-F238E27FC236}">
                <a16:creationId xmlns:a16="http://schemas.microsoft.com/office/drawing/2014/main" id="{4E0A7BAE-57FD-4159-97FB-05A2E8499692}"/>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08  •  ETHICAL MARKETING SYSTEMS</a:t>
            </a:r>
          </a:p>
        </p:txBody>
      </p:sp>
      <p:sp>
        <p:nvSpPr>
          <p:cNvPr id="24" name="">
            <a:extLst xmlns:a="http://schemas.openxmlformats.org/drawingml/2006/main">
              <a:ext uri="{FF2B5EF4-FFF2-40B4-BE49-F238E27FC236}">
                <a16:creationId xmlns:a16="http://schemas.microsoft.com/office/drawing/2014/main" id="{B3920D9D-28A8-4DB8-A074-E3AB0BA2D57C}"/>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05</a:t>
            </a:r>
          </a:p>
        </p:txBody>
      </p:sp>
    </p:spTree>
    <p:extLst>
      <p:ext uri="{BB962C8B-B14F-4D97-AF65-F5344CB8AC3E}">
        <p14:creationId xmlns:p14="http://schemas.microsoft.com/office/powerpoint/2010/main" val="1680447145"/>
      </p:ext>
    </p:extLst>
  </p:cSld>
</p:sld>
</file>

<file path=ppt/slides/slide6.xml><?xml version="1.0" encoding="utf-8"?>
<p:sld xmlns:p="http://schemas.openxmlformats.org/presentationml/2006/main">
  <p:cSld>
    <p:bg>
      <p:bgPr>
        <a:solidFill xmlns:a="http://schemas.openxmlformats.org/drawingml/2006/main">
          <a:srgbClr val="17342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E302028-39E2-4093-9D3E-6CC20E501280}"/>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0C2BCAA-84FD-47D8-B545-F959D030F8AC}"/>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F2BD3C"/>
                </a:solidFill>
                <a:latin typeface="Arial"/>
                <a:ea typeface="Arial"/>
                <a:cs typeface="Arial"/>
              </a:defRPr>
            </a:pPr>
            <a:r>
              <a:rPr sz="975" b="1">
                <a:solidFill>
                  <a:srgbClr val="F2BD3C"/>
                </a:solidFill>
                <a:latin typeface="Arial"/>
                <a:ea typeface="Arial"/>
                <a:cs typeface="Arial"/>
              </a:rPr>
              <a:t>CHECK FOR UNDERSTANDING</a:t>
            </a:r>
          </a:p>
        </p:txBody>
      </p:sp>
      <p:sp>
        <p:nvSpPr>
          <p:cNvPr id="3" name="">
            <a:extLst xmlns:a="http://schemas.openxmlformats.org/drawingml/2006/main">
              <a:ext uri="{FF2B5EF4-FFF2-40B4-BE49-F238E27FC236}">
                <a16:creationId xmlns:a16="http://schemas.microsoft.com/office/drawing/2014/main" id="{20F2D463-B599-4B8B-AD80-570961FF7729}"/>
              </a:ext>
            </a:extLst>
          </p:cNvPr>
          <p:cNvSpPr>
            <a:spLocks xmlns:a="http://schemas.openxmlformats.org/drawingml/2006/main" noGrp="1"/>
          </p:cNvSpPr>
          <p:nvPr/>
        </p:nvSpPr>
        <p:spPr>
          <a:xfrm xmlns:a="http://schemas.openxmlformats.org/drawingml/2006/main">
            <a:off x="685800" y="914400"/>
            <a:ext cx="685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075" b="1">
                <a:solidFill>
                  <a:srgbClr val="FFFFFF"/>
                </a:solidFill>
                <a:latin typeface="Arial"/>
                <a:ea typeface="Arial"/>
                <a:cs typeface="Arial"/>
              </a:defRPr>
            </a:pPr>
            <a:r>
              <a:rPr sz="3075" b="1">
                <a:solidFill>
                  <a:srgbClr val="FFFFFF"/>
                </a:solidFill>
                <a:latin typeface="Arial"/>
                <a:ea typeface="Arial"/>
                <a:cs typeface="Arial"/>
              </a:rPr>
              <a:t>Stop. Think. Explain.</a:t>
            </a:r>
          </a:p>
        </p:txBody>
      </p:sp>
      <p:sp>
        <p:nvSpPr>
          <p:cNvPr id="4" name="">
            <a:extLst xmlns:a="http://schemas.openxmlformats.org/drawingml/2006/main">
              <a:ext uri="{FF2B5EF4-FFF2-40B4-BE49-F238E27FC236}">
                <a16:creationId xmlns:a16="http://schemas.microsoft.com/office/drawing/2014/main" id="{5C68D643-A649-4B47-8BA9-F7669F11C326}"/>
              </a:ext>
            </a:extLst>
          </p:cNvPr>
          <p:cNvSpPr>
            <a:spLocks xmlns:a="http://schemas.openxmlformats.org/drawingml/2006/main" noGrp="1"/>
          </p:cNvSpPr>
          <p:nvPr/>
        </p:nvSpPr>
        <p:spPr>
          <a:xfrm xmlns:a="http://schemas.openxmlformats.org/drawingml/2006/main">
            <a:off x="685800" y="1657350"/>
            <a:ext cx="781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DCE8E2"/>
                </a:solidFill>
                <a:latin typeface="Arial"/>
                <a:ea typeface="Arial"/>
                <a:cs typeface="Arial"/>
              </a:defRPr>
            </a:pPr>
            <a:r>
              <a:rPr sz="1425" b="0">
                <a:solidFill>
                  <a:srgbClr val="DCE8E2"/>
                </a:solidFill>
                <a:latin typeface="Arial"/>
                <a:ea typeface="Arial"/>
                <a:cs typeface="Arial"/>
              </a:rPr>
              <a:t>Answer silently first, then justify with a partner.</a:t>
            </a:r>
          </a:p>
        </p:txBody>
      </p:sp>
      <p:sp>
        <p:nvSpPr>
          <p:cNvPr id="5" name="">
            <a:extLst xmlns:a="http://schemas.openxmlformats.org/drawingml/2006/main">
              <a:ext uri="{FF2B5EF4-FFF2-40B4-BE49-F238E27FC236}">
                <a16:creationId xmlns:a16="http://schemas.microsoft.com/office/drawing/2014/main" id="{D33E4620-3B96-4B35-9E35-5A8AEBF36523}"/>
              </a:ext>
            </a:extLst>
          </p:cNvPr>
          <p:cNvSpPr>
            <a:spLocks xmlns:a="http://schemas.openxmlformats.org/drawingml/2006/main" noGrp="1"/>
          </p:cNvSpPr>
          <p:nvPr/>
        </p:nvSpPr>
        <p:spPr>
          <a:xfrm xmlns:a="http://schemas.openxmlformats.org/drawingml/2006/main">
            <a:off x="685800" y="232410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6" name="">
            <a:extLst xmlns:a="http://schemas.openxmlformats.org/drawingml/2006/main">
              <a:ext uri="{FF2B5EF4-FFF2-40B4-BE49-F238E27FC236}">
                <a16:creationId xmlns:a16="http://schemas.microsoft.com/office/drawing/2014/main" id="{899B7986-2BF2-4974-852E-BE87BFCB529C}"/>
              </a:ext>
            </a:extLst>
          </p:cNvPr>
          <p:cNvSpPr>
            <a:spLocks xmlns:a="http://schemas.openxmlformats.org/drawingml/2006/main" noGrp="1"/>
          </p:cNvSpPr>
          <p:nvPr/>
        </p:nvSpPr>
        <p:spPr>
          <a:xfrm xmlns:a="http://schemas.openxmlformats.org/drawingml/2006/main">
            <a:off x="1028700" y="25527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A20A6913-9530-4F8D-A361-78A4214A1594}"/>
              </a:ext>
            </a:extLst>
          </p:cNvPr>
          <p:cNvSpPr>
            <a:spLocks xmlns:a="http://schemas.openxmlformats.org/drawingml/2006/main" noGrp="1"/>
          </p:cNvSpPr>
          <p:nvPr/>
        </p:nvSpPr>
        <p:spPr>
          <a:xfrm xmlns:a="http://schemas.openxmlformats.org/drawingml/2006/main">
            <a:off x="1676400" y="245745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When does persuasion become ethically concerning?</a:t>
            </a:r>
          </a:p>
        </p:txBody>
      </p:sp>
      <p:sp>
        <p:nvSpPr>
          <p:cNvPr id="8" name="">
            <a:extLst xmlns:a="http://schemas.openxmlformats.org/drawingml/2006/main">
              <a:ext uri="{FF2B5EF4-FFF2-40B4-BE49-F238E27FC236}">
                <a16:creationId xmlns:a16="http://schemas.microsoft.com/office/drawing/2014/main" id="{64AC19F5-8CA1-4911-B9E5-FCEEC1BC1440}"/>
              </a:ext>
            </a:extLst>
          </p:cNvPr>
          <p:cNvSpPr>
            <a:spLocks xmlns:a="http://schemas.openxmlformats.org/drawingml/2006/main" noGrp="1"/>
          </p:cNvSpPr>
          <p:nvPr/>
        </p:nvSpPr>
        <p:spPr>
          <a:xfrm xmlns:a="http://schemas.openxmlformats.org/drawingml/2006/main">
            <a:off x="685800" y="352425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9" name="">
            <a:extLst xmlns:a="http://schemas.openxmlformats.org/drawingml/2006/main">
              <a:ext uri="{FF2B5EF4-FFF2-40B4-BE49-F238E27FC236}">
                <a16:creationId xmlns:a16="http://schemas.microsoft.com/office/drawing/2014/main" id="{31C0CF83-E2D3-42D0-B5ED-DBBB37B19DA7}"/>
              </a:ext>
            </a:extLst>
          </p:cNvPr>
          <p:cNvSpPr>
            <a:spLocks xmlns:a="http://schemas.openxmlformats.org/drawingml/2006/main" noGrp="1"/>
          </p:cNvSpPr>
          <p:nvPr/>
        </p:nvSpPr>
        <p:spPr>
          <a:xfrm xmlns:a="http://schemas.openxmlformats.org/drawingml/2006/main">
            <a:off x="1028700" y="37528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2</a:t>
            </a:r>
          </a:p>
        </p:txBody>
      </p:sp>
      <p:sp>
        <p:nvSpPr>
          <p:cNvPr id="10" name="">
            <a:extLst xmlns:a="http://schemas.openxmlformats.org/drawingml/2006/main">
              <a:ext uri="{FF2B5EF4-FFF2-40B4-BE49-F238E27FC236}">
                <a16:creationId xmlns:a16="http://schemas.microsoft.com/office/drawing/2014/main" id="{B4327B75-C287-4555-AA45-A4D57A86A890}"/>
              </a:ext>
            </a:extLst>
          </p:cNvPr>
          <p:cNvSpPr>
            <a:spLocks xmlns:a="http://schemas.openxmlformats.org/drawingml/2006/main" noGrp="1"/>
          </p:cNvSpPr>
          <p:nvPr/>
        </p:nvSpPr>
        <p:spPr>
          <a:xfrm xmlns:a="http://schemas.openxmlformats.org/drawingml/2006/main">
            <a:off x="1676400" y="365760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What is greenwashing?</a:t>
            </a:r>
          </a:p>
        </p:txBody>
      </p:sp>
      <p:sp>
        <p:nvSpPr>
          <p:cNvPr id="11" name="">
            <a:extLst xmlns:a="http://schemas.openxmlformats.org/drawingml/2006/main">
              <a:ext uri="{FF2B5EF4-FFF2-40B4-BE49-F238E27FC236}">
                <a16:creationId xmlns:a16="http://schemas.microsoft.com/office/drawing/2014/main" id="{E27F54C9-748B-4826-97A1-9BD445F8DED2}"/>
              </a:ext>
            </a:extLst>
          </p:cNvPr>
          <p:cNvSpPr>
            <a:spLocks xmlns:a="http://schemas.openxmlformats.org/drawingml/2006/main" noGrp="1"/>
          </p:cNvSpPr>
          <p:nvPr/>
        </p:nvSpPr>
        <p:spPr>
          <a:xfrm xmlns:a="http://schemas.openxmlformats.org/drawingml/2006/main">
            <a:off x="685800" y="472440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12" name="">
            <a:extLst xmlns:a="http://schemas.openxmlformats.org/drawingml/2006/main">
              <a:ext uri="{FF2B5EF4-FFF2-40B4-BE49-F238E27FC236}">
                <a16:creationId xmlns:a16="http://schemas.microsoft.com/office/drawing/2014/main" id="{A4EDD223-28C7-49A5-880C-5A0FD4A3B66A}"/>
              </a:ext>
            </a:extLst>
          </p:cNvPr>
          <p:cNvSpPr>
            <a:spLocks xmlns:a="http://schemas.openxmlformats.org/drawingml/2006/main" noGrp="1"/>
          </p:cNvSpPr>
          <p:nvPr/>
        </p:nvSpPr>
        <p:spPr>
          <a:xfrm xmlns:a="http://schemas.openxmlformats.org/drawingml/2006/main">
            <a:off x="1028700" y="49530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3</a:t>
            </a:r>
          </a:p>
        </p:txBody>
      </p:sp>
      <p:sp>
        <p:nvSpPr>
          <p:cNvPr id="13" name="">
            <a:extLst xmlns:a="http://schemas.openxmlformats.org/drawingml/2006/main">
              <a:ext uri="{FF2B5EF4-FFF2-40B4-BE49-F238E27FC236}">
                <a16:creationId xmlns:a16="http://schemas.microsoft.com/office/drawing/2014/main" id="{DEA6C9CC-AA46-4AA4-8A2F-00ED9F4F0875}"/>
              </a:ext>
            </a:extLst>
          </p:cNvPr>
          <p:cNvSpPr>
            <a:spLocks xmlns:a="http://schemas.openxmlformats.org/drawingml/2006/main" noGrp="1"/>
          </p:cNvSpPr>
          <p:nvPr/>
        </p:nvSpPr>
        <p:spPr>
          <a:xfrm xmlns:a="http://schemas.openxmlformats.org/drawingml/2006/main">
            <a:off x="1676400" y="485775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What is a ripple effect?</a:t>
            </a:r>
          </a:p>
        </p:txBody>
      </p:sp>
      <p:sp>
        <p:nvSpPr>
          <p:cNvPr id="14" name="">
            <a:extLst xmlns:a="http://schemas.openxmlformats.org/drawingml/2006/main">
              <a:ext uri="{FF2B5EF4-FFF2-40B4-BE49-F238E27FC236}">
                <a16:creationId xmlns:a16="http://schemas.microsoft.com/office/drawing/2014/main" id="{50449F06-B72A-41D4-991A-EF52E4F72A40}"/>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08  •  ETHICAL MARKETING SYSTEMS</a:t>
            </a:r>
          </a:p>
        </p:txBody>
      </p:sp>
      <p:sp>
        <p:nvSpPr>
          <p:cNvPr id="15" name="">
            <a:extLst xmlns:a="http://schemas.openxmlformats.org/drawingml/2006/main">
              <a:ext uri="{FF2B5EF4-FFF2-40B4-BE49-F238E27FC236}">
                <a16:creationId xmlns:a16="http://schemas.microsoft.com/office/drawing/2014/main" id="{9E681D01-CEC0-4AB9-A44E-18B97412A1B6}"/>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06</a:t>
            </a:r>
          </a:p>
        </p:txBody>
      </p:sp>
    </p:spTree>
    <p:extLst>
      <p:ext uri="{BB962C8B-B14F-4D97-AF65-F5344CB8AC3E}">
        <p14:creationId xmlns:p14="http://schemas.microsoft.com/office/powerpoint/2010/main" val="848755442"/>
      </p:ext>
    </p:extLst>
  </p:cSld>
</p:sld>
</file>

<file path=ppt/slides/slide7.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2F5814B0-4A55-4778-B21B-B94D1A717277}"/>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FORMATIVE LEARNING EVIDENCE</a:t>
            </a:r>
          </a:p>
        </p:txBody>
      </p:sp>
      <p:sp>
        <p:nvSpPr>
          <p:cNvPr id="2" name="">
            <a:extLst xmlns:a="http://schemas.openxmlformats.org/drawingml/2006/main">
              <a:ext uri="{FF2B5EF4-FFF2-40B4-BE49-F238E27FC236}">
                <a16:creationId xmlns:a16="http://schemas.microsoft.com/office/drawing/2014/main" id="{83053CF9-2BF3-49A3-8DCC-AC136ADBC581}"/>
              </a:ext>
            </a:extLst>
          </p:cNvPr>
          <p:cNvSpPr>
            <a:spLocks xmlns:a="http://schemas.openxmlformats.org/drawingml/2006/main" noGrp="1"/>
          </p:cNvSpPr>
          <p:nvPr/>
        </p:nvSpPr>
        <p:spPr>
          <a:xfrm xmlns:a="http://schemas.openxmlformats.org/drawingml/2006/main">
            <a:off x="685800" y="895350"/>
            <a:ext cx="9906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925" b="1">
                <a:solidFill>
                  <a:srgbClr val="17342C"/>
                </a:solidFill>
                <a:latin typeface="Arial"/>
                <a:ea typeface="Arial"/>
                <a:cs typeface="Arial"/>
              </a:defRPr>
            </a:pPr>
            <a:r>
              <a:rPr sz="2925" b="1">
                <a:solidFill>
                  <a:srgbClr val="17342C"/>
                </a:solidFill>
                <a:latin typeface="Arial"/>
                <a:ea typeface="Arial"/>
                <a:cs typeface="Arial"/>
              </a:rPr>
              <a:t>Read → Select → Explain → Check</a:t>
            </a:r>
          </a:p>
        </p:txBody>
      </p:sp>
      <p:sp>
        <p:nvSpPr>
          <p:cNvPr id="3" name="">
            <a:extLst xmlns:a="http://schemas.openxmlformats.org/drawingml/2006/main">
              <a:ext uri="{FF2B5EF4-FFF2-40B4-BE49-F238E27FC236}">
                <a16:creationId xmlns:a16="http://schemas.microsoft.com/office/drawing/2014/main" id="{2417715C-8826-4116-BDFD-0EB0A0A31B4E}"/>
              </a:ext>
            </a:extLst>
          </p:cNvPr>
          <p:cNvSpPr>
            <a:spLocks xmlns:a="http://schemas.openxmlformats.org/drawingml/2006/main" noGrp="1"/>
          </p:cNvSpPr>
          <p:nvPr/>
        </p:nvSpPr>
        <p:spPr>
          <a:xfrm xmlns:a="http://schemas.openxmlformats.org/drawingml/2006/main">
            <a:off x="685800" y="1752600"/>
            <a:ext cx="5905500" cy="2019300"/>
          </a:xfrm>
          <a:prstGeom xmlns:a="http://schemas.openxmlformats.org/drawingml/2006/main" prst="roundRect">
            <a:avLst>
              <a:gd name="adj" fmla="val 5660"/>
            </a:avLst>
          </a:prstGeom>
          <a:solidFill xmlns:a="http://schemas.openxmlformats.org/drawingml/2006/main">
            <a:srgbClr val="FFFFFF"/>
          </a:solidFill>
          <a:ln xmlns:a="http://schemas.openxmlformats.org/drawingml/2006/main" w="9525">
            <a:solidFill>
              <a:srgbClr val="CFD8D2"/>
            </a:solidFill>
            <a:prstDash val="solid"/>
          </a:ln>
        </p:spPr>
      </p:sp>
      <p:sp>
        <p:nvSpPr>
          <p:cNvPr id="4" name="">
            <a:extLst xmlns:a="http://schemas.openxmlformats.org/drawingml/2006/main">
              <a:ext uri="{FF2B5EF4-FFF2-40B4-BE49-F238E27FC236}">
                <a16:creationId xmlns:a16="http://schemas.microsoft.com/office/drawing/2014/main" id="{786F3B49-2B4E-4985-9895-130CA967F4AE}"/>
              </a:ext>
            </a:extLst>
          </p:cNvPr>
          <p:cNvSpPr>
            <a:spLocks xmlns:a="http://schemas.openxmlformats.org/drawingml/2006/main" noGrp="1"/>
          </p:cNvSpPr>
          <p:nvPr/>
        </p:nvSpPr>
        <p:spPr>
          <a:xfrm xmlns:a="http://schemas.openxmlformats.org/drawingml/2006/main">
            <a:off x="6896100" y="1752600"/>
            <a:ext cx="4610100" cy="2019300"/>
          </a:xfrm>
          <a:prstGeom xmlns:a="http://schemas.openxmlformats.org/drawingml/2006/main" prst="roundRect">
            <a:avLst>
              <a:gd name="adj" fmla="val 5660"/>
            </a:avLst>
          </a:prstGeom>
          <a:solidFill xmlns:a="http://schemas.openxmlformats.org/drawingml/2006/main">
            <a:srgbClr val="E7F0EC"/>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AD65D50-4326-4E6C-8D12-36C77BE8F47C}"/>
              </a:ext>
            </a:extLst>
          </p:cNvPr>
          <p:cNvSpPr>
            <a:spLocks xmlns:a="http://schemas.openxmlformats.org/drawingml/2006/main" noGrp="1"/>
          </p:cNvSpPr>
          <p:nvPr/>
        </p:nvSpPr>
        <p:spPr>
          <a:xfrm xmlns:a="http://schemas.openxmlformats.org/drawingml/2006/main">
            <a:off x="952500" y="18859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THE QUESTION</a:t>
            </a:r>
          </a:p>
        </p:txBody>
      </p:sp>
      <p:sp>
        <p:nvSpPr>
          <p:cNvPr id="6" name="">
            <a:extLst xmlns:a="http://schemas.openxmlformats.org/drawingml/2006/main">
              <a:ext uri="{FF2B5EF4-FFF2-40B4-BE49-F238E27FC236}">
                <a16:creationId xmlns:a16="http://schemas.microsoft.com/office/drawing/2014/main" id="{36C9378F-3176-4B11-A176-CD1416E66B42}"/>
              </a:ext>
            </a:extLst>
          </p:cNvPr>
          <p:cNvSpPr>
            <a:spLocks xmlns:a="http://schemas.openxmlformats.org/drawingml/2006/main" noGrp="1"/>
          </p:cNvSpPr>
          <p:nvPr/>
        </p:nvSpPr>
        <p:spPr>
          <a:xfrm xmlns:a="http://schemas.openxmlformats.org/drawingml/2006/main">
            <a:off x="952500" y="2266950"/>
            <a:ext cx="523875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7342C"/>
                </a:solidFill>
                <a:latin typeface="Arial"/>
                <a:ea typeface="Arial"/>
                <a:cs typeface="Arial"/>
              </a:defRPr>
            </a:pPr>
            <a:r>
              <a:rPr sz="1575" b="1">
                <a:solidFill>
                  <a:srgbClr val="17342C"/>
                </a:solidFill>
                <a:latin typeface="Arial"/>
                <a:ea typeface="Arial"/>
                <a:cs typeface="Arial"/>
              </a:rPr>
              <a:t>Audit one marketing message for persuasive pressure and environmental evidence, then trace a four-step ripple effect on stakeholders.</a:t>
            </a:r>
          </a:p>
        </p:txBody>
      </p:sp>
      <p:sp>
        <p:nvSpPr>
          <p:cNvPr id="7" name="">
            <a:extLst xmlns:a="http://schemas.openxmlformats.org/drawingml/2006/main">
              <a:ext uri="{FF2B5EF4-FFF2-40B4-BE49-F238E27FC236}">
                <a16:creationId xmlns:a16="http://schemas.microsoft.com/office/drawing/2014/main" id="{AA5EA96B-FD16-42C6-8783-BD3D73C2B062}"/>
              </a:ext>
            </a:extLst>
          </p:cNvPr>
          <p:cNvSpPr>
            <a:spLocks xmlns:a="http://schemas.openxmlformats.org/drawingml/2006/main" noGrp="1"/>
          </p:cNvSpPr>
          <p:nvPr/>
        </p:nvSpPr>
        <p:spPr>
          <a:xfrm xmlns:a="http://schemas.openxmlformats.org/drawingml/2006/main">
            <a:off x="7181850" y="1885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WHAT THIS IS ASKING</a:t>
            </a:r>
          </a:p>
        </p:txBody>
      </p:sp>
      <p:sp>
        <p:nvSpPr>
          <p:cNvPr id="8" name="">
            <a:extLst xmlns:a="http://schemas.openxmlformats.org/drawingml/2006/main">
              <a:ext uri="{FF2B5EF4-FFF2-40B4-BE49-F238E27FC236}">
                <a16:creationId xmlns:a16="http://schemas.microsoft.com/office/drawing/2014/main" id="{E3CDF0E8-E771-433B-AC75-987B18E0C0A1}"/>
              </a:ext>
            </a:extLst>
          </p:cNvPr>
          <p:cNvSpPr>
            <a:spLocks xmlns:a="http://schemas.openxmlformats.org/drawingml/2006/main" noGrp="1"/>
          </p:cNvSpPr>
          <p:nvPr/>
        </p:nvSpPr>
        <p:spPr>
          <a:xfrm xmlns:a="http://schemas.openxmlformats.org/drawingml/2006/main">
            <a:off x="7219950" y="2324100"/>
            <a:ext cx="114300" cy="114300"/>
          </a:xfrm>
          <a:prstGeom xmlns:a="http://schemas.openxmlformats.org/drawingml/2006/main" prst="ellipse">
            <a:avLst/>
          </a:prstGeom>
          <a:solidFill xmlns:a="http://schemas.openxmlformats.org/drawingml/2006/main">
            <a:srgbClr val="0C555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7004E1F-5E15-463C-AB62-301F3EB40AB5}"/>
              </a:ext>
            </a:extLst>
          </p:cNvPr>
          <p:cNvSpPr>
            <a:spLocks xmlns:a="http://schemas.openxmlformats.org/drawingml/2006/main" noGrp="1"/>
          </p:cNvSpPr>
          <p:nvPr/>
        </p:nvSpPr>
        <p:spPr>
          <a:xfrm xmlns:a="http://schemas.openxmlformats.org/drawingml/2006/main">
            <a:off x="7524750" y="22288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Preserve meaningful choice</a:t>
            </a:r>
          </a:p>
        </p:txBody>
      </p:sp>
      <p:sp>
        <p:nvSpPr>
          <p:cNvPr id="10" name="">
            <a:extLst xmlns:a="http://schemas.openxmlformats.org/drawingml/2006/main">
              <a:ext uri="{FF2B5EF4-FFF2-40B4-BE49-F238E27FC236}">
                <a16:creationId xmlns:a16="http://schemas.microsoft.com/office/drawing/2014/main" id="{103CFB0E-68A2-4A44-A435-9EABF9172D89}"/>
              </a:ext>
            </a:extLst>
          </p:cNvPr>
          <p:cNvSpPr>
            <a:spLocks xmlns:a="http://schemas.openxmlformats.org/drawingml/2006/main" noGrp="1"/>
          </p:cNvSpPr>
          <p:nvPr/>
        </p:nvSpPr>
        <p:spPr>
          <a:xfrm xmlns:a="http://schemas.openxmlformats.org/drawingml/2006/main">
            <a:off x="7219950" y="2771775"/>
            <a:ext cx="114300" cy="114300"/>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9C72F6E-204A-41C8-B0BE-7F1E488334B4}"/>
              </a:ext>
            </a:extLst>
          </p:cNvPr>
          <p:cNvSpPr>
            <a:spLocks xmlns:a="http://schemas.openxmlformats.org/drawingml/2006/main" noGrp="1"/>
          </p:cNvSpPr>
          <p:nvPr/>
        </p:nvSpPr>
        <p:spPr>
          <a:xfrm xmlns:a="http://schemas.openxmlformats.org/drawingml/2006/main">
            <a:off x="7524750" y="267652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Check claim, scope and evidence</a:t>
            </a:r>
          </a:p>
        </p:txBody>
      </p:sp>
      <p:sp>
        <p:nvSpPr>
          <p:cNvPr id="12" name="">
            <a:extLst xmlns:a="http://schemas.openxmlformats.org/drawingml/2006/main">
              <a:ext uri="{FF2B5EF4-FFF2-40B4-BE49-F238E27FC236}">
                <a16:creationId xmlns:a16="http://schemas.microsoft.com/office/drawing/2014/main" id="{2557717C-B176-48B0-B020-A8D7CA365573}"/>
              </a:ext>
            </a:extLst>
          </p:cNvPr>
          <p:cNvSpPr>
            <a:spLocks xmlns:a="http://schemas.openxmlformats.org/drawingml/2006/main" noGrp="1"/>
          </p:cNvSpPr>
          <p:nvPr/>
        </p:nvSpPr>
        <p:spPr>
          <a:xfrm xmlns:a="http://schemas.openxmlformats.org/drawingml/2006/main">
            <a:off x="7219950" y="3219450"/>
            <a:ext cx="114300" cy="11430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6EE9D12-EA84-4538-8974-BDA08D4CDEA2}"/>
              </a:ext>
            </a:extLst>
          </p:cNvPr>
          <p:cNvSpPr>
            <a:spLocks xmlns:a="http://schemas.openxmlformats.org/drawingml/2006/main" noGrp="1"/>
          </p:cNvSpPr>
          <p:nvPr/>
        </p:nvSpPr>
        <p:spPr>
          <a:xfrm xmlns:a="http://schemas.openxmlformats.org/drawingml/2006/main">
            <a:off x="7524750" y="31242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Label facts and assumptions</a:t>
            </a:r>
          </a:p>
        </p:txBody>
      </p:sp>
      <p:sp>
        <p:nvSpPr>
          <p:cNvPr id="14" name="">
            <a:extLst xmlns:a="http://schemas.openxmlformats.org/drawingml/2006/main">
              <a:ext uri="{FF2B5EF4-FFF2-40B4-BE49-F238E27FC236}">
                <a16:creationId xmlns:a16="http://schemas.microsoft.com/office/drawing/2014/main" id="{CF84525E-2845-4DA1-8DC9-3AB743C186D5}"/>
              </a:ext>
            </a:extLst>
          </p:cNvPr>
          <p:cNvSpPr>
            <a:spLocks xmlns:a="http://schemas.openxmlformats.org/drawingml/2006/main" noGrp="1"/>
          </p:cNvSpPr>
          <p:nvPr/>
        </p:nvSpPr>
        <p:spPr>
          <a:xfrm xmlns:a="http://schemas.openxmlformats.org/drawingml/2006/main">
            <a:off x="685800" y="4095750"/>
            <a:ext cx="3333750" cy="1466850"/>
          </a:xfrm>
          <a:prstGeom xmlns:a="http://schemas.openxmlformats.org/drawingml/2006/main" prst="roundRect">
            <a:avLst>
              <a:gd name="adj" fmla="val 7792"/>
            </a:avLst>
          </a:prstGeom>
          <a:solidFill xmlns:a="http://schemas.openxmlformats.org/drawingml/2006/main">
            <a:srgbClr val="17342C"/>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67C2665-3D7F-413F-865D-C76C8A32E15D}"/>
              </a:ext>
            </a:extLst>
          </p:cNvPr>
          <p:cNvSpPr>
            <a:spLocks xmlns:a="http://schemas.openxmlformats.org/drawingml/2006/main" noGrp="1"/>
          </p:cNvSpPr>
          <p:nvPr/>
        </p:nvSpPr>
        <p:spPr>
          <a:xfrm xmlns:a="http://schemas.openxmlformats.org/drawingml/2006/main">
            <a:off x="89535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FFFFFF"/>
                </a:solidFill>
                <a:latin typeface="Arial"/>
                <a:ea typeface="Arial"/>
                <a:cs typeface="Arial"/>
              </a:defRPr>
            </a:pPr>
            <a:r>
              <a:rPr sz="1050" b="1">
                <a:solidFill>
                  <a:srgbClr val="FFFFFF"/>
                </a:solidFill>
                <a:latin typeface="Arial"/>
                <a:ea typeface="Arial"/>
                <a:cs typeface="Arial"/>
              </a:rPr>
              <a:t>1  SELECT</a:t>
            </a:r>
          </a:p>
        </p:txBody>
      </p:sp>
      <p:sp>
        <p:nvSpPr>
          <p:cNvPr id="16" name="">
            <a:extLst xmlns:a="http://schemas.openxmlformats.org/drawingml/2006/main">
              <a:ext uri="{FF2B5EF4-FFF2-40B4-BE49-F238E27FC236}">
                <a16:creationId xmlns:a16="http://schemas.microsoft.com/office/drawing/2014/main" id="{9DE46E57-1EA1-487B-B89F-EDE4565BA94B}"/>
              </a:ext>
            </a:extLst>
          </p:cNvPr>
          <p:cNvSpPr>
            <a:spLocks xmlns:a="http://schemas.openxmlformats.org/drawingml/2006/main" noGrp="1"/>
          </p:cNvSpPr>
          <p:nvPr/>
        </p:nvSpPr>
        <p:spPr>
          <a:xfrm xmlns:a="http://schemas.openxmlformats.org/drawingml/2006/main">
            <a:off x="89535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FFFFFF"/>
                </a:solidFill>
                <a:latin typeface="Arial"/>
                <a:ea typeface="Arial"/>
                <a:cs typeface="Arial"/>
              </a:defRPr>
            </a:pPr>
            <a:r>
              <a:rPr sz="1275" b="0">
                <a:solidFill>
                  <a:srgbClr val="FFFFFF"/>
                </a:solidFill>
                <a:latin typeface="Arial"/>
                <a:ea typeface="Arial"/>
                <a:cs typeface="Arial"/>
              </a:rPr>
              <a:t>Choose precise theory and examples that answer the question.</a:t>
            </a:r>
          </a:p>
        </p:txBody>
      </p:sp>
      <p:sp>
        <p:nvSpPr>
          <p:cNvPr id="17" name="">
            <a:extLst xmlns:a="http://schemas.openxmlformats.org/drawingml/2006/main">
              <a:ext uri="{FF2B5EF4-FFF2-40B4-BE49-F238E27FC236}">
                <a16:creationId xmlns:a16="http://schemas.microsoft.com/office/drawing/2014/main" id="{DFD5C80B-8F14-4D8E-AF91-0FAC1FF12AB6}"/>
              </a:ext>
            </a:extLst>
          </p:cNvPr>
          <p:cNvSpPr>
            <a:spLocks xmlns:a="http://schemas.openxmlformats.org/drawingml/2006/main" noGrp="1"/>
          </p:cNvSpPr>
          <p:nvPr/>
        </p:nvSpPr>
        <p:spPr>
          <a:xfrm xmlns:a="http://schemas.openxmlformats.org/drawingml/2006/main">
            <a:off x="4362450" y="4095750"/>
            <a:ext cx="3333750" cy="1466850"/>
          </a:xfrm>
          <a:prstGeom xmlns:a="http://schemas.openxmlformats.org/drawingml/2006/main" prst="roundRect">
            <a:avLst>
              <a:gd name="adj" fmla="val 7792"/>
            </a:avLst>
          </a:prstGeom>
          <a:solidFill xmlns:a="http://schemas.openxmlformats.org/drawingml/2006/main">
            <a:srgbClr val="F2BD3C"/>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41E9B37-0D8F-4A79-A657-2D0C3A217492}"/>
              </a:ext>
            </a:extLst>
          </p:cNvPr>
          <p:cNvSpPr>
            <a:spLocks xmlns:a="http://schemas.openxmlformats.org/drawingml/2006/main" noGrp="1"/>
          </p:cNvSpPr>
          <p:nvPr/>
        </p:nvSpPr>
        <p:spPr>
          <a:xfrm xmlns:a="http://schemas.openxmlformats.org/drawingml/2006/main">
            <a:off x="457200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2  EXPLAIN</a:t>
            </a:r>
          </a:p>
        </p:txBody>
      </p:sp>
      <p:sp>
        <p:nvSpPr>
          <p:cNvPr id="19" name="">
            <a:extLst xmlns:a="http://schemas.openxmlformats.org/drawingml/2006/main">
              <a:ext uri="{FF2B5EF4-FFF2-40B4-BE49-F238E27FC236}">
                <a16:creationId xmlns:a16="http://schemas.microsoft.com/office/drawing/2014/main" id="{187BCC96-C3A6-4DAB-AC88-7CB8AF07CF56}"/>
              </a:ext>
            </a:extLst>
          </p:cNvPr>
          <p:cNvSpPr>
            <a:spLocks xmlns:a="http://schemas.openxmlformats.org/drawingml/2006/main" noGrp="1"/>
          </p:cNvSpPr>
          <p:nvPr/>
        </p:nvSpPr>
        <p:spPr>
          <a:xfrm xmlns:a="http://schemas.openxmlformats.org/drawingml/2006/main">
            <a:off x="457200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17342C"/>
                </a:solidFill>
                <a:latin typeface="Arial"/>
                <a:ea typeface="Arial"/>
                <a:cs typeface="Arial"/>
              </a:defRPr>
            </a:pPr>
            <a:r>
              <a:rPr sz="1275" b="0">
                <a:solidFill>
                  <a:srgbClr val="17342C"/>
                </a:solidFill>
                <a:latin typeface="Arial"/>
                <a:ea typeface="Arial"/>
                <a:cs typeface="Arial"/>
              </a:rPr>
              <a:t>Link ideas with because, so or therefore.</a:t>
            </a:r>
          </a:p>
        </p:txBody>
      </p:sp>
      <p:sp>
        <p:nvSpPr>
          <p:cNvPr id="20" name="">
            <a:extLst xmlns:a="http://schemas.openxmlformats.org/drawingml/2006/main">
              <a:ext uri="{FF2B5EF4-FFF2-40B4-BE49-F238E27FC236}">
                <a16:creationId xmlns:a16="http://schemas.microsoft.com/office/drawing/2014/main" id="{CB1A3B53-556C-4606-950C-3FD644D77D97}"/>
              </a:ext>
            </a:extLst>
          </p:cNvPr>
          <p:cNvSpPr>
            <a:spLocks xmlns:a="http://schemas.openxmlformats.org/drawingml/2006/main" noGrp="1"/>
          </p:cNvSpPr>
          <p:nvPr/>
        </p:nvSpPr>
        <p:spPr>
          <a:xfrm xmlns:a="http://schemas.openxmlformats.org/drawingml/2006/main">
            <a:off x="8039100" y="4095750"/>
            <a:ext cx="3333750" cy="1466850"/>
          </a:xfrm>
          <a:prstGeom xmlns:a="http://schemas.openxmlformats.org/drawingml/2006/main" prst="roundRect">
            <a:avLst>
              <a:gd name="adj" fmla="val 7792"/>
            </a:avLst>
          </a:prstGeom>
          <a:solidFill xmlns:a="http://schemas.openxmlformats.org/drawingml/2006/main">
            <a:srgbClr val="0C555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E1EE029-BE51-44C1-A674-F1E665B3FC70}"/>
              </a:ext>
            </a:extLst>
          </p:cNvPr>
          <p:cNvSpPr>
            <a:spLocks xmlns:a="http://schemas.openxmlformats.org/drawingml/2006/main" noGrp="1"/>
          </p:cNvSpPr>
          <p:nvPr/>
        </p:nvSpPr>
        <p:spPr>
          <a:xfrm xmlns:a="http://schemas.openxmlformats.org/drawingml/2006/main">
            <a:off x="824865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FFFFFF"/>
                </a:solidFill>
                <a:latin typeface="Arial"/>
                <a:ea typeface="Arial"/>
                <a:cs typeface="Arial"/>
              </a:defRPr>
            </a:pPr>
            <a:r>
              <a:rPr sz="1050" b="1">
                <a:solidFill>
                  <a:srgbClr val="FFFFFF"/>
                </a:solidFill>
                <a:latin typeface="Arial"/>
                <a:ea typeface="Arial"/>
                <a:cs typeface="Arial"/>
              </a:rPr>
              <a:t>3  CHECK</a:t>
            </a:r>
          </a:p>
        </p:txBody>
      </p:sp>
      <p:sp>
        <p:nvSpPr>
          <p:cNvPr id="22" name="">
            <a:extLst xmlns:a="http://schemas.openxmlformats.org/drawingml/2006/main">
              <a:ext uri="{FF2B5EF4-FFF2-40B4-BE49-F238E27FC236}">
                <a16:creationId xmlns:a16="http://schemas.microsoft.com/office/drawing/2014/main" id="{8FF87773-3D88-40FC-B3F9-7CCB7668D8BE}"/>
              </a:ext>
            </a:extLst>
          </p:cNvPr>
          <p:cNvSpPr>
            <a:spLocks xmlns:a="http://schemas.openxmlformats.org/drawingml/2006/main" noGrp="1"/>
          </p:cNvSpPr>
          <p:nvPr/>
        </p:nvSpPr>
        <p:spPr>
          <a:xfrm xmlns:a="http://schemas.openxmlformats.org/drawingml/2006/main">
            <a:off x="824865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FFFFFF"/>
                </a:solidFill>
                <a:latin typeface="Arial"/>
                <a:ea typeface="Arial"/>
                <a:cs typeface="Arial"/>
              </a:defRPr>
            </a:pPr>
            <a:r>
              <a:rPr sz="1275" b="0">
                <a:solidFill>
                  <a:srgbClr val="FFFFFF"/>
                </a:solidFill>
                <a:latin typeface="Arial"/>
                <a:ea typeface="Arial"/>
                <a:cs typeface="Arial"/>
              </a:rPr>
              <a:t>Answer every part; keep claims specific and source-safe.</a:t>
            </a:r>
          </a:p>
        </p:txBody>
      </p:sp>
      <p:sp>
        <p:nvSpPr>
          <p:cNvPr id="23" name="">
            <a:extLst xmlns:a="http://schemas.openxmlformats.org/drawingml/2006/main">
              <a:ext uri="{FF2B5EF4-FFF2-40B4-BE49-F238E27FC236}">
                <a16:creationId xmlns:a16="http://schemas.microsoft.com/office/drawing/2014/main" id="{36B95982-8BD6-467A-ACBE-E84685BD3BFD}"/>
              </a:ext>
            </a:extLst>
          </p:cNvPr>
          <p:cNvSpPr>
            <a:spLocks xmlns:a="http://schemas.openxmlformats.org/drawingml/2006/main" noGrp="1"/>
          </p:cNvSpPr>
          <p:nvPr/>
        </p:nvSpPr>
        <p:spPr>
          <a:xfrm xmlns:a="http://schemas.openxmlformats.org/drawingml/2006/main">
            <a:off x="685800" y="5810250"/>
            <a:ext cx="1076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E8674B"/>
                </a:solidFill>
                <a:latin typeface="Arial"/>
                <a:ea typeface="Arial"/>
                <a:cs typeface="Arial"/>
              </a:defRPr>
            </a:pPr>
            <a:r>
              <a:rPr sz="1200" b="1">
                <a:solidFill>
                  <a:srgbClr val="E8674B"/>
                </a:solidFill>
                <a:latin typeface="Arial"/>
                <a:ea typeface="Arial"/>
                <a:cs typeface="Arial"/>
              </a:rPr>
              <a:t>Sentence starter: The message influences the audience by… The claim needs… A likely ripple is…</a:t>
            </a:r>
          </a:p>
        </p:txBody>
      </p:sp>
      <p:sp>
        <p:nvSpPr>
          <p:cNvPr id="24" name="">
            <a:extLst xmlns:a="http://schemas.openxmlformats.org/drawingml/2006/main">
              <a:ext uri="{FF2B5EF4-FFF2-40B4-BE49-F238E27FC236}">
                <a16:creationId xmlns:a16="http://schemas.microsoft.com/office/drawing/2014/main" id="{1DB2DB43-E0E4-4A1A-9DB7-6E32AB85DB10}"/>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08  •  ETHICAL MARKETING SYSTEMS</a:t>
            </a:r>
          </a:p>
        </p:txBody>
      </p:sp>
      <p:sp>
        <p:nvSpPr>
          <p:cNvPr id="25" name="">
            <a:extLst xmlns:a="http://schemas.openxmlformats.org/drawingml/2006/main">
              <a:ext uri="{FF2B5EF4-FFF2-40B4-BE49-F238E27FC236}">
                <a16:creationId xmlns:a16="http://schemas.microsoft.com/office/drawing/2014/main" id="{0A476D97-B180-4754-87D7-9953B9E07314}"/>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07</a:t>
            </a:r>
          </a:p>
        </p:txBody>
      </p:sp>
    </p:spTree>
    <p:extLst>
      <p:ext uri="{BB962C8B-B14F-4D97-AF65-F5344CB8AC3E}">
        <p14:creationId xmlns:p14="http://schemas.microsoft.com/office/powerpoint/2010/main" val="1106165550"/>
      </p:ext>
    </p:extLst>
  </p:cSld>
</p:sld>
</file>

<file path=ppt/slides/slide8.xml><?xml version="1.0" encoding="utf-8"?>
<p:sld xmlns:p="http://schemas.openxmlformats.org/presentationml/2006/main">
  <p:cSld>
    <p:bg>
      <p:bgPr>
        <a:solidFill xmlns:a="http://schemas.openxmlformats.org/drawingml/2006/main">
          <a:srgbClr val="E8674B"/>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F39A5DF-AF79-4285-89F2-B34AECAFFDE5}"/>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02F3BBB-A79B-45B1-AB5D-B2B839BAB516}"/>
              </a:ext>
            </a:extLst>
          </p:cNvPr>
          <p:cNvSpPr>
            <a:spLocks xmlns:a="http://schemas.openxmlformats.org/drawingml/2006/main" noGrp="1"/>
          </p:cNvSpPr>
          <p:nvPr/>
        </p:nvSpPr>
        <p:spPr>
          <a:xfrm xmlns:a="http://schemas.openxmlformats.org/drawingml/2006/main">
            <a:off x="685800" y="838200"/>
            <a:ext cx="666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150" b="1">
                <a:solidFill>
                  <a:srgbClr val="FFFFFF"/>
                </a:solidFill>
                <a:latin typeface="Arial"/>
                <a:ea typeface="Arial"/>
                <a:cs typeface="Arial"/>
              </a:defRPr>
            </a:pPr>
            <a:r>
              <a:rPr sz="3150" b="1">
                <a:solidFill>
                  <a:srgbClr val="FFFFFF"/>
                </a:solidFill>
                <a:latin typeface="Arial"/>
                <a:ea typeface="Arial"/>
                <a:cs typeface="Arial"/>
              </a:rPr>
              <a:t>Before you pack up…</a:t>
            </a:r>
          </a:p>
        </p:txBody>
      </p:sp>
      <p:sp>
        <p:nvSpPr>
          <p:cNvPr id="3" name="">
            <a:extLst xmlns:a="http://schemas.openxmlformats.org/drawingml/2006/main">
              <a:ext uri="{FF2B5EF4-FFF2-40B4-BE49-F238E27FC236}">
                <a16:creationId xmlns:a16="http://schemas.microsoft.com/office/drawing/2014/main" id="{7B98ED06-5AE5-4C5D-8D5F-E09638E5DACB}"/>
              </a:ext>
            </a:extLst>
          </p:cNvPr>
          <p:cNvSpPr>
            <a:spLocks xmlns:a="http://schemas.openxmlformats.org/drawingml/2006/main" noGrp="1"/>
          </p:cNvSpPr>
          <p:nvPr/>
        </p:nvSpPr>
        <p:spPr>
          <a:xfrm xmlns:a="http://schemas.openxmlformats.org/drawingml/2006/main">
            <a:off x="685800" y="196215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1. One idea I can now explain is…</a:t>
            </a:r>
          </a:p>
        </p:txBody>
      </p:sp>
      <p:sp>
        <p:nvSpPr>
          <p:cNvPr id="4" name="">
            <a:extLst xmlns:a="http://schemas.openxmlformats.org/drawingml/2006/main">
              <a:ext uri="{FF2B5EF4-FFF2-40B4-BE49-F238E27FC236}">
                <a16:creationId xmlns:a16="http://schemas.microsoft.com/office/drawing/2014/main" id="{AB0FD746-0A7E-460B-B43A-9049C995E99A}"/>
              </a:ext>
            </a:extLst>
          </p:cNvPr>
          <p:cNvSpPr>
            <a:spLocks xmlns:a="http://schemas.openxmlformats.org/drawingml/2006/main" noGrp="1"/>
          </p:cNvSpPr>
          <p:nvPr/>
        </p:nvSpPr>
        <p:spPr>
          <a:xfrm xmlns:a="http://schemas.openxmlformats.org/drawingml/2006/main">
            <a:off x="685800" y="308610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2. One design decision or practical action this changes is…</a:t>
            </a:r>
          </a:p>
        </p:txBody>
      </p:sp>
      <p:sp>
        <p:nvSpPr>
          <p:cNvPr id="5" name="">
            <a:extLst xmlns:a="http://schemas.openxmlformats.org/drawingml/2006/main">
              <a:ext uri="{FF2B5EF4-FFF2-40B4-BE49-F238E27FC236}">
                <a16:creationId xmlns:a16="http://schemas.microsoft.com/office/drawing/2014/main" id="{DFEBF2F7-A751-4C0C-A4E6-65D53D0BACD4}"/>
              </a:ext>
            </a:extLst>
          </p:cNvPr>
          <p:cNvSpPr>
            <a:spLocks xmlns:a="http://schemas.openxmlformats.org/drawingml/2006/main" noGrp="1"/>
          </p:cNvSpPr>
          <p:nvPr/>
        </p:nvSpPr>
        <p:spPr>
          <a:xfrm xmlns:a="http://schemas.openxmlformats.org/drawingml/2006/main">
            <a:off x="685800" y="421005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3. One question I still need answered is…</a:t>
            </a:r>
          </a:p>
        </p:txBody>
      </p:sp>
      <p:sp>
        <p:nvSpPr>
          <p:cNvPr id="6" name="">
            <a:extLst xmlns:a="http://schemas.openxmlformats.org/drawingml/2006/main">
              <a:ext uri="{FF2B5EF4-FFF2-40B4-BE49-F238E27FC236}">
                <a16:creationId xmlns:a16="http://schemas.microsoft.com/office/drawing/2014/main" id="{8B5C3173-6FE0-4D92-9755-C19BC204706A}"/>
              </a:ext>
            </a:extLst>
          </p:cNvPr>
          <p:cNvSpPr>
            <a:spLocks xmlns:a="http://schemas.openxmlformats.org/drawingml/2006/main" noGrp="1"/>
          </p:cNvSpPr>
          <p:nvPr/>
        </p:nvSpPr>
        <p:spPr>
          <a:xfrm xmlns:a="http://schemas.openxmlformats.org/drawingml/2006/main">
            <a:off x="9810750" y="2609850"/>
            <a:ext cx="1638300" cy="163830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2D3F822-7D61-43F4-9D63-4AE2BE195C02}"/>
              </a:ext>
            </a:extLst>
          </p:cNvPr>
          <p:cNvSpPr>
            <a:spLocks xmlns:a="http://schemas.openxmlformats.org/drawingml/2006/main" noGrp="1"/>
          </p:cNvSpPr>
          <p:nvPr/>
        </p:nvSpPr>
        <p:spPr>
          <a:xfrm xmlns:a="http://schemas.openxmlformats.org/drawingml/2006/main">
            <a:off x="9944100" y="2876550"/>
            <a:ext cx="13716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SAVE</a:t>
            </a:r>
          </a:p>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YOUR</a:t>
            </a:r>
          </a:p>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EVIDENCE</a:t>
            </a:r>
          </a:p>
        </p:txBody>
      </p:sp>
      <p:sp>
        <p:nvSpPr>
          <p:cNvPr id="8" name="">
            <a:extLst xmlns:a="http://schemas.openxmlformats.org/drawingml/2006/main">
              <a:ext uri="{FF2B5EF4-FFF2-40B4-BE49-F238E27FC236}">
                <a16:creationId xmlns:a16="http://schemas.microsoft.com/office/drawing/2014/main" id="{AE325293-A108-4F2C-B098-37D435932562}"/>
              </a:ext>
            </a:extLst>
          </p:cNvPr>
          <p:cNvSpPr>
            <a:spLocks xmlns:a="http://schemas.openxmlformats.org/drawingml/2006/main" noGrp="1"/>
          </p:cNvSpPr>
          <p:nvPr/>
        </p:nvSpPr>
        <p:spPr>
          <a:xfrm xmlns:a="http://schemas.openxmlformats.org/drawingml/2006/main">
            <a:off x="685800" y="5753100"/>
            <a:ext cx="857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1">
                <a:solidFill>
                  <a:srgbClr val="FFFFFF"/>
                </a:solidFill>
                <a:latin typeface="Arial"/>
                <a:ea typeface="Arial"/>
                <a:cs typeface="Arial"/>
              </a:defRPr>
            </a:pPr>
            <a:r>
              <a:rPr sz="1200" b="1">
                <a:solidFill>
                  <a:srgbClr val="FFFFFF"/>
                </a:solidFill>
                <a:latin typeface="Arial"/>
                <a:ea typeface="Arial"/>
                <a:cs typeface="Arial"/>
              </a:rPr>
              <a:t>Save in the matching course module. Local save is not submission.</a:t>
            </a:r>
          </a:p>
        </p:txBody>
      </p:sp>
      <p:sp>
        <p:nvSpPr>
          <p:cNvPr id="9" name="">
            <a:extLst xmlns:a="http://schemas.openxmlformats.org/drawingml/2006/main">
              <a:ext uri="{FF2B5EF4-FFF2-40B4-BE49-F238E27FC236}">
                <a16:creationId xmlns:a16="http://schemas.microsoft.com/office/drawing/2014/main" id="{8B6EB7CC-5918-4277-9216-EC40D883DFEB}"/>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08  •  ETHICAL MARKETING SYSTEMS</a:t>
            </a:r>
          </a:p>
        </p:txBody>
      </p:sp>
      <p:sp>
        <p:nvSpPr>
          <p:cNvPr id="10" name="">
            <a:extLst xmlns:a="http://schemas.openxmlformats.org/drawingml/2006/main">
              <a:ext uri="{FF2B5EF4-FFF2-40B4-BE49-F238E27FC236}">
                <a16:creationId xmlns:a16="http://schemas.microsoft.com/office/drawing/2014/main" id="{B9E4E282-3E4A-41CE-A0D9-3CA30C6DC4C3}"/>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08</a:t>
            </a:r>
          </a:p>
        </p:txBody>
      </p:sp>
    </p:spTree>
    <p:extLst>
      <p:ext uri="{BB962C8B-B14F-4D97-AF65-F5344CB8AC3E}">
        <p14:creationId xmlns:p14="http://schemas.microsoft.com/office/powerpoint/2010/main" val="6632790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2026-08-24T00:54:06.3130000Z</dcterms:created>
  <dcterms:modified xsi:type="dcterms:W3CDTF">2026-08-24T00:54:06.3130000Z</dcterms:modified>
</coreProperties>
</file>