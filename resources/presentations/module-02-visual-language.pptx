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539501f5ae494b" /><Relationship Type="http://schemas.openxmlformats.org/officeDocument/2006/relationships/extended-properties" Target="/docProps/app.xml" Id="R7acc8e0581ea4798" /><Relationship Type="http://schemas.openxmlformats.org/officeDocument/2006/relationships/officeDocument" Target="/ppt/presentation.xml" Id="R7a8e3cf50d11444c" /></Relationships>
</file>

<file path=ppt/presentation.xml><?xml version="1.0" encoding="utf-8"?>
<p:presentation xmlns:p="http://schemas.openxmlformats.org/presentationml/2006/main">
  <p:sldMasterIdLst>
    <p:sldMasterId xmlns:r="http://schemas.openxmlformats.org/officeDocument/2006/relationships" id="2147483648" r:id="Rbce917857f364d06"/>
  </p:sldMasterIdLst>
  <p:notesMasterIdLst>
    <p:notesMasterId xmlns:r="http://schemas.openxmlformats.org/officeDocument/2006/relationships" r:id="R1209ae83babc4c1e"/>
  </p:notesMasterIdLst>
  <p:sldIdLst>
    <p:sldId xmlns:r="http://schemas.openxmlformats.org/officeDocument/2006/relationships" id="256" r:id="R82be2038b3fb4887"/>
    <p:sldId xmlns:r="http://schemas.openxmlformats.org/officeDocument/2006/relationships" id="257" r:id="Rceae75e9bc344567"/>
    <p:sldId xmlns:r="http://schemas.openxmlformats.org/officeDocument/2006/relationships" id="258" r:id="R3776a27d260d4c00"/>
    <p:sldId xmlns:r="http://schemas.openxmlformats.org/officeDocument/2006/relationships" id="259" r:id="Rcaf2388b12574ca7"/>
    <p:sldId xmlns:r="http://schemas.openxmlformats.org/officeDocument/2006/relationships" id="260" r:id="R4a9fcf7e61414ab7"/>
    <p:sldId xmlns:r="http://schemas.openxmlformats.org/officeDocument/2006/relationships" id="261" r:id="Rfeeddcfab9c340c7"/>
    <p:sldId xmlns:r="http://schemas.openxmlformats.org/officeDocument/2006/relationships" id="262" r:id="R83fe9296e4c34e1e"/>
    <p:sldId xmlns:r="http://schemas.openxmlformats.org/officeDocument/2006/relationships" id="263" r:id="R67d0025a033c4f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36d702e9ae4a6d" /><Relationship Type="http://schemas.openxmlformats.org/officeDocument/2006/relationships/slideMaster" Target="/ppt/slideMasters/slideMaster1.xml" Id="Rbce917857f364d06" /><Relationship Type="http://schemas.openxmlformats.org/officeDocument/2006/relationships/notesMaster" Target="/ppt/notesMasters/notesMaster1.xml" Id="R1209ae83babc4c1e" /><Relationship Type="http://schemas.openxmlformats.org/officeDocument/2006/relationships/presProps" Target="/ppt/presProps.xml" Id="R188d17b887a8405b" /><Relationship Type="http://schemas.openxmlformats.org/officeDocument/2006/relationships/tableStyles" Target="/ppt/tableStyles.xml" Id="R781325097a68449f" /><Relationship Type="http://schemas.openxmlformats.org/officeDocument/2006/relationships/slide" Target="/ppt/slides/slide1.xml" Id="R82be2038b3fb4887" /><Relationship Type="http://schemas.openxmlformats.org/officeDocument/2006/relationships/slide" Target="/ppt/slides/slide2.xml" Id="Rceae75e9bc344567" /><Relationship Type="http://schemas.openxmlformats.org/officeDocument/2006/relationships/slide" Target="/ppt/slides/slide3.xml" Id="R3776a27d260d4c00" /><Relationship Type="http://schemas.openxmlformats.org/officeDocument/2006/relationships/slide" Target="/ppt/slides/slide4.xml" Id="Rcaf2388b12574ca7" /><Relationship Type="http://schemas.openxmlformats.org/officeDocument/2006/relationships/slide" Target="/ppt/slides/slide5.xml" Id="R4a9fcf7e61414ab7" /><Relationship Type="http://schemas.openxmlformats.org/officeDocument/2006/relationships/slide" Target="/ppt/slides/slide6.xml" Id="Rfeeddcfab9c340c7" /><Relationship Type="http://schemas.openxmlformats.org/officeDocument/2006/relationships/slide" Target="/ppt/slides/slide7.xml" Id="R83fe9296e4c34e1e" /><Relationship Type="http://schemas.openxmlformats.org/officeDocument/2006/relationships/slide" Target="/ppt/slides/slide8.xml" Id="R67d0025a033c4f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ac980d1f6d4b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ab03032d154edc" /><Relationship Type="http://schemas.openxmlformats.org/officeDocument/2006/relationships/notesMaster" Target="/ppt/notesMasters/notesMaster1.xml" Id="R7e4cf3f79af549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bb84381ea341c5" /><Relationship Type="http://schemas.openxmlformats.org/officeDocument/2006/relationships/notesMaster" Target="/ppt/notesMasters/notesMaster1.xml" Id="R4d68ae14dde74a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08cbecb1734ab0" /><Relationship Type="http://schemas.openxmlformats.org/officeDocument/2006/relationships/notesMaster" Target="/ppt/notesMasters/notesMaster1.xml" Id="Rba84a6d6861543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2664899dd54c71" /><Relationship Type="http://schemas.openxmlformats.org/officeDocument/2006/relationships/notesMaster" Target="/ppt/notesMasters/notesMaster1.xml" Id="Rfb3536bfcf8d42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5e7a30a33a47cf" /><Relationship Type="http://schemas.openxmlformats.org/officeDocument/2006/relationships/notesMaster" Target="/ppt/notesMasters/notesMaster1.xml" Id="R2262791fcec749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b6e1ae830f4990" /><Relationship Type="http://schemas.openxmlformats.org/officeDocument/2006/relationships/notesMaster" Target="/ppt/notesMasters/notesMaster1.xml" Id="R26662597d23847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2df8d4d4214384" /><Relationship Type="http://schemas.openxmlformats.org/officeDocument/2006/relationships/notesMaster" Target="/ppt/notesMasters/notesMaster1.xml" Id="R68573961e3b343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0cee87c28f4f62" /><Relationship Type="http://schemas.openxmlformats.org/officeDocument/2006/relationships/notesMaster" Target="/ppt/notesMasters/notesMaster1.xml" Id="Ra385b440dab44c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Use colour, typography, hierarchy and mood boards deliberately.</a:t>
            </a:r>
          </a:p>
          <a:p xmlns:a="http://schemas.openxmlformats.org/drawingml/2006/main">
            <a:r>
              <a:t>Prompt: Where does your eye go first on a strong poster—and why?</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2.</a:t>
            </a:r>
          </a:p>
          <a:p xmlns:a="http://schemas.openxmlformats.org/drawingml/2006/main">
            <a:r>
              <a:t>- Theory: data/course-content.js, m02-s01, m02-s02, m02-s03.</a:t>
            </a:r>
          </a:p>
          <a:p xmlns:a="http://schemas.openxmlformats.org/drawingml/2006/main">
            <a:r>
              <a:t>- Visual: assets/visuals/generated-moodboard-workspace.png.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Where does your eye go first on a strong poster—and why?</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Colour and meaning.</a:t>
            </a:r>
          </a:p>
          <a:p xmlns:a="http://schemas.openxmlformats.org/drawingml/2006/main">
            <a:r>
              <a:t/>
            </a:r>
          </a:p>
          <a:p xmlns:a="http://schemas.openxmlformats.org/drawingml/2006/main">
            <a:r>
              <a:t>[Sources]</a:t>
            </a:r>
          </a:p>
          <a:p xmlns:a="http://schemas.openxmlformats.org/drawingml/2006/main">
            <a:r>
              <a:t>- Theory sequence: data/course-content.js, m02-s01, m02-s02, m02-s03.</a:t>
            </a:r>
          </a:p>
          <a:p xmlns:a="http://schemas.openxmlformats.org/drawingml/2006/main">
            <a:r>
              <a:t>- Module summary: data/course-map.js, Module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Build and test a limited colour palette that supports meaning, recognition and readable contrast.</a:t>
            </a:r>
          </a:p>
          <a:p xmlns:a="http://schemas.openxmlformats.org/drawingml/2006/main">
            <a:r>
              <a:t>Explain: Colour can attract attention, separate information and support recognition. A palette is a planned set of colours with roles, such as a main brand colour, support colour, background and text colour. Naming each role is more useful than choosing colours only because they look good together. Meaning changes with culture, context and surrounding imagery, so one colour cannot guarantee one message for every audience.</a:t>
            </a:r>
          </a:p>
          <a:p xmlns:a="http://schemas.openxmlformats.org/drawingml/2006/main">
            <a:r>
              <a:t>Clarify: Contrast is the visible difference between elements. Test text and backgrounds at the real viewing size, in colour and greyscale, and on more than one screen when possible. A call to action may need stronger contrast than supporting detail. Never rely on colour alone for an essential category or choice; reinforce it with words, icons or patterns.</a:t>
            </a:r>
          </a:p>
          <a:p xmlns:a="http://schemas.openxmlformats.org/drawingml/2006/main">
            <a:r>
              <a:t>Worked example: A student chooses deep green, warm cream and bright orange. Green carries large brand areas, cream provides calm reading surfaces and orange highlights one action. Dark text is tested on cream and cream text on green at poster and phone size. Orange text fails a small-size test, so orange remains an accent shape rather than carrying essential information. Repeated roles keep the palette recognisable.</a:t>
            </a:r>
          </a:p>
          <a:p xmlns:a="http://schemas.openxmlformats.org/drawingml/2006/main">
            <a:r>
              <a:t>Ask: What makes a palette more than favourite colours?</a:t>
            </a:r>
          </a:p>
          <a:p xmlns:a="http://schemas.openxmlformats.org/drawingml/2006/main">
            <a:r>
              <a:t>Listen for: Each colour has a role in a repeated system. Correct. Roles make the palette purposeful.</a:t>
            </a:r>
          </a:p>
          <a:p xmlns:a="http://schemas.openxmlformats.org/drawingml/2006/main">
            <a:r>
              <a:t>Misconception to correct: A bright colour is automatically readable. → Readability depends on foreground-background contrast at the actual size.</a:t>
            </a:r>
          </a:p>
          <a:p xmlns:a="http://schemas.openxmlformats.org/drawingml/2006/main">
            <a:r>
              <a:t>Transition: Connect this idea to Typography and tone.</a:t>
            </a:r>
          </a:p>
          <a:p xmlns:a="http://schemas.openxmlformats.org/drawingml/2006/main">
            <a:r>
              <a:t/>
            </a:r>
          </a:p>
          <a:p xmlns:a="http://schemas.openxmlformats.org/drawingml/2006/main">
            <a:r>
              <a:t>[Sources]</a:t>
            </a:r>
          </a:p>
          <a:p xmlns:a="http://schemas.openxmlformats.org/drawingml/2006/main">
            <a:r>
              <a:t>- Theory and check: data/course-content.js, m02-s01 and m02-s01-q01.</a:t>
            </a:r>
          </a:p>
          <a:p xmlns:a="http://schemas.openxmlformats.org/drawingml/2006/main">
            <a:r>
              <a:t>- Native projection-scale diagram adapted from approved visual colour-meaning-context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Use typography as a readable hierarchy that supports an appropriate brand voice.</a:t>
            </a:r>
          </a:p>
          <a:p xmlns:a="http://schemas.openxmlformats.org/drawingml/2006/main">
            <a:r>
              <a:t>Explain: Typography includes typeface, size, weight, spacing, line length and alignment. These features work together to create hierarchy and tone. A display style may suit a short brand name but become tiring in a paragraph. A useful system gives distinct roles to the name, headings, product information and small details. Limiting styles makes those relationships easier to understand.</a:t>
            </a:r>
          </a:p>
          <a:p xmlns:a="http://schemas.openxmlformats.org/drawingml/2006/main">
            <a:r>
              <a:t>Clarify: Rounded letters may feel informal and condensed capitals may feel forceful, but tone is an interpretation to test with the audience. Legibility concerns recognising characters; readability concerns following words comfortably. Decorative effects, tight spacing and long lines can reduce both. Essential names, prices and actions must remain clear at the size and distance where they will be viewed.</a:t>
            </a:r>
          </a:p>
          <a:p xmlns:a="http://schemas.openxmlformats.org/drawingml/2006/main">
            <a:r>
              <a:t>Worked example: A poster uses one distinctive face for a two-word name and one plain face for the slogan, product details and action. The name is largest, the offer next and supporting detail smaller but readable. Weight and spacing strengthen the levels, so four unrelated fonts are unnecessary. A phone test shows the slogan is too thin, so its weight increases while the friendly tone remains.</a:t>
            </a:r>
          </a:p>
          <a:p xmlns:a="http://schemas.openxmlformats.org/drawingml/2006/main">
            <a:r>
              <a:t>Ask: Which group contains typography decisions?</a:t>
            </a:r>
          </a:p>
          <a:p xmlns:a="http://schemas.openxmlformats.org/drawingml/2006/main">
            <a:r>
              <a:t>Listen for: Typeface, size, weight, spacing and alignment. Correct. These features shape hierarchy and readability.</a:t>
            </a:r>
          </a:p>
          <a:p xmlns:a="http://schemas.openxmlformats.org/drawingml/2006/main">
            <a:r>
              <a:t>Misconception to correct: More fonts make a more creative design. → A controlled type system often communicates more clearly and consistently.</a:t>
            </a:r>
          </a:p>
          <a:p xmlns:a="http://schemas.openxmlformats.org/drawingml/2006/main">
            <a:r>
              <a:t>Transition: Connect this idea to Hierarchy, layout and mood boards.</a:t>
            </a:r>
          </a:p>
          <a:p xmlns:a="http://schemas.openxmlformats.org/drawingml/2006/main">
            <a:r>
              <a:t/>
            </a:r>
          </a:p>
          <a:p xmlns:a="http://schemas.openxmlformats.org/drawingml/2006/main">
            <a:r>
              <a:t>[Sources]</a:t>
            </a:r>
          </a:p>
          <a:p xmlns:a="http://schemas.openxmlformats.org/drawingml/2006/main">
            <a:r>
              <a:t>- Theory and check: data/course-content.js, m02-s02 and m02-s02-q01.</a:t>
            </a:r>
          </a:p>
          <a:p xmlns:a="http://schemas.openxmlformats.org/drawingml/2006/main">
            <a:r>
              <a:t>- Native projection-scale diagram adapted from approved visual typography-tone-comparison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Organise elements so viewers notice, understand and act in a useful order.</a:t>
            </a:r>
          </a:p>
          <a:p xmlns:a="http://schemas.openxmlformats.org/drawingml/2006/main">
            <a:r>
              <a:t>Explain: Visual hierarchy is the order in which elements attract attention. Size, contrast, position, spacing and repetition can make one message dominant and another supporting. It does not mean making everything large. If the logo, image, slogan, price and action all shout equally, there is no entry point. Rank information according to the communication purpose before styling it.</a:t>
            </a:r>
          </a:p>
          <a:p xmlns:a="http://schemas.openxmlformats.org/drawingml/2006/main">
            <a:r>
              <a:t>Clarify: Alignment and proximity show what belongs together. White space protects readability and can separate groups without boxing every item. A grid keeps edges and spacing consistent while allowing one focal element to break the pattern deliberately. The supplied canteen menu and poster can be analysed for grouping and scanning, but the menu’s historical prices and products are not current information to republish.</a:t>
            </a:r>
          </a:p>
          <a:p xmlns:a="http://schemas.openxmlformats.org/drawingml/2006/main">
            <a:r>
              <a:t>Worked example: A useful mood board groups a small set of colours, type references, shapes, textures and image treatments around a direction such as “bold, quick and friendly”. The student annotates why each fits and removes attractive items that point elsewhere. The board becomes a filter for later choices. It guides original work; it is not copied into the final brand as a page of other people’s designs.</a:t>
            </a:r>
          </a:p>
          <a:p xmlns:a="http://schemas.openxmlformats.org/drawingml/2006/main">
            <a:r>
              <a:t>Ask: What is visual hierarchy?</a:t>
            </a:r>
          </a:p>
          <a:p xmlns:a="http://schemas.openxmlformats.org/drawingml/2006/main">
            <a:r>
              <a:t>Listen for: The planned order in which elements are noticed. Correct. Hierarchy creates an entry point and path.</a:t>
            </a:r>
          </a:p>
          <a:p xmlns:a="http://schemas.openxmlformats.org/drawingml/2006/main">
            <a:r>
              <a:t>Misconception to correct: Empty space is wasted space. → Purposeful space separates groups, protects reading and focuses attention.</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m02-s03 and m02-s03-q01.</a:t>
            </a:r>
          </a:p>
          <a:p xmlns:a="http://schemas.openxmlformats.org/drawingml/2006/main">
            <a:r>
              <a:t>- Native projection-scale diagram adapted from approved visual visual-hierarchy-eye-path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Each colour has a role in a repeated system. Feedback: Correct. Roles make the palette purposeful.</a:t>
            </a:r>
          </a:p>
          <a:p xmlns:a="http://schemas.openxmlformats.org/drawingml/2006/main">
            <a:r>
              <a:t>Question 2: Typeface, size, weight, spacing and alignment. Feedback: Correct. These features shape hierarchy and readability.</a:t>
            </a:r>
          </a:p>
          <a:p xmlns:a="http://schemas.openxmlformats.org/drawingml/2006/main">
            <a:r>
              <a:t>Question 3: The planned order in which elements are noticed. Feedback: Correct. Hierarchy creates an entry point and path.</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m02-s01-q01, m02-s02-q01, m02-s03-q01.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m02-s01-capstone, m02-s02-capstone, m02-s03-capstone.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m02-s01, m02-s02, m02-s03.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7a9656e09145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4b218a6ae0451a" /><Relationship Type="http://schemas.openxmlformats.org/officeDocument/2006/relationships/slideLayout" Target="/ppt/slideLayouts/slideLayout1.xml" Id="R6a6253e10bf841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253e10bf841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17ccd3af304a22" /><Relationship Type="http://schemas.openxmlformats.org/officeDocument/2006/relationships/image" Target="/ppt/media/image.png" Id="R042e5f86739d4ed4" /><Relationship Type="http://schemas.openxmlformats.org/officeDocument/2006/relationships/notesSlide" Target="/ppt/notesSlides/notesSlide1.xml" Id="R8007c742d5b341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013ec654db4d56" /><Relationship Type="http://schemas.openxmlformats.org/officeDocument/2006/relationships/notesSlide" Target="/ppt/notesSlides/notesSlide2.xml" Id="Re7bc453276d14e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78edfd60f74010" /><Relationship Type="http://schemas.openxmlformats.org/officeDocument/2006/relationships/notesSlide" Target="/ppt/notesSlides/notesSlide3.xml" Id="R19835b2828f54d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138e28d7c34df7" /><Relationship Type="http://schemas.openxmlformats.org/officeDocument/2006/relationships/notesSlide" Target="/ppt/notesSlides/notesSlide4.xml" Id="Rc67dca64a90c44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d7efe7f07242a3" /><Relationship Type="http://schemas.openxmlformats.org/officeDocument/2006/relationships/notesSlide" Target="/ppt/notesSlides/notesSlide5.xml" Id="R4387a075d64841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f2b3f81d544c4e" /><Relationship Type="http://schemas.openxmlformats.org/officeDocument/2006/relationships/notesSlide" Target="/ppt/notesSlides/notesSlide6.xml" Id="R8ceeec86dd784f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21cb662fa740e3" /><Relationship Type="http://schemas.openxmlformats.org/officeDocument/2006/relationships/notesSlide" Target="/ppt/notesSlides/notesSlide7.xml" Id="Rd963e8e5963549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d1db78e4794c87" /><Relationship Type="http://schemas.openxmlformats.org/officeDocument/2006/relationships/notesSlide" Target="/ppt/notesSlides/notesSlide8.xml" Id="R92537436b7604bdf"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3C6436D-84C4-47AE-95BE-F4874DA92BAD}"/>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270FB6-E304-4228-AC2C-056928C2F0F5}"/>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A97D39F-D04E-4548-9352-6B6DAA01D8DB}"/>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02</a:t>
            </a:r>
          </a:p>
        </p:txBody>
      </p:sp>
      <p:sp>
        <p:nvSpPr>
          <p:cNvPr id="4" name="">
            <a:extLst xmlns:a="http://schemas.openxmlformats.org/drawingml/2006/main">
              <a:ext uri="{FF2B5EF4-FFF2-40B4-BE49-F238E27FC236}">
                <a16:creationId xmlns:a16="http://schemas.microsoft.com/office/drawing/2014/main" id="{1848765C-EA0D-4EBD-BFCC-9BDCE3915FA4}"/>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Visual language</a:t>
            </a:r>
          </a:p>
        </p:txBody>
      </p:sp>
      <p:sp>
        <p:nvSpPr>
          <p:cNvPr id="5" name="">
            <a:extLst xmlns:a="http://schemas.openxmlformats.org/drawingml/2006/main">
              <a:ext uri="{FF2B5EF4-FFF2-40B4-BE49-F238E27FC236}">
                <a16:creationId xmlns:a16="http://schemas.microsoft.com/office/drawing/2014/main" id="{1E4E24D5-17F3-4AE5-B25B-94C1EFFEAAA6}"/>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Use colour, typography, hierarchy and mood boards deliberately.</a:t>
            </a:r>
          </a:p>
        </p:txBody>
      </p:sp>
      <p:sp>
        <p:nvSpPr>
          <p:cNvPr id="6" name="">
            <a:extLst xmlns:a="http://schemas.openxmlformats.org/drawingml/2006/main">
              <a:ext uri="{FF2B5EF4-FFF2-40B4-BE49-F238E27FC236}">
                <a16:creationId xmlns:a16="http://schemas.microsoft.com/office/drawing/2014/main" id="{2D3BEA6A-A5D7-49B1-B939-58DDCE218015}"/>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AE00CD99-0B91-4A77-953D-90F740B8D2A0}"/>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Where does your eye go first on a strong poster—and why?</a:t>
            </a:r>
          </a:p>
        </p:txBody>
      </p:sp>
      <p:sp>
        <p:nvSpPr>
          <p:cNvPr id="8" name="">
            <a:extLst xmlns:a="http://schemas.openxmlformats.org/drawingml/2006/main">
              <a:ext uri="{FF2B5EF4-FFF2-40B4-BE49-F238E27FC236}">
                <a16:creationId xmlns:a16="http://schemas.microsoft.com/office/drawing/2014/main" id="{2CED4A43-17E4-43ED-A4D9-93A19A43830C}"/>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Moodboard Workspace" title="Moodboard Workspace" descr="Overhead mood board with earthy swatches, paper textures, abstract letterforms, food photographs and layout thumbnails on a cutting mat."/>
          <p:cNvPicPr>
            <a:picLocks xmlns:a="http://schemas.openxmlformats.org/drawingml/2006/main" noChangeAspect="1"/>
          </p:cNvPicPr>
          <p:nvPr/>
        </p:nvPicPr>
        <p:blipFill>
          <a:blip xmlns:r="http://schemas.openxmlformats.org/officeDocument/2006/relationships" xmlns:a="http://schemas.openxmlformats.org/drawingml/2006/main" r:embed="R042e5f86739d4ed4"/>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8A8D0DE2-2361-46B0-9639-4A632F69A30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02  •  VISUAL LANGUAGE</a:t>
            </a:r>
          </a:p>
        </p:txBody>
      </p:sp>
      <p:sp>
        <p:nvSpPr>
          <p:cNvPr id="11" name="">
            <a:extLst xmlns:a="http://schemas.openxmlformats.org/drawingml/2006/main">
              <a:ext uri="{FF2B5EF4-FFF2-40B4-BE49-F238E27FC236}">
                <a16:creationId xmlns:a16="http://schemas.microsoft.com/office/drawing/2014/main" id="{F4816FA6-7FB0-4D52-BCEF-694EF5727EB1}"/>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297549419"/>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3938368-270E-4253-B459-EBD72A9449D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AB3747-39BE-42E5-802B-B4036138C7CC}"/>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70C8EC8F-E8B3-4E4A-B21A-73589109D819}"/>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3BD610F3-C29B-4EED-9875-08710D4379FF}"/>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5261056F-6D0D-484B-BC0F-5D2ADB46E7C9}"/>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A5D75B-C38B-4BDB-9B3C-BC2AEF346DFF}"/>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4CC7EF60-2259-488D-9DAF-DBA8ECCCDE84}"/>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Colour and meaning</a:t>
            </a:r>
          </a:p>
        </p:txBody>
      </p:sp>
      <p:sp>
        <p:nvSpPr>
          <p:cNvPr id="8" name="">
            <a:extLst xmlns:a="http://schemas.openxmlformats.org/drawingml/2006/main">
              <a:ext uri="{FF2B5EF4-FFF2-40B4-BE49-F238E27FC236}">
                <a16:creationId xmlns:a16="http://schemas.microsoft.com/office/drawing/2014/main" id="{2C0F937E-E9EA-4571-AA5D-F5C4EC6448FD}"/>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EE162657-E880-4746-BA3E-6E992F41ABBD}"/>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5A8F18-7F89-447C-AD99-27C58F2623D2}"/>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BC9C5347-A148-40BB-A9C9-8C19D6249952}"/>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Typography and tone</a:t>
            </a:r>
          </a:p>
        </p:txBody>
      </p:sp>
      <p:sp>
        <p:nvSpPr>
          <p:cNvPr id="12" name="">
            <a:extLst xmlns:a="http://schemas.openxmlformats.org/drawingml/2006/main">
              <a:ext uri="{FF2B5EF4-FFF2-40B4-BE49-F238E27FC236}">
                <a16:creationId xmlns:a16="http://schemas.microsoft.com/office/drawing/2014/main" id="{A17C9C67-3EC2-49FA-BFFC-00D40B6B8D4F}"/>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F1BFA424-3051-492F-8981-A30A53A00F39}"/>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E73E50-0446-4766-A709-034E3CDBAA34}"/>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BEAFFC5D-564B-4FCC-AED4-908C26A6483E}"/>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Hierarchy, layout and mood boards</a:t>
            </a:r>
          </a:p>
        </p:txBody>
      </p:sp>
      <p:sp>
        <p:nvSpPr>
          <p:cNvPr id="16" name="">
            <a:extLst xmlns:a="http://schemas.openxmlformats.org/drawingml/2006/main">
              <a:ext uri="{FF2B5EF4-FFF2-40B4-BE49-F238E27FC236}">
                <a16:creationId xmlns:a16="http://schemas.microsoft.com/office/drawing/2014/main" id="{EEF9752E-EA1B-44EE-BD26-75B16E22BDFD}"/>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2F4F7E2A-1F9C-4599-88CD-069F6B83916B}"/>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Where does your eye go first on a strong poster—and why?</a:t>
            </a:r>
          </a:p>
        </p:txBody>
      </p:sp>
      <p:sp>
        <p:nvSpPr>
          <p:cNvPr id="18" name="">
            <a:extLst xmlns:a="http://schemas.openxmlformats.org/drawingml/2006/main">
              <a:ext uri="{FF2B5EF4-FFF2-40B4-BE49-F238E27FC236}">
                <a16:creationId xmlns:a16="http://schemas.microsoft.com/office/drawing/2014/main" id="{BC444A8A-82E8-41DE-9353-2A180CDDF3CA}"/>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9F1BF2D3-5FF2-4618-9F8B-36411410679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02  •  VISUAL LANGUAGE</a:t>
            </a:r>
          </a:p>
        </p:txBody>
      </p:sp>
      <p:sp>
        <p:nvSpPr>
          <p:cNvPr id="20" name="">
            <a:extLst xmlns:a="http://schemas.openxmlformats.org/drawingml/2006/main">
              <a:ext uri="{FF2B5EF4-FFF2-40B4-BE49-F238E27FC236}">
                <a16:creationId xmlns:a16="http://schemas.microsoft.com/office/drawing/2014/main" id="{3A829C3D-2E0B-4048-9AD6-A85858A71DBB}"/>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557284790"/>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4E386A7-C92E-418D-A896-F754A073AD5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4CEAF6-0002-4257-B5B1-CF6B6FB3970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2.1  COLOUR AND MEANING</a:t>
            </a:r>
          </a:p>
        </p:txBody>
      </p:sp>
      <p:sp>
        <p:nvSpPr>
          <p:cNvPr id="3" name="">
            <a:extLst xmlns:a="http://schemas.openxmlformats.org/drawingml/2006/main">
              <a:ext uri="{FF2B5EF4-FFF2-40B4-BE49-F238E27FC236}">
                <a16:creationId xmlns:a16="http://schemas.microsoft.com/office/drawing/2014/main" id="{6070594C-E60A-472B-94EA-3D86E0AB159F}"/>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Colour and meaning</a:t>
            </a:r>
          </a:p>
        </p:txBody>
      </p:sp>
      <p:sp>
        <p:nvSpPr>
          <p:cNvPr id="4" name="">
            <a:extLst xmlns:a="http://schemas.openxmlformats.org/drawingml/2006/main">
              <a:ext uri="{FF2B5EF4-FFF2-40B4-BE49-F238E27FC236}">
                <a16:creationId xmlns:a16="http://schemas.microsoft.com/office/drawing/2014/main" id="{B2F1C312-44E5-4F6F-A693-99BE791F4B04}"/>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00821DE7-5809-4373-87BB-E6D1AE0E98E5}"/>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F3AB6B-9A1D-4E5E-9231-E27CCD516812}"/>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palette is a system with named roles.</a:t>
            </a:r>
          </a:p>
        </p:txBody>
      </p:sp>
      <p:sp>
        <p:nvSpPr>
          <p:cNvPr id="7" name="">
            <a:extLst xmlns:a="http://schemas.openxmlformats.org/drawingml/2006/main">
              <a:ext uri="{FF2B5EF4-FFF2-40B4-BE49-F238E27FC236}">
                <a16:creationId xmlns:a16="http://schemas.microsoft.com/office/drawing/2014/main" id="{F10B34A3-856E-492C-B23B-648FE3F75C64}"/>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95908B3-8C35-4590-9FFD-474F8D800859}"/>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Colour meaning depends on context.</a:t>
            </a:r>
          </a:p>
        </p:txBody>
      </p:sp>
      <p:sp>
        <p:nvSpPr>
          <p:cNvPr id="9" name="">
            <a:extLst xmlns:a="http://schemas.openxmlformats.org/drawingml/2006/main">
              <a:ext uri="{FF2B5EF4-FFF2-40B4-BE49-F238E27FC236}">
                <a16:creationId xmlns:a16="http://schemas.microsoft.com/office/drawing/2014/main" id="{792A7C67-EFD7-4084-AA98-283741CB7033}"/>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01743E-149B-4C84-92AA-ABEB28FDE312}"/>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Essential information needs contrast and a non-colour cue.</a:t>
            </a:r>
          </a:p>
        </p:txBody>
      </p:sp>
      <p:sp>
        <p:nvSpPr>
          <p:cNvPr id="11" name="">
            <a:extLst xmlns:a="http://schemas.openxmlformats.org/drawingml/2006/main">
              <a:ext uri="{FF2B5EF4-FFF2-40B4-BE49-F238E27FC236}">
                <a16:creationId xmlns:a16="http://schemas.microsoft.com/office/drawing/2014/main" id="{BB2974A0-C499-4A56-AB40-660EAFDAF045}"/>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72516562-4070-46DC-8E63-23DDA17666C8}"/>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COLOUR MEANING DEPENDS ON USE</a:t>
            </a:r>
          </a:p>
        </p:txBody>
      </p:sp>
      <p:sp>
        <p:nvSpPr>
          <p:cNvPr id="13" name="">
            <a:extLst xmlns:a="http://schemas.openxmlformats.org/drawingml/2006/main">
              <a:ext uri="{FF2B5EF4-FFF2-40B4-BE49-F238E27FC236}">
                <a16:creationId xmlns:a16="http://schemas.microsoft.com/office/drawing/2014/main" id="{93F33C72-629D-4083-9404-56714C68EEC2}"/>
              </a:ext>
            </a:extLst>
          </p:cNvPr>
          <p:cNvSpPr>
            <a:spLocks xmlns:a="http://schemas.openxmlformats.org/drawingml/2006/main" noGrp="1"/>
          </p:cNvSpPr>
          <p:nvPr/>
        </p:nvSpPr>
        <p:spPr>
          <a:xfrm xmlns:a="http://schemas.openxmlformats.org/drawingml/2006/main">
            <a:off x="7696200" y="2009775"/>
            <a:ext cx="3314700" cy="571500"/>
          </a:xfrm>
          <a:prstGeom xmlns:a="http://schemas.openxmlformats.org/drawingml/2006/main" prst="roundRect">
            <a:avLst>
              <a:gd name="adj" fmla="val 13333"/>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ASSIGN A ROLE</a:t>
            </a:r>
          </a:p>
        </p:txBody>
      </p:sp>
      <p:sp>
        <p:nvSpPr>
          <p:cNvPr id="14" name="">
            <a:extLst xmlns:a="http://schemas.openxmlformats.org/drawingml/2006/main">
              <a:ext uri="{FF2B5EF4-FFF2-40B4-BE49-F238E27FC236}">
                <a16:creationId xmlns:a16="http://schemas.microsoft.com/office/drawing/2014/main" id="{EF1D0A98-9870-4224-8220-C99AC871A9C5}"/>
              </a:ext>
            </a:extLst>
          </p:cNvPr>
          <p:cNvSpPr>
            <a:spLocks xmlns:a="http://schemas.openxmlformats.org/drawingml/2006/main" noGrp="1"/>
          </p:cNvSpPr>
          <p:nvPr/>
        </p:nvSpPr>
        <p:spPr>
          <a:xfrm xmlns:a="http://schemas.openxmlformats.org/drawingml/2006/main">
            <a:off x="9182100" y="25812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235"/>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7985441-8D12-4558-8CB9-4D38B75F4D30}"/>
              </a:ext>
            </a:extLst>
          </p:cNvPr>
          <p:cNvSpPr>
            <a:spLocks xmlns:a="http://schemas.openxmlformats.org/drawingml/2006/main" noGrp="1"/>
          </p:cNvSpPr>
          <p:nvPr/>
        </p:nvSpPr>
        <p:spPr>
          <a:xfrm xmlns:a="http://schemas.openxmlformats.org/drawingml/2006/main">
            <a:off x="7696200" y="2752725"/>
            <a:ext cx="3314700" cy="571500"/>
          </a:xfrm>
          <a:prstGeom xmlns:a="http://schemas.openxmlformats.org/drawingml/2006/main" prst="roundRect">
            <a:avLst>
              <a:gd name="adj" fmla="val 13333"/>
            </a:avLst>
          </a:prstGeom>
          <a:solidFill xmlns:a="http://schemas.openxmlformats.org/drawingml/2006/main">
            <a:srgbClr val="E8674B"/>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CHECK CONTEXT</a:t>
            </a:r>
          </a:p>
        </p:txBody>
      </p:sp>
      <p:sp>
        <p:nvSpPr>
          <p:cNvPr id="16" name="">
            <a:extLst xmlns:a="http://schemas.openxmlformats.org/drawingml/2006/main">
              <a:ext uri="{FF2B5EF4-FFF2-40B4-BE49-F238E27FC236}">
                <a16:creationId xmlns:a16="http://schemas.microsoft.com/office/drawing/2014/main" id="{01A558D5-4952-43D5-BE30-940C6517F245}"/>
              </a:ext>
            </a:extLst>
          </p:cNvPr>
          <p:cNvSpPr>
            <a:spLocks xmlns:a="http://schemas.openxmlformats.org/drawingml/2006/main" noGrp="1"/>
          </p:cNvSpPr>
          <p:nvPr/>
        </p:nvSpPr>
        <p:spPr>
          <a:xfrm xmlns:a="http://schemas.openxmlformats.org/drawingml/2006/main">
            <a:off x="9182100" y="33242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235"/>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07A3DFDA-5551-4BD1-B744-16631B38ACD9}"/>
              </a:ext>
            </a:extLst>
          </p:cNvPr>
          <p:cNvSpPr>
            <a:spLocks xmlns:a="http://schemas.openxmlformats.org/drawingml/2006/main" noGrp="1"/>
          </p:cNvSpPr>
          <p:nvPr/>
        </p:nvSpPr>
        <p:spPr>
          <a:xfrm xmlns:a="http://schemas.openxmlformats.org/drawingml/2006/main">
            <a:off x="7696200" y="3495675"/>
            <a:ext cx="3314700" cy="571500"/>
          </a:xfrm>
          <a:prstGeom xmlns:a="http://schemas.openxmlformats.org/drawingml/2006/main" prst="roundRect">
            <a:avLst>
              <a:gd name="adj" fmla="val 13333"/>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TEST CONTRAST</a:t>
            </a:r>
          </a:p>
        </p:txBody>
      </p:sp>
      <p:sp>
        <p:nvSpPr>
          <p:cNvPr id="18" name="">
            <a:extLst xmlns:a="http://schemas.openxmlformats.org/drawingml/2006/main">
              <a:ext uri="{FF2B5EF4-FFF2-40B4-BE49-F238E27FC236}">
                <a16:creationId xmlns:a16="http://schemas.microsoft.com/office/drawing/2014/main" id="{54A2C295-80BA-40AF-8018-E35F64C7896C}"/>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84334"/>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Choose colour for a job—not only because it is a favourite.</a:t>
            </a:r>
          </a:p>
        </p:txBody>
      </p:sp>
      <p:sp>
        <p:nvSpPr>
          <p:cNvPr id="19" name="">
            <a:extLst xmlns:a="http://schemas.openxmlformats.org/drawingml/2006/main">
              <a:ext uri="{FF2B5EF4-FFF2-40B4-BE49-F238E27FC236}">
                <a16:creationId xmlns:a16="http://schemas.microsoft.com/office/drawing/2014/main" id="{78F2E70A-4EA1-4F93-B63D-6DBF72F04B9A}"/>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0" name="">
            <a:extLst xmlns:a="http://schemas.openxmlformats.org/drawingml/2006/main">
              <a:ext uri="{FF2B5EF4-FFF2-40B4-BE49-F238E27FC236}">
                <a16:creationId xmlns:a16="http://schemas.microsoft.com/office/drawing/2014/main" id="{543FB9C6-2FA4-441F-B798-5155CB62A45A}"/>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makes a palette more than favourite colours?</a:t>
            </a:r>
          </a:p>
        </p:txBody>
      </p:sp>
      <p:sp>
        <p:nvSpPr>
          <p:cNvPr id="21" name="">
            <a:extLst xmlns:a="http://schemas.openxmlformats.org/drawingml/2006/main">
              <a:ext uri="{FF2B5EF4-FFF2-40B4-BE49-F238E27FC236}">
                <a16:creationId xmlns:a16="http://schemas.microsoft.com/office/drawing/2014/main" id="{E26A45BB-C20E-406B-8094-C25DE684D6A4}"/>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02  •  VISUAL LANGUAGE</a:t>
            </a:r>
          </a:p>
        </p:txBody>
      </p:sp>
      <p:sp>
        <p:nvSpPr>
          <p:cNvPr id="22" name="">
            <a:extLst xmlns:a="http://schemas.openxmlformats.org/drawingml/2006/main">
              <a:ext uri="{FF2B5EF4-FFF2-40B4-BE49-F238E27FC236}">
                <a16:creationId xmlns:a16="http://schemas.microsoft.com/office/drawing/2014/main" id="{3FE49FB6-602D-42E0-8FEC-6D5C5720A160}"/>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860457479"/>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D1A8A62-F1D9-47E0-8556-BB5FFA385C8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91E720-DBD5-4073-9125-E85143244444}"/>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2.2  TYPOGRAPHY AND TONE</a:t>
            </a:r>
          </a:p>
        </p:txBody>
      </p:sp>
      <p:sp>
        <p:nvSpPr>
          <p:cNvPr id="3" name="">
            <a:extLst xmlns:a="http://schemas.openxmlformats.org/drawingml/2006/main">
              <a:ext uri="{FF2B5EF4-FFF2-40B4-BE49-F238E27FC236}">
                <a16:creationId xmlns:a16="http://schemas.microsoft.com/office/drawing/2014/main" id="{A12CD1A9-9A7C-4C12-B0B6-4806EE5394BC}"/>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Typography and tone</a:t>
            </a:r>
          </a:p>
        </p:txBody>
      </p:sp>
      <p:sp>
        <p:nvSpPr>
          <p:cNvPr id="4" name="">
            <a:extLst xmlns:a="http://schemas.openxmlformats.org/drawingml/2006/main">
              <a:ext uri="{FF2B5EF4-FFF2-40B4-BE49-F238E27FC236}">
                <a16:creationId xmlns:a16="http://schemas.microsoft.com/office/drawing/2014/main" id="{BDE03B3B-CCE7-45E9-B384-0327543C5445}"/>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62E6637B-B3CA-444A-A0D6-0CDC2995D881}"/>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F123655-F5B8-4861-BD36-C980D45D6ACD}"/>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Typography combines several controllable features.</a:t>
            </a:r>
          </a:p>
        </p:txBody>
      </p:sp>
      <p:sp>
        <p:nvSpPr>
          <p:cNvPr id="7" name="">
            <a:extLst xmlns:a="http://schemas.openxmlformats.org/drawingml/2006/main">
              <a:ext uri="{FF2B5EF4-FFF2-40B4-BE49-F238E27FC236}">
                <a16:creationId xmlns:a16="http://schemas.microsoft.com/office/drawing/2014/main" id="{76B15DE3-D349-4038-969D-DDC69731F272}"/>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677F9B-854E-4C6F-B0FB-241932C37A90}"/>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Tone is tested, not assumed.</a:t>
            </a:r>
          </a:p>
        </p:txBody>
      </p:sp>
      <p:sp>
        <p:nvSpPr>
          <p:cNvPr id="9" name="">
            <a:extLst xmlns:a="http://schemas.openxmlformats.org/drawingml/2006/main">
              <a:ext uri="{FF2B5EF4-FFF2-40B4-BE49-F238E27FC236}">
                <a16:creationId xmlns:a16="http://schemas.microsoft.com/office/drawing/2014/main" id="{6629C840-5C6D-4EF8-A720-DE6001B5CB3B}"/>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B4C4BC-3F96-4631-80CC-23E823705F54}"/>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small set of type roles supports hierarchy.</a:t>
            </a:r>
          </a:p>
        </p:txBody>
      </p:sp>
      <p:sp>
        <p:nvSpPr>
          <p:cNvPr id="11" name="">
            <a:extLst xmlns:a="http://schemas.openxmlformats.org/drawingml/2006/main">
              <a:ext uri="{FF2B5EF4-FFF2-40B4-BE49-F238E27FC236}">
                <a16:creationId xmlns:a16="http://schemas.microsoft.com/office/drawing/2014/main" id="{EAAA61FD-A60B-4C1E-8686-E0496AB14DC8}"/>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F9BDCFEA-35BF-4F79-A24D-44973CE2A7CE}"/>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TYPE CHOICES MUST FIT AND FUNCTION</a:t>
            </a:r>
          </a:p>
        </p:txBody>
      </p:sp>
      <p:sp>
        <p:nvSpPr>
          <p:cNvPr id="13" name="">
            <a:extLst xmlns:a="http://schemas.openxmlformats.org/drawingml/2006/main">
              <a:ext uri="{FF2B5EF4-FFF2-40B4-BE49-F238E27FC236}">
                <a16:creationId xmlns:a16="http://schemas.microsoft.com/office/drawing/2014/main" id="{9E6FF42A-1565-4AFD-A0F0-25CC50BEB707}"/>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AUDIENCE</a:t>
            </a:r>
          </a:p>
        </p:txBody>
      </p:sp>
      <p:sp>
        <p:nvSpPr>
          <p:cNvPr id="14" name="">
            <a:extLst xmlns:a="http://schemas.openxmlformats.org/drawingml/2006/main">
              <a:ext uri="{FF2B5EF4-FFF2-40B4-BE49-F238E27FC236}">
                <a16:creationId xmlns:a16="http://schemas.microsoft.com/office/drawing/2014/main" id="{41D63D26-B99A-42ED-9818-FA838740BC88}"/>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09A95982-99E3-4F08-9EE7-DCD3FE00E705}"/>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TONE</a:t>
            </a:r>
          </a:p>
        </p:txBody>
      </p:sp>
      <p:sp>
        <p:nvSpPr>
          <p:cNvPr id="16" name="">
            <a:extLst xmlns:a="http://schemas.openxmlformats.org/drawingml/2006/main">
              <a:ext uri="{FF2B5EF4-FFF2-40B4-BE49-F238E27FC236}">
                <a16:creationId xmlns:a16="http://schemas.microsoft.com/office/drawing/2014/main" id="{D7B8C568-DEBA-4C8C-A664-58FB8C3F085F}"/>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4A02B93D-CC44-41B7-8B2C-39461C061591}"/>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TYPE CHOICE</a:t>
            </a:r>
          </a:p>
        </p:txBody>
      </p:sp>
      <p:sp>
        <p:nvSpPr>
          <p:cNvPr id="18" name="">
            <a:extLst xmlns:a="http://schemas.openxmlformats.org/drawingml/2006/main">
              <a:ext uri="{FF2B5EF4-FFF2-40B4-BE49-F238E27FC236}">
                <a16:creationId xmlns:a16="http://schemas.microsoft.com/office/drawing/2014/main" id="{F83B709A-44C0-45B1-A6D9-A1761838112F}"/>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D4C09C1-BCBD-41F9-AC3D-16D653CDF04D}"/>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READABILITY TEST</a:t>
            </a:r>
          </a:p>
        </p:txBody>
      </p:sp>
      <p:sp>
        <p:nvSpPr>
          <p:cNvPr id="20" name="">
            <a:extLst xmlns:a="http://schemas.openxmlformats.org/drawingml/2006/main">
              <a:ext uri="{FF2B5EF4-FFF2-40B4-BE49-F238E27FC236}">
                <a16:creationId xmlns:a16="http://schemas.microsoft.com/office/drawing/2014/main" id="{2D894A4C-22BD-4AA2-BFE5-D200B7D5C906}"/>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85272"/>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A suitable tone still has to be easy to read at the final size.</a:t>
            </a:r>
          </a:p>
        </p:txBody>
      </p:sp>
      <p:sp>
        <p:nvSpPr>
          <p:cNvPr id="21" name="">
            <a:extLst xmlns:a="http://schemas.openxmlformats.org/drawingml/2006/main">
              <a:ext uri="{FF2B5EF4-FFF2-40B4-BE49-F238E27FC236}">
                <a16:creationId xmlns:a16="http://schemas.microsoft.com/office/drawing/2014/main" id="{F8A5DD37-F6F2-46DA-A482-8B20BC0A3312}"/>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298ABC10-16FB-4A25-804A-2E0211657844}"/>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group contains typography decisions?</a:t>
            </a:r>
          </a:p>
        </p:txBody>
      </p:sp>
      <p:sp>
        <p:nvSpPr>
          <p:cNvPr id="23" name="">
            <a:extLst xmlns:a="http://schemas.openxmlformats.org/drawingml/2006/main">
              <a:ext uri="{FF2B5EF4-FFF2-40B4-BE49-F238E27FC236}">
                <a16:creationId xmlns:a16="http://schemas.microsoft.com/office/drawing/2014/main" id="{94D4F039-CDE9-43E9-BDC6-2B7AA86ECBA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02  •  VISUAL LANGUAGE</a:t>
            </a:r>
          </a:p>
        </p:txBody>
      </p:sp>
      <p:sp>
        <p:nvSpPr>
          <p:cNvPr id="24" name="">
            <a:extLst xmlns:a="http://schemas.openxmlformats.org/drawingml/2006/main">
              <a:ext uri="{FF2B5EF4-FFF2-40B4-BE49-F238E27FC236}">
                <a16:creationId xmlns:a16="http://schemas.microsoft.com/office/drawing/2014/main" id="{700EB668-CED0-4FEE-8B0A-43231328E1E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1648959711"/>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02412D6-FB91-4F27-9C6A-3750AB6F7A2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AB2617-88BA-4FD7-B4C9-FFDF719CD2FB}"/>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2.3  HIERARCHY, LAYOUT AND MOOD BOARDS</a:t>
            </a:r>
          </a:p>
        </p:txBody>
      </p:sp>
      <p:sp>
        <p:nvSpPr>
          <p:cNvPr id="3" name="">
            <a:extLst xmlns:a="http://schemas.openxmlformats.org/drawingml/2006/main">
              <a:ext uri="{FF2B5EF4-FFF2-40B4-BE49-F238E27FC236}">
                <a16:creationId xmlns:a16="http://schemas.microsoft.com/office/drawing/2014/main" id="{ADEA39CC-40F2-4484-8DF7-EBADB10074D1}"/>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Hierarchy, layout and mood boards</a:t>
            </a:r>
          </a:p>
        </p:txBody>
      </p:sp>
      <p:sp>
        <p:nvSpPr>
          <p:cNvPr id="4" name="">
            <a:extLst xmlns:a="http://schemas.openxmlformats.org/drawingml/2006/main">
              <a:ext uri="{FF2B5EF4-FFF2-40B4-BE49-F238E27FC236}">
                <a16:creationId xmlns:a16="http://schemas.microsoft.com/office/drawing/2014/main" id="{8C1B71D0-AEB7-4F36-AA2A-958997C4602C}"/>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192C95B5-DDA7-4F1B-A0FE-76F660EAC8D8}"/>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1E9AA7-E32D-40F4-853D-90CABA5DC97D}"/>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Rank information before styling.</a:t>
            </a:r>
          </a:p>
        </p:txBody>
      </p:sp>
      <p:sp>
        <p:nvSpPr>
          <p:cNvPr id="7" name="">
            <a:extLst xmlns:a="http://schemas.openxmlformats.org/drawingml/2006/main">
              <a:ext uri="{FF2B5EF4-FFF2-40B4-BE49-F238E27FC236}">
                <a16:creationId xmlns:a16="http://schemas.microsoft.com/office/drawing/2014/main" id="{BAC00469-F84E-41CF-8BD5-503D16CEDC41}"/>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70FD73-2C52-4475-9D26-65A6EBDEE729}"/>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Alignment, proximity and space show relationships.</a:t>
            </a:r>
          </a:p>
        </p:txBody>
      </p:sp>
      <p:sp>
        <p:nvSpPr>
          <p:cNvPr id="9" name="">
            <a:extLst xmlns:a="http://schemas.openxmlformats.org/drawingml/2006/main">
              <a:ext uri="{FF2B5EF4-FFF2-40B4-BE49-F238E27FC236}">
                <a16:creationId xmlns:a16="http://schemas.microsoft.com/office/drawing/2014/main" id="{A517401A-53F2-4CBC-9C17-4B0BC3F5C25A}"/>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3F9DA7-1680-4EC6-82DC-E474AA5CE243}"/>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mood board is an annotated filter, not a final collage.</a:t>
            </a:r>
          </a:p>
        </p:txBody>
      </p:sp>
      <p:sp>
        <p:nvSpPr>
          <p:cNvPr id="11" name="">
            <a:extLst xmlns:a="http://schemas.openxmlformats.org/drawingml/2006/main">
              <a:ext uri="{FF2B5EF4-FFF2-40B4-BE49-F238E27FC236}">
                <a16:creationId xmlns:a16="http://schemas.microsoft.com/office/drawing/2014/main" id="{5114F34E-848E-4C0E-A337-21E657AB715A}"/>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D907F208-29FA-42C7-A9AB-65FB9F3000E5}"/>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DESIGN THE VIEWER'S PATH</a:t>
            </a:r>
          </a:p>
        </p:txBody>
      </p:sp>
      <p:sp>
        <p:nvSpPr>
          <p:cNvPr id="13" name="">
            <a:extLst xmlns:a="http://schemas.openxmlformats.org/drawingml/2006/main">
              <a:ext uri="{FF2B5EF4-FFF2-40B4-BE49-F238E27FC236}">
                <a16:creationId xmlns:a16="http://schemas.microsoft.com/office/drawing/2014/main" id="{23B68AC4-AE92-4A5B-B92D-E55AEB60F1CA}"/>
              </a:ext>
            </a:extLst>
          </p:cNvPr>
          <p:cNvSpPr>
            <a:spLocks xmlns:a="http://schemas.openxmlformats.org/drawingml/2006/main" noGrp="1"/>
          </p:cNvSpPr>
          <p:nvPr/>
        </p:nvSpPr>
        <p:spPr>
          <a:xfrm xmlns:a="http://schemas.openxmlformats.org/drawingml/2006/main">
            <a:off x="7696200" y="2009775"/>
            <a:ext cx="3314700" cy="571500"/>
          </a:xfrm>
          <a:prstGeom xmlns:a="http://schemas.openxmlformats.org/drawingml/2006/main" prst="roundRect">
            <a:avLst>
              <a:gd name="adj" fmla="val 13333"/>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FIRST</a:t>
            </a:r>
          </a:p>
        </p:txBody>
      </p:sp>
      <p:sp>
        <p:nvSpPr>
          <p:cNvPr id="14" name="">
            <a:extLst xmlns:a="http://schemas.openxmlformats.org/drawingml/2006/main">
              <a:ext uri="{FF2B5EF4-FFF2-40B4-BE49-F238E27FC236}">
                <a16:creationId xmlns:a16="http://schemas.microsoft.com/office/drawing/2014/main" id="{E9F06551-A119-4DAB-A8B0-88C749C6FFCF}"/>
              </a:ext>
            </a:extLst>
          </p:cNvPr>
          <p:cNvSpPr>
            <a:spLocks xmlns:a="http://schemas.openxmlformats.org/drawingml/2006/main" noGrp="1"/>
          </p:cNvSpPr>
          <p:nvPr/>
        </p:nvSpPr>
        <p:spPr>
          <a:xfrm xmlns:a="http://schemas.openxmlformats.org/drawingml/2006/main">
            <a:off x="9182100" y="25812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235"/>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5B8FA8BB-DE5A-4991-BF5A-A70BF00D007E}"/>
              </a:ext>
            </a:extLst>
          </p:cNvPr>
          <p:cNvSpPr>
            <a:spLocks xmlns:a="http://schemas.openxmlformats.org/drawingml/2006/main" noGrp="1"/>
          </p:cNvSpPr>
          <p:nvPr/>
        </p:nvSpPr>
        <p:spPr>
          <a:xfrm xmlns:a="http://schemas.openxmlformats.org/drawingml/2006/main">
            <a:off x="7696200" y="2752725"/>
            <a:ext cx="3314700" cy="571500"/>
          </a:xfrm>
          <a:prstGeom xmlns:a="http://schemas.openxmlformats.org/drawingml/2006/main" prst="roundRect">
            <a:avLst>
              <a:gd name="adj" fmla="val 13333"/>
            </a:avLst>
          </a:prstGeom>
          <a:solidFill xmlns:a="http://schemas.openxmlformats.org/drawingml/2006/main">
            <a:srgbClr val="E8674B"/>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NEXT</a:t>
            </a:r>
          </a:p>
        </p:txBody>
      </p:sp>
      <p:sp>
        <p:nvSpPr>
          <p:cNvPr id="16" name="">
            <a:extLst xmlns:a="http://schemas.openxmlformats.org/drawingml/2006/main">
              <a:ext uri="{FF2B5EF4-FFF2-40B4-BE49-F238E27FC236}">
                <a16:creationId xmlns:a16="http://schemas.microsoft.com/office/drawing/2014/main" id="{7324455B-4A2D-4078-9A16-AB9AE2F93D46}"/>
              </a:ext>
            </a:extLst>
          </p:cNvPr>
          <p:cNvSpPr>
            <a:spLocks xmlns:a="http://schemas.openxmlformats.org/drawingml/2006/main" noGrp="1"/>
          </p:cNvSpPr>
          <p:nvPr/>
        </p:nvSpPr>
        <p:spPr>
          <a:xfrm xmlns:a="http://schemas.openxmlformats.org/drawingml/2006/main">
            <a:off x="9182100" y="33242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235"/>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8D387483-35FC-4C91-AA8C-43B4D9986800}"/>
              </a:ext>
            </a:extLst>
          </p:cNvPr>
          <p:cNvSpPr>
            <a:spLocks xmlns:a="http://schemas.openxmlformats.org/drawingml/2006/main" noGrp="1"/>
          </p:cNvSpPr>
          <p:nvPr/>
        </p:nvSpPr>
        <p:spPr>
          <a:xfrm xmlns:a="http://schemas.openxmlformats.org/drawingml/2006/main">
            <a:off x="7696200" y="3495675"/>
            <a:ext cx="3314700" cy="571500"/>
          </a:xfrm>
          <a:prstGeom xmlns:a="http://schemas.openxmlformats.org/drawingml/2006/main" prst="roundRect">
            <a:avLst>
              <a:gd name="adj" fmla="val 13333"/>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DETAIL</a:t>
            </a:r>
          </a:p>
        </p:txBody>
      </p:sp>
      <p:sp>
        <p:nvSpPr>
          <p:cNvPr id="18" name="">
            <a:extLst xmlns:a="http://schemas.openxmlformats.org/drawingml/2006/main">
              <a:ext uri="{FF2B5EF4-FFF2-40B4-BE49-F238E27FC236}">
                <a16:creationId xmlns:a16="http://schemas.microsoft.com/office/drawing/2014/main" id="{49067214-F777-44F0-BAF1-123DA73AC90F}"/>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80953"/>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Size, contrast and spacing tell the eye what to notice in order.</a:t>
            </a:r>
          </a:p>
        </p:txBody>
      </p:sp>
      <p:sp>
        <p:nvSpPr>
          <p:cNvPr id="19" name="">
            <a:extLst xmlns:a="http://schemas.openxmlformats.org/drawingml/2006/main">
              <a:ext uri="{FF2B5EF4-FFF2-40B4-BE49-F238E27FC236}">
                <a16:creationId xmlns:a16="http://schemas.microsoft.com/office/drawing/2014/main" id="{2C6EEDC2-531B-492E-A805-92129A153E4C}"/>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0" name="">
            <a:extLst xmlns:a="http://schemas.openxmlformats.org/drawingml/2006/main">
              <a:ext uri="{FF2B5EF4-FFF2-40B4-BE49-F238E27FC236}">
                <a16:creationId xmlns:a16="http://schemas.microsoft.com/office/drawing/2014/main" id="{D12A9C26-0171-474E-BF87-DD00B942749C}"/>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visual hierarchy?</a:t>
            </a:r>
          </a:p>
        </p:txBody>
      </p:sp>
      <p:sp>
        <p:nvSpPr>
          <p:cNvPr id="21" name="">
            <a:extLst xmlns:a="http://schemas.openxmlformats.org/drawingml/2006/main">
              <a:ext uri="{FF2B5EF4-FFF2-40B4-BE49-F238E27FC236}">
                <a16:creationId xmlns:a16="http://schemas.microsoft.com/office/drawing/2014/main" id="{A2920676-4309-4293-AF6F-FCE91E8925B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02  •  VISUAL LANGUAGE</a:t>
            </a:r>
          </a:p>
        </p:txBody>
      </p:sp>
      <p:sp>
        <p:nvSpPr>
          <p:cNvPr id="22" name="">
            <a:extLst xmlns:a="http://schemas.openxmlformats.org/drawingml/2006/main">
              <a:ext uri="{FF2B5EF4-FFF2-40B4-BE49-F238E27FC236}">
                <a16:creationId xmlns:a16="http://schemas.microsoft.com/office/drawing/2014/main" id="{56F5AEF6-837B-4921-B2E8-2D118080C8FE}"/>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2101179991"/>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5C7B089-3DFC-497E-9014-2E1E4EE82A1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69EDDE-4953-49A7-B9FF-A8EFBC52B4D0}"/>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EA3322BA-5D76-449F-83F4-23CA4DD6CE54}"/>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503532A9-9536-43E5-A5CD-789234BB78FB}"/>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0BB24901-34AC-468F-9E32-DC73CB2051CA}"/>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A3650EF2-20AD-48C1-8412-F2E58957B230}"/>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7B57103B-29D2-4D3C-A50C-82429CDC9ACE}"/>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makes a palette more than favourite colours?</a:t>
            </a:r>
          </a:p>
        </p:txBody>
      </p:sp>
      <p:sp>
        <p:nvSpPr>
          <p:cNvPr id="8" name="">
            <a:extLst xmlns:a="http://schemas.openxmlformats.org/drawingml/2006/main">
              <a:ext uri="{FF2B5EF4-FFF2-40B4-BE49-F238E27FC236}">
                <a16:creationId xmlns:a16="http://schemas.microsoft.com/office/drawing/2014/main" id="{AF3C1CD8-C12B-433E-A543-5AEBBA580FBB}"/>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985F0003-9D49-43C5-9423-D428CA2292E7}"/>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E2B00FF9-A05B-4A39-A7FC-BA771FF4A1DF}"/>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group contains typography decisions?</a:t>
            </a:r>
          </a:p>
        </p:txBody>
      </p:sp>
      <p:sp>
        <p:nvSpPr>
          <p:cNvPr id="11" name="">
            <a:extLst xmlns:a="http://schemas.openxmlformats.org/drawingml/2006/main">
              <a:ext uri="{FF2B5EF4-FFF2-40B4-BE49-F238E27FC236}">
                <a16:creationId xmlns:a16="http://schemas.microsoft.com/office/drawing/2014/main" id="{EE382F47-5C92-4B81-8167-D172CB83E184}"/>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64E76718-B467-49D5-AA45-74123CC3AE58}"/>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FFF77601-3197-4E88-A10B-28C0ABB32992}"/>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visual hierarchy?</a:t>
            </a:r>
          </a:p>
        </p:txBody>
      </p:sp>
      <p:sp>
        <p:nvSpPr>
          <p:cNvPr id="14" name="">
            <a:extLst xmlns:a="http://schemas.openxmlformats.org/drawingml/2006/main">
              <a:ext uri="{FF2B5EF4-FFF2-40B4-BE49-F238E27FC236}">
                <a16:creationId xmlns:a16="http://schemas.microsoft.com/office/drawing/2014/main" id="{A0C6E35B-1F4C-458A-BB46-FA094853A2C5}"/>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02  •  VISUAL LANGUAGE</a:t>
            </a:r>
          </a:p>
        </p:txBody>
      </p:sp>
      <p:sp>
        <p:nvSpPr>
          <p:cNvPr id="15" name="">
            <a:extLst xmlns:a="http://schemas.openxmlformats.org/drawingml/2006/main">
              <a:ext uri="{FF2B5EF4-FFF2-40B4-BE49-F238E27FC236}">
                <a16:creationId xmlns:a16="http://schemas.microsoft.com/office/drawing/2014/main" id="{B073EA97-5E1D-452C-BB79-060F977B1368}"/>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2025806542"/>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B11A788-B6A8-4F45-A305-D50CC65154DA}"/>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BE9713FF-839E-4047-8841-93D9E36F959B}"/>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D9BE4A9B-CCD0-486B-842A-2C0F60308B69}"/>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74BE6C38-1C86-43AD-8095-A476A4E77657}"/>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393084-512D-4314-A097-269334ACAA66}"/>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EF4AD4FD-C299-4B50-948C-35BE10442FE1}"/>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Plan one visual-language system: name colour roles, type roles and the intended scanning path, then explain how each will be tested.</a:t>
            </a:r>
          </a:p>
        </p:txBody>
      </p:sp>
      <p:sp>
        <p:nvSpPr>
          <p:cNvPr id="7" name="">
            <a:extLst xmlns:a="http://schemas.openxmlformats.org/drawingml/2006/main">
              <a:ext uri="{FF2B5EF4-FFF2-40B4-BE49-F238E27FC236}">
                <a16:creationId xmlns:a16="http://schemas.microsoft.com/office/drawing/2014/main" id="{148A1C4F-8D8B-4A5C-ACF4-6692781D7277}"/>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6EC7263C-2E9B-490A-AE8A-6E02C176F0C7}"/>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F866AD-06B3-424F-AE22-A07BCF2D1C85}"/>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Assign jobs, not favourites</a:t>
            </a:r>
          </a:p>
        </p:txBody>
      </p:sp>
      <p:sp>
        <p:nvSpPr>
          <p:cNvPr id="10" name="">
            <a:extLst xmlns:a="http://schemas.openxmlformats.org/drawingml/2006/main">
              <a:ext uri="{FF2B5EF4-FFF2-40B4-BE49-F238E27FC236}">
                <a16:creationId xmlns:a16="http://schemas.microsoft.com/office/drawing/2014/main" id="{B363A1C6-3C1F-47AA-8FA9-1C97022C3760}"/>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3B6DC83-5383-4804-982F-FB98DACAA1F2}"/>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Protect legibility</a:t>
            </a:r>
          </a:p>
        </p:txBody>
      </p:sp>
      <p:sp>
        <p:nvSpPr>
          <p:cNvPr id="12" name="">
            <a:extLst xmlns:a="http://schemas.openxmlformats.org/drawingml/2006/main">
              <a:ext uri="{FF2B5EF4-FFF2-40B4-BE49-F238E27FC236}">
                <a16:creationId xmlns:a16="http://schemas.microsoft.com/office/drawing/2014/main" id="{93DB3582-570F-495E-8749-B38C5EFCCED5}"/>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C71276C-61C6-4A1B-83D5-4181996310CA}"/>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Rank first, next and later</a:t>
            </a:r>
          </a:p>
        </p:txBody>
      </p:sp>
      <p:sp>
        <p:nvSpPr>
          <p:cNvPr id="14" name="">
            <a:extLst xmlns:a="http://schemas.openxmlformats.org/drawingml/2006/main">
              <a:ext uri="{FF2B5EF4-FFF2-40B4-BE49-F238E27FC236}">
                <a16:creationId xmlns:a16="http://schemas.microsoft.com/office/drawing/2014/main" id="{473F5725-450A-4337-98FF-4E1D11E757FF}"/>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83298F-A89F-4222-8A59-2FB8270CCD28}"/>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9B32B632-ADEE-447F-B828-E1C59D6F5AB2}"/>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F8B8F957-FEE2-43E1-8380-B282D72FDA32}"/>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41C9773-0A6D-4620-B925-BDA6F36B6BA8}"/>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E099E37F-26A6-4D9B-A0D8-1455B061452D}"/>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DCC24F91-D826-4D28-B02E-DD351485944B}"/>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CDB40F1-473C-4877-B0BC-E9BDB7784256}"/>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D4BB28F4-DE73-456C-84D7-942EE88E53F1}"/>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EED71308-286B-45C7-8E63-5881569212C9}"/>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The viewer should notice… first because… My palette and type system will…</a:t>
            </a:r>
          </a:p>
        </p:txBody>
      </p:sp>
      <p:sp>
        <p:nvSpPr>
          <p:cNvPr id="24" name="">
            <a:extLst xmlns:a="http://schemas.openxmlformats.org/drawingml/2006/main">
              <a:ext uri="{FF2B5EF4-FFF2-40B4-BE49-F238E27FC236}">
                <a16:creationId xmlns:a16="http://schemas.microsoft.com/office/drawing/2014/main" id="{E356C109-72C8-41B8-8C61-E812C618135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02  •  VISUAL LANGUAGE</a:t>
            </a:r>
          </a:p>
        </p:txBody>
      </p:sp>
      <p:sp>
        <p:nvSpPr>
          <p:cNvPr id="25" name="">
            <a:extLst xmlns:a="http://schemas.openxmlformats.org/drawingml/2006/main">
              <a:ext uri="{FF2B5EF4-FFF2-40B4-BE49-F238E27FC236}">
                <a16:creationId xmlns:a16="http://schemas.microsoft.com/office/drawing/2014/main" id="{959635D8-E412-4D42-8769-C1D20419FBF5}"/>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1835262160"/>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E95333-F7E1-4B28-8F53-4984E426DFC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283A2B-42B6-49E4-8498-142EADC2CED6}"/>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5887642D-6C46-449E-9C80-3837A6FE3C89}"/>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0156FFBC-3EBF-4581-9BC5-5240DF547123}"/>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FE6AB708-F599-4B28-9D4A-9EE1AC3D0C8B}"/>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F4461F6E-E419-418A-AB77-18640F2E80D6}"/>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77F1975-DCEF-4488-BA69-3C2C0285DAD5}"/>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9B3E5F8B-478B-4138-B63B-0BB8D4B41F78}"/>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F314389D-8F06-4017-8073-66741A6F01AA}"/>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02  •  VISUAL LANGUAGE</a:t>
            </a:r>
          </a:p>
        </p:txBody>
      </p:sp>
      <p:sp>
        <p:nvSpPr>
          <p:cNvPr id="10" name="">
            <a:extLst xmlns:a="http://schemas.openxmlformats.org/drawingml/2006/main">
              <a:ext uri="{FF2B5EF4-FFF2-40B4-BE49-F238E27FC236}">
                <a16:creationId xmlns:a16="http://schemas.microsoft.com/office/drawing/2014/main" id="{4288FA8B-9C7C-46AD-ACAD-94BD41D21CB9}"/>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403549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2026-08-24T00:53:56.6560000Z</dcterms:created>
  <dcterms:modified xsi:type="dcterms:W3CDTF">2026-08-24T00:53:56.6560000Z</dcterms:modified>
</coreProperties>
</file>