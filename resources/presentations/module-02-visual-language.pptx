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b07d87857d7468a" /><Relationship Type="http://schemas.openxmlformats.org/officeDocument/2006/relationships/extended-properties" Target="/docProps/app.xml" Id="Rf1907983697b44b1" /><Relationship Type="http://schemas.openxmlformats.org/officeDocument/2006/relationships/officeDocument" Target="/ppt/presentation.xml" Id="R07c0001288054fe8" /></Relationships>
</file>

<file path=ppt/presentation.xml><?xml version="1.0" encoding="utf-8"?>
<p:presentation xmlns:p="http://schemas.openxmlformats.org/presentationml/2006/main">
  <p:sldMasterIdLst>
    <p:sldMasterId xmlns:r="http://schemas.openxmlformats.org/officeDocument/2006/relationships" id="2147483648" r:id="R6a2a49da36204c85"/>
  </p:sldMasterIdLst>
  <p:notesMasterIdLst>
    <p:notesMasterId xmlns:r="http://schemas.openxmlformats.org/officeDocument/2006/relationships" r:id="Rfeb2032c53cd40be"/>
  </p:notesMasterIdLst>
  <p:sldIdLst>
    <p:sldId xmlns:r="http://schemas.openxmlformats.org/officeDocument/2006/relationships" id="256" r:id="R12abc8113029496e"/>
    <p:sldId xmlns:r="http://schemas.openxmlformats.org/officeDocument/2006/relationships" id="257" r:id="Ra9e9e0833de141dc"/>
    <p:sldId xmlns:r="http://schemas.openxmlformats.org/officeDocument/2006/relationships" id="258" r:id="R9644c702b05a427a"/>
    <p:sldId xmlns:r="http://schemas.openxmlformats.org/officeDocument/2006/relationships" id="259" r:id="R3c03b8fc5eec4e5b"/>
    <p:sldId xmlns:r="http://schemas.openxmlformats.org/officeDocument/2006/relationships" id="260" r:id="Rde7b65fa12a446cd"/>
    <p:sldId xmlns:r="http://schemas.openxmlformats.org/officeDocument/2006/relationships" id="261" r:id="R83568fbf93af4895"/>
    <p:sldId xmlns:r="http://schemas.openxmlformats.org/officeDocument/2006/relationships" id="262" r:id="Rf646073672b14772"/>
    <p:sldId xmlns:r="http://schemas.openxmlformats.org/officeDocument/2006/relationships" id="263" r:id="R8c46b99442d14a4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86014b8b1d645ea" /><Relationship Type="http://schemas.openxmlformats.org/officeDocument/2006/relationships/slideMaster" Target="/ppt/slideMasters/slideMaster1.xml" Id="R6a2a49da36204c85" /><Relationship Type="http://schemas.openxmlformats.org/officeDocument/2006/relationships/notesMaster" Target="/ppt/notesMasters/notesMaster1.xml" Id="Rfeb2032c53cd40be" /><Relationship Type="http://schemas.openxmlformats.org/officeDocument/2006/relationships/presProps" Target="/ppt/presProps.xml" Id="Rae6cea40098e41b9" /><Relationship Type="http://schemas.openxmlformats.org/officeDocument/2006/relationships/tableStyles" Target="/ppt/tableStyles.xml" Id="R9bdc307f2e034f57" /><Relationship Type="http://schemas.openxmlformats.org/officeDocument/2006/relationships/slide" Target="/ppt/slides/slide1.xml" Id="R12abc8113029496e" /><Relationship Type="http://schemas.openxmlformats.org/officeDocument/2006/relationships/slide" Target="/ppt/slides/slide2.xml" Id="Ra9e9e0833de141dc" /><Relationship Type="http://schemas.openxmlformats.org/officeDocument/2006/relationships/slide" Target="/ppt/slides/slide3.xml" Id="R9644c702b05a427a" /><Relationship Type="http://schemas.openxmlformats.org/officeDocument/2006/relationships/slide" Target="/ppt/slides/slide4.xml" Id="R3c03b8fc5eec4e5b" /><Relationship Type="http://schemas.openxmlformats.org/officeDocument/2006/relationships/slide" Target="/ppt/slides/slide5.xml" Id="Rde7b65fa12a446cd" /><Relationship Type="http://schemas.openxmlformats.org/officeDocument/2006/relationships/slide" Target="/ppt/slides/slide6.xml" Id="R83568fbf93af4895" /><Relationship Type="http://schemas.openxmlformats.org/officeDocument/2006/relationships/slide" Target="/ppt/slides/slide7.xml" Id="Rf646073672b14772" /><Relationship Type="http://schemas.openxmlformats.org/officeDocument/2006/relationships/slide" Target="/ppt/slides/slide8.xml" Id="R8c46b99442d14a4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cfb85a98b5c4a0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70b50d2b4af4773" /><Relationship Type="http://schemas.openxmlformats.org/officeDocument/2006/relationships/notesMaster" Target="/ppt/notesMasters/notesMaster1.xml" Id="R91abf2fc6b8a4452" /></Relationships>
</file>

<file path=ppt/notesSlides/_rels/notesSlide2.xml.rels>&#65279;<?xml version="1.0" encoding="utf-8"?><Relationships xmlns="http://schemas.openxmlformats.org/package/2006/relationships"><Relationship Type="http://schemas.openxmlformats.org/officeDocument/2006/relationships/slide" Target="/ppt/slides/slide2.xml" Id="R63b6253919574316" /><Relationship Type="http://schemas.openxmlformats.org/officeDocument/2006/relationships/notesMaster" Target="/ppt/notesMasters/notesMaster1.xml" Id="R8242a1f5baaf4249" /></Relationships>
</file>

<file path=ppt/notesSlides/_rels/notesSlide3.xml.rels>&#65279;<?xml version="1.0" encoding="utf-8"?><Relationships xmlns="http://schemas.openxmlformats.org/package/2006/relationships"><Relationship Type="http://schemas.openxmlformats.org/officeDocument/2006/relationships/slide" Target="/ppt/slides/slide3.xml" Id="R6135b0484fba45eb" /><Relationship Type="http://schemas.openxmlformats.org/officeDocument/2006/relationships/notesMaster" Target="/ppt/notesMasters/notesMaster1.xml" Id="R10ba67a861ef4b4d" /></Relationships>
</file>

<file path=ppt/notesSlides/_rels/notesSlide4.xml.rels>&#65279;<?xml version="1.0" encoding="utf-8"?><Relationships xmlns="http://schemas.openxmlformats.org/package/2006/relationships"><Relationship Type="http://schemas.openxmlformats.org/officeDocument/2006/relationships/slide" Target="/ppt/slides/slide4.xml" Id="R86f32e21bc3d4858" /><Relationship Type="http://schemas.openxmlformats.org/officeDocument/2006/relationships/notesMaster" Target="/ppt/notesMasters/notesMaster1.xml" Id="R0a8914441cdb473c" /></Relationships>
</file>

<file path=ppt/notesSlides/_rels/notesSlide5.xml.rels>&#65279;<?xml version="1.0" encoding="utf-8"?><Relationships xmlns="http://schemas.openxmlformats.org/package/2006/relationships"><Relationship Type="http://schemas.openxmlformats.org/officeDocument/2006/relationships/slide" Target="/ppt/slides/slide5.xml" Id="R969d34488c4046b1" /><Relationship Type="http://schemas.openxmlformats.org/officeDocument/2006/relationships/notesMaster" Target="/ppt/notesMasters/notesMaster1.xml" Id="Rb9d962b5a9804bc5" /></Relationships>
</file>

<file path=ppt/notesSlides/_rels/notesSlide6.xml.rels>&#65279;<?xml version="1.0" encoding="utf-8"?><Relationships xmlns="http://schemas.openxmlformats.org/package/2006/relationships"><Relationship Type="http://schemas.openxmlformats.org/officeDocument/2006/relationships/slide" Target="/ppt/slides/slide6.xml" Id="R3febc4cdea2d4c74" /><Relationship Type="http://schemas.openxmlformats.org/officeDocument/2006/relationships/notesMaster" Target="/ppt/notesMasters/notesMaster1.xml" Id="Rf79c34d215144e00" /></Relationships>
</file>

<file path=ppt/notesSlides/_rels/notesSlide7.xml.rels>&#65279;<?xml version="1.0" encoding="utf-8"?><Relationships xmlns="http://schemas.openxmlformats.org/package/2006/relationships"><Relationship Type="http://schemas.openxmlformats.org/officeDocument/2006/relationships/slide" Target="/ppt/slides/slide7.xml" Id="Rb53a78e20bf24e78" /><Relationship Type="http://schemas.openxmlformats.org/officeDocument/2006/relationships/notesMaster" Target="/ppt/notesMasters/notesMaster1.xml" Id="R68e1dcdcf5ea4473" /></Relationships>
</file>

<file path=ppt/notesSlides/_rels/notesSlide8.xml.rels>&#65279;<?xml version="1.0" encoding="utf-8"?><Relationships xmlns="http://schemas.openxmlformats.org/package/2006/relationships"><Relationship Type="http://schemas.openxmlformats.org/officeDocument/2006/relationships/slide" Target="/ppt/slides/slide8.xml" Id="Re41fb33d20bb49f6" /><Relationship Type="http://schemas.openxmlformats.org/officeDocument/2006/relationships/notesMaster" Target="/ppt/notesMasters/notesMaster1.xml" Id="R44395edab3cd474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Introduce the module as one connected learning package, not a list of software clicks.</a:t>
            </a:r>
          </a:p>
          <a:p xmlns:a="http://schemas.openxmlformats.org/drawingml/2006/main">
            <a:r>
              <a:t>State the outcome: Use colour, typography, hierarchy and mood boards deliberately.</a:t>
            </a:r>
          </a:p>
          <a:p xmlns:a="http://schemas.openxmlformats.org/drawingml/2006/main">
            <a:r>
              <a:t>Prompt: Where does your eye go first on a strong poster—and why?</a:t>
            </a:r>
          </a:p>
          <a:p xmlns:a="http://schemas.openxmlformats.org/drawingml/2006/main">
            <a:r>
              <a:t>Listen for a purposeful link to audience, evidence or communication.</a:t>
            </a:r>
          </a:p>
          <a:p xmlns:a="http://schemas.openxmlformats.org/drawingml/2006/main">
            <a:r>
              <a:t>Transition: Preview the three named sections on the next slide.</a:t>
            </a:r>
          </a:p>
          <a:p xmlns:a="http://schemas.openxmlformats.org/drawingml/2006/main">
            <a:r>
              <a:t/>
            </a:r>
          </a:p>
          <a:p xmlns:a="http://schemas.openxmlformats.org/drawingml/2006/main">
            <a:r>
              <a:t>[Sources]</a:t>
            </a:r>
          </a:p>
          <a:p xmlns:a="http://schemas.openxmlformats.org/drawingml/2006/main">
            <a:r>
              <a:t>- Course sequence: data/course-map.js, Module 2.</a:t>
            </a:r>
          </a:p>
          <a:p xmlns:a="http://schemas.openxmlformats.org/drawingml/2006/main">
            <a:r>
              <a:t>- Theory: data/course-content.js, m02-s01, m02-s02, m02-s03.</a:t>
            </a:r>
          </a:p>
          <a:p xmlns:a="http://schemas.openxmlformats.org/drawingml/2006/main">
            <a:r>
              <a:t>- Visual: assets/visuals/generated-moodboard-workspace.png.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Read the three section titles aloud and explain how each one prepares the next.</a:t>
            </a:r>
          </a:p>
          <a:p xmlns:a="http://schemas.openxmlformats.org/drawingml/2006/main">
            <a:r>
              <a:t>Warm-up: Where does your eye go first on a strong poster—and why?</a:t>
            </a:r>
          </a:p>
          <a:p xmlns:a="http://schemas.openxmlformats.org/drawingml/2006/main">
            <a:r>
              <a:t>Give silent thinking time before pair discussion.</a:t>
            </a:r>
          </a:p>
          <a:p xmlns:a="http://schemas.openxmlformats.org/drawingml/2006/main">
            <a:r>
              <a:t>Listen for: a reason, not only a preference.</a:t>
            </a:r>
          </a:p>
          <a:p xmlns:a="http://schemas.openxmlformats.org/drawingml/2006/main">
            <a:r>
              <a:t>Transition: Start with Colour and meaning.</a:t>
            </a:r>
          </a:p>
          <a:p xmlns:a="http://schemas.openxmlformats.org/drawingml/2006/main">
            <a:r>
              <a:t/>
            </a:r>
          </a:p>
          <a:p xmlns:a="http://schemas.openxmlformats.org/drawingml/2006/main">
            <a:r>
              <a:t>[Sources]</a:t>
            </a:r>
          </a:p>
          <a:p xmlns:a="http://schemas.openxmlformats.org/drawingml/2006/main">
            <a:r>
              <a:t>- Theory sequence: data/course-content.js, m02-s01, m02-s02, m02-s03.</a:t>
            </a:r>
          </a:p>
          <a:p xmlns:a="http://schemas.openxmlformats.org/drawingml/2006/main">
            <a:r>
              <a:t>- Module summary: data/course-map.js, Module 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Build and test a limited colour palette that supports meaning, recognition and readable contrast.</a:t>
            </a:r>
          </a:p>
          <a:p xmlns:a="http://schemas.openxmlformats.org/drawingml/2006/main">
            <a:r>
              <a:t>Explain: Colour can attract attention, separate information and support recognition. A palette is a planned set of colours with roles, such as a main brand colour, support colour, background and text colour. Naming each role is more useful than choosing colours only because they look good together. Meaning changes with culture, context and surrounding imagery, so one colour cannot guarantee one message for every audience.</a:t>
            </a:r>
          </a:p>
          <a:p xmlns:a="http://schemas.openxmlformats.org/drawingml/2006/main">
            <a:r>
              <a:t>Clarify: Contrast is the visible difference between elements. Test text and backgrounds at the real viewing size, in colour and greyscale, and on more than one screen when possible. A call to action may need stronger contrast than supporting detail. Never rely on colour alone for an essential category or choice; reinforce it with words, icons or patterns.</a:t>
            </a:r>
          </a:p>
          <a:p xmlns:a="http://schemas.openxmlformats.org/drawingml/2006/main">
            <a:r>
              <a:t>Worked example: A student chooses deep green, warm cream and bright orange. Green carries large brand areas, cream provides calm reading surfaces and orange highlights one action. Dark text is tested on cream and cream text on green at poster and phone size. Orange text fails a small-size test, so orange remains an accent shape rather than carrying essential information. Repeated roles keep the palette recognisable.</a:t>
            </a:r>
          </a:p>
          <a:p xmlns:a="http://schemas.openxmlformats.org/drawingml/2006/main">
            <a:r>
              <a:t>Ask: What makes a palette more than favourite colours?</a:t>
            </a:r>
          </a:p>
          <a:p xmlns:a="http://schemas.openxmlformats.org/drawingml/2006/main">
            <a:r>
              <a:t>Listen for: Each colour has a role in a repeated system. Correct. Roles make the palette purposeful.</a:t>
            </a:r>
          </a:p>
          <a:p xmlns:a="http://schemas.openxmlformats.org/drawingml/2006/main">
            <a:r>
              <a:t>Misconception to correct: A bright colour is automatically readable. → Readability depends on foreground-background contrast at the actual size.</a:t>
            </a:r>
          </a:p>
          <a:p xmlns:a="http://schemas.openxmlformats.org/drawingml/2006/main">
            <a:r>
              <a:t>Transition: Connect this idea to Typography and tone.</a:t>
            </a:r>
          </a:p>
          <a:p xmlns:a="http://schemas.openxmlformats.org/drawingml/2006/main">
            <a:r>
              <a:t/>
            </a:r>
          </a:p>
          <a:p xmlns:a="http://schemas.openxmlformats.org/drawingml/2006/main">
            <a:r>
              <a:t>[Sources]</a:t>
            </a:r>
          </a:p>
          <a:p xmlns:a="http://schemas.openxmlformats.org/drawingml/2006/main">
            <a:r>
              <a:t>- Theory and check: data/course-content.js, m02-s01 and m02-s01-q01.</a:t>
            </a:r>
          </a:p>
          <a:p xmlns:a="http://schemas.openxmlformats.org/drawingml/2006/main">
            <a:r>
              <a:t>- Image-first teaching visual: assets/visuals/generated-brand-direction-comparison.png. AI-generated with the built-in image tool on 24 August 2026; no source or student image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Use typography as a readable hierarchy that supports an appropriate brand voice.</a:t>
            </a:r>
          </a:p>
          <a:p xmlns:a="http://schemas.openxmlformats.org/drawingml/2006/main">
            <a:r>
              <a:t>Explain: Typography includes typeface, size, weight, spacing, line length and alignment. These features work together to create hierarchy and tone. A display style may suit a short brand name but become tiring in a paragraph. A useful system gives distinct roles to the name, headings, product information and small details. Limiting styles makes those relationships easier to understand.</a:t>
            </a:r>
          </a:p>
          <a:p xmlns:a="http://schemas.openxmlformats.org/drawingml/2006/main">
            <a:r>
              <a:t>Clarify: Rounded letters may feel informal and condensed capitals may feel forceful, but tone is an interpretation to test with the audience. Legibility concerns recognising characters; readability concerns following words comfortably. Decorative effects, tight spacing and long lines can reduce both. Essential names, prices and actions must remain clear at the size and distance where they will be viewed.</a:t>
            </a:r>
          </a:p>
          <a:p xmlns:a="http://schemas.openxmlformats.org/drawingml/2006/main">
            <a:r>
              <a:t>Worked example: A poster uses one distinctive face for a two-word name and one plain face for the slogan, product details and action. The name is largest, the offer next and supporting detail smaller but readable. Weight and spacing strengthen the levels, so four unrelated fonts are unnecessary. A phone test shows the slogan is too thin, so its weight increases while the friendly tone remains.</a:t>
            </a:r>
          </a:p>
          <a:p xmlns:a="http://schemas.openxmlformats.org/drawingml/2006/main">
            <a:r>
              <a:t>Ask: Which group contains typography decisions?</a:t>
            </a:r>
          </a:p>
          <a:p xmlns:a="http://schemas.openxmlformats.org/drawingml/2006/main">
            <a:r>
              <a:t>Listen for: Typeface, size, weight, spacing and alignment. Correct. These features shape hierarchy and readability.</a:t>
            </a:r>
          </a:p>
          <a:p xmlns:a="http://schemas.openxmlformats.org/drawingml/2006/main">
            <a:r>
              <a:t>Misconception to correct: More fonts make a more creative design. → A controlled type system often communicates more clearly and consistently.</a:t>
            </a:r>
          </a:p>
          <a:p xmlns:a="http://schemas.openxmlformats.org/drawingml/2006/main">
            <a:r>
              <a:t>Transition: Connect this idea to Hierarchy, layout and mood boards.</a:t>
            </a:r>
          </a:p>
          <a:p xmlns:a="http://schemas.openxmlformats.org/drawingml/2006/main">
            <a:r>
              <a:t/>
            </a:r>
          </a:p>
          <a:p xmlns:a="http://schemas.openxmlformats.org/drawingml/2006/main">
            <a:r>
              <a:t>[Sources]</a:t>
            </a:r>
          </a:p>
          <a:p xmlns:a="http://schemas.openxmlformats.org/drawingml/2006/main">
            <a:r>
              <a:t>- Theory and check: data/course-content.js, m02-s02 and m02-s02-q01.</a:t>
            </a:r>
          </a:p>
          <a:p xmlns:a="http://schemas.openxmlformats.org/drawingml/2006/main">
            <a:r>
              <a:t>- Image-first teaching visual: assets/visuals/generated-m02-typography-tone-proof-v3.png. AI-generated with the built-in OpenAI image creator on 24 August 2026; no source or student image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Organise elements so viewers notice, understand and act in a useful order.</a:t>
            </a:r>
          </a:p>
          <a:p xmlns:a="http://schemas.openxmlformats.org/drawingml/2006/main">
            <a:r>
              <a:t>Explain: Visual hierarchy is the order in which elements attract attention. Size, contrast, position, spacing and repetition can make one message dominant and another supporting. It does not mean making everything large. If the logo, image, slogan, price and action all shout equally, there is no entry point. Rank information according to the communication purpose before styling it.</a:t>
            </a:r>
          </a:p>
          <a:p xmlns:a="http://schemas.openxmlformats.org/drawingml/2006/main">
            <a:r>
              <a:t>Clarify: Alignment and proximity show what belongs together. White space protects readability and can separate groups without boxing every item. A grid keeps edges and spacing consistent while allowing one focal element to break the pattern deliberately. The supplied canteen menu and poster can be analysed for grouping and scanning, but the menu’s historical prices and products are not current information to republish.</a:t>
            </a:r>
          </a:p>
          <a:p xmlns:a="http://schemas.openxmlformats.org/drawingml/2006/main">
            <a:r>
              <a:t>Worked example: A useful mood board groups a small set of colours, type references, shapes, textures and image treatments around a direction such as “bold, quick and friendly”. The student annotates why each fits and removes attractive items that point elsewhere. The board becomes a filter for later choices. It guides original work; it is not copied into the final brand as a page of other people’s designs.</a:t>
            </a:r>
          </a:p>
          <a:p xmlns:a="http://schemas.openxmlformats.org/drawingml/2006/main">
            <a:r>
              <a:t>Ask: What is visual hierarchy?</a:t>
            </a:r>
          </a:p>
          <a:p xmlns:a="http://schemas.openxmlformats.org/drawingml/2006/main">
            <a:r>
              <a:t>Listen for: The planned order in which elements are noticed. Correct. Hierarchy creates an entry point and path.</a:t>
            </a:r>
          </a:p>
          <a:p xmlns:a="http://schemas.openxmlformats.org/drawingml/2006/main">
            <a:r>
              <a:t>Misconception to correct: Empty space is wasted space. → Purposeful space separates groups, protects reading and focuses attention.</a:t>
            </a:r>
          </a:p>
          <a:p xmlns:a="http://schemas.openxmlformats.org/drawingml/2006/main">
            <a:r>
              <a:t>Transition: Connect this idea to the retrieval check.</a:t>
            </a:r>
          </a:p>
          <a:p xmlns:a="http://schemas.openxmlformats.org/drawingml/2006/main">
            <a:r>
              <a:t/>
            </a:r>
          </a:p>
          <a:p xmlns:a="http://schemas.openxmlformats.org/drawingml/2006/main">
            <a:r>
              <a:t>[Sources]</a:t>
            </a:r>
          </a:p>
          <a:p xmlns:a="http://schemas.openxmlformats.org/drawingml/2006/main">
            <a:r>
              <a:t>- Theory and check: data/course-content.js, m02-s03 and m02-s03-q01.</a:t>
            </a:r>
          </a:p>
          <a:p xmlns:a="http://schemas.openxmlformats.org/drawingml/2006/main">
            <a:r>
              <a:t>- Image-first teaching visual: assets/visuals/generated-moodboard-workspace.png. AI-generated with the built-in image tool on 24 August 2026; no source image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routine: 60 seconds silent retrieval, pair justification, then whole-class feedback.</a:t>
            </a:r>
          </a:p>
          <a:p xmlns:a="http://schemas.openxmlformats.org/drawingml/2006/main">
            <a:r>
              <a:t>Question 1: Each colour has a role in a repeated system. Feedback: Correct. Roles make the palette purposeful.</a:t>
            </a:r>
          </a:p>
          <a:p xmlns:a="http://schemas.openxmlformats.org/drawingml/2006/main">
            <a:r>
              <a:t>Question 2: Typeface, size, weight, spacing and alignment. Feedback: Correct. These features shape hierarchy and readability.</a:t>
            </a:r>
          </a:p>
          <a:p xmlns:a="http://schemas.openxmlformats.org/drawingml/2006/main">
            <a:r>
              <a:t>Question 3: The planned order in which elements are noticed. Feedback: Correct. Hierarchy creates an entry point and path.</a:t>
            </a:r>
          </a:p>
          <a:p xmlns:a="http://schemas.openxmlformats.org/drawingml/2006/main">
            <a:r>
              <a:t>Do not score this as a formal assessment. Use responses to decide whether to reteach or continue.</a:t>
            </a:r>
          </a:p>
          <a:p xmlns:a="http://schemas.openxmlformats.org/drawingml/2006/main">
            <a:r>
              <a:t>Transition: Model how the same knowledge becomes a longer written explanation.</a:t>
            </a:r>
          </a:p>
          <a:p xmlns:a="http://schemas.openxmlformats.org/drawingml/2006/main">
            <a:r>
              <a:t/>
            </a:r>
          </a:p>
          <a:p xmlns:a="http://schemas.openxmlformats.org/drawingml/2006/main">
            <a:r>
              <a:t>[Sources]</a:t>
            </a:r>
          </a:p>
          <a:p xmlns:a="http://schemas.openxmlformats.org/drawingml/2006/main">
            <a:r>
              <a:t>- Formative checks: data/course-content.js, m02-s01-q01, m02-s02-q01, m02-s03-q01.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Read the prompt once, then unpack it using Select, Explain and Check.</a:t>
            </a:r>
          </a:p>
          <a:p xmlns:a="http://schemas.openxmlformats.org/drawingml/2006/main">
            <a:r>
              <a:t>Model one sentence aloud using the supplied starter.</a:t>
            </a:r>
          </a:p>
          <a:p xmlns:a="http://schemas.openxmlformats.org/drawingml/2006/main">
            <a:r>
              <a:t>Prompt: Which section provides the strongest evidence for each part of the question?</a:t>
            </a:r>
          </a:p>
          <a:p xmlns:a="http://schemas.openxmlformats.org/drawingml/2006/main">
            <a:r>
              <a:t>Remind students: this is formative learning evidence. A local save is not a submission.</a:t>
            </a:r>
          </a:p>
          <a:p xmlns:a="http://schemas.openxmlformats.org/drawingml/2006/main">
            <a:r>
              <a:t>Transition: Finish with a three-part exit ticket and save the response in the matching module.</a:t>
            </a:r>
          </a:p>
          <a:p xmlns:a="http://schemas.openxmlformats.org/drawingml/2006/main">
            <a:r>
              <a:t/>
            </a:r>
          </a:p>
          <a:p xmlns:a="http://schemas.openxmlformats.org/drawingml/2006/main">
            <a:r>
              <a:t>[Sources]</a:t>
            </a:r>
          </a:p>
          <a:p xmlns:a="http://schemas.openxmlformats.org/drawingml/2006/main">
            <a:r>
              <a:t>- Section capstones: data/course-content.js, m02-s01-capstone, m02-s02-capstone, m02-s03-capstone.</a:t>
            </a:r>
          </a:p>
          <a:p xmlns:a="http://schemas.openxmlformats.org/drawingml/2006/main">
            <a:r>
              <a:t>- Integrated prompt: Stage 07 synthesis of the three source-grounded section capstones.</a:t>
            </a:r>
          </a:p>
          <a:p xmlns:a="http://schemas.openxmlformats.org/drawingml/2006/main">
            <a:r>
              <a:t>- Evidence boundary: data/course-content.js evidenceLabel, saveNotice and moduleEvidenceKey.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routine: Ask students to answer all three prompts in the matching module response box.</a:t>
            </a:r>
          </a:p>
          <a:p xmlns:a="http://schemas.openxmlformats.org/drawingml/2006/main">
            <a:r>
              <a:t>Invite one voluntary share for the first prompt.</a:t>
            </a:r>
          </a:p>
          <a:p xmlns:a="http://schemas.openxmlformats.org/drawingml/2006/main">
            <a:r>
              <a:t>Use the final question to plan the next explanation or support.</a:t>
            </a:r>
          </a:p>
          <a:p xmlns:a="http://schemas.openxmlformats.org/drawingml/2006/main">
            <a:r>
              <a:t>Remind students that browser-local saving preserves a draft on this device; it does not submit work.</a:t>
            </a:r>
          </a:p>
          <a:p xmlns:a="http://schemas.openxmlformats.org/drawingml/2006/main">
            <a:r>
              <a:t/>
            </a:r>
          </a:p>
          <a:p xmlns:a="http://schemas.openxmlformats.org/drawingml/2006/main">
            <a:r>
              <a:t>[Sources]</a:t>
            </a:r>
          </a:p>
          <a:p xmlns:a="http://schemas.openxmlformats.org/drawingml/2006/main">
            <a:r>
              <a:t>- Exit-ticket structure and evidence boundary: data/course-content.js saveNotice, savedMessage and evidenceDestination.</a:t>
            </a:r>
          </a:p>
          <a:p xmlns:a="http://schemas.openxmlformats.org/drawingml/2006/main">
            <a:r>
              <a:t>- Module theory: data/course-content.js, m02-s01, m02-s02, m02-s03.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f74ee116f74489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433a4024a474d16" /><Relationship Type="http://schemas.openxmlformats.org/officeDocument/2006/relationships/slideLayout" Target="/ppt/slideLayouts/slideLayout1.xml" Id="Rabd6a1d24b6e4f3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bd6a1d24b6e4f3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46e50dbfa3e439b" /><Relationship Type="http://schemas.openxmlformats.org/officeDocument/2006/relationships/image" Target="/ppt/media/image.png" Id="Red477af7d89944a7" /><Relationship Type="http://schemas.openxmlformats.org/officeDocument/2006/relationships/notesSlide" Target="/ppt/notesSlides/notesSlide1.xml" Id="R8cad913a581f453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da059fb967d4a74" /><Relationship Type="http://schemas.openxmlformats.org/officeDocument/2006/relationships/notesSlide" Target="/ppt/notesSlides/notesSlide2.xml" Id="Rf6068987415742d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6c7d5d715274a0c" /><Relationship Type="http://schemas.openxmlformats.org/officeDocument/2006/relationships/image" Target="/ppt/media/image2.png" Id="R954b5c74684547c8" /><Relationship Type="http://schemas.openxmlformats.org/officeDocument/2006/relationships/notesSlide" Target="/ppt/notesSlides/notesSlide3.xml" Id="Rdc619a3ac08542b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ce49d49ed724d48" /><Relationship Type="http://schemas.openxmlformats.org/officeDocument/2006/relationships/image" Target="/ppt/media/image3.png" Id="R15a43f1b830549b4" /><Relationship Type="http://schemas.openxmlformats.org/officeDocument/2006/relationships/notesSlide" Target="/ppt/notesSlides/notesSlide4.xml" Id="Rd690123693f34bd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f691f7b722d48c1" /><Relationship Type="http://schemas.openxmlformats.org/officeDocument/2006/relationships/image" Target="/ppt/media/image4.png" Id="R78865169bca7497a" /><Relationship Type="http://schemas.openxmlformats.org/officeDocument/2006/relationships/notesSlide" Target="/ppt/notesSlides/notesSlide5.xml" Id="R8401286e6936436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fab6ee9b1d64759" /><Relationship Type="http://schemas.openxmlformats.org/officeDocument/2006/relationships/notesSlide" Target="/ppt/notesSlides/notesSlide6.xml" Id="R633ed646f1b647b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01af9d036824f2b" /><Relationship Type="http://schemas.openxmlformats.org/officeDocument/2006/relationships/notesSlide" Target="/ppt/notesSlides/notesSlide7.xml" Id="Rfc574d704eec44f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dee95c7fbde44c7" /><Relationship Type="http://schemas.openxmlformats.org/officeDocument/2006/relationships/notesSlide" Target="/ppt/notesSlides/notesSlide8.xml" Id="R5709a2ddeaa84114" /></Relationships>
</file>

<file path=ppt/slides/slide1.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3242F84-C467-4984-A89E-C4C3FD8062AE}"/>
              </a:ext>
            </a:extLst>
          </p:cNvPr>
          <p:cNvSpPr>
            <a:spLocks xmlns:a="http://schemas.openxmlformats.org/drawingml/2006/main" noGrp="1"/>
          </p:cNvSpPr>
          <p:nvPr/>
        </p:nvSpPr>
        <p:spPr>
          <a:xfrm xmlns:a="http://schemas.openxmlformats.org/drawingml/2006/main">
            <a:off x="0" y="0"/>
            <a:ext cx="5810250" cy="6858000"/>
          </a:xfrm>
          <a:prstGeom xmlns:a="http://schemas.openxmlformats.org/drawingml/2006/main" prst="rect">
            <a:avLst/>
          </a:prstGeom>
          <a:solidFill xmlns:a="http://schemas.openxmlformats.org/drawingml/2006/main">
            <a:srgbClr val="1734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08E9306-05E2-4372-A38B-F1A5F0E13C6F}"/>
              </a:ext>
            </a:extLst>
          </p:cNvPr>
          <p:cNvSpPr>
            <a:spLocks xmlns:a="http://schemas.openxmlformats.org/drawingml/2006/main" noGrp="1"/>
          </p:cNvSpPr>
          <p:nvPr/>
        </p:nvSpPr>
        <p:spPr>
          <a:xfrm xmlns:a="http://schemas.openxmlformats.org/drawingml/2006/main">
            <a:off x="685800" y="723900"/>
            <a:ext cx="933450" cy="9525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6AFFB2E8-B7F3-4FE3-94EB-6B04E9E09381}"/>
              </a:ext>
            </a:extLst>
          </p:cNvPr>
          <p:cNvSpPr>
            <a:spLocks xmlns:a="http://schemas.openxmlformats.org/drawingml/2006/main" noGrp="1"/>
          </p:cNvSpPr>
          <p:nvPr/>
        </p:nvSpPr>
        <p:spPr>
          <a:xfrm xmlns:a="http://schemas.openxmlformats.org/drawingml/2006/main">
            <a:off x="685800" y="112395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F2BD3C"/>
                </a:solidFill>
                <a:latin typeface="Arial"/>
                <a:ea typeface="Arial"/>
                <a:cs typeface="Arial"/>
              </a:defRPr>
            </a:pPr>
            <a:r>
              <a:rPr sz="1350" b="1">
                <a:solidFill>
                  <a:srgbClr val="F2BD3C"/>
                </a:solidFill>
                <a:latin typeface="Arial"/>
                <a:ea typeface="Arial"/>
                <a:cs typeface="Arial"/>
              </a:rPr>
              <a:t>MODULE 02</a:t>
            </a:r>
          </a:p>
        </p:txBody>
      </p:sp>
      <p:sp>
        <p:nvSpPr>
          <p:cNvPr id="4" name="">
            <a:extLst xmlns:a="http://schemas.openxmlformats.org/drawingml/2006/main">
              <a:ext uri="{FF2B5EF4-FFF2-40B4-BE49-F238E27FC236}">
                <a16:creationId xmlns:a16="http://schemas.microsoft.com/office/drawing/2014/main" id="{320BA50C-5390-4EC1-85E0-A0F6B5037BC4}"/>
              </a:ext>
            </a:extLst>
          </p:cNvPr>
          <p:cNvSpPr>
            <a:spLocks xmlns:a="http://schemas.openxmlformats.org/drawingml/2006/main" noGrp="1"/>
          </p:cNvSpPr>
          <p:nvPr/>
        </p:nvSpPr>
        <p:spPr>
          <a:xfrm xmlns:a="http://schemas.openxmlformats.org/drawingml/2006/main">
            <a:off x="685800" y="1790700"/>
            <a:ext cx="4476750" cy="1543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675" b="1">
                <a:solidFill>
                  <a:srgbClr val="FFFFFF"/>
                </a:solidFill>
                <a:latin typeface="Arial"/>
                <a:ea typeface="Arial"/>
                <a:cs typeface="Arial"/>
              </a:defRPr>
            </a:pPr>
            <a:r>
              <a:rPr sz="3675" b="1">
                <a:solidFill>
                  <a:srgbClr val="FFFFFF"/>
                </a:solidFill>
                <a:latin typeface="Arial"/>
                <a:ea typeface="Arial"/>
                <a:cs typeface="Arial"/>
              </a:rPr>
              <a:t>Visual language</a:t>
            </a:r>
          </a:p>
        </p:txBody>
      </p:sp>
      <p:sp>
        <p:nvSpPr>
          <p:cNvPr id="5" name="">
            <a:extLst xmlns:a="http://schemas.openxmlformats.org/drawingml/2006/main">
              <a:ext uri="{FF2B5EF4-FFF2-40B4-BE49-F238E27FC236}">
                <a16:creationId xmlns:a16="http://schemas.microsoft.com/office/drawing/2014/main" id="{9569CCAA-CE79-40DD-9B4A-9D1829BE5774}"/>
              </a:ext>
            </a:extLst>
          </p:cNvPr>
          <p:cNvSpPr>
            <a:spLocks xmlns:a="http://schemas.openxmlformats.org/drawingml/2006/main" noGrp="1"/>
          </p:cNvSpPr>
          <p:nvPr/>
        </p:nvSpPr>
        <p:spPr>
          <a:xfrm xmlns:a="http://schemas.openxmlformats.org/drawingml/2006/main">
            <a:off x="685800" y="3676650"/>
            <a:ext cx="433387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0">
                <a:solidFill>
                  <a:srgbClr val="E6EEE9"/>
                </a:solidFill>
                <a:latin typeface="Arial"/>
                <a:ea typeface="Arial"/>
                <a:cs typeface="Arial"/>
              </a:defRPr>
            </a:pPr>
            <a:r>
              <a:rPr sz="1650" b="0">
                <a:solidFill>
                  <a:srgbClr val="E6EEE9"/>
                </a:solidFill>
                <a:latin typeface="Arial"/>
                <a:ea typeface="Arial"/>
                <a:cs typeface="Arial"/>
              </a:rPr>
              <a:t>Use colour, typography, hierarchy and mood boards deliberately.</a:t>
            </a:r>
          </a:p>
        </p:txBody>
      </p:sp>
      <p:sp>
        <p:nvSpPr>
          <p:cNvPr id="6" name="">
            <a:extLst xmlns:a="http://schemas.openxmlformats.org/drawingml/2006/main">
              <a:ext uri="{FF2B5EF4-FFF2-40B4-BE49-F238E27FC236}">
                <a16:creationId xmlns:a16="http://schemas.microsoft.com/office/drawing/2014/main" id="{B836BB9A-91FE-48EB-9200-D6C9CFC7195C}"/>
              </a:ext>
            </a:extLst>
          </p:cNvPr>
          <p:cNvSpPr>
            <a:spLocks xmlns:a="http://schemas.openxmlformats.org/drawingml/2006/main" noGrp="1"/>
          </p:cNvSpPr>
          <p:nvPr/>
        </p:nvSpPr>
        <p:spPr>
          <a:xfrm xmlns:a="http://schemas.openxmlformats.org/drawingml/2006/main">
            <a:off x="685800" y="501015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1">
                <a:solidFill>
                  <a:srgbClr val="E8674B"/>
                </a:solidFill>
                <a:latin typeface="Arial"/>
                <a:ea typeface="Arial"/>
                <a:cs typeface="Arial"/>
              </a:defRPr>
            </a:pPr>
            <a:r>
              <a:rPr sz="900" b="1">
                <a:solidFill>
                  <a:srgbClr val="E8674B"/>
                </a:solidFill>
                <a:latin typeface="Arial"/>
                <a:ea typeface="Arial"/>
                <a:cs typeface="Arial"/>
              </a:rPr>
              <a:t>TEACHING QUESTION</a:t>
            </a:r>
          </a:p>
        </p:txBody>
      </p:sp>
      <p:sp>
        <p:nvSpPr>
          <p:cNvPr id="7" name="">
            <a:extLst xmlns:a="http://schemas.openxmlformats.org/drawingml/2006/main">
              <a:ext uri="{FF2B5EF4-FFF2-40B4-BE49-F238E27FC236}">
                <a16:creationId xmlns:a16="http://schemas.microsoft.com/office/drawing/2014/main" id="{9AA45B25-DED7-41C9-B2C0-E2D6B3CB38B4}"/>
              </a:ext>
            </a:extLst>
          </p:cNvPr>
          <p:cNvSpPr>
            <a:spLocks xmlns:a="http://schemas.openxmlformats.org/drawingml/2006/main" noGrp="1"/>
          </p:cNvSpPr>
          <p:nvPr/>
        </p:nvSpPr>
        <p:spPr>
          <a:xfrm xmlns:a="http://schemas.openxmlformats.org/drawingml/2006/main">
            <a:off x="685800" y="5295900"/>
            <a:ext cx="43624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1">
                <a:solidFill>
                  <a:srgbClr val="FFFFFF"/>
                </a:solidFill>
                <a:latin typeface="Arial"/>
                <a:ea typeface="Arial"/>
                <a:cs typeface="Arial"/>
              </a:defRPr>
            </a:pPr>
            <a:r>
              <a:rPr sz="1425" b="1">
                <a:solidFill>
                  <a:srgbClr val="FFFFFF"/>
                </a:solidFill>
                <a:latin typeface="Arial"/>
                <a:ea typeface="Arial"/>
                <a:cs typeface="Arial"/>
              </a:rPr>
              <a:t>Where does your eye go first on a strong poster—and why?</a:t>
            </a:r>
          </a:p>
        </p:txBody>
      </p:sp>
      <p:sp>
        <p:nvSpPr>
          <p:cNvPr id="8" name="">
            <a:extLst xmlns:a="http://schemas.openxmlformats.org/drawingml/2006/main">
              <a:ext uri="{FF2B5EF4-FFF2-40B4-BE49-F238E27FC236}">
                <a16:creationId xmlns:a16="http://schemas.microsoft.com/office/drawing/2014/main" id="{EBFA49F2-678C-4863-834B-625B6BBC63D0}"/>
              </a:ext>
            </a:extLst>
          </p:cNvPr>
          <p:cNvSpPr>
            <a:spLocks xmlns:a="http://schemas.openxmlformats.org/drawingml/2006/main" noGrp="1"/>
          </p:cNvSpPr>
          <p:nvPr/>
        </p:nvSpPr>
        <p:spPr>
          <a:xfrm xmlns:a="http://schemas.openxmlformats.org/drawingml/2006/main">
            <a:off x="6191250" y="514350"/>
            <a:ext cx="5334000" cy="5372100"/>
          </a:xfrm>
          <a:prstGeom xmlns:a="http://schemas.openxmlformats.org/drawingml/2006/main" prst="roundRect">
            <a:avLst>
              <a:gd name="adj" fmla="val 2143"/>
            </a:avLst>
          </a:prstGeom>
          <a:solidFill xmlns:a="http://schemas.openxmlformats.org/drawingml/2006/main">
            <a:srgbClr val="FFFFFF"/>
          </a:solidFill>
          <a:ln xmlns:a="http://schemas.openxmlformats.org/drawingml/2006/main" w="9525">
            <a:solidFill>
              <a:srgbClr val="CFD8D2"/>
            </a:solidFill>
            <a:prstDash val="solid"/>
          </a:ln>
        </p:spPr>
      </p:sp>
      <p:pic>
        <p:nvPicPr>
          <p:cNvPr id="20" name="Moodboard Workspace" title="Moodboard Workspace" descr="Overhead mood board with earthy swatches, paper textures, abstract letterforms, food photographs and layout thumbnails on a cutting mat."/>
          <p:cNvPicPr>
            <a:picLocks xmlns:a="http://schemas.openxmlformats.org/drawingml/2006/main" noChangeAspect="1"/>
          </p:cNvPicPr>
          <p:nvPr/>
        </p:nvPicPr>
        <p:blipFill>
          <a:blip xmlns:r="http://schemas.openxmlformats.org/officeDocument/2006/relationships" xmlns:a="http://schemas.openxmlformats.org/drawingml/2006/main" r:embed="Red477af7d89944a7"/>
          <a:srcRect xmlns:a="http://schemas.openxmlformats.org/drawingml/2006/main" l="22060" t="0" r="22060" b="0"/>
          <a:stretch xmlns:a="http://schemas.openxmlformats.org/drawingml/2006/main">
            <a:fillRect l="0" t="0" r="0" b="0"/>
          </a:stretch>
        </p:blipFill>
        <p:spPr>
          <a:xfrm xmlns:a="http://schemas.openxmlformats.org/drawingml/2006/main">
            <a:off x="6191250" y="514350"/>
            <a:ext cx="5334000" cy="5372100"/>
          </a:xfrm>
          <a:prstGeom xmlns:a="http://schemas.openxmlformats.org/drawingml/2006/main" prst="roundRect">
            <a:avLst>
              <a:gd name="adj" fmla="val 2143"/>
            </a:avLst>
          </a:prstGeom>
        </p:spPr>
      </p:pic>
      <p:sp>
        <p:nvSpPr>
          <p:cNvPr id="10" name="">
            <a:extLst xmlns:a="http://schemas.openxmlformats.org/drawingml/2006/main">
              <a:ext uri="{FF2B5EF4-FFF2-40B4-BE49-F238E27FC236}">
                <a16:creationId xmlns:a16="http://schemas.microsoft.com/office/drawing/2014/main" id="{2DEFEAED-6158-4C8E-87D2-7DE9AE927970}"/>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C7D6CF"/>
                </a:solidFill>
                <a:latin typeface="Arial"/>
                <a:ea typeface="Arial"/>
                <a:cs typeface="Arial"/>
              </a:defRPr>
            </a:pPr>
            <a:r>
              <a:rPr sz="825" b="1">
                <a:solidFill>
                  <a:srgbClr val="C7D6CF"/>
                </a:solidFill>
                <a:latin typeface="Arial"/>
                <a:ea typeface="Arial"/>
                <a:cs typeface="Arial"/>
              </a:rPr>
              <a:t>YEAR 7 MULTIMEDIA  •  MODULE 02  •  VISUAL LANGUAGE</a:t>
            </a:r>
          </a:p>
        </p:txBody>
      </p:sp>
      <p:sp>
        <p:nvSpPr>
          <p:cNvPr id="11" name="">
            <a:extLst xmlns:a="http://schemas.openxmlformats.org/drawingml/2006/main">
              <a:ext uri="{FF2B5EF4-FFF2-40B4-BE49-F238E27FC236}">
                <a16:creationId xmlns:a16="http://schemas.microsoft.com/office/drawing/2014/main" id="{AF359A2B-1C77-4644-8CCF-FBE35BA6B2B6}"/>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F2BD3C"/>
                </a:solidFill>
                <a:latin typeface="Arial"/>
                <a:ea typeface="Arial"/>
                <a:cs typeface="Arial"/>
              </a:defRPr>
            </a:pPr>
            <a:r>
              <a:rPr sz="900" b="1">
                <a:solidFill>
                  <a:srgbClr val="F2BD3C"/>
                </a:solidFill>
                <a:latin typeface="Arial"/>
                <a:ea typeface="Arial"/>
                <a:cs typeface="Arial"/>
              </a:rPr>
              <a:t>01</a:t>
            </a:r>
          </a:p>
        </p:txBody>
      </p:sp>
    </p:spTree>
    <p:extLst>
      <p:ext uri="{BB962C8B-B14F-4D97-AF65-F5344CB8AC3E}">
        <p14:creationId xmlns:p14="http://schemas.microsoft.com/office/powerpoint/2010/main" val="738210648"/>
      </p:ext>
    </p:extLst>
  </p:cSld>
</p:sld>
</file>

<file path=ppt/slides/slide2.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A2463B1E-B39C-4D1D-A3C1-5BD90F71F8A7}"/>
              </a:ext>
            </a:extLst>
          </p:cNvPr>
          <p:cNvSpPr>
            <a:spLocks xmlns:a="http://schemas.openxmlformats.org/drawingml/2006/main" noGrp="1"/>
          </p:cNvSpPr>
          <p:nvPr/>
        </p:nvSpPr>
        <p:spPr>
          <a:xfrm xmlns:a="http://schemas.openxmlformats.org/drawingml/2006/main">
            <a:off x="0" y="0"/>
            <a:ext cx="12192000" cy="17145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99BE2E5-6E47-421B-A75A-4A501E5EBB06}"/>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TODAY'S LEARNING PATH</a:t>
            </a:r>
          </a:p>
        </p:txBody>
      </p:sp>
      <p:sp>
        <p:nvSpPr>
          <p:cNvPr id="3" name="">
            <a:extLst xmlns:a="http://schemas.openxmlformats.org/drawingml/2006/main">
              <a:ext uri="{FF2B5EF4-FFF2-40B4-BE49-F238E27FC236}">
                <a16:creationId xmlns:a16="http://schemas.microsoft.com/office/drawing/2014/main" id="{9E54019F-B76F-4730-8132-AFBB4652BDAD}"/>
              </a:ext>
            </a:extLst>
          </p:cNvPr>
          <p:cNvSpPr>
            <a:spLocks xmlns:a="http://schemas.openxmlformats.org/drawingml/2006/main" noGrp="1"/>
          </p:cNvSpPr>
          <p:nvPr/>
        </p:nvSpPr>
        <p:spPr>
          <a:xfrm xmlns:a="http://schemas.openxmlformats.org/drawingml/2006/main">
            <a:off x="685800" y="895350"/>
            <a:ext cx="7429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925" b="1">
                <a:solidFill>
                  <a:srgbClr val="17342C"/>
                </a:solidFill>
                <a:latin typeface="Arial"/>
                <a:ea typeface="Arial"/>
                <a:cs typeface="Arial"/>
              </a:defRPr>
            </a:pPr>
            <a:r>
              <a:rPr sz="2925" b="1">
                <a:solidFill>
                  <a:srgbClr val="17342C"/>
                </a:solidFill>
                <a:latin typeface="Arial"/>
                <a:ea typeface="Arial"/>
                <a:cs typeface="Arial"/>
              </a:rPr>
              <a:t>Where are we going?</a:t>
            </a:r>
          </a:p>
        </p:txBody>
      </p:sp>
      <p:sp>
        <p:nvSpPr>
          <p:cNvPr id="4" name="">
            <a:extLst xmlns:a="http://schemas.openxmlformats.org/drawingml/2006/main">
              <a:ext uri="{FF2B5EF4-FFF2-40B4-BE49-F238E27FC236}">
                <a16:creationId xmlns:a16="http://schemas.microsoft.com/office/drawing/2014/main" id="{3BA2DBC5-1B9A-40FB-9992-A9EB3CE5319F}"/>
              </a:ext>
            </a:extLst>
          </p:cNvPr>
          <p:cNvSpPr>
            <a:spLocks xmlns:a="http://schemas.openxmlformats.org/drawingml/2006/main" noGrp="1"/>
          </p:cNvSpPr>
          <p:nvPr/>
        </p:nvSpPr>
        <p:spPr>
          <a:xfrm xmlns:a="http://schemas.openxmlformats.org/drawingml/2006/main">
            <a:off x="685800" y="1952625"/>
            <a:ext cx="6953250" cy="895350"/>
          </a:xfrm>
          <a:prstGeom xmlns:a="http://schemas.openxmlformats.org/drawingml/2006/main" prst="roundRect">
            <a:avLst>
              <a:gd name="adj" fmla="val 12766"/>
            </a:avLst>
          </a:prstGeom>
          <a:solidFill xmlns:a="http://schemas.openxmlformats.org/drawingml/2006/main">
            <a:srgbClr val="FFFFFF"/>
          </a:solidFill>
          <a:ln xmlns:a="http://schemas.openxmlformats.org/drawingml/2006/main" w="9525">
            <a:solidFill>
              <a:srgbClr val="CFD8D2"/>
            </a:solidFill>
            <a:prstDash val="solid"/>
          </a:ln>
        </p:spPr>
      </p:sp>
      <p:sp>
        <p:nvSpPr>
          <p:cNvPr id="5" name="">
            <a:extLst xmlns:a="http://schemas.openxmlformats.org/drawingml/2006/main">
              <a:ext uri="{FF2B5EF4-FFF2-40B4-BE49-F238E27FC236}">
                <a16:creationId xmlns:a16="http://schemas.microsoft.com/office/drawing/2014/main" id="{3B0AA652-1CCE-4E64-8E6D-55A15096D636}"/>
              </a:ext>
            </a:extLst>
          </p:cNvPr>
          <p:cNvSpPr>
            <a:spLocks xmlns:a="http://schemas.openxmlformats.org/drawingml/2006/main" noGrp="1"/>
          </p:cNvSpPr>
          <p:nvPr/>
        </p:nvSpPr>
        <p:spPr>
          <a:xfrm xmlns:a="http://schemas.openxmlformats.org/drawingml/2006/main">
            <a:off x="933450" y="2162175"/>
            <a:ext cx="476250" cy="476250"/>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7255593-42AF-465C-8DD9-2567FDB66D73}"/>
              </a:ext>
            </a:extLst>
          </p:cNvPr>
          <p:cNvSpPr>
            <a:spLocks xmlns:a="http://schemas.openxmlformats.org/drawingml/2006/main" noGrp="1"/>
          </p:cNvSpPr>
          <p:nvPr/>
        </p:nvSpPr>
        <p:spPr>
          <a:xfrm xmlns:a="http://schemas.openxmlformats.org/drawingml/2006/main">
            <a:off x="933450" y="2162175"/>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F0787E0B-3FE6-4DE1-A6A6-A6D1F84945A2}"/>
              </a:ext>
            </a:extLst>
          </p:cNvPr>
          <p:cNvSpPr>
            <a:spLocks xmlns:a="http://schemas.openxmlformats.org/drawingml/2006/main" noGrp="1"/>
          </p:cNvSpPr>
          <p:nvPr/>
        </p:nvSpPr>
        <p:spPr>
          <a:xfrm xmlns:a="http://schemas.openxmlformats.org/drawingml/2006/main">
            <a:off x="1733550" y="2143125"/>
            <a:ext cx="533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725" b="1">
                <a:solidFill>
                  <a:srgbClr val="17342C"/>
                </a:solidFill>
                <a:latin typeface="Arial"/>
                <a:ea typeface="Arial"/>
                <a:cs typeface="Arial"/>
              </a:defRPr>
            </a:pPr>
            <a:r>
              <a:rPr sz="1725" b="1">
                <a:solidFill>
                  <a:srgbClr val="17342C"/>
                </a:solidFill>
                <a:latin typeface="Arial"/>
                <a:ea typeface="Arial"/>
                <a:cs typeface="Arial"/>
              </a:rPr>
              <a:t>Colour and meaning</a:t>
            </a:r>
          </a:p>
        </p:txBody>
      </p:sp>
      <p:sp>
        <p:nvSpPr>
          <p:cNvPr id="8" name="">
            <a:extLst xmlns:a="http://schemas.openxmlformats.org/drawingml/2006/main">
              <a:ext uri="{FF2B5EF4-FFF2-40B4-BE49-F238E27FC236}">
                <a16:creationId xmlns:a16="http://schemas.microsoft.com/office/drawing/2014/main" id="{66EFC00F-9501-4B33-B2D5-17D813AF70F8}"/>
              </a:ext>
            </a:extLst>
          </p:cNvPr>
          <p:cNvSpPr>
            <a:spLocks xmlns:a="http://schemas.openxmlformats.org/drawingml/2006/main" noGrp="1"/>
          </p:cNvSpPr>
          <p:nvPr/>
        </p:nvSpPr>
        <p:spPr>
          <a:xfrm xmlns:a="http://schemas.openxmlformats.org/drawingml/2006/main">
            <a:off x="685800" y="3209925"/>
            <a:ext cx="6953250" cy="895350"/>
          </a:xfrm>
          <a:prstGeom xmlns:a="http://schemas.openxmlformats.org/drawingml/2006/main" prst="roundRect">
            <a:avLst>
              <a:gd name="adj" fmla="val 12766"/>
            </a:avLst>
          </a:prstGeom>
          <a:solidFill xmlns:a="http://schemas.openxmlformats.org/drawingml/2006/main">
            <a:srgbClr val="FFFFFF"/>
          </a:solidFill>
          <a:ln xmlns:a="http://schemas.openxmlformats.org/drawingml/2006/main" w="9525">
            <a:solidFill>
              <a:srgbClr val="CFD8D2"/>
            </a:solidFill>
            <a:prstDash val="solid"/>
          </a:ln>
        </p:spPr>
      </p:sp>
      <p:sp>
        <p:nvSpPr>
          <p:cNvPr id="9" name="">
            <a:extLst xmlns:a="http://schemas.openxmlformats.org/drawingml/2006/main">
              <a:ext uri="{FF2B5EF4-FFF2-40B4-BE49-F238E27FC236}">
                <a16:creationId xmlns:a16="http://schemas.microsoft.com/office/drawing/2014/main" id="{3968D5DC-AFE2-408F-A115-033CDFA9997B}"/>
              </a:ext>
            </a:extLst>
          </p:cNvPr>
          <p:cNvSpPr>
            <a:spLocks xmlns:a="http://schemas.openxmlformats.org/drawingml/2006/main" noGrp="1"/>
          </p:cNvSpPr>
          <p:nvPr/>
        </p:nvSpPr>
        <p:spPr>
          <a:xfrm xmlns:a="http://schemas.openxmlformats.org/drawingml/2006/main">
            <a:off x="933450" y="3419475"/>
            <a:ext cx="476250" cy="476250"/>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A25AE7A-5710-404A-9F32-CF0B238E27E6}"/>
              </a:ext>
            </a:extLst>
          </p:cNvPr>
          <p:cNvSpPr>
            <a:spLocks xmlns:a="http://schemas.openxmlformats.org/drawingml/2006/main" noGrp="1"/>
          </p:cNvSpPr>
          <p:nvPr/>
        </p:nvSpPr>
        <p:spPr>
          <a:xfrm xmlns:a="http://schemas.openxmlformats.org/drawingml/2006/main">
            <a:off x="933450" y="3419475"/>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7342C"/>
                </a:solidFill>
                <a:latin typeface="Arial"/>
                <a:ea typeface="Arial"/>
                <a:cs typeface="Arial"/>
              </a:defRPr>
            </a:pPr>
            <a:r>
              <a:rPr sz="1500" b="1">
                <a:solidFill>
                  <a:srgbClr val="17342C"/>
                </a:solidFill>
                <a:latin typeface="Arial"/>
                <a:ea typeface="Arial"/>
                <a:cs typeface="Arial"/>
              </a:rPr>
              <a:t>2</a:t>
            </a:r>
          </a:p>
        </p:txBody>
      </p:sp>
      <p:sp>
        <p:nvSpPr>
          <p:cNvPr id="11" name="">
            <a:extLst xmlns:a="http://schemas.openxmlformats.org/drawingml/2006/main">
              <a:ext uri="{FF2B5EF4-FFF2-40B4-BE49-F238E27FC236}">
                <a16:creationId xmlns:a16="http://schemas.microsoft.com/office/drawing/2014/main" id="{9680601A-F374-4CC6-8E1B-50AF24D64B9E}"/>
              </a:ext>
            </a:extLst>
          </p:cNvPr>
          <p:cNvSpPr>
            <a:spLocks xmlns:a="http://schemas.openxmlformats.org/drawingml/2006/main" noGrp="1"/>
          </p:cNvSpPr>
          <p:nvPr/>
        </p:nvSpPr>
        <p:spPr>
          <a:xfrm xmlns:a="http://schemas.openxmlformats.org/drawingml/2006/main">
            <a:off x="1733550" y="3400425"/>
            <a:ext cx="533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725" b="1">
                <a:solidFill>
                  <a:srgbClr val="17342C"/>
                </a:solidFill>
                <a:latin typeface="Arial"/>
                <a:ea typeface="Arial"/>
                <a:cs typeface="Arial"/>
              </a:defRPr>
            </a:pPr>
            <a:r>
              <a:rPr sz="1725" b="1">
                <a:solidFill>
                  <a:srgbClr val="17342C"/>
                </a:solidFill>
                <a:latin typeface="Arial"/>
                <a:ea typeface="Arial"/>
                <a:cs typeface="Arial"/>
              </a:rPr>
              <a:t>Typography and tone</a:t>
            </a:r>
          </a:p>
        </p:txBody>
      </p:sp>
      <p:sp>
        <p:nvSpPr>
          <p:cNvPr id="12" name="">
            <a:extLst xmlns:a="http://schemas.openxmlformats.org/drawingml/2006/main">
              <a:ext uri="{FF2B5EF4-FFF2-40B4-BE49-F238E27FC236}">
                <a16:creationId xmlns:a16="http://schemas.microsoft.com/office/drawing/2014/main" id="{70E26404-9BA1-4305-8C1F-444CD043A1E6}"/>
              </a:ext>
            </a:extLst>
          </p:cNvPr>
          <p:cNvSpPr>
            <a:spLocks xmlns:a="http://schemas.openxmlformats.org/drawingml/2006/main" noGrp="1"/>
          </p:cNvSpPr>
          <p:nvPr/>
        </p:nvSpPr>
        <p:spPr>
          <a:xfrm xmlns:a="http://schemas.openxmlformats.org/drawingml/2006/main">
            <a:off x="685800" y="4467225"/>
            <a:ext cx="6953250" cy="895350"/>
          </a:xfrm>
          <a:prstGeom xmlns:a="http://schemas.openxmlformats.org/drawingml/2006/main" prst="roundRect">
            <a:avLst>
              <a:gd name="adj" fmla="val 12766"/>
            </a:avLst>
          </a:prstGeom>
          <a:solidFill xmlns:a="http://schemas.openxmlformats.org/drawingml/2006/main">
            <a:srgbClr val="FFFFFF"/>
          </a:solidFill>
          <a:ln xmlns:a="http://schemas.openxmlformats.org/drawingml/2006/main" w="9525">
            <a:solidFill>
              <a:srgbClr val="CFD8D2"/>
            </a:solidFill>
            <a:prstDash val="solid"/>
          </a:ln>
        </p:spPr>
      </p:sp>
      <p:sp>
        <p:nvSpPr>
          <p:cNvPr id="13" name="">
            <a:extLst xmlns:a="http://schemas.openxmlformats.org/drawingml/2006/main">
              <a:ext uri="{FF2B5EF4-FFF2-40B4-BE49-F238E27FC236}">
                <a16:creationId xmlns:a16="http://schemas.microsoft.com/office/drawing/2014/main" id="{9F9D3EEB-568E-46AF-BC83-2D5E679D1429}"/>
              </a:ext>
            </a:extLst>
          </p:cNvPr>
          <p:cNvSpPr>
            <a:spLocks xmlns:a="http://schemas.openxmlformats.org/drawingml/2006/main" noGrp="1"/>
          </p:cNvSpPr>
          <p:nvPr/>
        </p:nvSpPr>
        <p:spPr>
          <a:xfrm xmlns:a="http://schemas.openxmlformats.org/drawingml/2006/main">
            <a:off x="933450" y="4676775"/>
            <a:ext cx="476250" cy="476250"/>
          </a:xfrm>
          <a:prstGeom xmlns:a="http://schemas.openxmlformats.org/drawingml/2006/main" prst="ellipse">
            <a:avLst/>
          </a:prstGeom>
          <a:solidFill xmlns:a="http://schemas.openxmlformats.org/drawingml/2006/main">
            <a:srgbClr val="17756F"/>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88A17BC-EA1B-4815-8738-BC9BC2D5C3FA}"/>
              </a:ext>
            </a:extLst>
          </p:cNvPr>
          <p:cNvSpPr>
            <a:spLocks xmlns:a="http://schemas.openxmlformats.org/drawingml/2006/main" noGrp="1"/>
          </p:cNvSpPr>
          <p:nvPr/>
        </p:nvSpPr>
        <p:spPr>
          <a:xfrm xmlns:a="http://schemas.openxmlformats.org/drawingml/2006/main">
            <a:off x="933450" y="4676775"/>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1BE755B0-E5BD-425F-AF69-A49C53B53A41}"/>
              </a:ext>
            </a:extLst>
          </p:cNvPr>
          <p:cNvSpPr>
            <a:spLocks xmlns:a="http://schemas.openxmlformats.org/drawingml/2006/main" noGrp="1"/>
          </p:cNvSpPr>
          <p:nvPr/>
        </p:nvSpPr>
        <p:spPr>
          <a:xfrm xmlns:a="http://schemas.openxmlformats.org/drawingml/2006/main">
            <a:off x="1733550" y="4657725"/>
            <a:ext cx="533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725" b="1">
                <a:solidFill>
                  <a:srgbClr val="17342C"/>
                </a:solidFill>
                <a:latin typeface="Arial"/>
                <a:ea typeface="Arial"/>
                <a:cs typeface="Arial"/>
              </a:defRPr>
            </a:pPr>
            <a:r>
              <a:rPr sz="1725" b="1">
                <a:solidFill>
                  <a:srgbClr val="17342C"/>
                </a:solidFill>
                <a:latin typeface="Arial"/>
                <a:ea typeface="Arial"/>
                <a:cs typeface="Arial"/>
              </a:rPr>
              <a:t>Hierarchy, layout and mood boards</a:t>
            </a:r>
          </a:p>
        </p:txBody>
      </p:sp>
      <p:sp>
        <p:nvSpPr>
          <p:cNvPr id="16" name="">
            <a:extLst xmlns:a="http://schemas.openxmlformats.org/drawingml/2006/main">
              <a:ext uri="{FF2B5EF4-FFF2-40B4-BE49-F238E27FC236}">
                <a16:creationId xmlns:a16="http://schemas.microsoft.com/office/drawing/2014/main" id="{DD375F05-B4B3-481E-A942-EA39C8057D16}"/>
              </a:ext>
            </a:extLst>
          </p:cNvPr>
          <p:cNvSpPr>
            <a:spLocks xmlns:a="http://schemas.openxmlformats.org/drawingml/2006/main" noGrp="1"/>
          </p:cNvSpPr>
          <p:nvPr/>
        </p:nvSpPr>
        <p:spPr>
          <a:xfrm xmlns:a="http://schemas.openxmlformats.org/drawingml/2006/main">
            <a:off x="8191500" y="2076450"/>
            <a:ext cx="2952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a:solidFill>
                  <a:srgbClr val="F2BD3C"/>
                </a:solidFill>
                <a:latin typeface="Arial"/>
                <a:ea typeface="Arial"/>
                <a:cs typeface="Arial"/>
              </a:defRPr>
            </a:pPr>
            <a:r>
              <a:rPr sz="1050" b="1">
                <a:solidFill>
                  <a:srgbClr val="F2BD3C"/>
                </a:solidFill>
                <a:latin typeface="Arial"/>
                <a:ea typeface="Arial"/>
                <a:cs typeface="Arial"/>
              </a:rPr>
              <a:t>RETRIEVAL WARM-UP</a:t>
            </a:r>
          </a:p>
        </p:txBody>
      </p:sp>
      <p:sp>
        <p:nvSpPr>
          <p:cNvPr id="17" name="">
            <a:extLst xmlns:a="http://schemas.openxmlformats.org/drawingml/2006/main">
              <a:ext uri="{FF2B5EF4-FFF2-40B4-BE49-F238E27FC236}">
                <a16:creationId xmlns:a16="http://schemas.microsoft.com/office/drawing/2014/main" id="{284E54DF-7FAF-423F-92C7-5795BB5833F4}"/>
              </a:ext>
            </a:extLst>
          </p:cNvPr>
          <p:cNvSpPr>
            <a:spLocks xmlns:a="http://schemas.openxmlformats.org/drawingml/2006/main" noGrp="1"/>
          </p:cNvSpPr>
          <p:nvPr/>
        </p:nvSpPr>
        <p:spPr>
          <a:xfrm xmlns:a="http://schemas.openxmlformats.org/drawingml/2006/main">
            <a:off x="8191500" y="2609850"/>
            <a:ext cx="2952750" cy="1390650"/>
          </a:xfrm>
          <a:prstGeom xmlns:a="http://schemas.openxmlformats.org/drawingml/2006/main" prst="roundRect">
            <a:avLst>
              <a:gd name="adj" fmla="val 8219"/>
            </a:avLst>
          </a:prstGeom>
          <a:solidFill xmlns:a="http://schemas.openxmlformats.org/drawingml/2006/main">
            <a:srgbClr val="17342C"/>
          </a:solidFill>
          <a:ln xmlns:a="http://schemas.openxmlformats.org/drawingml/2006/main" w="0">
            <a:noFill/>
            <a:prstDash val="solid"/>
          </a:ln>
        </p:spPr>
        <p:txBody>
          <a:bodyPr xmlns:a="http://schemas.openxmlformats.org/drawingml/2006/main" lIns="209550" tIns="209550" rIns="209550" bIns="209550" anchor="ctr">
            <a:normAutofit fontScale="100000"/>
          </a:bodyPr>
          <a:lstStyle xmlns:a="http://schemas.openxmlformats.org/drawingml/2006/main"/>
          <a:p xmlns:a="http://schemas.openxmlformats.org/drawingml/2006/main">
            <a:pPr algn="l">
              <a:defRPr sz="1875" b="1">
                <a:solidFill>
                  <a:srgbClr val="FFFFFF"/>
                </a:solidFill>
                <a:latin typeface="Arial"/>
                <a:ea typeface="Arial"/>
                <a:cs typeface="Arial"/>
              </a:defRPr>
            </a:pPr>
            <a:r>
              <a:rPr sz="1875" b="1">
                <a:solidFill>
                  <a:srgbClr val="FFFFFF"/>
                </a:solidFill>
                <a:latin typeface="Arial"/>
                <a:ea typeface="Arial"/>
                <a:cs typeface="Arial"/>
              </a:rPr>
              <a:t>Where does your eye go first on a strong poster—and why?</a:t>
            </a:r>
          </a:p>
        </p:txBody>
      </p:sp>
      <p:sp>
        <p:nvSpPr>
          <p:cNvPr id="18" name="">
            <a:extLst xmlns:a="http://schemas.openxmlformats.org/drawingml/2006/main">
              <a:ext uri="{FF2B5EF4-FFF2-40B4-BE49-F238E27FC236}">
                <a16:creationId xmlns:a16="http://schemas.microsoft.com/office/drawing/2014/main" id="{C217788C-3307-462B-8206-BB1BC884B5D1}"/>
              </a:ext>
            </a:extLst>
          </p:cNvPr>
          <p:cNvSpPr>
            <a:spLocks xmlns:a="http://schemas.openxmlformats.org/drawingml/2006/main" noGrp="1"/>
          </p:cNvSpPr>
          <p:nvPr/>
        </p:nvSpPr>
        <p:spPr>
          <a:xfrm xmlns:a="http://schemas.openxmlformats.org/drawingml/2006/main">
            <a:off x="8191500" y="42291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0">
                <a:solidFill>
                  <a:srgbClr val="17342C"/>
                </a:solidFill>
                <a:latin typeface="Arial"/>
                <a:ea typeface="Arial"/>
                <a:cs typeface="Arial"/>
              </a:defRPr>
            </a:pPr>
            <a:r>
              <a:rPr sz="1275" b="0">
                <a:solidFill>
                  <a:srgbClr val="17342C"/>
                </a:solidFill>
                <a:latin typeface="Arial"/>
                <a:ea typeface="Arial"/>
                <a:cs typeface="Arial"/>
              </a:rPr>
              <a:t>Think silently → pair → share one reason.</a:t>
            </a:r>
          </a:p>
        </p:txBody>
      </p:sp>
      <p:sp>
        <p:nvSpPr>
          <p:cNvPr id="19" name="">
            <a:extLst xmlns:a="http://schemas.openxmlformats.org/drawingml/2006/main">
              <a:ext uri="{FF2B5EF4-FFF2-40B4-BE49-F238E27FC236}">
                <a16:creationId xmlns:a16="http://schemas.microsoft.com/office/drawing/2014/main" id="{AAA57D69-68E7-461C-89A4-06778EB0792D}"/>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02  •  VISUAL LANGUAGE</a:t>
            </a:r>
          </a:p>
        </p:txBody>
      </p:sp>
      <p:sp>
        <p:nvSpPr>
          <p:cNvPr id="20" name="">
            <a:extLst xmlns:a="http://schemas.openxmlformats.org/drawingml/2006/main">
              <a:ext uri="{FF2B5EF4-FFF2-40B4-BE49-F238E27FC236}">
                <a16:creationId xmlns:a16="http://schemas.microsoft.com/office/drawing/2014/main" id="{253DC9A3-A1E8-4A97-8B95-E0814399EE6B}"/>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02</a:t>
            </a:r>
          </a:p>
        </p:txBody>
      </p:sp>
    </p:spTree>
    <p:extLst>
      <p:ext uri="{BB962C8B-B14F-4D97-AF65-F5344CB8AC3E}">
        <p14:creationId xmlns:p14="http://schemas.microsoft.com/office/powerpoint/2010/main" val="1284453261"/>
      </p:ext>
    </p:extLst>
  </p:cSld>
</p:sld>
</file>

<file path=ppt/slides/slide3.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7E3BE0F-3646-4B1D-87FF-FE33A82EF278}"/>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0FA9BC4-0E59-4727-B64B-F7F413FDAE6A}"/>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2.1  COLOUR AND MEANING</a:t>
            </a:r>
          </a:p>
        </p:txBody>
      </p:sp>
      <p:sp>
        <p:nvSpPr>
          <p:cNvPr id="3" name="">
            <a:extLst xmlns:a="http://schemas.openxmlformats.org/drawingml/2006/main">
              <a:ext uri="{FF2B5EF4-FFF2-40B4-BE49-F238E27FC236}">
                <a16:creationId xmlns:a16="http://schemas.microsoft.com/office/drawing/2014/main" id="{36ACB93F-3E40-49AB-B5ED-2C939BB76DA1}"/>
              </a:ext>
            </a:extLst>
          </p:cNvPr>
          <p:cNvSpPr>
            <a:spLocks xmlns:a="http://schemas.openxmlformats.org/drawingml/2006/main" noGrp="1"/>
          </p:cNvSpPr>
          <p:nvPr/>
        </p:nvSpPr>
        <p:spPr>
          <a:xfrm xmlns:a="http://schemas.openxmlformats.org/drawingml/2006/main">
            <a:off x="685800" y="800100"/>
            <a:ext cx="695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75" b="1">
                <a:solidFill>
                  <a:srgbClr val="17342C"/>
                </a:solidFill>
                <a:latin typeface="Arial"/>
                <a:ea typeface="Arial"/>
                <a:cs typeface="Arial"/>
              </a:defRPr>
            </a:pPr>
            <a:r>
              <a:rPr sz="2775" b="1">
                <a:solidFill>
                  <a:srgbClr val="17342C"/>
                </a:solidFill>
                <a:latin typeface="Arial"/>
                <a:ea typeface="Arial"/>
                <a:cs typeface="Arial"/>
              </a:rPr>
              <a:t>Colour and meaning</a:t>
            </a:r>
          </a:p>
        </p:txBody>
      </p:sp>
      <p:sp>
        <p:nvSpPr>
          <p:cNvPr id="4" name="">
            <a:extLst xmlns:a="http://schemas.openxmlformats.org/drawingml/2006/main">
              <a:ext uri="{FF2B5EF4-FFF2-40B4-BE49-F238E27FC236}">
                <a16:creationId xmlns:a16="http://schemas.microsoft.com/office/drawing/2014/main" id="{32601F11-97B1-41FD-A37D-307B074F1A98}"/>
              </a:ext>
            </a:extLst>
          </p:cNvPr>
          <p:cNvSpPr>
            <a:spLocks xmlns:a="http://schemas.openxmlformats.org/drawingml/2006/main" noGrp="1"/>
          </p:cNvSpPr>
          <p:nvPr/>
        </p:nvSpPr>
        <p:spPr>
          <a:xfrm xmlns:a="http://schemas.openxmlformats.org/drawingml/2006/main">
            <a:off x="685800" y="1743075"/>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THREE IDEAS TO PUT ON THE BOARD</a:t>
            </a:r>
          </a:p>
        </p:txBody>
      </p:sp>
      <p:sp>
        <p:nvSpPr>
          <p:cNvPr id="5" name="">
            <a:extLst xmlns:a="http://schemas.openxmlformats.org/drawingml/2006/main">
              <a:ext uri="{FF2B5EF4-FFF2-40B4-BE49-F238E27FC236}">
                <a16:creationId xmlns:a16="http://schemas.microsoft.com/office/drawing/2014/main" id="{F07E67F0-EA52-4C88-A976-70A76C1EAF25}"/>
              </a:ext>
            </a:extLst>
          </p:cNvPr>
          <p:cNvSpPr>
            <a:spLocks xmlns:a="http://schemas.openxmlformats.org/drawingml/2006/main" noGrp="1"/>
          </p:cNvSpPr>
          <p:nvPr/>
        </p:nvSpPr>
        <p:spPr>
          <a:xfrm xmlns:a="http://schemas.openxmlformats.org/drawingml/2006/main">
            <a:off x="781050" y="2276475"/>
            <a:ext cx="142875" cy="142875"/>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3510B2F-043C-4778-9B59-58737B85F0B0}"/>
              </a:ext>
            </a:extLst>
          </p:cNvPr>
          <p:cNvSpPr>
            <a:spLocks xmlns:a="http://schemas.openxmlformats.org/drawingml/2006/main" noGrp="1"/>
          </p:cNvSpPr>
          <p:nvPr/>
        </p:nvSpPr>
        <p:spPr>
          <a:xfrm xmlns:a="http://schemas.openxmlformats.org/drawingml/2006/main">
            <a:off x="1143000" y="220980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A palette is a system with named roles.</a:t>
            </a:r>
          </a:p>
        </p:txBody>
      </p:sp>
      <p:sp>
        <p:nvSpPr>
          <p:cNvPr id="7" name="">
            <a:extLst xmlns:a="http://schemas.openxmlformats.org/drawingml/2006/main">
              <a:ext uri="{FF2B5EF4-FFF2-40B4-BE49-F238E27FC236}">
                <a16:creationId xmlns:a16="http://schemas.microsoft.com/office/drawing/2014/main" id="{E7E10D99-DC0C-4122-9E71-DD6DB35AD3F6}"/>
              </a:ext>
            </a:extLst>
          </p:cNvPr>
          <p:cNvSpPr>
            <a:spLocks xmlns:a="http://schemas.openxmlformats.org/drawingml/2006/main" noGrp="1"/>
          </p:cNvSpPr>
          <p:nvPr/>
        </p:nvSpPr>
        <p:spPr>
          <a:xfrm xmlns:a="http://schemas.openxmlformats.org/drawingml/2006/main">
            <a:off x="781050" y="3181350"/>
            <a:ext cx="142875" cy="142875"/>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C9F492E-36B9-4E10-B8DB-23BB9A4D6476}"/>
              </a:ext>
            </a:extLst>
          </p:cNvPr>
          <p:cNvSpPr>
            <a:spLocks xmlns:a="http://schemas.openxmlformats.org/drawingml/2006/main" noGrp="1"/>
          </p:cNvSpPr>
          <p:nvPr/>
        </p:nvSpPr>
        <p:spPr>
          <a:xfrm xmlns:a="http://schemas.openxmlformats.org/drawingml/2006/main">
            <a:off x="1143000" y="3114675"/>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Colour meaning depends on context.</a:t>
            </a:r>
          </a:p>
        </p:txBody>
      </p:sp>
      <p:sp>
        <p:nvSpPr>
          <p:cNvPr id="9" name="">
            <a:extLst xmlns:a="http://schemas.openxmlformats.org/drawingml/2006/main">
              <a:ext uri="{FF2B5EF4-FFF2-40B4-BE49-F238E27FC236}">
                <a16:creationId xmlns:a16="http://schemas.microsoft.com/office/drawing/2014/main" id="{634F595C-1DF3-4477-952B-FB1D4EC595B9}"/>
              </a:ext>
            </a:extLst>
          </p:cNvPr>
          <p:cNvSpPr>
            <a:spLocks xmlns:a="http://schemas.openxmlformats.org/drawingml/2006/main" noGrp="1"/>
          </p:cNvSpPr>
          <p:nvPr/>
        </p:nvSpPr>
        <p:spPr>
          <a:xfrm xmlns:a="http://schemas.openxmlformats.org/drawingml/2006/main">
            <a:off x="781050" y="4086225"/>
            <a:ext cx="142875" cy="142875"/>
          </a:xfrm>
          <a:prstGeom xmlns:a="http://schemas.openxmlformats.org/drawingml/2006/main" prst="ellipse">
            <a:avLst/>
          </a:prstGeom>
          <a:solidFill xmlns:a="http://schemas.openxmlformats.org/drawingml/2006/main">
            <a:srgbClr val="17756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CF06F94-B63D-49CE-90FF-839EBFD5598B}"/>
              </a:ext>
            </a:extLst>
          </p:cNvPr>
          <p:cNvSpPr>
            <a:spLocks xmlns:a="http://schemas.openxmlformats.org/drawingml/2006/main" noGrp="1"/>
          </p:cNvSpPr>
          <p:nvPr/>
        </p:nvSpPr>
        <p:spPr>
          <a:xfrm xmlns:a="http://schemas.openxmlformats.org/drawingml/2006/main">
            <a:off x="1143000" y="401955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Essential information needs contrast and a non-colour cue.</a:t>
            </a:r>
          </a:p>
        </p:txBody>
      </p:sp>
      <p:sp>
        <p:nvSpPr>
          <p:cNvPr id="11" name="">
            <a:extLst xmlns:a="http://schemas.openxmlformats.org/drawingml/2006/main">
              <a:ext uri="{FF2B5EF4-FFF2-40B4-BE49-F238E27FC236}">
                <a16:creationId xmlns:a16="http://schemas.microsoft.com/office/drawing/2014/main" id="{274DBC89-12CB-4191-ADB5-430BFCAEADF7}"/>
              </a:ext>
            </a:extLst>
          </p:cNvPr>
          <p:cNvSpPr>
            <a:spLocks xmlns:a="http://schemas.openxmlformats.org/drawingml/2006/main" noGrp="1"/>
          </p:cNvSpPr>
          <p:nvPr/>
        </p:nvSpPr>
        <p:spPr>
          <a:xfrm xmlns:a="http://schemas.openxmlformats.org/drawingml/2006/main">
            <a:off x="7200900" y="1352550"/>
            <a:ext cx="4305300" cy="2419350"/>
          </a:xfrm>
          <a:prstGeom xmlns:a="http://schemas.openxmlformats.org/drawingml/2006/main" prst="roundRect">
            <a:avLst>
              <a:gd name="adj" fmla="val 4724"/>
            </a:avLst>
          </a:prstGeom>
          <a:solidFill xmlns:a="http://schemas.openxmlformats.org/drawingml/2006/main">
            <a:srgbClr val="FFFFFF"/>
          </a:solidFill>
          <a:ln xmlns:a="http://schemas.openxmlformats.org/drawingml/2006/main" w="9525">
            <a:solidFill>
              <a:srgbClr val="CFD8D2"/>
            </a:solidFill>
            <a:prstDash val="solid"/>
          </a:ln>
        </p:spPr>
      </p:sp>
      <p:pic>
        <p:nvPicPr>
          <p:cNvPr id="30" name="Brand Direction Comparison" title="Brand Direction Comparison" descr="Side-by-side photographic brand boards with warm red angular packaging on the left and cool teal rounded packaging on the right."/>
          <p:cNvPicPr>
            <a:picLocks xmlns:a="http://schemas.openxmlformats.org/drawingml/2006/main" noChangeAspect="1"/>
          </p:cNvPicPr>
          <p:nvPr/>
        </p:nvPicPr>
        <p:blipFill>
          <a:blip xmlns:r="http://schemas.openxmlformats.org/officeDocument/2006/relationships" xmlns:a="http://schemas.openxmlformats.org/drawingml/2006/main" r:embed="R954b5c74684547c8"/>
          <a:stretch xmlns:a="http://schemas.openxmlformats.org/drawingml/2006/main"/>
        </p:blipFill>
        <p:spPr>
          <a:xfrm xmlns:a="http://schemas.openxmlformats.org/drawingml/2006/main">
            <a:off x="7204159" y="1352550"/>
            <a:ext cx="4298781" cy="2419350"/>
          </a:xfrm>
          <a:prstGeom xmlns:a="http://schemas.openxmlformats.org/drawingml/2006/main" prst="roundRect">
            <a:avLst>
              <a:gd name="adj" fmla="val 4724"/>
            </a:avLst>
          </a:prstGeom>
        </p:spPr>
      </p:pic>
      <p:sp>
        <p:nvSpPr>
          <p:cNvPr id="13" name="">
            <a:extLst xmlns:a="http://schemas.openxmlformats.org/drawingml/2006/main">
              <a:ext uri="{FF2B5EF4-FFF2-40B4-BE49-F238E27FC236}">
                <a16:creationId xmlns:a16="http://schemas.microsoft.com/office/drawing/2014/main" id="{51EF4DBE-960F-45FE-94D0-C9784BD6E5EC}"/>
              </a:ext>
            </a:extLst>
          </p:cNvPr>
          <p:cNvSpPr>
            <a:spLocks xmlns:a="http://schemas.openxmlformats.org/drawingml/2006/main" noGrp="1"/>
          </p:cNvSpPr>
          <p:nvPr/>
        </p:nvSpPr>
        <p:spPr>
          <a:xfrm xmlns:a="http://schemas.openxmlformats.org/drawingml/2006/main">
            <a:off x="7200900" y="3848100"/>
            <a:ext cx="4305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17342C"/>
                </a:solidFill>
                <a:latin typeface="Arial"/>
                <a:ea typeface="Arial"/>
                <a:cs typeface="Arial"/>
              </a:defRPr>
            </a:pPr>
            <a:r>
              <a:rPr sz="1050" b="1">
                <a:solidFill>
                  <a:srgbClr val="17342C"/>
                </a:solidFill>
                <a:latin typeface="Arial"/>
                <a:ea typeface="Arial"/>
                <a:cs typeface="Arial"/>
              </a:rPr>
              <a:t>Two fictional brand directions combine warm angular energy or cool rounded calm across signs and packaging.</a:t>
            </a:r>
          </a:p>
        </p:txBody>
      </p:sp>
      <p:sp>
        <p:nvSpPr>
          <p:cNvPr id="14" name="">
            <a:extLst xmlns:a="http://schemas.openxmlformats.org/drawingml/2006/main">
              <a:ext uri="{FF2B5EF4-FFF2-40B4-BE49-F238E27FC236}">
                <a16:creationId xmlns:a16="http://schemas.microsoft.com/office/drawing/2014/main" id="{0B9B18A3-C871-4520-8D08-677C7F413CD4}"/>
              </a:ext>
            </a:extLst>
          </p:cNvPr>
          <p:cNvSpPr>
            <a:spLocks xmlns:a="http://schemas.openxmlformats.org/drawingml/2006/main" noGrp="1"/>
          </p:cNvSpPr>
          <p:nvPr/>
        </p:nvSpPr>
        <p:spPr>
          <a:xfrm xmlns:a="http://schemas.openxmlformats.org/drawingml/2006/main">
            <a:off x="7200900" y="4324350"/>
            <a:ext cx="4305300" cy="514350"/>
          </a:xfrm>
          <a:prstGeom xmlns:a="http://schemas.openxmlformats.org/drawingml/2006/main" prst="roundRect">
            <a:avLst>
              <a:gd name="adj" fmla="val 14815"/>
            </a:avLst>
          </a:prstGeom>
          <a:solidFill xmlns:a="http://schemas.openxmlformats.org/drawingml/2006/main">
            <a:srgbClr val="FCF4D8"/>
          </a:solidFill>
          <a:ln xmlns:a="http://schemas.openxmlformats.org/drawingml/2006/main" w="0">
            <a:noFill/>
            <a:prstDash val="solid"/>
          </a:ln>
        </p:spPr>
        <p:txBody>
          <a:bodyPr xmlns:a="http://schemas.openxmlformats.org/drawingml/2006/main" lIns="95250" tIns="57150" rIns="95250" bIns="57150" anchor="ctr">
            <a:normAutofit fontScale="100000"/>
          </a:bodyPr>
          <a:lstStyle xmlns:a="http://schemas.openxmlformats.org/drawingml/2006/main"/>
          <a:p xmlns:a="http://schemas.openxmlformats.org/drawingml/2006/main">
            <a:pPr algn="l">
              <a:defRPr sz="1050" b="1">
                <a:solidFill>
                  <a:srgbClr val="0C5554"/>
                </a:solidFill>
                <a:latin typeface="Arial"/>
                <a:ea typeface="Arial"/>
                <a:cs typeface="Arial"/>
              </a:defRPr>
            </a:pPr>
            <a:r>
              <a:rPr sz="1050" b="1">
                <a:solidFill>
                  <a:srgbClr val="0C5554"/>
                </a:solidFill>
                <a:latin typeface="Arial"/>
                <a:ea typeface="Arial"/>
                <a:cs typeface="Arial"/>
              </a:rPr>
              <a:t>Notice: How do colour, shape and spacing work together to change the first impression?</a:t>
            </a:r>
          </a:p>
        </p:txBody>
      </p:sp>
      <p:sp>
        <p:nvSpPr>
          <p:cNvPr id="15" name="">
            <a:extLst xmlns:a="http://schemas.openxmlformats.org/drawingml/2006/main">
              <a:ext uri="{FF2B5EF4-FFF2-40B4-BE49-F238E27FC236}">
                <a16:creationId xmlns:a16="http://schemas.microsoft.com/office/drawing/2014/main" id="{44E4ABF8-B54E-4905-8E03-17093805A614}"/>
              </a:ext>
            </a:extLst>
          </p:cNvPr>
          <p:cNvSpPr>
            <a:spLocks xmlns:a="http://schemas.openxmlformats.org/drawingml/2006/main" noGrp="1"/>
          </p:cNvSpPr>
          <p:nvPr/>
        </p:nvSpPr>
        <p:spPr>
          <a:xfrm xmlns:a="http://schemas.openxmlformats.org/drawingml/2006/main">
            <a:off x="7200900" y="5048250"/>
            <a:ext cx="2000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0C5554"/>
                </a:solidFill>
                <a:latin typeface="Arial"/>
                <a:ea typeface="Arial"/>
                <a:cs typeface="Arial"/>
              </a:defRPr>
            </a:pPr>
            <a:r>
              <a:rPr sz="975" b="1">
                <a:solidFill>
                  <a:srgbClr val="0C5554"/>
                </a:solidFill>
                <a:latin typeface="Arial"/>
                <a:ea typeface="Arial"/>
                <a:cs typeface="Arial"/>
              </a:rPr>
              <a:t>ASK THE ROOM</a:t>
            </a:r>
          </a:p>
        </p:txBody>
      </p:sp>
      <p:sp>
        <p:nvSpPr>
          <p:cNvPr id="16" name="">
            <a:extLst xmlns:a="http://schemas.openxmlformats.org/drawingml/2006/main">
              <a:ext uri="{FF2B5EF4-FFF2-40B4-BE49-F238E27FC236}">
                <a16:creationId xmlns:a16="http://schemas.microsoft.com/office/drawing/2014/main" id="{94F0ABE7-A794-4E59-B770-21B9DE5473C4}"/>
              </a:ext>
            </a:extLst>
          </p:cNvPr>
          <p:cNvSpPr>
            <a:spLocks xmlns:a="http://schemas.openxmlformats.org/drawingml/2006/main" noGrp="1"/>
          </p:cNvSpPr>
          <p:nvPr/>
        </p:nvSpPr>
        <p:spPr>
          <a:xfrm xmlns:a="http://schemas.openxmlformats.org/drawingml/2006/main">
            <a:off x="7200900" y="5257800"/>
            <a:ext cx="4305300" cy="914400"/>
          </a:xfrm>
          <a:prstGeom xmlns:a="http://schemas.openxmlformats.org/drawingml/2006/main" prst="roundRect">
            <a:avLst>
              <a:gd name="adj" fmla="val 8333"/>
            </a:avLst>
          </a:prstGeom>
          <a:solidFill xmlns:a="http://schemas.openxmlformats.org/drawingml/2006/main">
            <a:srgbClr val="E7F0EC"/>
          </a:solidFill>
          <a:ln xmlns:a="http://schemas.openxmlformats.org/drawingml/2006/main" w="0">
            <a:no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l">
              <a:defRPr sz="1275" b="1">
                <a:solidFill>
                  <a:srgbClr val="17342C"/>
                </a:solidFill>
                <a:latin typeface="Arial"/>
                <a:ea typeface="Arial"/>
                <a:cs typeface="Arial"/>
              </a:defRPr>
            </a:pPr>
            <a:r>
              <a:rPr sz="1275" b="1">
                <a:solidFill>
                  <a:srgbClr val="17342C"/>
                </a:solidFill>
                <a:latin typeface="Arial"/>
                <a:ea typeface="Arial"/>
                <a:cs typeface="Arial"/>
              </a:rPr>
              <a:t>What makes a palette more than favourite colours?</a:t>
            </a:r>
          </a:p>
        </p:txBody>
      </p:sp>
      <p:sp>
        <p:nvSpPr>
          <p:cNvPr id="17" name="">
            <a:extLst xmlns:a="http://schemas.openxmlformats.org/drawingml/2006/main">
              <a:ext uri="{FF2B5EF4-FFF2-40B4-BE49-F238E27FC236}">
                <a16:creationId xmlns:a16="http://schemas.microsoft.com/office/drawing/2014/main" id="{3DE70D3A-F9EF-4B96-A5DD-79F28AC41D41}"/>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02  •  VISUAL LANGUAGE</a:t>
            </a:r>
          </a:p>
        </p:txBody>
      </p:sp>
      <p:sp>
        <p:nvSpPr>
          <p:cNvPr id="18" name="">
            <a:extLst xmlns:a="http://schemas.openxmlformats.org/drawingml/2006/main">
              <a:ext uri="{FF2B5EF4-FFF2-40B4-BE49-F238E27FC236}">
                <a16:creationId xmlns:a16="http://schemas.microsoft.com/office/drawing/2014/main" id="{515814FF-2143-44FB-B5CB-FE62E1039ECB}"/>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03</a:t>
            </a:r>
          </a:p>
        </p:txBody>
      </p:sp>
    </p:spTree>
    <p:extLst>
      <p:ext uri="{BB962C8B-B14F-4D97-AF65-F5344CB8AC3E}">
        <p14:creationId xmlns:p14="http://schemas.microsoft.com/office/powerpoint/2010/main" val="252295390"/>
      </p:ext>
    </p:extLst>
  </p:cSld>
</p:sld>
</file>

<file path=ppt/slides/slide4.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39B6452-581B-4CEE-9BA0-D57580B694CF}"/>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48D53410-12C5-4051-95B4-D8771C12968E}"/>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2.2  TYPOGRAPHY AND TONE</a:t>
            </a:r>
          </a:p>
        </p:txBody>
      </p:sp>
      <p:sp>
        <p:nvSpPr>
          <p:cNvPr id="3" name="">
            <a:extLst xmlns:a="http://schemas.openxmlformats.org/drawingml/2006/main">
              <a:ext uri="{FF2B5EF4-FFF2-40B4-BE49-F238E27FC236}">
                <a16:creationId xmlns:a16="http://schemas.microsoft.com/office/drawing/2014/main" id="{49CC1D9E-2B66-41EF-9884-58227B770152}"/>
              </a:ext>
            </a:extLst>
          </p:cNvPr>
          <p:cNvSpPr>
            <a:spLocks xmlns:a="http://schemas.openxmlformats.org/drawingml/2006/main" noGrp="1"/>
          </p:cNvSpPr>
          <p:nvPr/>
        </p:nvSpPr>
        <p:spPr>
          <a:xfrm xmlns:a="http://schemas.openxmlformats.org/drawingml/2006/main">
            <a:off x="685800" y="800100"/>
            <a:ext cx="695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75" b="1">
                <a:solidFill>
                  <a:srgbClr val="17342C"/>
                </a:solidFill>
                <a:latin typeface="Arial"/>
                <a:ea typeface="Arial"/>
                <a:cs typeface="Arial"/>
              </a:defRPr>
            </a:pPr>
            <a:r>
              <a:rPr sz="2775" b="1">
                <a:solidFill>
                  <a:srgbClr val="17342C"/>
                </a:solidFill>
                <a:latin typeface="Arial"/>
                <a:ea typeface="Arial"/>
                <a:cs typeface="Arial"/>
              </a:rPr>
              <a:t>Typography and tone</a:t>
            </a:r>
          </a:p>
        </p:txBody>
      </p:sp>
      <p:sp>
        <p:nvSpPr>
          <p:cNvPr id="4" name="">
            <a:extLst xmlns:a="http://schemas.openxmlformats.org/drawingml/2006/main">
              <a:ext uri="{FF2B5EF4-FFF2-40B4-BE49-F238E27FC236}">
                <a16:creationId xmlns:a16="http://schemas.microsoft.com/office/drawing/2014/main" id="{A12ADDE2-8540-4E7D-988F-86262973050A}"/>
              </a:ext>
            </a:extLst>
          </p:cNvPr>
          <p:cNvSpPr>
            <a:spLocks xmlns:a="http://schemas.openxmlformats.org/drawingml/2006/main" noGrp="1"/>
          </p:cNvSpPr>
          <p:nvPr/>
        </p:nvSpPr>
        <p:spPr>
          <a:xfrm xmlns:a="http://schemas.openxmlformats.org/drawingml/2006/main">
            <a:off x="685800" y="1743075"/>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THREE IDEAS TO PUT ON THE BOARD</a:t>
            </a:r>
          </a:p>
        </p:txBody>
      </p:sp>
      <p:sp>
        <p:nvSpPr>
          <p:cNvPr id="5" name="">
            <a:extLst xmlns:a="http://schemas.openxmlformats.org/drawingml/2006/main">
              <a:ext uri="{FF2B5EF4-FFF2-40B4-BE49-F238E27FC236}">
                <a16:creationId xmlns:a16="http://schemas.microsoft.com/office/drawing/2014/main" id="{05FC0272-3B25-48A2-BBEA-7DD152930553}"/>
              </a:ext>
            </a:extLst>
          </p:cNvPr>
          <p:cNvSpPr>
            <a:spLocks xmlns:a="http://schemas.openxmlformats.org/drawingml/2006/main" noGrp="1"/>
          </p:cNvSpPr>
          <p:nvPr/>
        </p:nvSpPr>
        <p:spPr>
          <a:xfrm xmlns:a="http://schemas.openxmlformats.org/drawingml/2006/main">
            <a:off x="781050" y="2276475"/>
            <a:ext cx="142875" cy="142875"/>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B8FFA0F-041A-4FE4-A6F1-A165AB5A59B8}"/>
              </a:ext>
            </a:extLst>
          </p:cNvPr>
          <p:cNvSpPr>
            <a:spLocks xmlns:a="http://schemas.openxmlformats.org/drawingml/2006/main" noGrp="1"/>
          </p:cNvSpPr>
          <p:nvPr/>
        </p:nvSpPr>
        <p:spPr>
          <a:xfrm xmlns:a="http://schemas.openxmlformats.org/drawingml/2006/main">
            <a:off x="1143000" y="220980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Typography combines several controllable features.</a:t>
            </a:r>
          </a:p>
        </p:txBody>
      </p:sp>
      <p:sp>
        <p:nvSpPr>
          <p:cNvPr id="7" name="">
            <a:extLst xmlns:a="http://schemas.openxmlformats.org/drawingml/2006/main">
              <a:ext uri="{FF2B5EF4-FFF2-40B4-BE49-F238E27FC236}">
                <a16:creationId xmlns:a16="http://schemas.microsoft.com/office/drawing/2014/main" id="{BAD712CF-C9AB-41C5-9086-50C779B3EB8D}"/>
              </a:ext>
            </a:extLst>
          </p:cNvPr>
          <p:cNvSpPr>
            <a:spLocks xmlns:a="http://schemas.openxmlformats.org/drawingml/2006/main" noGrp="1"/>
          </p:cNvSpPr>
          <p:nvPr/>
        </p:nvSpPr>
        <p:spPr>
          <a:xfrm xmlns:a="http://schemas.openxmlformats.org/drawingml/2006/main">
            <a:off x="781050" y="3181350"/>
            <a:ext cx="142875" cy="142875"/>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2F09A2C-F6D4-4AC5-B4DD-93E893B787F5}"/>
              </a:ext>
            </a:extLst>
          </p:cNvPr>
          <p:cNvSpPr>
            <a:spLocks xmlns:a="http://schemas.openxmlformats.org/drawingml/2006/main" noGrp="1"/>
          </p:cNvSpPr>
          <p:nvPr/>
        </p:nvSpPr>
        <p:spPr>
          <a:xfrm xmlns:a="http://schemas.openxmlformats.org/drawingml/2006/main">
            <a:off x="1143000" y="3114675"/>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Tone is tested, not assumed.</a:t>
            </a:r>
          </a:p>
        </p:txBody>
      </p:sp>
      <p:sp>
        <p:nvSpPr>
          <p:cNvPr id="9" name="">
            <a:extLst xmlns:a="http://schemas.openxmlformats.org/drawingml/2006/main">
              <a:ext uri="{FF2B5EF4-FFF2-40B4-BE49-F238E27FC236}">
                <a16:creationId xmlns:a16="http://schemas.microsoft.com/office/drawing/2014/main" id="{FB8BE090-EF7E-4FD4-BACE-611F9731FD3A}"/>
              </a:ext>
            </a:extLst>
          </p:cNvPr>
          <p:cNvSpPr>
            <a:spLocks xmlns:a="http://schemas.openxmlformats.org/drawingml/2006/main" noGrp="1"/>
          </p:cNvSpPr>
          <p:nvPr/>
        </p:nvSpPr>
        <p:spPr>
          <a:xfrm xmlns:a="http://schemas.openxmlformats.org/drawingml/2006/main">
            <a:off x="781050" y="4086225"/>
            <a:ext cx="142875" cy="142875"/>
          </a:xfrm>
          <a:prstGeom xmlns:a="http://schemas.openxmlformats.org/drawingml/2006/main" prst="ellipse">
            <a:avLst/>
          </a:prstGeom>
          <a:solidFill xmlns:a="http://schemas.openxmlformats.org/drawingml/2006/main">
            <a:srgbClr val="17756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664D605-D7AE-4E25-AA52-E3F24C92B7BE}"/>
              </a:ext>
            </a:extLst>
          </p:cNvPr>
          <p:cNvSpPr>
            <a:spLocks xmlns:a="http://schemas.openxmlformats.org/drawingml/2006/main" noGrp="1"/>
          </p:cNvSpPr>
          <p:nvPr/>
        </p:nvSpPr>
        <p:spPr>
          <a:xfrm xmlns:a="http://schemas.openxmlformats.org/drawingml/2006/main">
            <a:off x="1143000" y="401955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A small set of type roles supports hierarchy.</a:t>
            </a:r>
          </a:p>
        </p:txBody>
      </p:sp>
      <p:sp>
        <p:nvSpPr>
          <p:cNvPr id="11" name="">
            <a:extLst xmlns:a="http://schemas.openxmlformats.org/drawingml/2006/main">
              <a:ext uri="{FF2B5EF4-FFF2-40B4-BE49-F238E27FC236}">
                <a16:creationId xmlns:a16="http://schemas.microsoft.com/office/drawing/2014/main" id="{249C70C7-85C4-493D-9919-834C3EE0DC76}"/>
              </a:ext>
            </a:extLst>
          </p:cNvPr>
          <p:cNvSpPr>
            <a:spLocks xmlns:a="http://schemas.openxmlformats.org/drawingml/2006/main" noGrp="1"/>
          </p:cNvSpPr>
          <p:nvPr/>
        </p:nvSpPr>
        <p:spPr>
          <a:xfrm xmlns:a="http://schemas.openxmlformats.org/drawingml/2006/main">
            <a:off x="7200900" y="1352550"/>
            <a:ext cx="4305300" cy="2419350"/>
          </a:xfrm>
          <a:prstGeom xmlns:a="http://schemas.openxmlformats.org/drawingml/2006/main" prst="roundRect">
            <a:avLst>
              <a:gd name="adj" fmla="val 4724"/>
            </a:avLst>
          </a:prstGeom>
          <a:solidFill xmlns:a="http://schemas.openxmlformats.org/drawingml/2006/main">
            <a:srgbClr val="FFFFFF"/>
          </a:solidFill>
          <a:ln xmlns:a="http://schemas.openxmlformats.org/drawingml/2006/main" w="9525">
            <a:solidFill>
              <a:srgbClr val="CFD8D2"/>
            </a:solidFill>
            <a:prstDash val="solid"/>
          </a:ln>
        </p:spPr>
      </p:sp>
      <p:pic>
        <p:nvPicPr>
          <p:cNvPr id="30" name="Typography Tone Comparison" title="Typography Tone Comparison" descr="Overhead studio photograph of two clean typography proof sheets, colour chips, fabric samples and optical viewing tools."/>
          <p:cNvPicPr>
            <a:picLocks xmlns:a="http://schemas.openxmlformats.org/drawingml/2006/main" noChangeAspect="1"/>
          </p:cNvPicPr>
          <p:nvPr/>
        </p:nvPicPr>
        <p:blipFill>
          <a:blip xmlns:r="http://schemas.openxmlformats.org/officeDocument/2006/relationships" xmlns:a="http://schemas.openxmlformats.org/drawingml/2006/main" r:embed="R15a43f1b830549b4"/>
          <a:stretch xmlns:a="http://schemas.openxmlformats.org/drawingml/2006/main"/>
        </p:blipFill>
        <p:spPr>
          <a:xfrm xmlns:a="http://schemas.openxmlformats.org/drawingml/2006/main">
            <a:off x="7204159" y="1352550"/>
            <a:ext cx="4298781" cy="2419350"/>
          </a:xfrm>
          <a:prstGeom xmlns:a="http://schemas.openxmlformats.org/drawingml/2006/main" prst="roundRect">
            <a:avLst>
              <a:gd name="adj" fmla="val 4724"/>
            </a:avLst>
          </a:prstGeom>
        </p:spPr>
      </p:pic>
      <p:sp>
        <p:nvSpPr>
          <p:cNvPr id="13" name="">
            <a:extLst xmlns:a="http://schemas.openxmlformats.org/drawingml/2006/main">
              <a:ext uri="{FF2B5EF4-FFF2-40B4-BE49-F238E27FC236}">
                <a16:creationId xmlns:a16="http://schemas.microsoft.com/office/drawing/2014/main" id="{672DA94A-1597-43CC-B182-EA3EB1B571C6}"/>
              </a:ext>
            </a:extLst>
          </p:cNvPr>
          <p:cNvSpPr>
            <a:spLocks xmlns:a="http://schemas.openxmlformats.org/drawingml/2006/main" noGrp="1"/>
          </p:cNvSpPr>
          <p:nvPr/>
        </p:nvSpPr>
        <p:spPr>
          <a:xfrm xmlns:a="http://schemas.openxmlformats.org/drawingml/2006/main">
            <a:off x="7200900" y="3848100"/>
            <a:ext cx="4305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17342C"/>
                </a:solidFill>
                <a:latin typeface="Arial"/>
                <a:ea typeface="Arial"/>
                <a:cs typeface="Arial"/>
              </a:defRPr>
            </a:pPr>
            <a:r>
              <a:rPr sz="1050" b="1">
                <a:solidFill>
                  <a:srgbClr val="17342C"/>
                </a:solidFill>
                <a:latin typeface="Arial"/>
                <a:ea typeface="Arial"/>
                <a:cs typeface="Arial"/>
              </a:rPr>
              <a:t>Two proof sheets show that type tone and readability must be judged together at the intended size.</a:t>
            </a:r>
          </a:p>
        </p:txBody>
      </p:sp>
      <p:sp>
        <p:nvSpPr>
          <p:cNvPr id="14" name="">
            <a:extLst xmlns:a="http://schemas.openxmlformats.org/drawingml/2006/main">
              <a:ext uri="{FF2B5EF4-FFF2-40B4-BE49-F238E27FC236}">
                <a16:creationId xmlns:a16="http://schemas.microsoft.com/office/drawing/2014/main" id="{86307DB8-D3D6-4AAC-9961-BB96A6BF4964}"/>
              </a:ext>
            </a:extLst>
          </p:cNvPr>
          <p:cNvSpPr>
            <a:spLocks xmlns:a="http://schemas.openxmlformats.org/drawingml/2006/main" noGrp="1"/>
          </p:cNvSpPr>
          <p:nvPr/>
        </p:nvSpPr>
        <p:spPr>
          <a:xfrm xmlns:a="http://schemas.openxmlformats.org/drawingml/2006/main">
            <a:off x="7200900" y="4324350"/>
            <a:ext cx="4305300" cy="514350"/>
          </a:xfrm>
          <a:prstGeom xmlns:a="http://schemas.openxmlformats.org/drawingml/2006/main" prst="roundRect">
            <a:avLst>
              <a:gd name="adj" fmla="val 14815"/>
            </a:avLst>
          </a:prstGeom>
          <a:solidFill xmlns:a="http://schemas.openxmlformats.org/drawingml/2006/main">
            <a:srgbClr val="FCF4D8"/>
          </a:solidFill>
          <a:ln xmlns:a="http://schemas.openxmlformats.org/drawingml/2006/main" w="0">
            <a:noFill/>
            <a:prstDash val="solid"/>
          </a:ln>
        </p:spPr>
        <p:txBody>
          <a:bodyPr xmlns:a="http://schemas.openxmlformats.org/drawingml/2006/main" lIns="95250" tIns="57150" rIns="95250" bIns="57150" anchor="ctr">
            <a:normAutofit fontScale="100000"/>
          </a:bodyPr>
          <a:lstStyle xmlns:a="http://schemas.openxmlformats.org/drawingml/2006/main"/>
          <a:p xmlns:a="http://schemas.openxmlformats.org/drawingml/2006/main">
            <a:pPr algn="l">
              <a:defRPr sz="1050" b="1">
                <a:solidFill>
                  <a:srgbClr val="0C5554"/>
                </a:solidFill>
                <a:latin typeface="Arial"/>
                <a:ea typeface="Arial"/>
                <a:cs typeface="Arial"/>
              </a:defRPr>
            </a:pPr>
            <a:r>
              <a:rPr sz="1050" b="1">
                <a:solidFill>
                  <a:srgbClr val="0C5554"/>
                </a:solidFill>
                <a:latin typeface="Arial"/>
                <a:ea typeface="Arial"/>
                <a:cs typeface="Arial"/>
              </a:rPr>
              <a:t>Notice: Compare the personality of the letterforms, then check spacing, contrast and scanability.</a:t>
            </a:r>
          </a:p>
        </p:txBody>
      </p:sp>
      <p:sp>
        <p:nvSpPr>
          <p:cNvPr id="15" name="">
            <a:extLst xmlns:a="http://schemas.openxmlformats.org/drawingml/2006/main">
              <a:ext uri="{FF2B5EF4-FFF2-40B4-BE49-F238E27FC236}">
                <a16:creationId xmlns:a16="http://schemas.microsoft.com/office/drawing/2014/main" id="{FC1C947C-1EC6-44A2-94CB-14235E7903E8}"/>
              </a:ext>
            </a:extLst>
          </p:cNvPr>
          <p:cNvSpPr>
            <a:spLocks xmlns:a="http://schemas.openxmlformats.org/drawingml/2006/main" noGrp="1"/>
          </p:cNvSpPr>
          <p:nvPr/>
        </p:nvSpPr>
        <p:spPr>
          <a:xfrm xmlns:a="http://schemas.openxmlformats.org/drawingml/2006/main">
            <a:off x="7200900" y="5048250"/>
            <a:ext cx="2000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0C5554"/>
                </a:solidFill>
                <a:latin typeface="Arial"/>
                <a:ea typeface="Arial"/>
                <a:cs typeface="Arial"/>
              </a:defRPr>
            </a:pPr>
            <a:r>
              <a:rPr sz="975" b="1">
                <a:solidFill>
                  <a:srgbClr val="0C5554"/>
                </a:solidFill>
                <a:latin typeface="Arial"/>
                <a:ea typeface="Arial"/>
                <a:cs typeface="Arial"/>
              </a:rPr>
              <a:t>ASK THE ROOM</a:t>
            </a:r>
          </a:p>
        </p:txBody>
      </p:sp>
      <p:sp>
        <p:nvSpPr>
          <p:cNvPr id="16" name="">
            <a:extLst xmlns:a="http://schemas.openxmlformats.org/drawingml/2006/main">
              <a:ext uri="{FF2B5EF4-FFF2-40B4-BE49-F238E27FC236}">
                <a16:creationId xmlns:a16="http://schemas.microsoft.com/office/drawing/2014/main" id="{8DE35EBE-BDE9-41EB-BAAE-78CEC2CF3FBF}"/>
              </a:ext>
            </a:extLst>
          </p:cNvPr>
          <p:cNvSpPr>
            <a:spLocks xmlns:a="http://schemas.openxmlformats.org/drawingml/2006/main" noGrp="1"/>
          </p:cNvSpPr>
          <p:nvPr/>
        </p:nvSpPr>
        <p:spPr>
          <a:xfrm xmlns:a="http://schemas.openxmlformats.org/drawingml/2006/main">
            <a:off x="7200900" y="5257800"/>
            <a:ext cx="4305300" cy="914400"/>
          </a:xfrm>
          <a:prstGeom xmlns:a="http://schemas.openxmlformats.org/drawingml/2006/main" prst="roundRect">
            <a:avLst>
              <a:gd name="adj" fmla="val 8333"/>
            </a:avLst>
          </a:prstGeom>
          <a:solidFill xmlns:a="http://schemas.openxmlformats.org/drawingml/2006/main">
            <a:srgbClr val="E7F0EC"/>
          </a:solidFill>
          <a:ln xmlns:a="http://schemas.openxmlformats.org/drawingml/2006/main" w="0">
            <a:no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l">
              <a:defRPr sz="1275" b="1">
                <a:solidFill>
                  <a:srgbClr val="17342C"/>
                </a:solidFill>
                <a:latin typeface="Arial"/>
                <a:ea typeface="Arial"/>
                <a:cs typeface="Arial"/>
              </a:defRPr>
            </a:pPr>
            <a:r>
              <a:rPr sz="1275" b="1">
                <a:solidFill>
                  <a:srgbClr val="17342C"/>
                </a:solidFill>
                <a:latin typeface="Arial"/>
                <a:ea typeface="Arial"/>
                <a:cs typeface="Arial"/>
              </a:rPr>
              <a:t>Which group contains typography decisions?</a:t>
            </a:r>
          </a:p>
        </p:txBody>
      </p:sp>
      <p:sp>
        <p:nvSpPr>
          <p:cNvPr id="17" name="">
            <a:extLst xmlns:a="http://schemas.openxmlformats.org/drawingml/2006/main">
              <a:ext uri="{FF2B5EF4-FFF2-40B4-BE49-F238E27FC236}">
                <a16:creationId xmlns:a16="http://schemas.microsoft.com/office/drawing/2014/main" id="{107E9DA9-2545-475B-8C76-9A499C6D03C9}"/>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02  •  VISUAL LANGUAGE</a:t>
            </a:r>
          </a:p>
        </p:txBody>
      </p:sp>
      <p:sp>
        <p:nvSpPr>
          <p:cNvPr id="18" name="">
            <a:extLst xmlns:a="http://schemas.openxmlformats.org/drawingml/2006/main">
              <a:ext uri="{FF2B5EF4-FFF2-40B4-BE49-F238E27FC236}">
                <a16:creationId xmlns:a16="http://schemas.microsoft.com/office/drawing/2014/main" id="{C91CB5DF-7580-4F86-9872-839BA399A713}"/>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04</a:t>
            </a:r>
          </a:p>
        </p:txBody>
      </p:sp>
    </p:spTree>
    <p:extLst>
      <p:ext uri="{BB962C8B-B14F-4D97-AF65-F5344CB8AC3E}">
        <p14:creationId xmlns:p14="http://schemas.microsoft.com/office/powerpoint/2010/main" val="2055042163"/>
      </p:ext>
    </p:extLst>
  </p:cSld>
</p:sld>
</file>

<file path=ppt/slides/slide5.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3F1932C-D236-4ED3-99E1-806FDC5FA82C}"/>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B73E80D-3EE6-4849-8D47-DEC2B452E3C7}"/>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2.3  HIERARCHY, LAYOUT AND MOOD BOARDS</a:t>
            </a:r>
          </a:p>
        </p:txBody>
      </p:sp>
      <p:sp>
        <p:nvSpPr>
          <p:cNvPr id="3" name="">
            <a:extLst xmlns:a="http://schemas.openxmlformats.org/drawingml/2006/main">
              <a:ext uri="{FF2B5EF4-FFF2-40B4-BE49-F238E27FC236}">
                <a16:creationId xmlns:a16="http://schemas.microsoft.com/office/drawing/2014/main" id="{5EC99096-B447-4176-9E53-D1766AD54F1C}"/>
              </a:ext>
            </a:extLst>
          </p:cNvPr>
          <p:cNvSpPr>
            <a:spLocks xmlns:a="http://schemas.openxmlformats.org/drawingml/2006/main" noGrp="1"/>
          </p:cNvSpPr>
          <p:nvPr/>
        </p:nvSpPr>
        <p:spPr>
          <a:xfrm xmlns:a="http://schemas.openxmlformats.org/drawingml/2006/main">
            <a:off x="685800" y="800100"/>
            <a:ext cx="695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75" b="1">
                <a:solidFill>
                  <a:srgbClr val="17342C"/>
                </a:solidFill>
                <a:latin typeface="Arial"/>
                <a:ea typeface="Arial"/>
                <a:cs typeface="Arial"/>
              </a:defRPr>
            </a:pPr>
            <a:r>
              <a:rPr sz="2775" b="1">
                <a:solidFill>
                  <a:srgbClr val="17342C"/>
                </a:solidFill>
                <a:latin typeface="Arial"/>
                <a:ea typeface="Arial"/>
                <a:cs typeface="Arial"/>
              </a:rPr>
              <a:t>Hierarchy, layout and mood boards</a:t>
            </a:r>
          </a:p>
        </p:txBody>
      </p:sp>
      <p:sp>
        <p:nvSpPr>
          <p:cNvPr id="4" name="">
            <a:extLst xmlns:a="http://schemas.openxmlformats.org/drawingml/2006/main">
              <a:ext uri="{FF2B5EF4-FFF2-40B4-BE49-F238E27FC236}">
                <a16:creationId xmlns:a16="http://schemas.microsoft.com/office/drawing/2014/main" id="{D5860489-63A8-4A77-8899-0773062BDF4E}"/>
              </a:ext>
            </a:extLst>
          </p:cNvPr>
          <p:cNvSpPr>
            <a:spLocks xmlns:a="http://schemas.openxmlformats.org/drawingml/2006/main" noGrp="1"/>
          </p:cNvSpPr>
          <p:nvPr/>
        </p:nvSpPr>
        <p:spPr>
          <a:xfrm xmlns:a="http://schemas.openxmlformats.org/drawingml/2006/main">
            <a:off x="685800" y="1743075"/>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THREE IDEAS TO PUT ON THE BOARD</a:t>
            </a:r>
          </a:p>
        </p:txBody>
      </p:sp>
      <p:sp>
        <p:nvSpPr>
          <p:cNvPr id="5" name="">
            <a:extLst xmlns:a="http://schemas.openxmlformats.org/drawingml/2006/main">
              <a:ext uri="{FF2B5EF4-FFF2-40B4-BE49-F238E27FC236}">
                <a16:creationId xmlns:a16="http://schemas.microsoft.com/office/drawing/2014/main" id="{532C0D6E-13CF-4353-AC9A-80AD5B800F11}"/>
              </a:ext>
            </a:extLst>
          </p:cNvPr>
          <p:cNvSpPr>
            <a:spLocks xmlns:a="http://schemas.openxmlformats.org/drawingml/2006/main" noGrp="1"/>
          </p:cNvSpPr>
          <p:nvPr/>
        </p:nvSpPr>
        <p:spPr>
          <a:xfrm xmlns:a="http://schemas.openxmlformats.org/drawingml/2006/main">
            <a:off x="781050" y="2276475"/>
            <a:ext cx="142875" cy="142875"/>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740EA48-2FB9-4180-B7B3-1CF1AAF9F117}"/>
              </a:ext>
            </a:extLst>
          </p:cNvPr>
          <p:cNvSpPr>
            <a:spLocks xmlns:a="http://schemas.openxmlformats.org/drawingml/2006/main" noGrp="1"/>
          </p:cNvSpPr>
          <p:nvPr/>
        </p:nvSpPr>
        <p:spPr>
          <a:xfrm xmlns:a="http://schemas.openxmlformats.org/drawingml/2006/main">
            <a:off x="1143000" y="220980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Rank information before styling.</a:t>
            </a:r>
          </a:p>
        </p:txBody>
      </p:sp>
      <p:sp>
        <p:nvSpPr>
          <p:cNvPr id="7" name="">
            <a:extLst xmlns:a="http://schemas.openxmlformats.org/drawingml/2006/main">
              <a:ext uri="{FF2B5EF4-FFF2-40B4-BE49-F238E27FC236}">
                <a16:creationId xmlns:a16="http://schemas.microsoft.com/office/drawing/2014/main" id="{DB23DD0D-26A3-4A7C-B038-E5117FA482E6}"/>
              </a:ext>
            </a:extLst>
          </p:cNvPr>
          <p:cNvSpPr>
            <a:spLocks xmlns:a="http://schemas.openxmlformats.org/drawingml/2006/main" noGrp="1"/>
          </p:cNvSpPr>
          <p:nvPr/>
        </p:nvSpPr>
        <p:spPr>
          <a:xfrm xmlns:a="http://schemas.openxmlformats.org/drawingml/2006/main">
            <a:off x="781050" y="3181350"/>
            <a:ext cx="142875" cy="142875"/>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DD3DCF3-E9AA-48A2-9BE1-41794E9609B6}"/>
              </a:ext>
            </a:extLst>
          </p:cNvPr>
          <p:cNvSpPr>
            <a:spLocks xmlns:a="http://schemas.openxmlformats.org/drawingml/2006/main" noGrp="1"/>
          </p:cNvSpPr>
          <p:nvPr/>
        </p:nvSpPr>
        <p:spPr>
          <a:xfrm xmlns:a="http://schemas.openxmlformats.org/drawingml/2006/main">
            <a:off x="1143000" y="3114675"/>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Alignment, proximity and space show relationships.</a:t>
            </a:r>
          </a:p>
        </p:txBody>
      </p:sp>
      <p:sp>
        <p:nvSpPr>
          <p:cNvPr id="9" name="">
            <a:extLst xmlns:a="http://schemas.openxmlformats.org/drawingml/2006/main">
              <a:ext uri="{FF2B5EF4-FFF2-40B4-BE49-F238E27FC236}">
                <a16:creationId xmlns:a16="http://schemas.microsoft.com/office/drawing/2014/main" id="{49A26223-4622-469C-850A-86FF2C31FEF9}"/>
              </a:ext>
            </a:extLst>
          </p:cNvPr>
          <p:cNvSpPr>
            <a:spLocks xmlns:a="http://schemas.openxmlformats.org/drawingml/2006/main" noGrp="1"/>
          </p:cNvSpPr>
          <p:nvPr/>
        </p:nvSpPr>
        <p:spPr>
          <a:xfrm xmlns:a="http://schemas.openxmlformats.org/drawingml/2006/main">
            <a:off x="781050" y="4086225"/>
            <a:ext cx="142875" cy="142875"/>
          </a:xfrm>
          <a:prstGeom xmlns:a="http://schemas.openxmlformats.org/drawingml/2006/main" prst="ellipse">
            <a:avLst/>
          </a:prstGeom>
          <a:solidFill xmlns:a="http://schemas.openxmlformats.org/drawingml/2006/main">
            <a:srgbClr val="17756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39053CA-E92A-4936-BD10-BCB667012B63}"/>
              </a:ext>
            </a:extLst>
          </p:cNvPr>
          <p:cNvSpPr>
            <a:spLocks xmlns:a="http://schemas.openxmlformats.org/drawingml/2006/main" noGrp="1"/>
          </p:cNvSpPr>
          <p:nvPr/>
        </p:nvSpPr>
        <p:spPr>
          <a:xfrm xmlns:a="http://schemas.openxmlformats.org/drawingml/2006/main">
            <a:off x="1143000" y="401955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A mood board is an annotated filter, not a final collage.</a:t>
            </a:r>
          </a:p>
        </p:txBody>
      </p:sp>
      <p:sp>
        <p:nvSpPr>
          <p:cNvPr id="11" name="">
            <a:extLst xmlns:a="http://schemas.openxmlformats.org/drawingml/2006/main">
              <a:ext uri="{FF2B5EF4-FFF2-40B4-BE49-F238E27FC236}">
                <a16:creationId xmlns:a16="http://schemas.microsoft.com/office/drawing/2014/main" id="{9577C694-734D-43C4-B57C-A1938AA18FD7}"/>
              </a:ext>
            </a:extLst>
          </p:cNvPr>
          <p:cNvSpPr>
            <a:spLocks xmlns:a="http://schemas.openxmlformats.org/drawingml/2006/main" noGrp="1"/>
          </p:cNvSpPr>
          <p:nvPr/>
        </p:nvSpPr>
        <p:spPr>
          <a:xfrm xmlns:a="http://schemas.openxmlformats.org/drawingml/2006/main">
            <a:off x="7200900" y="1352550"/>
            <a:ext cx="4305300" cy="2419350"/>
          </a:xfrm>
          <a:prstGeom xmlns:a="http://schemas.openxmlformats.org/drawingml/2006/main" prst="roundRect">
            <a:avLst>
              <a:gd name="adj" fmla="val 4724"/>
            </a:avLst>
          </a:prstGeom>
          <a:solidFill xmlns:a="http://schemas.openxmlformats.org/drawingml/2006/main">
            <a:srgbClr val="FFFFFF"/>
          </a:solidFill>
          <a:ln xmlns:a="http://schemas.openxmlformats.org/drawingml/2006/main" w="9525">
            <a:solidFill>
              <a:srgbClr val="CFD8D2"/>
            </a:solidFill>
            <a:prstDash val="solid"/>
          </a:ln>
        </p:spPr>
      </p:sp>
      <p:pic>
        <p:nvPicPr>
          <p:cNvPr id="30" name="Moodboard Workspace" title="Moodboard Workspace" descr="Overhead mood board with earthy swatches, paper textures, abstract letterforms, food photographs and layout thumbnails on a cutting mat."/>
          <p:cNvPicPr>
            <a:picLocks xmlns:a="http://schemas.openxmlformats.org/drawingml/2006/main" noChangeAspect="1"/>
          </p:cNvPicPr>
          <p:nvPr/>
        </p:nvPicPr>
        <p:blipFill>
          <a:blip xmlns:r="http://schemas.openxmlformats.org/officeDocument/2006/relationships" xmlns:a="http://schemas.openxmlformats.org/drawingml/2006/main" r:embed="R78865169bca7497a"/>
          <a:stretch xmlns:a="http://schemas.openxmlformats.org/drawingml/2006/main"/>
        </p:blipFill>
        <p:spPr>
          <a:xfrm xmlns:a="http://schemas.openxmlformats.org/drawingml/2006/main">
            <a:off x="7204159" y="1352550"/>
            <a:ext cx="4298781" cy="2419350"/>
          </a:xfrm>
          <a:prstGeom xmlns:a="http://schemas.openxmlformats.org/drawingml/2006/main" prst="roundRect">
            <a:avLst>
              <a:gd name="adj" fmla="val 4724"/>
            </a:avLst>
          </a:prstGeom>
        </p:spPr>
      </p:pic>
      <p:sp>
        <p:nvSpPr>
          <p:cNvPr id="13" name="">
            <a:extLst xmlns:a="http://schemas.openxmlformats.org/drawingml/2006/main">
              <a:ext uri="{FF2B5EF4-FFF2-40B4-BE49-F238E27FC236}">
                <a16:creationId xmlns:a16="http://schemas.microsoft.com/office/drawing/2014/main" id="{EB00DC6E-29E9-4667-8349-933C35AF0EC5}"/>
              </a:ext>
            </a:extLst>
          </p:cNvPr>
          <p:cNvSpPr>
            <a:spLocks xmlns:a="http://schemas.openxmlformats.org/drawingml/2006/main" noGrp="1"/>
          </p:cNvSpPr>
          <p:nvPr/>
        </p:nvSpPr>
        <p:spPr>
          <a:xfrm xmlns:a="http://schemas.openxmlformats.org/drawingml/2006/main">
            <a:off x="7200900" y="3848100"/>
            <a:ext cx="4305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17342C"/>
                </a:solidFill>
                <a:latin typeface="Arial"/>
                <a:ea typeface="Arial"/>
                <a:cs typeface="Arial"/>
              </a:defRPr>
            </a:pPr>
            <a:r>
              <a:rPr sz="1050" b="1">
                <a:solidFill>
                  <a:srgbClr val="17342C"/>
                </a:solidFill>
                <a:latin typeface="Arial"/>
                <a:ea typeface="Arial"/>
                <a:cs typeface="Arial"/>
              </a:rPr>
              <a:t>A flat-lay mood board groups a restrained palette, food imagery, textures, letterforms and layout thumbnails into one direction.</a:t>
            </a:r>
          </a:p>
        </p:txBody>
      </p:sp>
      <p:sp>
        <p:nvSpPr>
          <p:cNvPr id="14" name="">
            <a:extLst xmlns:a="http://schemas.openxmlformats.org/drawingml/2006/main">
              <a:ext uri="{FF2B5EF4-FFF2-40B4-BE49-F238E27FC236}">
                <a16:creationId xmlns:a16="http://schemas.microsoft.com/office/drawing/2014/main" id="{9EC16790-7F1B-446A-BED5-8C01F8DFBCDF}"/>
              </a:ext>
            </a:extLst>
          </p:cNvPr>
          <p:cNvSpPr>
            <a:spLocks xmlns:a="http://schemas.openxmlformats.org/drawingml/2006/main" noGrp="1"/>
          </p:cNvSpPr>
          <p:nvPr/>
        </p:nvSpPr>
        <p:spPr>
          <a:xfrm xmlns:a="http://schemas.openxmlformats.org/drawingml/2006/main">
            <a:off x="7200900" y="4324350"/>
            <a:ext cx="4305300" cy="514350"/>
          </a:xfrm>
          <a:prstGeom xmlns:a="http://schemas.openxmlformats.org/drawingml/2006/main" prst="roundRect">
            <a:avLst>
              <a:gd name="adj" fmla="val 14815"/>
            </a:avLst>
          </a:prstGeom>
          <a:solidFill xmlns:a="http://schemas.openxmlformats.org/drawingml/2006/main">
            <a:srgbClr val="FCF4D8"/>
          </a:solidFill>
          <a:ln xmlns:a="http://schemas.openxmlformats.org/drawingml/2006/main" w="0">
            <a:noFill/>
            <a:prstDash val="solid"/>
          </a:ln>
        </p:spPr>
        <p:txBody>
          <a:bodyPr xmlns:a="http://schemas.openxmlformats.org/drawingml/2006/main" lIns="95250" tIns="57150" rIns="95250" bIns="57150" anchor="ctr">
            <a:normAutofit fontScale="100000"/>
          </a:bodyPr>
          <a:lstStyle xmlns:a="http://schemas.openxmlformats.org/drawingml/2006/main"/>
          <a:p xmlns:a="http://schemas.openxmlformats.org/drawingml/2006/main">
            <a:pPr algn="l">
              <a:defRPr sz="1050" b="1">
                <a:solidFill>
                  <a:srgbClr val="0C5554"/>
                </a:solidFill>
                <a:latin typeface="Arial"/>
                <a:ea typeface="Arial"/>
                <a:cs typeface="Arial"/>
              </a:defRPr>
            </a:pPr>
            <a:r>
              <a:rPr sz="1050" b="1">
                <a:solidFill>
                  <a:srgbClr val="0C5554"/>
                </a:solidFill>
                <a:latin typeface="Arial"/>
                <a:ea typeface="Arial"/>
                <a:cs typeface="Arial"/>
              </a:rPr>
              <a:t>Notice: Which repeated visual qualities make these different samples feel connected?</a:t>
            </a:r>
          </a:p>
        </p:txBody>
      </p:sp>
      <p:sp>
        <p:nvSpPr>
          <p:cNvPr id="15" name="">
            <a:extLst xmlns:a="http://schemas.openxmlformats.org/drawingml/2006/main">
              <a:ext uri="{FF2B5EF4-FFF2-40B4-BE49-F238E27FC236}">
                <a16:creationId xmlns:a16="http://schemas.microsoft.com/office/drawing/2014/main" id="{A9463679-7EF0-4663-A540-840B80080F2F}"/>
              </a:ext>
            </a:extLst>
          </p:cNvPr>
          <p:cNvSpPr>
            <a:spLocks xmlns:a="http://schemas.openxmlformats.org/drawingml/2006/main" noGrp="1"/>
          </p:cNvSpPr>
          <p:nvPr/>
        </p:nvSpPr>
        <p:spPr>
          <a:xfrm xmlns:a="http://schemas.openxmlformats.org/drawingml/2006/main">
            <a:off x="7200900" y="5048250"/>
            <a:ext cx="2000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0C5554"/>
                </a:solidFill>
                <a:latin typeface="Arial"/>
                <a:ea typeface="Arial"/>
                <a:cs typeface="Arial"/>
              </a:defRPr>
            </a:pPr>
            <a:r>
              <a:rPr sz="975" b="1">
                <a:solidFill>
                  <a:srgbClr val="0C5554"/>
                </a:solidFill>
                <a:latin typeface="Arial"/>
                <a:ea typeface="Arial"/>
                <a:cs typeface="Arial"/>
              </a:rPr>
              <a:t>ASK THE ROOM</a:t>
            </a:r>
          </a:p>
        </p:txBody>
      </p:sp>
      <p:sp>
        <p:nvSpPr>
          <p:cNvPr id="16" name="">
            <a:extLst xmlns:a="http://schemas.openxmlformats.org/drawingml/2006/main">
              <a:ext uri="{FF2B5EF4-FFF2-40B4-BE49-F238E27FC236}">
                <a16:creationId xmlns:a16="http://schemas.microsoft.com/office/drawing/2014/main" id="{3B42823E-F242-4A98-BC24-BA2751C021A8}"/>
              </a:ext>
            </a:extLst>
          </p:cNvPr>
          <p:cNvSpPr>
            <a:spLocks xmlns:a="http://schemas.openxmlformats.org/drawingml/2006/main" noGrp="1"/>
          </p:cNvSpPr>
          <p:nvPr/>
        </p:nvSpPr>
        <p:spPr>
          <a:xfrm xmlns:a="http://schemas.openxmlformats.org/drawingml/2006/main">
            <a:off x="7200900" y="5257800"/>
            <a:ext cx="4305300" cy="914400"/>
          </a:xfrm>
          <a:prstGeom xmlns:a="http://schemas.openxmlformats.org/drawingml/2006/main" prst="roundRect">
            <a:avLst>
              <a:gd name="adj" fmla="val 8333"/>
            </a:avLst>
          </a:prstGeom>
          <a:solidFill xmlns:a="http://schemas.openxmlformats.org/drawingml/2006/main">
            <a:srgbClr val="E7F0EC"/>
          </a:solidFill>
          <a:ln xmlns:a="http://schemas.openxmlformats.org/drawingml/2006/main" w="0">
            <a:no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l">
              <a:defRPr sz="1275" b="1">
                <a:solidFill>
                  <a:srgbClr val="17342C"/>
                </a:solidFill>
                <a:latin typeface="Arial"/>
                <a:ea typeface="Arial"/>
                <a:cs typeface="Arial"/>
              </a:defRPr>
            </a:pPr>
            <a:r>
              <a:rPr sz="1275" b="1">
                <a:solidFill>
                  <a:srgbClr val="17342C"/>
                </a:solidFill>
                <a:latin typeface="Arial"/>
                <a:ea typeface="Arial"/>
                <a:cs typeface="Arial"/>
              </a:rPr>
              <a:t>What is visual hierarchy?</a:t>
            </a:r>
          </a:p>
        </p:txBody>
      </p:sp>
      <p:sp>
        <p:nvSpPr>
          <p:cNvPr id="17" name="">
            <a:extLst xmlns:a="http://schemas.openxmlformats.org/drawingml/2006/main">
              <a:ext uri="{FF2B5EF4-FFF2-40B4-BE49-F238E27FC236}">
                <a16:creationId xmlns:a16="http://schemas.microsoft.com/office/drawing/2014/main" id="{E8677D83-2FB4-4D97-923D-BEE9B66CC6A8}"/>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02  •  VISUAL LANGUAGE</a:t>
            </a:r>
          </a:p>
        </p:txBody>
      </p:sp>
      <p:sp>
        <p:nvSpPr>
          <p:cNvPr id="18" name="">
            <a:extLst xmlns:a="http://schemas.openxmlformats.org/drawingml/2006/main">
              <a:ext uri="{FF2B5EF4-FFF2-40B4-BE49-F238E27FC236}">
                <a16:creationId xmlns:a16="http://schemas.microsoft.com/office/drawing/2014/main" id="{E0BE7B43-4C77-48C7-A5F0-26379ABF5D6C}"/>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05</a:t>
            </a:r>
          </a:p>
        </p:txBody>
      </p:sp>
    </p:spTree>
    <p:extLst>
      <p:ext uri="{BB962C8B-B14F-4D97-AF65-F5344CB8AC3E}">
        <p14:creationId xmlns:p14="http://schemas.microsoft.com/office/powerpoint/2010/main" val="1779870781"/>
      </p:ext>
    </p:extLst>
  </p:cSld>
</p:sld>
</file>

<file path=ppt/slides/slide6.xml><?xml version="1.0" encoding="utf-8"?>
<p:sld xmlns:p="http://schemas.openxmlformats.org/presentationml/2006/main">
  <p:cSld>
    <p:bg>
      <p:bgPr>
        <a:solidFill xmlns:a="http://schemas.openxmlformats.org/drawingml/2006/main">
          <a:srgbClr val="17342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E483ACB-D329-485F-98FD-CFD7C6E25999}"/>
              </a:ext>
            </a:extLst>
          </p:cNvPr>
          <p:cNvSpPr>
            <a:spLocks xmlns:a="http://schemas.openxmlformats.org/drawingml/2006/main" noGrp="1"/>
          </p:cNvSpPr>
          <p:nvPr/>
        </p:nvSpPr>
        <p:spPr>
          <a:xfrm xmlns:a="http://schemas.openxmlformats.org/drawingml/2006/main">
            <a:off x="0" y="0"/>
            <a:ext cx="12192000" cy="17145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7F860F7-A527-45A4-89EE-AAFE7DA847F6}"/>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F2BD3C"/>
                </a:solidFill>
                <a:latin typeface="Arial"/>
                <a:ea typeface="Arial"/>
                <a:cs typeface="Arial"/>
              </a:defRPr>
            </a:pPr>
            <a:r>
              <a:rPr sz="975" b="1">
                <a:solidFill>
                  <a:srgbClr val="F2BD3C"/>
                </a:solidFill>
                <a:latin typeface="Arial"/>
                <a:ea typeface="Arial"/>
                <a:cs typeface="Arial"/>
              </a:rPr>
              <a:t>CHECK FOR UNDERSTANDING</a:t>
            </a:r>
          </a:p>
        </p:txBody>
      </p:sp>
      <p:sp>
        <p:nvSpPr>
          <p:cNvPr id="3" name="">
            <a:extLst xmlns:a="http://schemas.openxmlformats.org/drawingml/2006/main">
              <a:ext uri="{FF2B5EF4-FFF2-40B4-BE49-F238E27FC236}">
                <a16:creationId xmlns:a16="http://schemas.microsoft.com/office/drawing/2014/main" id="{85B75579-5A6F-44C6-A4AD-EE9ED46C3F06}"/>
              </a:ext>
            </a:extLst>
          </p:cNvPr>
          <p:cNvSpPr>
            <a:spLocks xmlns:a="http://schemas.openxmlformats.org/drawingml/2006/main" noGrp="1"/>
          </p:cNvSpPr>
          <p:nvPr/>
        </p:nvSpPr>
        <p:spPr>
          <a:xfrm xmlns:a="http://schemas.openxmlformats.org/drawingml/2006/main">
            <a:off x="685800" y="914400"/>
            <a:ext cx="685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075" b="1">
                <a:solidFill>
                  <a:srgbClr val="FFFFFF"/>
                </a:solidFill>
                <a:latin typeface="Arial"/>
                <a:ea typeface="Arial"/>
                <a:cs typeface="Arial"/>
              </a:defRPr>
            </a:pPr>
            <a:r>
              <a:rPr sz="3075" b="1">
                <a:solidFill>
                  <a:srgbClr val="FFFFFF"/>
                </a:solidFill>
                <a:latin typeface="Arial"/>
                <a:ea typeface="Arial"/>
                <a:cs typeface="Arial"/>
              </a:rPr>
              <a:t>Stop. Think. Explain.</a:t>
            </a:r>
          </a:p>
        </p:txBody>
      </p:sp>
      <p:sp>
        <p:nvSpPr>
          <p:cNvPr id="4" name="">
            <a:extLst xmlns:a="http://schemas.openxmlformats.org/drawingml/2006/main">
              <a:ext uri="{FF2B5EF4-FFF2-40B4-BE49-F238E27FC236}">
                <a16:creationId xmlns:a16="http://schemas.microsoft.com/office/drawing/2014/main" id="{896514CF-0FDA-4729-8575-4A39DC7E64A1}"/>
              </a:ext>
            </a:extLst>
          </p:cNvPr>
          <p:cNvSpPr>
            <a:spLocks xmlns:a="http://schemas.openxmlformats.org/drawingml/2006/main" noGrp="1"/>
          </p:cNvSpPr>
          <p:nvPr/>
        </p:nvSpPr>
        <p:spPr>
          <a:xfrm xmlns:a="http://schemas.openxmlformats.org/drawingml/2006/main">
            <a:off x="685800" y="1657350"/>
            <a:ext cx="781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DCE8E2"/>
                </a:solidFill>
                <a:latin typeface="Arial"/>
                <a:ea typeface="Arial"/>
                <a:cs typeface="Arial"/>
              </a:defRPr>
            </a:pPr>
            <a:r>
              <a:rPr sz="1425" b="0">
                <a:solidFill>
                  <a:srgbClr val="DCE8E2"/>
                </a:solidFill>
                <a:latin typeface="Arial"/>
                <a:ea typeface="Arial"/>
                <a:cs typeface="Arial"/>
              </a:rPr>
              <a:t>Answer silently first, then justify with a partner.</a:t>
            </a:r>
          </a:p>
        </p:txBody>
      </p:sp>
      <p:sp>
        <p:nvSpPr>
          <p:cNvPr id="5" name="">
            <a:extLst xmlns:a="http://schemas.openxmlformats.org/drawingml/2006/main">
              <a:ext uri="{FF2B5EF4-FFF2-40B4-BE49-F238E27FC236}">
                <a16:creationId xmlns:a16="http://schemas.microsoft.com/office/drawing/2014/main" id="{122366B8-D8DE-4848-8C13-FE294A993B23}"/>
              </a:ext>
            </a:extLst>
          </p:cNvPr>
          <p:cNvSpPr>
            <a:spLocks xmlns:a="http://schemas.openxmlformats.org/drawingml/2006/main" noGrp="1"/>
          </p:cNvSpPr>
          <p:nvPr/>
        </p:nvSpPr>
        <p:spPr>
          <a:xfrm xmlns:a="http://schemas.openxmlformats.org/drawingml/2006/main">
            <a:off x="685800" y="2324100"/>
            <a:ext cx="10820400" cy="895350"/>
          </a:xfrm>
          <a:prstGeom xmlns:a="http://schemas.openxmlformats.org/drawingml/2006/main" prst="roundRect">
            <a:avLst>
              <a:gd name="adj" fmla="val 12766"/>
            </a:avLst>
          </a:prstGeom>
          <a:solidFill xmlns:a="http://schemas.openxmlformats.org/drawingml/2006/main">
            <a:srgbClr val="21483A"/>
          </a:solidFill>
          <a:ln xmlns:a="http://schemas.openxmlformats.org/drawingml/2006/main" w="9525">
            <a:solidFill>
              <a:srgbClr val="4F7668"/>
            </a:solidFill>
            <a:prstDash val="solid"/>
          </a:ln>
        </p:spPr>
      </p:sp>
      <p:sp>
        <p:nvSpPr>
          <p:cNvPr id="6" name="">
            <a:extLst xmlns:a="http://schemas.openxmlformats.org/drawingml/2006/main">
              <a:ext uri="{FF2B5EF4-FFF2-40B4-BE49-F238E27FC236}">
                <a16:creationId xmlns:a16="http://schemas.microsoft.com/office/drawing/2014/main" id="{B6A842F4-200C-451D-9F72-9345D7806E53}"/>
              </a:ext>
            </a:extLst>
          </p:cNvPr>
          <p:cNvSpPr>
            <a:spLocks xmlns:a="http://schemas.openxmlformats.org/drawingml/2006/main" noGrp="1"/>
          </p:cNvSpPr>
          <p:nvPr/>
        </p:nvSpPr>
        <p:spPr>
          <a:xfrm xmlns:a="http://schemas.openxmlformats.org/drawingml/2006/main">
            <a:off x="1028700" y="255270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F2BD3C"/>
                </a:solidFill>
                <a:latin typeface="Arial"/>
                <a:ea typeface="Arial"/>
                <a:cs typeface="Arial"/>
              </a:defRPr>
            </a:pPr>
            <a:r>
              <a:rPr sz="1575" b="1">
                <a:solidFill>
                  <a:srgbClr val="F2BD3C"/>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819FB5DF-04B1-4AE5-B8D1-0F6847A7EF8A}"/>
              </a:ext>
            </a:extLst>
          </p:cNvPr>
          <p:cNvSpPr>
            <a:spLocks xmlns:a="http://schemas.openxmlformats.org/drawingml/2006/main" noGrp="1"/>
          </p:cNvSpPr>
          <p:nvPr/>
        </p:nvSpPr>
        <p:spPr>
          <a:xfrm xmlns:a="http://schemas.openxmlformats.org/drawingml/2006/main">
            <a:off x="1676400" y="2457450"/>
            <a:ext cx="9334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What makes a palette more than favourite colours?</a:t>
            </a:r>
          </a:p>
        </p:txBody>
      </p:sp>
      <p:sp>
        <p:nvSpPr>
          <p:cNvPr id="8" name="">
            <a:extLst xmlns:a="http://schemas.openxmlformats.org/drawingml/2006/main">
              <a:ext uri="{FF2B5EF4-FFF2-40B4-BE49-F238E27FC236}">
                <a16:creationId xmlns:a16="http://schemas.microsoft.com/office/drawing/2014/main" id="{2972927E-4161-4827-A2DD-9828EB5170C3}"/>
              </a:ext>
            </a:extLst>
          </p:cNvPr>
          <p:cNvSpPr>
            <a:spLocks xmlns:a="http://schemas.openxmlformats.org/drawingml/2006/main" noGrp="1"/>
          </p:cNvSpPr>
          <p:nvPr/>
        </p:nvSpPr>
        <p:spPr>
          <a:xfrm xmlns:a="http://schemas.openxmlformats.org/drawingml/2006/main">
            <a:off x="685800" y="3524250"/>
            <a:ext cx="10820400" cy="895350"/>
          </a:xfrm>
          <a:prstGeom xmlns:a="http://schemas.openxmlformats.org/drawingml/2006/main" prst="roundRect">
            <a:avLst>
              <a:gd name="adj" fmla="val 12766"/>
            </a:avLst>
          </a:prstGeom>
          <a:solidFill xmlns:a="http://schemas.openxmlformats.org/drawingml/2006/main">
            <a:srgbClr val="21483A"/>
          </a:solidFill>
          <a:ln xmlns:a="http://schemas.openxmlformats.org/drawingml/2006/main" w="9525">
            <a:solidFill>
              <a:srgbClr val="4F7668"/>
            </a:solidFill>
            <a:prstDash val="solid"/>
          </a:ln>
        </p:spPr>
      </p:sp>
      <p:sp>
        <p:nvSpPr>
          <p:cNvPr id="9" name="">
            <a:extLst xmlns:a="http://schemas.openxmlformats.org/drawingml/2006/main">
              <a:ext uri="{FF2B5EF4-FFF2-40B4-BE49-F238E27FC236}">
                <a16:creationId xmlns:a16="http://schemas.microsoft.com/office/drawing/2014/main" id="{818FF661-CF99-4E20-8870-D466DCFA8B2A}"/>
              </a:ext>
            </a:extLst>
          </p:cNvPr>
          <p:cNvSpPr>
            <a:spLocks xmlns:a="http://schemas.openxmlformats.org/drawingml/2006/main" noGrp="1"/>
          </p:cNvSpPr>
          <p:nvPr/>
        </p:nvSpPr>
        <p:spPr>
          <a:xfrm xmlns:a="http://schemas.openxmlformats.org/drawingml/2006/main">
            <a:off x="1028700" y="375285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F2BD3C"/>
                </a:solidFill>
                <a:latin typeface="Arial"/>
                <a:ea typeface="Arial"/>
                <a:cs typeface="Arial"/>
              </a:defRPr>
            </a:pPr>
            <a:r>
              <a:rPr sz="1575" b="1">
                <a:solidFill>
                  <a:srgbClr val="F2BD3C"/>
                </a:solidFill>
                <a:latin typeface="Arial"/>
                <a:ea typeface="Arial"/>
                <a:cs typeface="Arial"/>
              </a:rPr>
              <a:t>2</a:t>
            </a:r>
          </a:p>
        </p:txBody>
      </p:sp>
      <p:sp>
        <p:nvSpPr>
          <p:cNvPr id="10" name="">
            <a:extLst xmlns:a="http://schemas.openxmlformats.org/drawingml/2006/main">
              <a:ext uri="{FF2B5EF4-FFF2-40B4-BE49-F238E27FC236}">
                <a16:creationId xmlns:a16="http://schemas.microsoft.com/office/drawing/2014/main" id="{21584DF2-23E6-4A40-9A24-6B8247B01528}"/>
              </a:ext>
            </a:extLst>
          </p:cNvPr>
          <p:cNvSpPr>
            <a:spLocks xmlns:a="http://schemas.openxmlformats.org/drawingml/2006/main" noGrp="1"/>
          </p:cNvSpPr>
          <p:nvPr/>
        </p:nvSpPr>
        <p:spPr>
          <a:xfrm xmlns:a="http://schemas.openxmlformats.org/drawingml/2006/main">
            <a:off x="1676400" y="3657600"/>
            <a:ext cx="9334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Which group contains typography decisions?</a:t>
            </a:r>
          </a:p>
        </p:txBody>
      </p:sp>
      <p:sp>
        <p:nvSpPr>
          <p:cNvPr id="11" name="">
            <a:extLst xmlns:a="http://schemas.openxmlformats.org/drawingml/2006/main">
              <a:ext uri="{FF2B5EF4-FFF2-40B4-BE49-F238E27FC236}">
                <a16:creationId xmlns:a16="http://schemas.microsoft.com/office/drawing/2014/main" id="{DE9E3183-72BE-403B-84A9-5A6603AC8690}"/>
              </a:ext>
            </a:extLst>
          </p:cNvPr>
          <p:cNvSpPr>
            <a:spLocks xmlns:a="http://schemas.openxmlformats.org/drawingml/2006/main" noGrp="1"/>
          </p:cNvSpPr>
          <p:nvPr/>
        </p:nvSpPr>
        <p:spPr>
          <a:xfrm xmlns:a="http://schemas.openxmlformats.org/drawingml/2006/main">
            <a:off x="685800" y="4724400"/>
            <a:ext cx="10820400" cy="895350"/>
          </a:xfrm>
          <a:prstGeom xmlns:a="http://schemas.openxmlformats.org/drawingml/2006/main" prst="roundRect">
            <a:avLst>
              <a:gd name="adj" fmla="val 12766"/>
            </a:avLst>
          </a:prstGeom>
          <a:solidFill xmlns:a="http://schemas.openxmlformats.org/drawingml/2006/main">
            <a:srgbClr val="21483A"/>
          </a:solidFill>
          <a:ln xmlns:a="http://schemas.openxmlformats.org/drawingml/2006/main" w="9525">
            <a:solidFill>
              <a:srgbClr val="4F7668"/>
            </a:solidFill>
            <a:prstDash val="solid"/>
          </a:ln>
        </p:spPr>
      </p:sp>
      <p:sp>
        <p:nvSpPr>
          <p:cNvPr id="12" name="">
            <a:extLst xmlns:a="http://schemas.openxmlformats.org/drawingml/2006/main">
              <a:ext uri="{FF2B5EF4-FFF2-40B4-BE49-F238E27FC236}">
                <a16:creationId xmlns:a16="http://schemas.microsoft.com/office/drawing/2014/main" id="{A1E6CF05-3479-4A7A-A8B2-0C7DAB6319EE}"/>
              </a:ext>
            </a:extLst>
          </p:cNvPr>
          <p:cNvSpPr>
            <a:spLocks xmlns:a="http://schemas.openxmlformats.org/drawingml/2006/main" noGrp="1"/>
          </p:cNvSpPr>
          <p:nvPr/>
        </p:nvSpPr>
        <p:spPr>
          <a:xfrm xmlns:a="http://schemas.openxmlformats.org/drawingml/2006/main">
            <a:off x="1028700" y="495300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F2BD3C"/>
                </a:solidFill>
                <a:latin typeface="Arial"/>
                <a:ea typeface="Arial"/>
                <a:cs typeface="Arial"/>
              </a:defRPr>
            </a:pPr>
            <a:r>
              <a:rPr sz="1575" b="1">
                <a:solidFill>
                  <a:srgbClr val="F2BD3C"/>
                </a:solidFill>
                <a:latin typeface="Arial"/>
                <a:ea typeface="Arial"/>
                <a:cs typeface="Arial"/>
              </a:rPr>
              <a:t>3</a:t>
            </a:r>
          </a:p>
        </p:txBody>
      </p:sp>
      <p:sp>
        <p:nvSpPr>
          <p:cNvPr id="13" name="">
            <a:extLst xmlns:a="http://schemas.openxmlformats.org/drawingml/2006/main">
              <a:ext uri="{FF2B5EF4-FFF2-40B4-BE49-F238E27FC236}">
                <a16:creationId xmlns:a16="http://schemas.microsoft.com/office/drawing/2014/main" id="{D375A3D3-4B3B-4127-9EB8-E612CC6AFC6B}"/>
              </a:ext>
            </a:extLst>
          </p:cNvPr>
          <p:cNvSpPr>
            <a:spLocks xmlns:a="http://schemas.openxmlformats.org/drawingml/2006/main" noGrp="1"/>
          </p:cNvSpPr>
          <p:nvPr/>
        </p:nvSpPr>
        <p:spPr>
          <a:xfrm xmlns:a="http://schemas.openxmlformats.org/drawingml/2006/main">
            <a:off x="1676400" y="4857750"/>
            <a:ext cx="9334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What is visual hierarchy?</a:t>
            </a:r>
          </a:p>
        </p:txBody>
      </p:sp>
      <p:sp>
        <p:nvSpPr>
          <p:cNvPr id="14" name="">
            <a:extLst xmlns:a="http://schemas.openxmlformats.org/drawingml/2006/main">
              <a:ext uri="{FF2B5EF4-FFF2-40B4-BE49-F238E27FC236}">
                <a16:creationId xmlns:a16="http://schemas.microsoft.com/office/drawing/2014/main" id="{F92CE207-5A9A-45D0-B111-4AE645A30B04}"/>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C7D6CF"/>
                </a:solidFill>
                <a:latin typeface="Arial"/>
                <a:ea typeface="Arial"/>
                <a:cs typeface="Arial"/>
              </a:defRPr>
            </a:pPr>
            <a:r>
              <a:rPr sz="825" b="1">
                <a:solidFill>
                  <a:srgbClr val="C7D6CF"/>
                </a:solidFill>
                <a:latin typeface="Arial"/>
                <a:ea typeface="Arial"/>
                <a:cs typeface="Arial"/>
              </a:rPr>
              <a:t>YEAR 7 MULTIMEDIA  •  MODULE 02  •  VISUAL LANGUAGE</a:t>
            </a:r>
          </a:p>
        </p:txBody>
      </p:sp>
      <p:sp>
        <p:nvSpPr>
          <p:cNvPr id="15" name="">
            <a:extLst xmlns:a="http://schemas.openxmlformats.org/drawingml/2006/main">
              <a:ext uri="{FF2B5EF4-FFF2-40B4-BE49-F238E27FC236}">
                <a16:creationId xmlns:a16="http://schemas.microsoft.com/office/drawing/2014/main" id="{C166E439-25EF-407D-8B5A-624F8B5879EB}"/>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F2BD3C"/>
                </a:solidFill>
                <a:latin typeface="Arial"/>
                <a:ea typeface="Arial"/>
                <a:cs typeface="Arial"/>
              </a:defRPr>
            </a:pPr>
            <a:r>
              <a:rPr sz="900" b="1">
                <a:solidFill>
                  <a:srgbClr val="F2BD3C"/>
                </a:solidFill>
                <a:latin typeface="Arial"/>
                <a:ea typeface="Arial"/>
                <a:cs typeface="Arial"/>
              </a:rPr>
              <a:t>06</a:t>
            </a:r>
          </a:p>
        </p:txBody>
      </p:sp>
    </p:spTree>
    <p:extLst>
      <p:ext uri="{BB962C8B-B14F-4D97-AF65-F5344CB8AC3E}">
        <p14:creationId xmlns:p14="http://schemas.microsoft.com/office/powerpoint/2010/main" val="1124768166"/>
      </p:ext>
    </p:extLst>
  </p:cSld>
</p:sld>
</file>

<file path=ppt/slides/slide7.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2B9F7946-5E31-4DFA-8C51-FA422A970399}"/>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FORMATIVE LEARNING EVIDENCE</a:t>
            </a:r>
          </a:p>
        </p:txBody>
      </p:sp>
      <p:sp>
        <p:nvSpPr>
          <p:cNvPr id="2" name="">
            <a:extLst xmlns:a="http://schemas.openxmlformats.org/drawingml/2006/main">
              <a:ext uri="{FF2B5EF4-FFF2-40B4-BE49-F238E27FC236}">
                <a16:creationId xmlns:a16="http://schemas.microsoft.com/office/drawing/2014/main" id="{55C6538C-9877-4287-A1EF-7C7ACFC1D99D}"/>
              </a:ext>
            </a:extLst>
          </p:cNvPr>
          <p:cNvSpPr>
            <a:spLocks xmlns:a="http://schemas.openxmlformats.org/drawingml/2006/main" noGrp="1"/>
          </p:cNvSpPr>
          <p:nvPr/>
        </p:nvSpPr>
        <p:spPr>
          <a:xfrm xmlns:a="http://schemas.openxmlformats.org/drawingml/2006/main">
            <a:off x="685800" y="895350"/>
            <a:ext cx="9906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925" b="1">
                <a:solidFill>
                  <a:srgbClr val="17342C"/>
                </a:solidFill>
                <a:latin typeface="Arial"/>
                <a:ea typeface="Arial"/>
                <a:cs typeface="Arial"/>
              </a:defRPr>
            </a:pPr>
            <a:r>
              <a:rPr sz="2925" b="1">
                <a:solidFill>
                  <a:srgbClr val="17342C"/>
                </a:solidFill>
                <a:latin typeface="Arial"/>
                <a:ea typeface="Arial"/>
                <a:cs typeface="Arial"/>
              </a:rPr>
              <a:t>Read → Select → Explain → Check</a:t>
            </a:r>
          </a:p>
        </p:txBody>
      </p:sp>
      <p:sp>
        <p:nvSpPr>
          <p:cNvPr id="3" name="">
            <a:extLst xmlns:a="http://schemas.openxmlformats.org/drawingml/2006/main">
              <a:ext uri="{FF2B5EF4-FFF2-40B4-BE49-F238E27FC236}">
                <a16:creationId xmlns:a16="http://schemas.microsoft.com/office/drawing/2014/main" id="{1ED82E67-2455-4121-B471-866D5A4CF2DE}"/>
              </a:ext>
            </a:extLst>
          </p:cNvPr>
          <p:cNvSpPr>
            <a:spLocks xmlns:a="http://schemas.openxmlformats.org/drawingml/2006/main" noGrp="1"/>
          </p:cNvSpPr>
          <p:nvPr/>
        </p:nvSpPr>
        <p:spPr>
          <a:xfrm xmlns:a="http://schemas.openxmlformats.org/drawingml/2006/main">
            <a:off x="685800" y="1752600"/>
            <a:ext cx="5905500" cy="2019300"/>
          </a:xfrm>
          <a:prstGeom xmlns:a="http://schemas.openxmlformats.org/drawingml/2006/main" prst="roundRect">
            <a:avLst>
              <a:gd name="adj" fmla="val 5660"/>
            </a:avLst>
          </a:prstGeom>
          <a:solidFill xmlns:a="http://schemas.openxmlformats.org/drawingml/2006/main">
            <a:srgbClr val="FFFFFF"/>
          </a:solidFill>
          <a:ln xmlns:a="http://schemas.openxmlformats.org/drawingml/2006/main" w="9525">
            <a:solidFill>
              <a:srgbClr val="CFD8D2"/>
            </a:solidFill>
            <a:prstDash val="solid"/>
          </a:ln>
        </p:spPr>
      </p:sp>
      <p:sp>
        <p:nvSpPr>
          <p:cNvPr id="4" name="">
            <a:extLst xmlns:a="http://schemas.openxmlformats.org/drawingml/2006/main">
              <a:ext uri="{FF2B5EF4-FFF2-40B4-BE49-F238E27FC236}">
                <a16:creationId xmlns:a16="http://schemas.microsoft.com/office/drawing/2014/main" id="{6D81A123-9D8A-4C47-BBEC-2AC4DFB54671}"/>
              </a:ext>
            </a:extLst>
          </p:cNvPr>
          <p:cNvSpPr>
            <a:spLocks xmlns:a="http://schemas.openxmlformats.org/drawingml/2006/main" noGrp="1"/>
          </p:cNvSpPr>
          <p:nvPr/>
        </p:nvSpPr>
        <p:spPr>
          <a:xfrm xmlns:a="http://schemas.openxmlformats.org/drawingml/2006/main">
            <a:off x="6896100" y="1752600"/>
            <a:ext cx="4610100" cy="2019300"/>
          </a:xfrm>
          <a:prstGeom xmlns:a="http://schemas.openxmlformats.org/drawingml/2006/main" prst="roundRect">
            <a:avLst>
              <a:gd name="adj" fmla="val 5660"/>
            </a:avLst>
          </a:prstGeom>
          <a:solidFill xmlns:a="http://schemas.openxmlformats.org/drawingml/2006/main">
            <a:srgbClr val="E7F0EC"/>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9ACD4F08-FDCE-4260-8625-356C02E349E3}"/>
              </a:ext>
            </a:extLst>
          </p:cNvPr>
          <p:cNvSpPr>
            <a:spLocks xmlns:a="http://schemas.openxmlformats.org/drawingml/2006/main" noGrp="1"/>
          </p:cNvSpPr>
          <p:nvPr/>
        </p:nvSpPr>
        <p:spPr>
          <a:xfrm xmlns:a="http://schemas.openxmlformats.org/drawingml/2006/main">
            <a:off x="952500" y="188595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THE QUESTION</a:t>
            </a:r>
          </a:p>
        </p:txBody>
      </p:sp>
      <p:sp>
        <p:nvSpPr>
          <p:cNvPr id="6" name="">
            <a:extLst xmlns:a="http://schemas.openxmlformats.org/drawingml/2006/main">
              <a:ext uri="{FF2B5EF4-FFF2-40B4-BE49-F238E27FC236}">
                <a16:creationId xmlns:a16="http://schemas.microsoft.com/office/drawing/2014/main" id="{3BE70332-DF2E-42E4-849C-3DFDBF78958C}"/>
              </a:ext>
            </a:extLst>
          </p:cNvPr>
          <p:cNvSpPr>
            <a:spLocks xmlns:a="http://schemas.openxmlformats.org/drawingml/2006/main" noGrp="1"/>
          </p:cNvSpPr>
          <p:nvPr/>
        </p:nvSpPr>
        <p:spPr>
          <a:xfrm xmlns:a="http://schemas.openxmlformats.org/drawingml/2006/main">
            <a:off x="952500" y="2266950"/>
            <a:ext cx="523875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17342C"/>
                </a:solidFill>
                <a:latin typeface="Arial"/>
                <a:ea typeface="Arial"/>
                <a:cs typeface="Arial"/>
              </a:defRPr>
            </a:pPr>
            <a:r>
              <a:rPr sz="1575" b="1">
                <a:solidFill>
                  <a:srgbClr val="17342C"/>
                </a:solidFill>
                <a:latin typeface="Arial"/>
                <a:ea typeface="Arial"/>
                <a:cs typeface="Arial"/>
              </a:rPr>
              <a:t>Plan one visual-language system: name colour roles, type roles and the intended scanning path, then explain how each will be tested.</a:t>
            </a:r>
          </a:p>
        </p:txBody>
      </p:sp>
      <p:sp>
        <p:nvSpPr>
          <p:cNvPr id="7" name="">
            <a:extLst xmlns:a="http://schemas.openxmlformats.org/drawingml/2006/main">
              <a:ext uri="{FF2B5EF4-FFF2-40B4-BE49-F238E27FC236}">
                <a16:creationId xmlns:a16="http://schemas.microsoft.com/office/drawing/2014/main" id="{E7155EF6-4373-4702-977D-E54A9EB44A99}"/>
              </a:ext>
            </a:extLst>
          </p:cNvPr>
          <p:cNvSpPr>
            <a:spLocks xmlns:a="http://schemas.openxmlformats.org/drawingml/2006/main" noGrp="1"/>
          </p:cNvSpPr>
          <p:nvPr/>
        </p:nvSpPr>
        <p:spPr>
          <a:xfrm xmlns:a="http://schemas.openxmlformats.org/drawingml/2006/main">
            <a:off x="7181850" y="18859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WHAT THIS IS ASKING</a:t>
            </a:r>
          </a:p>
        </p:txBody>
      </p:sp>
      <p:sp>
        <p:nvSpPr>
          <p:cNvPr id="8" name="">
            <a:extLst xmlns:a="http://schemas.openxmlformats.org/drawingml/2006/main">
              <a:ext uri="{FF2B5EF4-FFF2-40B4-BE49-F238E27FC236}">
                <a16:creationId xmlns:a16="http://schemas.microsoft.com/office/drawing/2014/main" id="{28185547-2FEB-4742-9F58-C9D18FFC0854}"/>
              </a:ext>
            </a:extLst>
          </p:cNvPr>
          <p:cNvSpPr>
            <a:spLocks xmlns:a="http://schemas.openxmlformats.org/drawingml/2006/main" noGrp="1"/>
          </p:cNvSpPr>
          <p:nvPr/>
        </p:nvSpPr>
        <p:spPr>
          <a:xfrm xmlns:a="http://schemas.openxmlformats.org/drawingml/2006/main">
            <a:off x="7219950" y="2324100"/>
            <a:ext cx="114300" cy="114300"/>
          </a:xfrm>
          <a:prstGeom xmlns:a="http://schemas.openxmlformats.org/drawingml/2006/main" prst="ellipse">
            <a:avLst/>
          </a:prstGeom>
          <a:solidFill xmlns:a="http://schemas.openxmlformats.org/drawingml/2006/main">
            <a:srgbClr val="0C555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CA894B8E-812F-48A9-A575-5C9ED3BAC0D5}"/>
              </a:ext>
            </a:extLst>
          </p:cNvPr>
          <p:cNvSpPr>
            <a:spLocks xmlns:a="http://schemas.openxmlformats.org/drawingml/2006/main" noGrp="1"/>
          </p:cNvSpPr>
          <p:nvPr/>
        </p:nvSpPr>
        <p:spPr>
          <a:xfrm xmlns:a="http://schemas.openxmlformats.org/drawingml/2006/main">
            <a:off x="7524750" y="22288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7342C"/>
                </a:solidFill>
                <a:latin typeface="Arial"/>
                <a:ea typeface="Arial"/>
                <a:cs typeface="Arial"/>
              </a:defRPr>
            </a:pPr>
            <a:r>
              <a:rPr sz="1350" b="1">
                <a:solidFill>
                  <a:srgbClr val="17342C"/>
                </a:solidFill>
                <a:latin typeface="Arial"/>
                <a:ea typeface="Arial"/>
                <a:cs typeface="Arial"/>
              </a:rPr>
              <a:t>Assign jobs, not favourites</a:t>
            </a:r>
          </a:p>
        </p:txBody>
      </p:sp>
      <p:sp>
        <p:nvSpPr>
          <p:cNvPr id="10" name="">
            <a:extLst xmlns:a="http://schemas.openxmlformats.org/drawingml/2006/main">
              <a:ext uri="{FF2B5EF4-FFF2-40B4-BE49-F238E27FC236}">
                <a16:creationId xmlns:a16="http://schemas.microsoft.com/office/drawing/2014/main" id="{46CA855C-BF4B-4128-8D27-0FD7DE62F0C3}"/>
              </a:ext>
            </a:extLst>
          </p:cNvPr>
          <p:cNvSpPr>
            <a:spLocks xmlns:a="http://schemas.openxmlformats.org/drawingml/2006/main" noGrp="1"/>
          </p:cNvSpPr>
          <p:nvPr/>
        </p:nvSpPr>
        <p:spPr>
          <a:xfrm xmlns:a="http://schemas.openxmlformats.org/drawingml/2006/main">
            <a:off x="7219950" y="2771775"/>
            <a:ext cx="114300" cy="114300"/>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808F803-7E40-4714-82E7-4E19946C4103}"/>
              </a:ext>
            </a:extLst>
          </p:cNvPr>
          <p:cNvSpPr>
            <a:spLocks xmlns:a="http://schemas.openxmlformats.org/drawingml/2006/main" noGrp="1"/>
          </p:cNvSpPr>
          <p:nvPr/>
        </p:nvSpPr>
        <p:spPr>
          <a:xfrm xmlns:a="http://schemas.openxmlformats.org/drawingml/2006/main">
            <a:off x="7524750" y="2676525"/>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7342C"/>
                </a:solidFill>
                <a:latin typeface="Arial"/>
                <a:ea typeface="Arial"/>
                <a:cs typeface="Arial"/>
              </a:defRPr>
            </a:pPr>
            <a:r>
              <a:rPr sz="1350" b="1">
                <a:solidFill>
                  <a:srgbClr val="17342C"/>
                </a:solidFill>
                <a:latin typeface="Arial"/>
                <a:ea typeface="Arial"/>
                <a:cs typeface="Arial"/>
              </a:rPr>
              <a:t>Protect legibility</a:t>
            </a:r>
          </a:p>
        </p:txBody>
      </p:sp>
      <p:sp>
        <p:nvSpPr>
          <p:cNvPr id="12" name="">
            <a:extLst xmlns:a="http://schemas.openxmlformats.org/drawingml/2006/main">
              <a:ext uri="{FF2B5EF4-FFF2-40B4-BE49-F238E27FC236}">
                <a16:creationId xmlns:a16="http://schemas.microsoft.com/office/drawing/2014/main" id="{B79C2CB6-8093-43E0-A133-5457385E2E95}"/>
              </a:ext>
            </a:extLst>
          </p:cNvPr>
          <p:cNvSpPr>
            <a:spLocks xmlns:a="http://schemas.openxmlformats.org/drawingml/2006/main" noGrp="1"/>
          </p:cNvSpPr>
          <p:nvPr/>
        </p:nvSpPr>
        <p:spPr>
          <a:xfrm xmlns:a="http://schemas.openxmlformats.org/drawingml/2006/main">
            <a:off x="7219950" y="3219450"/>
            <a:ext cx="114300" cy="114300"/>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A2DF5555-0146-4B39-9660-C16CBBD9C314}"/>
              </a:ext>
            </a:extLst>
          </p:cNvPr>
          <p:cNvSpPr>
            <a:spLocks xmlns:a="http://schemas.openxmlformats.org/drawingml/2006/main" noGrp="1"/>
          </p:cNvSpPr>
          <p:nvPr/>
        </p:nvSpPr>
        <p:spPr>
          <a:xfrm xmlns:a="http://schemas.openxmlformats.org/drawingml/2006/main">
            <a:off x="7524750" y="312420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7342C"/>
                </a:solidFill>
                <a:latin typeface="Arial"/>
                <a:ea typeface="Arial"/>
                <a:cs typeface="Arial"/>
              </a:defRPr>
            </a:pPr>
            <a:r>
              <a:rPr sz="1350" b="1">
                <a:solidFill>
                  <a:srgbClr val="17342C"/>
                </a:solidFill>
                <a:latin typeface="Arial"/>
                <a:ea typeface="Arial"/>
                <a:cs typeface="Arial"/>
              </a:rPr>
              <a:t>Rank first, next and later</a:t>
            </a:r>
          </a:p>
        </p:txBody>
      </p:sp>
      <p:sp>
        <p:nvSpPr>
          <p:cNvPr id="14" name="">
            <a:extLst xmlns:a="http://schemas.openxmlformats.org/drawingml/2006/main">
              <a:ext uri="{FF2B5EF4-FFF2-40B4-BE49-F238E27FC236}">
                <a16:creationId xmlns:a16="http://schemas.microsoft.com/office/drawing/2014/main" id="{867E9C76-51E5-438B-AC62-FCE14682AFD2}"/>
              </a:ext>
            </a:extLst>
          </p:cNvPr>
          <p:cNvSpPr>
            <a:spLocks xmlns:a="http://schemas.openxmlformats.org/drawingml/2006/main" noGrp="1"/>
          </p:cNvSpPr>
          <p:nvPr/>
        </p:nvSpPr>
        <p:spPr>
          <a:xfrm xmlns:a="http://schemas.openxmlformats.org/drawingml/2006/main">
            <a:off x="685800" y="4095750"/>
            <a:ext cx="3333750" cy="1466850"/>
          </a:xfrm>
          <a:prstGeom xmlns:a="http://schemas.openxmlformats.org/drawingml/2006/main" prst="roundRect">
            <a:avLst>
              <a:gd name="adj" fmla="val 7792"/>
            </a:avLst>
          </a:prstGeom>
          <a:solidFill xmlns:a="http://schemas.openxmlformats.org/drawingml/2006/main">
            <a:srgbClr val="17342C"/>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3E05C01-22C0-455B-BE0B-C4F1AF3DF975}"/>
              </a:ext>
            </a:extLst>
          </p:cNvPr>
          <p:cNvSpPr>
            <a:spLocks xmlns:a="http://schemas.openxmlformats.org/drawingml/2006/main" noGrp="1"/>
          </p:cNvSpPr>
          <p:nvPr/>
        </p:nvSpPr>
        <p:spPr>
          <a:xfrm xmlns:a="http://schemas.openxmlformats.org/drawingml/2006/main">
            <a:off x="895350" y="42862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FFFFFF"/>
                </a:solidFill>
                <a:latin typeface="Arial"/>
                <a:ea typeface="Arial"/>
                <a:cs typeface="Arial"/>
              </a:defRPr>
            </a:pPr>
            <a:r>
              <a:rPr sz="1050" b="1">
                <a:solidFill>
                  <a:srgbClr val="FFFFFF"/>
                </a:solidFill>
                <a:latin typeface="Arial"/>
                <a:ea typeface="Arial"/>
                <a:cs typeface="Arial"/>
              </a:rPr>
              <a:t>1  SELECT</a:t>
            </a:r>
          </a:p>
        </p:txBody>
      </p:sp>
      <p:sp>
        <p:nvSpPr>
          <p:cNvPr id="16" name="">
            <a:extLst xmlns:a="http://schemas.openxmlformats.org/drawingml/2006/main">
              <a:ext uri="{FF2B5EF4-FFF2-40B4-BE49-F238E27FC236}">
                <a16:creationId xmlns:a16="http://schemas.microsoft.com/office/drawing/2014/main" id="{637073FB-2795-4F67-8EF4-E8C1AD3BF144}"/>
              </a:ext>
            </a:extLst>
          </p:cNvPr>
          <p:cNvSpPr>
            <a:spLocks xmlns:a="http://schemas.openxmlformats.org/drawingml/2006/main" noGrp="1"/>
          </p:cNvSpPr>
          <p:nvPr/>
        </p:nvSpPr>
        <p:spPr>
          <a:xfrm xmlns:a="http://schemas.openxmlformats.org/drawingml/2006/main">
            <a:off x="895350" y="4705350"/>
            <a:ext cx="29146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0">
                <a:solidFill>
                  <a:srgbClr val="FFFFFF"/>
                </a:solidFill>
                <a:latin typeface="Arial"/>
                <a:ea typeface="Arial"/>
                <a:cs typeface="Arial"/>
              </a:defRPr>
            </a:pPr>
            <a:r>
              <a:rPr sz="1275" b="0">
                <a:solidFill>
                  <a:srgbClr val="FFFFFF"/>
                </a:solidFill>
                <a:latin typeface="Arial"/>
                <a:ea typeface="Arial"/>
                <a:cs typeface="Arial"/>
              </a:rPr>
              <a:t>Choose precise theory and examples that answer the question.</a:t>
            </a:r>
          </a:p>
        </p:txBody>
      </p:sp>
      <p:sp>
        <p:nvSpPr>
          <p:cNvPr id="17" name="">
            <a:extLst xmlns:a="http://schemas.openxmlformats.org/drawingml/2006/main">
              <a:ext uri="{FF2B5EF4-FFF2-40B4-BE49-F238E27FC236}">
                <a16:creationId xmlns:a16="http://schemas.microsoft.com/office/drawing/2014/main" id="{239BD673-00B3-4A14-847D-2EB43894D4E5}"/>
              </a:ext>
            </a:extLst>
          </p:cNvPr>
          <p:cNvSpPr>
            <a:spLocks xmlns:a="http://schemas.openxmlformats.org/drawingml/2006/main" noGrp="1"/>
          </p:cNvSpPr>
          <p:nvPr/>
        </p:nvSpPr>
        <p:spPr>
          <a:xfrm xmlns:a="http://schemas.openxmlformats.org/drawingml/2006/main">
            <a:off x="4362450" y="4095750"/>
            <a:ext cx="3333750" cy="1466850"/>
          </a:xfrm>
          <a:prstGeom xmlns:a="http://schemas.openxmlformats.org/drawingml/2006/main" prst="roundRect">
            <a:avLst>
              <a:gd name="adj" fmla="val 7792"/>
            </a:avLst>
          </a:prstGeom>
          <a:solidFill xmlns:a="http://schemas.openxmlformats.org/drawingml/2006/main">
            <a:srgbClr val="F2BD3C"/>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D53F37B7-F5DB-4463-85CC-C772C5B45A6F}"/>
              </a:ext>
            </a:extLst>
          </p:cNvPr>
          <p:cNvSpPr>
            <a:spLocks xmlns:a="http://schemas.openxmlformats.org/drawingml/2006/main" noGrp="1"/>
          </p:cNvSpPr>
          <p:nvPr/>
        </p:nvSpPr>
        <p:spPr>
          <a:xfrm xmlns:a="http://schemas.openxmlformats.org/drawingml/2006/main">
            <a:off x="4572000" y="42862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17342C"/>
                </a:solidFill>
                <a:latin typeface="Arial"/>
                <a:ea typeface="Arial"/>
                <a:cs typeface="Arial"/>
              </a:defRPr>
            </a:pPr>
            <a:r>
              <a:rPr sz="1050" b="1">
                <a:solidFill>
                  <a:srgbClr val="17342C"/>
                </a:solidFill>
                <a:latin typeface="Arial"/>
                <a:ea typeface="Arial"/>
                <a:cs typeface="Arial"/>
              </a:rPr>
              <a:t>2  EXPLAIN</a:t>
            </a:r>
          </a:p>
        </p:txBody>
      </p:sp>
      <p:sp>
        <p:nvSpPr>
          <p:cNvPr id="19" name="">
            <a:extLst xmlns:a="http://schemas.openxmlformats.org/drawingml/2006/main">
              <a:ext uri="{FF2B5EF4-FFF2-40B4-BE49-F238E27FC236}">
                <a16:creationId xmlns:a16="http://schemas.microsoft.com/office/drawing/2014/main" id="{3FC69D45-4BBE-4910-AFD3-3D3A2AFE6B52}"/>
              </a:ext>
            </a:extLst>
          </p:cNvPr>
          <p:cNvSpPr>
            <a:spLocks xmlns:a="http://schemas.openxmlformats.org/drawingml/2006/main" noGrp="1"/>
          </p:cNvSpPr>
          <p:nvPr/>
        </p:nvSpPr>
        <p:spPr>
          <a:xfrm xmlns:a="http://schemas.openxmlformats.org/drawingml/2006/main">
            <a:off x="4572000" y="4705350"/>
            <a:ext cx="29146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0">
                <a:solidFill>
                  <a:srgbClr val="17342C"/>
                </a:solidFill>
                <a:latin typeface="Arial"/>
                <a:ea typeface="Arial"/>
                <a:cs typeface="Arial"/>
              </a:defRPr>
            </a:pPr>
            <a:r>
              <a:rPr sz="1275" b="0">
                <a:solidFill>
                  <a:srgbClr val="17342C"/>
                </a:solidFill>
                <a:latin typeface="Arial"/>
                <a:ea typeface="Arial"/>
                <a:cs typeface="Arial"/>
              </a:rPr>
              <a:t>Link ideas with because, so or therefore.</a:t>
            </a:r>
          </a:p>
        </p:txBody>
      </p:sp>
      <p:sp>
        <p:nvSpPr>
          <p:cNvPr id="20" name="">
            <a:extLst xmlns:a="http://schemas.openxmlformats.org/drawingml/2006/main">
              <a:ext uri="{FF2B5EF4-FFF2-40B4-BE49-F238E27FC236}">
                <a16:creationId xmlns:a16="http://schemas.microsoft.com/office/drawing/2014/main" id="{A7FF5E96-76BA-4AFF-AC2E-F3AAE3ED5DAD}"/>
              </a:ext>
            </a:extLst>
          </p:cNvPr>
          <p:cNvSpPr>
            <a:spLocks xmlns:a="http://schemas.openxmlformats.org/drawingml/2006/main" noGrp="1"/>
          </p:cNvSpPr>
          <p:nvPr/>
        </p:nvSpPr>
        <p:spPr>
          <a:xfrm xmlns:a="http://schemas.openxmlformats.org/drawingml/2006/main">
            <a:off x="8039100" y="4095750"/>
            <a:ext cx="3333750" cy="1466850"/>
          </a:xfrm>
          <a:prstGeom xmlns:a="http://schemas.openxmlformats.org/drawingml/2006/main" prst="roundRect">
            <a:avLst>
              <a:gd name="adj" fmla="val 7792"/>
            </a:avLst>
          </a:prstGeom>
          <a:solidFill xmlns:a="http://schemas.openxmlformats.org/drawingml/2006/main">
            <a:srgbClr val="0C555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DC5949B9-E504-4F4B-8B7C-E17951763FB9}"/>
              </a:ext>
            </a:extLst>
          </p:cNvPr>
          <p:cNvSpPr>
            <a:spLocks xmlns:a="http://schemas.openxmlformats.org/drawingml/2006/main" noGrp="1"/>
          </p:cNvSpPr>
          <p:nvPr/>
        </p:nvSpPr>
        <p:spPr>
          <a:xfrm xmlns:a="http://schemas.openxmlformats.org/drawingml/2006/main">
            <a:off x="8248650" y="42862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FFFFFF"/>
                </a:solidFill>
                <a:latin typeface="Arial"/>
                <a:ea typeface="Arial"/>
                <a:cs typeface="Arial"/>
              </a:defRPr>
            </a:pPr>
            <a:r>
              <a:rPr sz="1050" b="1">
                <a:solidFill>
                  <a:srgbClr val="FFFFFF"/>
                </a:solidFill>
                <a:latin typeface="Arial"/>
                <a:ea typeface="Arial"/>
                <a:cs typeface="Arial"/>
              </a:rPr>
              <a:t>3  CHECK</a:t>
            </a:r>
          </a:p>
        </p:txBody>
      </p:sp>
      <p:sp>
        <p:nvSpPr>
          <p:cNvPr id="22" name="">
            <a:extLst xmlns:a="http://schemas.openxmlformats.org/drawingml/2006/main">
              <a:ext uri="{FF2B5EF4-FFF2-40B4-BE49-F238E27FC236}">
                <a16:creationId xmlns:a16="http://schemas.microsoft.com/office/drawing/2014/main" id="{A7DC6FA5-F2B8-4972-9496-F3F1E02887C8}"/>
              </a:ext>
            </a:extLst>
          </p:cNvPr>
          <p:cNvSpPr>
            <a:spLocks xmlns:a="http://schemas.openxmlformats.org/drawingml/2006/main" noGrp="1"/>
          </p:cNvSpPr>
          <p:nvPr/>
        </p:nvSpPr>
        <p:spPr>
          <a:xfrm xmlns:a="http://schemas.openxmlformats.org/drawingml/2006/main">
            <a:off x="8248650" y="4705350"/>
            <a:ext cx="29146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0">
                <a:solidFill>
                  <a:srgbClr val="FFFFFF"/>
                </a:solidFill>
                <a:latin typeface="Arial"/>
                <a:ea typeface="Arial"/>
                <a:cs typeface="Arial"/>
              </a:defRPr>
            </a:pPr>
            <a:r>
              <a:rPr sz="1275" b="0">
                <a:solidFill>
                  <a:srgbClr val="FFFFFF"/>
                </a:solidFill>
                <a:latin typeface="Arial"/>
                <a:ea typeface="Arial"/>
                <a:cs typeface="Arial"/>
              </a:rPr>
              <a:t>Answer every part; keep claims specific and source-safe.</a:t>
            </a:r>
          </a:p>
        </p:txBody>
      </p:sp>
      <p:sp>
        <p:nvSpPr>
          <p:cNvPr id="23" name="">
            <a:extLst xmlns:a="http://schemas.openxmlformats.org/drawingml/2006/main">
              <a:ext uri="{FF2B5EF4-FFF2-40B4-BE49-F238E27FC236}">
                <a16:creationId xmlns:a16="http://schemas.microsoft.com/office/drawing/2014/main" id="{4BB352DC-63AD-4575-899A-5BAD4C0B592A}"/>
              </a:ext>
            </a:extLst>
          </p:cNvPr>
          <p:cNvSpPr>
            <a:spLocks xmlns:a="http://schemas.openxmlformats.org/drawingml/2006/main" noGrp="1"/>
          </p:cNvSpPr>
          <p:nvPr/>
        </p:nvSpPr>
        <p:spPr>
          <a:xfrm xmlns:a="http://schemas.openxmlformats.org/drawingml/2006/main">
            <a:off x="685800" y="5810250"/>
            <a:ext cx="1076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E8674B"/>
                </a:solidFill>
                <a:latin typeface="Arial"/>
                <a:ea typeface="Arial"/>
                <a:cs typeface="Arial"/>
              </a:defRPr>
            </a:pPr>
            <a:r>
              <a:rPr sz="1200" b="1">
                <a:solidFill>
                  <a:srgbClr val="E8674B"/>
                </a:solidFill>
                <a:latin typeface="Arial"/>
                <a:ea typeface="Arial"/>
                <a:cs typeface="Arial"/>
              </a:rPr>
              <a:t>Sentence starter: The viewer should notice… first because… My palette and type system will…</a:t>
            </a:r>
          </a:p>
        </p:txBody>
      </p:sp>
      <p:sp>
        <p:nvSpPr>
          <p:cNvPr id="24" name="">
            <a:extLst xmlns:a="http://schemas.openxmlformats.org/drawingml/2006/main">
              <a:ext uri="{FF2B5EF4-FFF2-40B4-BE49-F238E27FC236}">
                <a16:creationId xmlns:a16="http://schemas.microsoft.com/office/drawing/2014/main" id="{12A00DC7-9489-43AE-B956-49151E24144D}"/>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02  •  VISUAL LANGUAGE</a:t>
            </a:r>
          </a:p>
        </p:txBody>
      </p:sp>
      <p:sp>
        <p:nvSpPr>
          <p:cNvPr id="25" name="">
            <a:extLst xmlns:a="http://schemas.openxmlformats.org/drawingml/2006/main">
              <a:ext uri="{FF2B5EF4-FFF2-40B4-BE49-F238E27FC236}">
                <a16:creationId xmlns:a16="http://schemas.microsoft.com/office/drawing/2014/main" id="{EA723CC7-0056-41E9-BEFF-A89697C02ACD}"/>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07</a:t>
            </a:r>
          </a:p>
        </p:txBody>
      </p:sp>
    </p:spTree>
    <p:extLst>
      <p:ext uri="{BB962C8B-B14F-4D97-AF65-F5344CB8AC3E}">
        <p14:creationId xmlns:p14="http://schemas.microsoft.com/office/powerpoint/2010/main" val="330915957"/>
      </p:ext>
    </p:extLst>
  </p:cSld>
</p:sld>
</file>

<file path=ppt/slides/slide8.xml><?xml version="1.0" encoding="utf-8"?>
<p:sld xmlns:p="http://schemas.openxmlformats.org/presentationml/2006/main">
  <p:cSld>
    <p:bg>
      <p:bgPr>
        <a:solidFill xmlns:a="http://schemas.openxmlformats.org/drawingml/2006/main">
          <a:srgbClr val="E8674B"/>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857BCA0-F6AE-49AA-BE38-9F8EB66034DF}"/>
              </a:ext>
            </a:extLst>
          </p:cNvPr>
          <p:cNvSpPr>
            <a:spLocks xmlns:a="http://schemas.openxmlformats.org/drawingml/2006/main" noGrp="1"/>
          </p:cNvSpPr>
          <p:nvPr/>
        </p:nvSpPr>
        <p:spPr>
          <a:xfrm xmlns:a="http://schemas.openxmlformats.org/drawingml/2006/main">
            <a:off x="0" y="0"/>
            <a:ext cx="12192000" cy="17145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F537AC7-2102-4618-8EAD-06AD1F0313ED}"/>
              </a:ext>
            </a:extLst>
          </p:cNvPr>
          <p:cNvSpPr>
            <a:spLocks xmlns:a="http://schemas.openxmlformats.org/drawingml/2006/main" noGrp="1"/>
          </p:cNvSpPr>
          <p:nvPr/>
        </p:nvSpPr>
        <p:spPr>
          <a:xfrm xmlns:a="http://schemas.openxmlformats.org/drawingml/2006/main">
            <a:off x="685800" y="838200"/>
            <a:ext cx="666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150" b="1">
                <a:solidFill>
                  <a:srgbClr val="FFFFFF"/>
                </a:solidFill>
                <a:latin typeface="Arial"/>
                <a:ea typeface="Arial"/>
                <a:cs typeface="Arial"/>
              </a:defRPr>
            </a:pPr>
            <a:r>
              <a:rPr sz="3150" b="1">
                <a:solidFill>
                  <a:srgbClr val="FFFFFF"/>
                </a:solidFill>
                <a:latin typeface="Arial"/>
                <a:ea typeface="Arial"/>
                <a:cs typeface="Arial"/>
              </a:rPr>
              <a:t>Before you pack up…</a:t>
            </a:r>
          </a:p>
        </p:txBody>
      </p:sp>
      <p:sp>
        <p:nvSpPr>
          <p:cNvPr id="3" name="">
            <a:extLst xmlns:a="http://schemas.openxmlformats.org/drawingml/2006/main">
              <a:ext uri="{FF2B5EF4-FFF2-40B4-BE49-F238E27FC236}">
                <a16:creationId xmlns:a16="http://schemas.microsoft.com/office/drawing/2014/main" id="{897C0EB3-74B3-4D99-87AE-BEFBDD10A904}"/>
              </a:ext>
            </a:extLst>
          </p:cNvPr>
          <p:cNvSpPr>
            <a:spLocks xmlns:a="http://schemas.openxmlformats.org/drawingml/2006/main" noGrp="1"/>
          </p:cNvSpPr>
          <p:nvPr/>
        </p:nvSpPr>
        <p:spPr>
          <a:xfrm xmlns:a="http://schemas.openxmlformats.org/drawingml/2006/main">
            <a:off x="685800" y="1962150"/>
            <a:ext cx="8572500" cy="8382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w="0">
            <a:noFill/>
            <a:prstDash val="solid"/>
          </a:ln>
        </p:spPr>
        <p:txBody>
          <a:bodyPr xmlns:a="http://schemas.openxmlformats.org/drawingml/2006/main" lIns="228600" tIns="152400" rIns="228600" bIns="152400" anchor="ctr">
            <a:normAutofit fontScale="100000"/>
          </a:bodyPr>
          <a:lstStyle xmlns:a="http://schemas.openxmlformats.org/drawingml/2006/main"/>
          <a:p xmlns:a="http://schemas.openxmlformats.org/drawingml/2006/main">
            <a:pPr algn="l">
              <a:defRPr sz="1650" b="1">
                <a:solidFill>
                  <a:srgbClr val="17342C"/>
                </a:solidFill>
                <a:latin typeface="Arial"/>
                <a:ea typeface="Arial"/>
                <a:cs typeface="Arial"/>
              </a:defRPr>
            </a:pPr>
            <a:r>
              <a:rPr sz="1650" b="1">
                <a:solidFill>
                  <a:srgbClr val="17342C"/>
                </a:solidFill>
                <a:latin typeface="Arial"/>
                <a:ea typeface="Arial"/>
                <a:cs typeface="Arial"/>
              </a:rPr>
              <a:t>1. One idea I can now explain is…</a:t>
            </a:r>
          </a:p>
        </p:txBody>
      </p:sp>
      <p:sp>
        <p:nvSpPr>
          <p:cNvPr id="4" name="">
            <a:extLst xmlns:a="http://schemas.openxmlformats.org/drawingml/2006/main">
              <a:ext uri="{FF2B5EF4-FFF2-40B4-BE49-F238E27FC236}">
                <a16:creationId xmlns:a16="http://schemas.microsoft.com/office/drawing/2014/main" id="{4C2E1B51-2C58-4F1F-A5E3-9407A1D6E370}"/>
              </a:ext>
            </a:extLst>
          </p:cNvPr>
          <p:cNvSpPr>
            <a:spLocks xmlns:a="http://schemas.openxmlformats.org/drawingml/2006/main" noGrp="1"/>
          </p:cNvSpPr>
          <p:nvPr/>
        </p:nvSpPr>
        <p:spPr>
          <a:xfrm xmlns:a="http://schemas.openxmlformats.org/drawingml/2006/main">
            <a:off x="685800" y="3086100"/>
            <a:ext cx="8572500" cy="8382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w="0">
            <a:noFill/>
            <a:prstDash val="solid"/>
          </a:ln>
        </p:spPr>
        <p:txBody>
          <a:bodyPr xmlns:a="http://schemas.openxmlformats.org/drawingml/2006/main" lIns="228600" tIns="152400" rIns="228600" bIns="152400" anchor="ctr">
            <a:normAutofit fontScale="100000"/>
          </a:bodyPr>
          <a:lstStyle xmlns:a="http://schemas.openxmlformats.org/drawingml/2006/main"/>
          <a:p xmlns:a="http://schemas.openxmlformats.org/drawingml/2006/main">
            <a:pPr algn="l">
              <a:defRPr sz="1650" b="1">
                <a:solidFill>
                  <a:srgbClr val="17342C"/>
                </a:solidFill>
                <a:latin typeface="Arial"/>
                <a:ea typeface="Arial"/>
                <a:cs typeface="Arial"/>
              </a:defRPr>
            </a:pPr>
            <a:r>
              <a:rPr sz="1650" b="1">
                <a:solidFill>
                  <a:srgbClr val="17342C"/>
                </a:solidFill>
                <a:latin typeface="Arial"/>
                <a:ea typeface="Arial"/>
                <a:cs typeface="Arial"/>
              </a:rPr>
              <a:t>2. One design decision or practical action this changes is…</a:t>
            </a:r>
          </a:p>
        </p:txBody>
      </p:sp>
      <p:sp>
        <p:nvSpPr>
          <p:cNvPr id="5" name="">
            <a:extLst xmlns:a="http://schemas.openxmlformats.org/drawingml/2006/main">
              <a:ext uri="{FF2B5EF4-FFF2-40B4-BE49-F238E27FC236}">
                <a16:creationId xmlns:a16="http://schemas.microsoft.com/office/drawing/2014/main" id="{20E91545-00F2-4B3E-8B01-A255BCF4B635}"/>
              </a:ext>
            </a:extLst>
          </p:cNvPr>
          <p:cNvSpPr>
            <a:spLocks xmlns:a="http://schemas.openxmlformats.org/drawingml/2006/main" noGrp="1"/>
          </p:cNvSpPr>
          <p:nvPr/>
        </p:nvSpPr>
        <p:spPr>
          <a:xfrm xmlns:a="http://schemas.openxmlformats.org/drawingml/2006/main">
            <a:off x="685800" y="4210050"/>
            <a:ext cx="8572500" cy="8382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w="0">
            <a:noFill/>
            <a:prstDash val="solid"/>
          </a:ln>
        </p:spPr>
        <p:txBody>
          <a:bodyPr xmlns:a="http://schemas.openxmlformats.org/drawingml/2006/main" lIns="228600" tIns="152400" rIns="228600" bIns="152400" anchor="ctr">
            <a:normAutofit fontScale="100000"/>
          </a:bodyPr>
          <a:lstStyle xmlns:a="http://schemas.openxmlformats.org/drawingml/2006/main"/>
          <a:p xmlns:a="http://schemas.openxmlformats.org/drawingml/2006/main">
            <a:pPr algn="l">
              <a:defRPr sz="1650" b="1">
                <a:solidFill>
                  <a:srgbClr val="17342C"/>
                </a:solidFill>
                <a:latin typeface="Arial"/>
                <a:ea typeface="Arial"/>
                <a:cs typeface="Arial"/>
              </a:defRPr>
            </a:pPr>
            <a:r>
              <a:rPr sz="1650" b="1">
                <a:solidFill>
                  <a:srgbClr val="17342C"/>
                </a:solidFill>
                <a:latin typeface="Arial"/>
                <a:ea typeface="Arial"/>
                <a:cs typeface="Arial"/>
              </a:rPr>
              <a:t>3. One question I still need answered is…</a:t>
            </a:r>
          </a:p>
        </p:txBody>
      </p:sp>
      <p:sp>
        <p:nvSpPr>
          <p:cNvPr id="6" name="">
            <a:extLst xmlns:a="http://schemas.openxmlformats.org/drawingml/2006/main">
              <a:ext uri="{FF2B5EF4-FFF2-40B4-BE49-F238E27FC236}">
                <a16:creationId xmlns:a16="http://schemas.microsoft.com/office/drawing/2014/main" id="{FE0BC671-76BB-4C7C-A958-4715DAF420BD}"/>
              </a:ext>
            </a:extLst>
          </p:cNvPr>
          <p:cNvSpPr>
            <a:spLocks xmlns:a="http://schemas.openxmlformats.org/drawingml/2006/main" noGrp="1"/>
          </p:cNvSpPr>
          <p:nvPr/>
        </p:nvSpPr>
        <p:spPr>
          <a:xfrm xmlns:a="http://schemas.openxmlformats.org/drawingml/2006/main">
            <a:off x="9810750" y="2609850"/>
            <a:ext cx="1638300" cy="1638300"/>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21DC841D-A440-4E90-BDA3-DF6A86A30689}"/>
              </a:ext>
            </a:extLst>
          </p:cNvPr>
          <p:cNvSpPr>
            <a:spLocks xmlns:a="http://schemas.openxmlformats.org/drawingml/2006/main" noGrp="1"/>
          </p:cNvSpPr>
          <p:nvPr/>
        </p:nvSpPr>
        <p:spPr>
          <a:xfrm xmlns:a="http://schemas.openxmlformats.org/drawingml/2006/main">
            <a:off x="9944100" y="2876550"/>
            <a:ext cx="13716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17342C"/>
                </a:solidFill>
                <a:latin typeface="Arial"/>
                <a:ea typeface="Arial"/>
                <a:cs typeface="Arial"/>
              </a:defRPr>
            </a:pPr>
            <a:r>
              <a:rPr sz="1725" b="1">
                <a:solidFill>
                  <a:srgbClr val="17342C"/>
                </a:solidFill>
                <a:latin typeface="Arial"/>
                <a:ea typeface="Arial"/>
                <a:cs typeface="Arial"/>
              </a:rPr>
              <a:t>SAVE</a:t>
            </a:r>
          </a:p>
          <a:p xmlns:a="http://schemas.openxmlformats.org/drawingml/2006/main">
            <a:pPr algn="ctr">
              <a:defRPr sz="1725" b="1">
                <a:solidFill>
                  <a:srgbClr val="17342C"/>
                </a:solidFill>
                <a:latin typeface="Arial"/>
                <a:ea typeface="Arial"/>
                <a:cs typeface="Arial"/>
              </a:defRPr>
            </a:pPr>
            <a:r>
              <a:rPr sz="1725" b="1">
                <a:solidFill>
                  <a:srgbClr val="17342C"/>
                </a:solidFill>
                <a:latin typeface="Arial"/>
                <a:ea typeface="Arial"/>
                <a:cs typeface="Arial"/>
              </a:rPr>
              <a:t>YOUR</a:t>
            </a:r>
          </a:p>
          <a:p xmlns:a="http://schemas.openxmlformats.org/drawingml/2006/main">
            <a:pPr algn="ctr">
              <a:defRPr sz="1725" b="1">
                <a:solidFill>
                  <a:srgbClr val="17342C"/>
                </a:solidFill>
                <a:latin typeface="Arial"/>
                <a:ea typeface="Arial"/>
                <a:cs typeface="Arial"/>
              </a:defRPr>
            </a:pPr>
            <a:r>
              <a:rPr sz="1725" b="1">
                <a:solidFill>
                  <a:srgbClr val="17342C"/>
                </a:solidFill>
                <a:latin typeface="Arial"/>
                <a:ea typeface="Arial"/>
                <a:cs typeface="Arial"/>
              </a:rPr>
              <a:t>EVIDENCE</a:t>
            </a:r>
          </a:p>
        </p:txBody>
      </p:sp>
      <p:sp>
        <p:nvSpPr>
          <p:cNvPr id="8" name="">
            <a:extLst xmlns:a="http://schemas.openxmlformats.org/drawingml/2006/main">
              <a:ext uri="{FF2B5EF4-FFF2-40B4-BE49-F238E27FC236}">
                <a16:creationId xmlns:a16="http://schemas.microsoft.com/office/drawing/2014/main" id="{1E7592B3-6DE1-4229-A2F8-3172D36D9C0C}"/>
              </a:ext>
            </a:extLst>
          </p:cNvPr>
          <p:cNvSpPr>
            <a:spLocks xmlns:a="http://schemas.openxmlformats.org/drawingml/2006/main" noGrp="1"/>
          </p:cNvSpPr>
          <p:nvPr/>
        </p:nvSpPr>
        <p:spPr>
          <a:xfrm xmlns:a="http://schemas.openxmlformats.org/drawingml/2006/main">
            <a:off x="685800" y="5753100"/>
            <a:ext cx="857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00" b="1">
                <a:solidFill>
                  <a:srgbClr val="FFFFFF"/>
                </a:solidFill>
                <a:latin typeface="Arial"/>
                <a:ea typeface="Arial"/>
                <a:cs typeface="Arial"/>
              </a:defRPr>
            </a:pPr>
            <a:r>
              <a:rPr sz="1200" b="1">
                <a:solidFill>
                  <a:srgbClr val="FFFFFF"/>
                </a:solidFill>
                <a:latin typeface="Arial"/>
                <a:ea typeface="Arial"/>
                <a:cs typeface="Arial"/>
              </a:rPr>
              <a:t>Save in the matching course module. Local save is not submission.</a:t>
            </a:r>
          </a:p>
        </p:txBody>
      </p:sp>
      <p:sp>
        <p:nvSpPr>
          <p:cNvPr id="9" name="">
            <a:extLst xmlns:a="http://schemas.openxmlformats.org/drawingml/2006/main">
              <a:ext uri="{FF2B5EF4-FFF2-40B4-BE49-F238E27FC236}">
                <a16:creationId xmlns:a16="http://schemas.microsoft.com/office/drawing/2014/main" id="{F6E977B1-EFB2-4CAD-A85B-F371E43022F7}"/>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C7D6CF"/>
                </a:solidFill>
                <a:latin typeface="Arial"/>
                <a:ea typeface="Arial"/>
                <a:cs typeface="Arial"/>
              </a:defRPr>
            </a:pPr>
            <a:r>
              <a:rPr sz="825" b="1">
                <a:solidFill>
                  <a:srgbClr val="C7D6CF"/>
                </a:solidFill>
                <a:latin typeface="Arial"/>
                <a:ea typeface="Arial"/>
                <a:cs typeface="Arial"/>
              </a:rPr>
              <a:t>YEAR 7 MULTIMEDIA  •  MODULE 02  •  VISUAL LANGUAGE</a:t>
            </a:r>
          </a:p>
        </p:txBody>
      </p:sp>
      <p:sp>
        <p:nvSpPr>
          <p:cNvPr id="10" name="">
            <a:extLst xmlns:a="http://schemas.openxmlformats.org/drawingml/2006/main">
              <a:ext uri="{FF2B5EF4-FFF2-40B4-BE49-F238E27FC236}">
                <a16:creationId xmlns:a16="http://schemas.microsoft.com/office/drawing/2014/main" id="{98F48C6A-57F8-4261-9FDE-308F6247CD80}"/>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F2BD3C"/>
                </a:solidFill>
                <a:latin typeface="Arial"/>
                <a:ea typeface="Arial"/>
                <a:cs typeface="Arial"/>
              </a:defRPr>
            </a:pPr>
            <a:r>
              <a:rPr sz="900" b="1">
                <a:solidFill>
                  <a:srgbClr val="F2BD3C"/>
                </a:solidFill>
                <a:latin typeface="Arial"/>
                <a:ea typeface="Arial"/>
                <a:cs typeface="Arial"/>
              </a:rPr>
              <a:t>08</a:t>
            </a:r>
          </a:p>
        </p:txBody>
      </p:sp>
    </p:spTree>
    <p:extLst>
      <p:ext uri="{BB962C8B-B14F-4D97-AF65-F5344CB8AC3E}">
        <p14:creationId xmlns:p14="http://schemas.microsoft.com/office/powerpoint/2010/main" val="44946090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2026-08-24T09:10:20.1670000Z</dcterms:created>
  <dcterms:modified xsi:type="dcterms:W3CDTF">2026-08-24T09:10:20.1670000Z</dcterms:modified>
</coreProperties>
</file>