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9d2ad6672644228" /><Relationship Type="http://schemas.openxmlformats.org/officeDocument/2006/relationships/extended-properties" Target="/docProps/app.xml" Id="R9424060425054b09" /><Relationship Type="http://schemas.openxmlformats.org/officeDocument/2006/relationships/officeDocument" Target="/ppt/presentation.xml" Id="Rde0c37f8c0a541ae" /></Relationships>
</file>

<file path=ppt/presentation.xml><?xml version="1.0" encoding="utf-8"?>
<p:presentation xmlns:p="http://schemas.openxmlformats.org/presentationml/2006/main">
  <p:sldMasterIdLst>
    <p:sldMasterId xmlns:r="http://schemas.openxmlformats.org/officeDocument/2006/relationships" id="2147483648" r:id="R4760a3d6452d424a"/>
  </p:sldMasterIdLst>
  <p:notesMasterIdLst>
    <p:notesMasterId xmlns:r="http://schemas.openxmlformats.org/officeDocument/2006/relationships" r:id="R1ce752ba5b564e1f"/>
  </p:notesMasterIdLst>
  <p:sldIdLst>
    <p:sldId xmlns:r="http://schemas.openxmlformats.org/officeDocument/2006/relationships" id="256" r:id="R9107166c735a4a52"/>
    <p:sldId xmlns:r="http://schemas.openxmlformats.org/officeDocument/2006/relationships" id="257" r:id="Raab11eab53fe4572"/>
    <p:sldId xmlns:r="http://schemas.openxmlformats.org/officeDocument/2006/relationships" id="258" r:id="R2f59971e3dce481f"/>
    <p:sldId xmlns:r="http://schemas.openxmlformats.org/officeDocument/2006/relationships" id="259" r:id="Rfb2f99183f0d46b5"/>
    <p:sldId xmlns:r="http://schemas.openxmlformats.org/officeDocument/2006/relationships" id="260" r:id="R3b0c31bd1bf74c4e"/>
    <p:sldId xmlns:r="http://schemas.openxmlformats.org/officeDocument/2006/relationships" id="261" r:id="R9203f7d7e22e437e"/>
    <p:sldId xmlns:r="http://schemas.openxmlformats.org/officeDocument/2006/relationships" id="262" r:id="R7f54146f565e48fb"/>
    <p:sldId xmlns:r="http://schemas.openxmlformats.org/officeDocument/2006/relationships" id="263" r:id="R409564e153f447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e4d8bf6d4b4f1c" /><Relationship Type="http://schemas.openxmlformats.org/officeDocument/2006/relationships/slideMaster" Target="/ppt/slideMasters/slideMaster1.xml" Id="R4760a3d6452d424a" /><Relationship Type="http://schemas.openxmlformats.org/officeDocument/2006/relationships/notesMaster" Target="/ppt/notesMasters/notesMaster1.xml" Id="R1ce752ba5b564e1f" /><Relationship Type="http://schemas.openxmlformats.org/officeDocument/2006/relationships/presProps" Target="/ppt/presProps.xml" Id="R1bd96e20b1fa4864" /><Relationship Type="http://schemas.openxmlformats.org/officeDocument/2006/relationships/tableStyles" Target="/ppt/tableStyles.xml" Id="Rdfd34491ee4a42d2" /><Relationship Type="http://schemas.openxmlformats.org/officeDocument/2006/relationships/slide" Target="/ppt/slides/slide1.xml" Id="R9107166c735a4a52" /><Relationship Type="http://schemas.openxmlformats.org/officeDocument/2006/relationships/slide" Target="/ppt/slides/slide2.xml" Id="Raab11eab53fe4572" /><Relationship Type="http://schemas.openxmlformats.org/officeDocument/2006/relationships/slide" Target="/ppt/slides/slide3.xml" Id="R2f59971e3dce481f" /><Relationship Type="http://schemas.openxmlformats.org/officeDocument/2006/relationships/slide" Target="/ppt/slides/slide4.xml" Id="Rfb2f99183f0d46b5" /><Relationship Type="http://schemas.openxmlformats.org/officeDocument/2006/relationships/slide" Target="/ppt/slides/slide5.xml" Id="R3b0c31bd1bf74c4e" /><Relationship Type="http://schemas.openxmlformats.org/officeDocument/2006/relationships/slide" Target="/ppt/slides/slide6.xml" Id="R9203f7d7e22e437e" /><Relationship Type="http://schemas.openxmlformats.org/officeDocument/2006/relationships/slide" Target="/ppt/slides/slide7.xml" Id="R7f54146f565e48fb" /><Relationship Type="http://schemas.openxmlformats.org/officeDocument/2006/relationships/slide" Target="/ppt/slides/slide8.xml" Id="R409564e153f447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718fd3e67848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7d9cad1a4a4ea6" /><Relationship Type="http://schemas.openxmlformats.org/officeDocument/2006/relationships/notesMaster" Target="/ppt/notesMasters/notesMaster1.xml" Id="R51821e5ce1f041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c0debc5bf64574" /><Relationship Type="http://schemas.openxmlformats.org/officeDocument/2006/relationships/notesMaster" Target="/ppt/notesMasters/notesMaster1.xml" Id="R9566484ee6d244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3670d3f26a47e1" /><Relationship Type="http://schemas.openxmlformats.org/officeDocument/2006/relationships/notesMaster" Target="/ppt/notesMasters/notesMaster1.xml" Id="R09de8e6742e44e4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1347d4ad3c4480" /><Relationship Type="http://schemas.openxmlformats.org/officeDocument/2006/relationships/notesMaster" Target="/ppt/notesMasters/notesMaster1.xml" Id="R1f58db51865243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3e94a1dcd2401e" /><Relationship Type="http://schemas.openxmlformats.org/officeDocument/2006/relationships/notesMaster" Target="/ppt/notesMasters/notesMaster1.xml" Id="R860648de274549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c9330ffd9dc40f4" /><Relationship Type="http://schemas.openxmlformats.org/officeDocument/2006/relationships/notesMaster" Target="/ppt/notesMasters/notesMaster1.xml" Id="Rce1d7d325f024f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3b975616d7421e" /><Relationship Type="http://schemas.openxmlformats.org/officeDocument/2006/relationships/notesMaster" Target="/ppt/notesMasters/notesMaster1.xml" Id="R98990aa54f044c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41fdd4955c4982" /><Relationship Type="http://schemas.openxmlformats.org/officeDocument/2006/relationships/notesMaster" Target="/ppt/notesMasters/notesMaster1.xml" Id="R697e64a6c0a242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Apply a consistent identity to a staff uniform.</a:t>
            </a:r>
          </a:p>
          <a:p xmlns:a="http://schemas.openxmlformats.org/drawingml/2006/main">
            <a:r>
              <a:t>Prompt: Which features should stay stable across a poster, cup and uniform?</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6.</a:t>
            </a:r>
          </a:p>
          <a:p xmlns:a="http://schemas.openxmlformats.org/drawingml/2006/main">
            <a:r>
              <a:t>- Theory: data/course-content.js, m06-s01, m06-s02, m06-s03.</a:t>
            </a:r>
          </a:p>
          <a:p xmlns:a="http://schemas.openxmlformats.org/drawingml/2006/main">
            <a:r>
              <a:t>- Visual: assets/visuals/generated-brand-touchpoints.png.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Which features should stay stable across a poster, cup and uniform?</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Consistent identity.</a:t>
            </a:r>
          </a:p>
          <a:p xmlns:a="http://schemas.openxmlformats.org/drawingml/2006/main">
            <a:r>
              <a:t/>
            </a:r>
          </a:p>
          <a:p xmlns:a="http://schemas.openxmlformats.org/drawingml/2006/main">
            <a:r>
              <a:t>[Sources]</a:t>
            </a:r>
          </a:p>
          <a:p xmlns:a="http://schemas.openxmlformats.org/drawingml/2006/main">
            <a:r>
              <a:t>- Theory sequence: data/course-content.js, m06-s01, m06-s02, m06-s03.</a:t>
            </a:r>
          </a:p>
          <a:p xmlns:a="http://schemas.openxmlformats.org/drawingml/2006/main">
            <a:r>
              <a:t>- Module summary: data/course-map.js, Module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Build a flexible visual system that stays recognisable across different brand applications.</a:t>
            </a:r>
          </a:p>
          <a:p xmlns:a="http://schemas.openxmlformats.org/drawingml/2006/main">
            <a:r>
              <a:t>Explain: A consistent identity repeats meaningful relationships: logo treatment, palette roles, type hierarchy, image style and tone. Consistency does not require every output to have the same layout. A menu and a uniform solve different problems, but the audience should still recognise the same brand. A short style guide records the stable rules and the variations allowed for different contexts.</a:t>
            </a:r>
          </a:p>
          <a:p xmlns:a="http://schemas.openxmlformats.org/drawingml/2006/main">
            <a:r>
              <a:t>Clarify: Rigid repetition can make a design unsuitable. A vertical poster logo may need a compact uniform version; a detailed image style may be inappropriate for a small embroidered area. Adaptation is controlled when the reason is visible and the core identity remains. Test applications side by side to find accidental changes in colour, spacing, type or tone.</a:t>
            </a:r>
          </a:p>
          <a:p xmlns:a="http://schemas.openxmlformats.org/drawingml/2006/main">
            <a:r>
              <a:t>Worked example: A student creates a table with logo version, colour role, type role and image treatment for the menu, poster, motion ad, uniform and site. The uniform uses a compact one-colour mark because the full slogan is unreadable. The site keeps the full palette and primary logo. The matrix shows why the difference is controlled. An accidental purple heading on one page is corrected because it has no defined system role.</a:t>
            </a:r>
          </a:p>
          <a:p xmlns:a="http://schemas.openxmlformats.org/drawingml/2006/main">
            <a:r>
              <a:t>Ask: What creates brand consistency?</a:t>
            </a:r>
          </a:p>
          <a:p xmlns:a="http://schemas.openxmlformats.org/drawingml/2006/main">
            <a:r>
              <a:t>Listen for: Stable logo, palette, type and tone relationships. Correct. These make the system recognisable.</a:t>
            </a:r>
          </a:p>
          <a:p xmlns:a="http://schemas.openxmlformats.org/drawingml/2006/main">
            <a:r>
              <a:t>Misconception to correct: Consistency means using the exact same layout everywhere. → The core system remains recognisable while layouts adapt to context.</a:t>
            </a:r>
          </a:p>
          <a:p xmlns:a="http://schemas.openxmlformats.org/drawingml/2006/main">
            <a:r>
              <a:t>Transition: Connect this idea to Designing a staff uniform.</a:t>
            </a:r>
          </a:p>
          <a:p xmlns:a="http://schemas.openxmlformats.org/drawingml/2006/main">
            <a:r>
              <a:t/>
            </a:r>
          </a:p>
          <a:p xmlns:a="http://schemas.openxmlformats.org/drawingml/2006/main">
            <a:r>
              <a:t>[Sources]</a:t>
            </a:r>
          </a:p>
          <a:p xmlns:a="http://schemas.openxmlformats.org/drawingml/2006/main">
            <a:r>
              <a:t>- Theory and check: data/course-content.js, m06-s01 and m06-s01-q01.</a:t>
            </a:r>
          </a:p>
          <a:p xmlns:a="http://schemas.openxmlformats.org/drawingml/2006/main">
            <a:r>
              <a:t>- Native projection-scale diagram adapted from approved visual brand-consistency-system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Apply the brand identity to a staff-uniform concept while considering placement, scale and role.</a:t>
            </a:r>
          </a:p>
          <a:p xmlns:a="http://schemas.openxmlformats.org/drawingml/2006/main">
            <a:r>
              <a:t>Explain: A staff-uniform concept can identify the business and connect staff with the visual identity. The source verifies a Canva demonstration of applying the identity to a uniform concept, but it does not confirm a required garment, supplier, material, production method or school licence. Treat the output as a design concept unless the teacher supplies further production facts.</a:t>
            </a:r>
          </a:p>
          <a:p xmlns:a="http://schemas.openxmlformats.org/drawingml/2006/main">
            <a:r>
              <a:t>Clarify: A mark placed on a moving person is viewed from varied distances and angles. Test front, back or other proposed positions for visibility without assuming that every position is required. Large graphics may dominate or fold across garment shapes; tiny marks may disappear. Use a suitable logo variant, preserve clear area and check contrast against the garment colour.</a:t>
            </a:r>
          </a:p>
          <a:p xmlns:a="http://schemas.openxmlformats.org/drawingml/2006/main">
            <a:r>
              <a:t>Worked example: A student tests the full logo across the front and a compact mark in a smaller upper-area position. The full version distorts over the mock-up shape and its slogan becomes hard to read. The compact version stays clear but needs stronger colour contrast. The student selects the second direction and records that real manufacture, material performance and exact placement remain outside this digital concept evidence.</a:t>
            </a:r>
          </a:p>
          <a:p xmlns:a="http://schemas.openxmlformats.org/drawingml/2006/main">
            <a:r>
              <a:t>Ask: What does the source confirm about the uniform task?</a:t>
            </a:r>
          </a:p>
          <a:p xmlns:a="http://schemas.openxmlformats.org/drawingml/2006/main">
            <a:r>
              <a:t>Listen for: A digital brand application to a staff-uniform concept. Correct. That is the supported scope.</a:t>
            </a:r>
          </a:p>
          <a:p xmlns:a="http://schemas.openxmlformats.org/drawingml/2006/main">
            <a:r>
              <a:t>Misconception to correct: A realistic uniform mock-up proves the garment can be manufactured exactly as shown. → It tests visual application only unless production details are separately verified.</a:t>
            </a:r>
          </a:p>
          <a:p xmlns:a="http://schemas.openxmlformats.org/drawingml/2006/main">
            <a:r>
              <a:t>Transition: Connect this idea to Checking suitability and accessibility.</a:t>
            </a:r>
          </a:p>
          <a:p xmlns:a="http://schemas.openxmlformats.org/drawingml/2006/main">
            <a:r>
              <a:t/>
            </a:r>
          </a:p>
          <a:p xmlns:a="http://schemas.openxmlformats.org/drawingml/2006/main">
            <a:r>
              <a:t>[Sources]</a:t>
            </a:r>
          </a:p>
          <a:p xmlns:a="http://schemas.openxmlformats.org/drawingml/2006/main">
            <a:r>
              <a:t>- Theory and check: data/course-content.js, m06-s02 and m06-s02-q01.</a:t>
            </a:r>
          </a:p>
          <a:p xmlns:a="http://schemas.openxmlformats.org/drawingml/2006/main">
            <a:r>
              <a:t>- Native projection-scale process diagram adapted from approved visual uniform-system; source asset assets/visuals/generated-uniform-system.png.</a:t>
            </a:r>
          </a:p>
          <a:p xmlns:a="http://schemas.openxmlformats.org/drawingml/2006/main">
            <a:r>
              <a:t>- Google Drive source: Creating a Staff Uniform in Canva Demo.mp4, Drive ID 1hIuwMunPHaPjdVAjPsKlIWJEm9vYMkxl, 1:54.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Evaluate a brand application for recognition, inclusion, readability and honest representation.</a:t>
            </a:r>
          </a:p>
          <a:p xmlns:a="http://schemas.openxmlformats.org/drawingml/2006/main">
            <a:r>
              <a:t>Explain: A visually consistent application can still be unsuitable if it is difficult to recognise, uncomfortable in tone or inaccessible. Review the concept against its audience profile and use context. Consider reading distance, contrast, image meaning, respectful representation and whether essential information survives. Do not assume that one reviewer represents the whole audience.</a:t>
            </a:r>
          </a:p>
          <a:p xmlns:a="http://schemas.openxmlformats.org/drawingml/2006/main">
            <a:r>
              <a:t>Clarify: Accessibility checks include contrast, clear shapes, readable text and cues that do not depend on colour alone. On a uniform concept, a simple mark may be more recognisable than small supporting text. Use privacy-safe silhouettes or mock-ups rather than identifiable student photographs. If real-user testing is possible under approved arrangements, ask focused questions and avoid collecting unnecessary personal data.</a:t>
            </a:r>
          </a:p>
          <a:p xmlns:a="http://schemas.openxmlformats.org/drawingml/2006/main">
            <a:r>
              <a:t>Worked example: Two reviewers identify the business from the front concept, but neither can read the slogan at the proposed size. One reviewer also confuses two low-contrast palette colours. The designer removes the slogan from the compact version and strengthens contrast while preserving the main palette roles. They report the small test honestly and do not claim universal accessibility from two responses.</a:t>
            </a:r>
          </a:p>
          <a:p xmlns:a="http://schemas.openxmlformats.org/drawingml/2006/main">
            <a:r>
              <a:t>Ask: What makes an application suitable?</a:t>
            </a:r>
          </a:p>
          <a:p xmlns:a="http://schemas.openxmlformats.org/drawingml/2006/main">
            <a:r>
              <a:t>Listen for: It fits the intended purpose, audience and context. Correct. Suitability is relational.</a:t>
            </a:r>
          </a:p>
          <a:p xmlns:a="http://schemas.openxmlformats.org/drawingml/2006/main">
            <a:r>
              <a:t>Misconception to correct: If two people can use a design, it is accessible for everyone. → A small test reveals issues but cannot represent every user or access need.</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m06-s03 and m06-s03-q01.</a:t>
            </a:r>
          </a:p>
          <a:p xmlns:a="http://schemas.openxmlformats.org/drawingml/2006/main">
            <a:r>
              <a:t>- Native projection-scale diagram adapted from approved visual accessibility-contrast-check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Stable logo, palette, type and tone relationships. Feedback: Correct. These make the system recognisable.</a:t>
            </a:r>
          </a:p>
          <a:p xmlns:a="http://schemas.openxmlformats.org/drawingml/2006/main">
            <a:r>
              <a:t>Question 2: A digital brand application to a staff-uniform concept. Feedback: Correct. That is the supported scope.</a:t>
            </a:r>
          </a:p>
          <a:p xmlns:a="http://schemas.openxmlformats.org/drawingml/2006/main">
            <a:r>
              <a:t>Question 3: It fits the intended purpose, audience and context. Feedback: Correct. Suitability is relational.</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m06-s01-q01, m06-s02-q01, m06-s03-q01.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m06-s01-capstone, m06-s02-capstone, m06-s03-capstone.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m06-s01, m06-s02, m06-s03.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bdf8a244544fd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d78a92dafb4fe9" /><Relationship Type="http://schemas.openxmlformats.org/officeDocument/2006/relationships/slideLayout" Target="/ppt/slideLayouts/slideLayout1.xml" Id="Rb8a60b55be8c4cb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a60b55be8c4c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3c53fec1b144c42" /><Relationship Type="http://schemas.openxmlformats.org/officeDocument/2006/relationships/image" Target="/ppt/media/image.png" Id="R921c3e7159064614" /><Relationship Type="http://schemas.openxmlformats.org/officeDocument/2006/relationships/notesSlide" Target="/ppt/notesSlides/notesSlide1.xml" Id="Rb090957a7b1c42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1f03e23ff0e46c3" /><Relationship Type="http://schemas.openxmlformats.org/officeDocument/2006/relationships/notesSlide" Target="/ppt/notesSlides/notesSlide2.xml" Id="R112fcaeaba9f47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c94872428294cef" /><Relationship Type="http://schemas.openxmlformats.org/officeDocument/2006/relationships/notesSlide" Target="/ppt/notesSlides/notesSlide3.xml" Id="R5c6b16c53db249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b4910c9e57d4514" /><Relationship Type="http://schemas.openxmlformats.org/officeDocument/2006/relationships/image" Target="/ppt/media/image2.png" Id="Ra58fe707d70348a2" /><Relationship Type="http://schemas.openxmlformats.org/officeDocument/2006/relationships/notesSlide" Target="/ppt/notesSlides/notesSlide4.xml" Id="R965a6de09d00442c" /><Relationship Type="http://schemas.openxmlformats.org/officeDocument/2006/relationships/hyperlink" Target="https://drive.google.com/file/d/1hIuwMunPHaPjdVAjPsKlIWJEm9vYMkxl/view" TargetMode="External" Id="RStage07Hyperlink4_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d6584b62e54563" /><Relationship Type="http://schemas.openxmlformats.org/officeDocument/2006/relationships/notesSlide" Target="/ppt/notesSlides/notesSlide5.xml" Id="R895e070fb7864f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cebb8be583f4c68" /><Relationship Type="http://schemas.openxmlformats.org/officeDocument/2006/relationships/notesSlide" Target="/ppt/notesSlides/notesSlide6.xml" Id="Rdacc841383a540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427113067fa4ce3" /><Relationship Type="http://schemas.openxmlformats.org/officeDocument/2006/relationships/notesSlide" Target="/ppt/notesSlides/notesSlide7.xml" Id="R850d2629e39d45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edb0569f24f4445" /><Relationship Type="http://schemas.openxmlformats.org/officeDocument/2006/relationships/notesSlide" Target="/ppt/notesSlides/notesSlide8.xml" Id="R2879b4dbca96432c"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9F32951-364A-48DE-B36E-48EF0F3F6198}"/>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A95C5CB-39B4-48FF-9801-EC353A0D8F93}"/>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BD0F72-401E-44CE-83A1-9411F557572D}"/>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06</a:t>
            </a:r>
          </a:p>
        </p:txBody>
      </p:sp>
      <p:sp>
        <p:nvSpPr>
          <p:cNvPr id="4" name="">
            <a:extLst xmlns:a="http://schemas.openxmlformats.org/drawingml/2006/main">
              <a:ext uri="{FF2B5EF4-FFF2-40B4-BE49-F238E27FC236}">
                <a16:creationId xmlns:a16="http://schemas.microsoft.com/office/drawing/2014/main" id="{32095B44-2D57-4E0C-B1B1-FAA484A9A387}"/>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Brand applications</a:t>
            </a:r>
          </a:p>
        </p:txBody>
      </p:sp>
      <p:sp>
        <p:nvSpPr>
          <p:cNvPr id="5" name="">
            <a:extLst xmlns:a="http://schemas.openxmlformats.org/drawingml/2006/main">
              <a:ext uri="{FF2B5EF4-FFF2-40B4-BE49-F238E27FC236}">
                <a16:creationId xmlns:a16="http://schemas.microsoft.com/office/drawing/2014/main" id="{8AEBF48D-39CD-421C-B57A-27CE51DC5D8F}"/>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Apply a consistent identity to a staff uniform.</a:t>
            </a:r>
          </a:p>
        </p:txBody>
      </p:sp>
      <p:sp>
        <p:nvSpPr>
          <p:cNvPr id="6" name="">
            <a:extLst xmlns:a="http://schemas.openxmlformats.org/drawingml/2006/main">
              <a:ext uri="{FF2B5EF4-FFF2-40B4-BE49-F238E27FC236}">
                <a16:creationId xmlns:a16="http://schemas.microsoft.com/office/drawing/2014/main" id="{904629E4-3D59-407B-9278-C8B5A33513B9}"/>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F2150686-2AE7-423A-A8B1-838277727FE3}"/>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Which features should stay stable across a poster, cup and uniform?</a:t>
            </a:r>
          </a:p>
        </p:txBody>
      </p:sp>
      <p:sp>
        <p:nvSpPr>
          <p:cNvPr id="8" name="">
            <a:extLst xmlns:a="http://schemas.openxmlformats.org/drawingml/2006/main">
              <a:ext uri="{FF2B5EF4-FFF2-40B4-BE49-F238E27FC236}">
                <a16:creationId xmlns:a16="http://schemas.microsoft.com/office/drawing/2014/main" id="{6D145EC7-CB99-41D2-9BEF-4C46439736D8}"/>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pic>
        <p:nvPicPr>
          <p:cNvPr id="20" name="Brand Touchpoints" title="Brand Touchpoints" descr="Studio photograph of a kraft takeaway bag, paper cup and wrapped food item using the same teal circle and orange striped-circle motif."/>
          <p:cNvPicPr>
            <a:picLocks xmlns:a="http://schemas.openxmlformats.org/drawingml/2006/main" noChangeAspect="1"/>
          </p:cNvPicPr>
          <p:nvPr/>
        </p:nvPicPr>
        <p:blipFill>
          <a:blip xmlns:r="http://schemas.openxmlformats.org/officeDocument/2006/relationships" xmlns:a="http://schemas.openxmlformats.org/drawingml/2006/main" r:embed="R921c3e7159064614"/>
          <a:srcRect xmlns:a="http://schemas.openxmlformats.org/drawingml/2006/main" l="22060" t="0" r="22060" b="0"/>
          <a:stretch xmlns:a="http://schemas.openxmlformats.org/drawingml/2006/main">
            <a:fillRect l="0" t="0" r="0" b="0"/>
          </a:stretch>
        </p:blipFill>
        <p:spPr>
          <a:xfrm xmlns:a="http://schemas.openxmlformats.org/drawingml/2006/main">
            <a:off x="6191250" y="514350"/>
            <a:ext cx="5334000" cy="5372100"/>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5A7FC27B-C11E-4910-8710-8012093618E8}"/>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06  •  BRAND APPLICATIONS</a:t>
            </a:r>
          </a:p>
        </p:txBody>
      </p:sp>
      <p:sp>
        <p:nvSpPr>
          <p:cNvPr id="11" name="">
            <a:extLst xmlns:a="http://schemas.openxmlformats.org/drawingml/2006/main">
              <a:ext uri="{FF2B5EF4-FFF2-40B4-BE49-F238E27FC236}">
                <a16:creationId xmlns:a16="http://schemas.microsoft.com/office/drawing/2014/main" id="{C8E26C7F-9EAE-4D24-81C5-FCCA32671A64}"/>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430439760"/>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3146AE9-731A-4BEB-9A49-8BC4A398F0F2}"/>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498BB7D-6BA0-4D0C-AF28-143A0288060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2F3A91E1-E3C6-44F3-B5F0-1F2B85D91101}"/>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451D597F-2435-48BD-A6EC-531872579A35}"/>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99C4E739-0098-4888-85FF-FAA894F00BFF}"/>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83DA6F-32B6-44E4-A4E7-19A9628044A2}"/>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6294D0FE-0D3C-43B7-87D8-FCDD8F93CBC7}"/>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Consistent identity</a:t>
            </a:r>
          </a:p>
        </p:txBody>
      </p:sp>
      <p:sp>
        <p:nvSpPr>
          <p:cNvPr id="8" name="">
            <a:extLst xmlns:a="http://schemas.openxmlformats.org/drawingml/2006/main">
              <a:ext uri="{FF2B5EF4-FFF2-40B4-BE49-F238E27FC236}">
                <a16:creationId xmlns:a16="http://schemas.microsoft.com/office/drawing/2014/main" id="{1AE7930B-42E8-4EC6-B81C-228CB663CCFF}"/>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46016C73-174F-4627-9D06-036E516BF11B}"/>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5EAF9F9-3AF4-45A5-B6B3-DAD4C861D3B9}"/>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DD2C42E1-BAA8-416D-A7AA-F27EA3C648AB}"/>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Designing a staff uniform</a:t>
            </a:r>
          </a:p>
        </p:txBody>
      </p:sp>
      <p:sp>
        <p:nvSpPr>
          <p:cNvPr id="12" name="">
            <a:extLst xmlns:a="http://schemas.openxmlformats.org/drawingml/2006/main">
              <a:ext uri="{FF2B5EF4-FFF2-40B4-BE49-F238E27FC236}">
                <a16:creationId xmlns:a16="http://schemas.microsoft.com/office/drawing/2014/main" id="{DC6D7B00-9FDB-407E-85A1-B10759FE6BBD}"/>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C4F97D99-5137-4B1B-9582-9839D48A000B}"/>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DDDBD4-0920-4BD9-94F1-BEAC070F6EC2}"/>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3DDEE036-3D2F-4F6E-BDEC-F7AFE5297977}"/>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Checking suitability and accessibility</a:t>
            </a:r>
          </a:p>
        </p:txBody>
      </p:sp>
      <p:sp>
        <p:nvSpPr>
          <p:cNvPr id="16" name="">
            <a:extLst xmlns:a="http://schemas.openxmlformats.org/drawingml/2006/main">
              <a:ext uri="{FF2B5EF4-FFF2-40B4-BE49-F238E27FC236}">
                <a16:creationId xmlns:a16="http://schemas.microsoft.com/office/drawing/2014/main" id="{3AB171F9-BB54-44F5-9128-2EDE79A0F83E}"/>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9DEE1AF6-7662-4DE0-B7A7-48A6F9E45759}"/>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86574"/>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Which features should stay stable across a poster, cup and uniform?</a:t>
            </a:r>
          </a:p>
        </p:txBody>
      </p:sp>
      <p:sp>
        <p:nvSpPr>
          <p:cNvPr id="18" name="">
            <a:extLst xmlns:a="http://schemas.openxmlformats.org/drawingml/2006/main">
              <a:ext uri="{FF2B5EF4-FFF2-40B4-BE49-F238E27FC236}">
                <a16:creationId xmlns:a16="http://schemas.microsoft.com/office/drawing/2014/main" id="{567E9661-43B2-4839-B244-1D84B5F5CB92}"/>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D9DC8583-2174-488B-8F74-467AB3CD0FAB}"/>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06  •  BRAND APPLICATIONS</a:t>
            </a:r>
          </a:p>
        </p:txBody>
      </p:sp>
      <p:sp>
        <p:nvSpPr>
          <p:cNvPr id="20" name="">
            <a:extLst xmlns:a="http://schemas.openxmlformats.org/drawingml/2006/main">
              <a:ext uri="{FF2B5EF4-FFF2-40B4-BE49-F238E27FC236}">
                <a16:creationId xmlns:a16="http://schemas.microsoft.com/office/drawing/2014/main" id="{AB8F4C76-0F90-4B74-AFF2-260DA74B46E7}"/>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794581242"/>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FA991A4-2303-44D9-9491-FC2985E1315D}"/>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E545D96-A799-4C1F-86F2-D3744E59C6D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6.1  CONSISTENT IDENTITY</a:t>
            </a:r>
          </a:p>
        </p:txBody>
      </p:sp>
      <p:sp>
        <p:nvSpPr>
          <p:cNvPr id="3" name="">
            <a:extLst xmlns:a="http://schemas.openxmlformats.org/drawingml/2006/main">
              <a:ext uri="{FF2B5EF4-FFF2-40B4-BE49-F238E27FC236}">
                <a16:creationId xmlns:a16="http://schemas.microsoft.com/office/drawing/2014/main" id="{8AC1BC12-0265-4547-857C-E2A75098DB7D}"/>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Consistent identity</a:t>
            </a:r>
          </a:p>
        </p:txBody>
      </p:sp>
      <p:sp>
        <p:nvSpPr>
          <p:cNvPr id="4" name="">
            <a:extLst xmlns:a="http://schemas.openxmlformats.org/drawingml/2006/main">
              <a:ext uri="{FF2B5EF4-FFF2-40B4-BE49-F238E27FC236}">
                <a16:creationId xmlns:a16="http://schemas.microsoft.com/office/drawing/2014/main" id="{50C027D7-DBB4-4DD7-BE2B-87C159DA457D}"/>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2EE00546-1C77-4777-8010-C6F727164C58}"/>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D93506-11CE-4F8F-B654-8D15FADCC438}"/>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Consistency repeats meaningful relationships.</a:t>
            </a:r>
          </a:p>
        </p:txBody>
      </p:sp>
      <p:sp>
        <p:nvSpPr>
          <p:cNvPr id="7" name="">
            <a:extLst xmlns:a="http://schemas.openxmlformats.org/drawingml/2006/main">
              <a:ext uri="{FF2B5EF4-FFF2-40B4-BE49-F238E27FC236}">
                <a16:creationId xmlns:a16="http://schemas.microsoft.com/office/drawing/2014/main" id="{491622C1-4BCC-4768-8222-F2AE5E6EF1B1}"/>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0BEA482-4DB4-4EFF-85E7-4B3FD60A4C9A}"/>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Different applications can use controlled variants.</a:t>
            </a:r>
          </a:p>
        </p:txBody>
      </p:sp>
      <p:sp>
        <p:nvSpPr>
          <p:cNvPr id="9" name="">
            <a:extLst xmlns:a="http://schemas.openxmlformats.org/drawingml/2006/main">
              <a:ext uri="{FF2B5EF4-FFF2-40B4-BE49-F238E27FC236}">
                <a16:creationId xmlns:a16="http://schemas.microsoft.com/office/drawing/2014/main" id="{AE980876-0023-4259-BE66-75B133C0CA4D}"/>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5994CAD-B765-4EE7-AA5A-7E7675A3A3F5}"/>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style guide makes stable and flexible rules explicit.</a:t>
            </a:r>
          </a:p>
        </p:txBody>
      </p:sp>
      <p:sp>
        <p:nvSpPr>
          <p:cNvPr id="11" name="">
            <a:extLst xmlns:a="http://schemas.openxmlformats.org/drawingml/2006/main">
              <a:ext uri="{FF2B5EF4-FFF2-40B4-BE49-F238E27FC236}">
                <a16:creationId xmlns:a16="http://schemas.microsoft.com/office/drawing/2014/main" id="{8E2B14B8-5C25-4E9F-8ACF-7EE7A7D7C414}"/>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8D4B4BC2-0324-409C-80C3-28ABAD1FD13B}"/>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REPEAT THE CORE—ADAPT THE USE</a:t>
            </a:r>
          </a:p>
        </p:txBody>
      </p:sp>
      <p:sp>
        <p:nvSpPr>
          <p:cNvPr id="13" name="">
            <a:extLst xmlns:a="http://schemas.openxmlformats.org/drawingml/2006/main">
              <a:ext uri="{FF2B5EF4-FFF2-40B4-BE49-F238E27FC236}">
                <a16:creationId xmlns:a16="http://schemas.microsoft.com/office/drawing/2014/main" id="{9B69713B-3CAD-4C3B-84C9-FB962CA39D40}"/>
              </a:ext>
            </a:extLst>
          </p:cNvPr>
          <p:cNvSpPr>
            <a:spLocks xmlns:a="http://schemas.openxmlformats.org/drawingml/2006/main" noGrp="1"/>
          </p:cNvSpPr>
          <p:nvPr/>
        </p:nvSpPr>
        <p:spPr>
          <a:xfrm xmlns:a="http://schemas.openxmlformats.org/drawingml/2006/main">
            <a:off x="7696200" y="1924050"/>
            <a:ext cx="3314700" cy="428625"/>
          </a:xfrm>
          <a:prstGeom xmlns:a="http://schemas.openxmlformats.org/drawingml/2006/main" prst="roundRect">
            <a:avLst>
              <a:gd name="adj" fmla="val 17778"/>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CORE IDENTITY</a:t>
            </a:r>
          </a:p>
        </p:txBody>
      </p:sp>
      <p:sp>
        <p:nvSpPr>
          <p:cNvPr id="14" name="">
            <a:extLst xmlns:a="http://schemas.openxmlformats.org/drawingml/2006/main">
              <a:ext uri="{FF2B5EF4-FFF2-40B4-BE49-F238E27FC236}">
                <a16:creationId xmlns:a16="http://schemas.microsoft.com/office/drawing/2014/main" id="{495744BE-47FE-482C-9C03-89993EA4BC4F}"/>
              </a:ext>
            </a:extLst>
          </p:cNvPr>
          <p:cNvSpPr>
            <a:spLocks xmlns:a="http://schemas.openxmlformats.org/drawingml/2006/main" noGrp="1"/>
          </p:cNvSpPr>
          <p:nvPr/>
        </p:nvSpPr>
        <p:spPr>
          <a:xfrm xmlns:a="http://schemas.openxmlformats.org/drawingml/2006/main">
            <a:off x="9182100" y="235267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01384E32-1A52-440F-B7C7-0E803BDD3543}"/>
              </a:ext>
            </a:extLst>
          </p:cNvPr>
          <p:cNvSpPr>
            <a:spLocks xmlns:a="http://schemas.openxmlformats.org/drawingml/2006/main" noGrp="1"/>
          </p:cNvSpPr>
          <p:nvPr/>
        </p:nvSpPr>
        <p:spPr>
          <a:xfrm xmlns:a="http://schemas.openxmlformats.org/drawingml/2006/main">
            <a:off x="7696200" y="2466975"/>
            <a:ext cx="3314700" cy="428625"/>
          </a:xfrm>
          <a:prstGeom xmlns:a="http://schemas.openxmlformats.org/drawingml/2006/main" prst="roundRect">
            <a:avLst>
              <a:gd name="adj" fmla="val 17778"/>
            </a:avLst>
          </a:prstGeom>
          <a:solidFill xmlns:a="http://schemas.openxmlformats.org/drawingml/2006/main">
            <a:srgbClr val="F2BD3C"/>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17342C"/>
                </a:solidFill>
                <a:latin typeface="Arial"/>
                <a:ea typeface="Arial"/>
                <a:cs typeface="Arial"/>
              </a:defRPr>
            </a:pPr>
            <a:r>
              <a:rPr sz="1425" b="1">
                <a:solidFill>
                  <a:srgbClr val="17342C"/>
                </a:solidFill>
                <a:latin typeface="Arial"/>
                <a:ea typeface="Arial"/>
                <a:cs typeface="Arial"/>
              </a:rPr>
              <a:t>PLACE</a:t>
            </a:r>
          </a:p>
        </p:txBody>
      </p:sp>
      <p:sp>
        <p:nvSpPr>
          <p:cNvPr id="16" name="">
            <a:extLst xmlns:a="http://schemas.openxmlformats.org/drawingml/2006/main">
              <a:ext uri="{FF2B5EF4-FFF2-40B4-BE49-F238E27FC236}">
                <a16:creationId xmlns:a16="http://schemas.microsoft.com/office/drawing/2014/main" id="{69597EA5-7976-47A0-A6A1-8451A8D4F303}"/>
              </a:ext>
            </a:extLst>
          </p:cNvPr>
          <p:cNvSpPr>
            <a:spLocks xmlns:a="http://schemas.openxmlformats.org/drawingml/2006/main" noGrp="1"/>
          </p:cNvSpPr>
          <p:nvPr/>
        </p:nvSpPr>
        <p:spPr>
          <a:xfrm xmlns:a="http://schemas.openxmlformats.org/drawingml/2006/main">
            <a:off x="9182100" y="2895600"/>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42224B83-14BE-4A97-9C69-7CBDC28B3071}"/>
              </a:ext>
            </a:extLst>
          </p:cNvPr>
          <p:cNvSpPr>
            <a:spLocks xmlns:a="http://schemas.openxmlformats.org/drawingml/2006/main" noGrp="1"/>
          </p:cNvSpPr>
          <p:nvPr/>
        </p:nvSpPr>
        <p:spPr>
          <a:xfrm xmlns:a="http://schemas.openxmlformats.org/drawingml/2006/main">
            <a:off x="7696200" y="3009900"/>
            <a:ext cx="3314700" cy="428625"/>
          </a:xfrm>
          <a:prstGeom xmlns:a="http://schemas.openxmlformats.org/drawingml/2006/main" prst="roundRect">
            <a:avLst>
              <a:gd name="adj" fmla="val 17778"/>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SCALE</a:t>
            </a:r>
          </a:p>
        </p:txBody>
      </p:sp>
      <p:sp>
        <p:nvSpPr>
          <p:cNvPr id="18" name="">
            <a:extLst xmlns:a="http://schemas.openxmlformats.org/drawingml/2006/main">
              <a:ext uri="{FF2B5EF4-FFF2-40B4-BE49-F238E27FC236}">
                <a16:creationId xmlns:a16="http://schemas.microsoft.com/office/drawing/2014/main" id="{98CA8066-B602-4AA3-BE31-8949146612B2}"/>
              </a:ext>
            </a:extLst>
          </p:cNvPr>
          <p:cNvSpPr>
            <a:spLocks xmlns:a="http://schemas.openxmlformats.org/drawingml/2006/main" noGrp="1"/>
          </p:cNvSpPr>
          <p:nvPr/>
        </p:nvSpPr>
        <p:spPr>
          <a:xfrm xmlns:a="http://schemas.openxmlformats.org/drawingml/2006/main">
            <a:off x="9182100" y="343852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41BA248F-4DB9-4418-AD35-CD17A83CE77B}"/>
              </a:ext>
            </a:extLst>
          </p:cNvPr>
          <p:cNvSpPr>
            <a:spLocks xmlns:a="http://schemas.openxmlformats.org/drawingml/2006/main" noGrp="1"/>
          </p:cNvSpPr>
          <p:nvPr/>
        </p:nvSpPr>
        <p:spPr>
          <a:xfrm xmlns:a="http://schemas.openxmlformats.org/drawingml/2006/main">
            <a:off x="7696200" y="3552825"/>
            <a:ext cx="3314700" cy="428625"/>
          </a:xfrm>
          <a:prstGeom xmlns:a="http://schemas.openxmlformats.org/drawingml/2006/main" prst="roundRect">
            <a:avLst>
              <a:gd name="adj" fmla="val 17778"/>
            </a:avLst>
          </a:prstGeom>
          <a:solidFill xmlns:a="http://schemas.openxmlformats.org/drawingml/2006/main">
            <a:srgbClr val="6A57C8"/>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COMPARE</a:t>
            </a:r>
          </a:p>
        </p:txBody>
      </p:sp>
      <p:sp>
        <p:nvSpPr>
          <p:cNvPr id="20" name="">
            <a:extLst xmlns:a="http://schemas.openxmlformats.org/drawingml/2006/main">
              <a:ext uri="{FF2B5EF4-FFF2-40B4-BE49-F238E27FC236}">
                <a16:creationId xmlns:a16="http://schemas.microsoft.com/office/drawing/2014/main" id="{A17944AF-4F8D-433E-9ACF-1C67E6DA0368}"/>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81447"/>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Consistency is controlled repetition, not identical placement.</a:t>
            </a:r>
          </a:p>
        </p:txBody>
      </p:sp>
      <p:sp>
        <p:nvSpPr>
          <p:cNvPr id="21" name="">
            <a:extLst xmlns:a="http://schemas.openxmlformats.org/drawingml/2006/main">
              <a:ext uri="{FF2B5EF4-FFF2-40B4-BE49-F238E27FC236}">
                <a16:creationId xmlns:a16="http://schemas.microsoft.com/office/drawing/2014/main" id="{1E56FBEE-9128-4C1D-BADE-5B151EB37946}"/>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2" name="">
            <a:extLst xmlns:a="http://schemas.openxmlformats.org/drawingml/2006/main">
              <a:ext uri="{FF2B5EF4-FFF2-40B4-BE49-F238E27FC236}">
                <a16:creationId xmlns:a16="http://schemas.microsoft.com/office/drawing/2014/main" id="{73016B72-8137-478C-B575-1A9B550597EA}"/>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creates brand consistency?</a:t>
            </a:r>
          </a:p>
        </p:txBody>
      </p:sp>
      <p:sp>
        <p:nvSpPr>
          <p:cNvPr id="23" name="">
            <a:extLst xmlns:a="http://schemas.openxmlformats.org/drawingml/2006/main">
              <a:ext uri="{FF2B5EF4-FFF2-40B4-BE49-F238E27FC236}">
                <a16:creationId xmlns:a16="http://schemas.microsoft.com/office/drawing/2014/main" id="{92D5A782-5C97-4F10-9671-4B077BCE945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06  •  BRAND APPLICATIONS</a:t>
            </a:r>
          </a:p>
        </p:txBody>
      </p:sp>
      <p:sp>
        <p:nvSpPr>
          <p:cNvPr id="24" name="">
            <a:extLst xmlns:a="http://schemas.openxmlformats.org/drawingml/2006/main">
              <a:ext uri="{FF2B5EF4-FFF2-40B4-BE49-F238E27FC236}">
                <a16:creationId xmlns:a16="http://schemas.microsoft.com/office/drawing/2014/main" id="{CB766616-BF40-4B41-9770-62C5D3806895}"/>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2085162132"/>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10AB3E5-EB1F-4E62-9A6E-2082F1DE27E1}"/>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0A03359-6B11-4176-92E3-1FDFFE6C8B3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6.2  DESIGNING A STAFF UNIFORM</a:t>
            </a:r>
          </a:p>
        </p:txBody>
      </p:sp>
      <p:sp>
        <p:nvSpPr>
          <p:cNvPr id="3" name="">
            <a:extLst xmlns:a="http://schemas.openxmlformats.org/drawingml/2006/main">
              <a:ext uri="{FF2B5EF4-FFF2-40B4-BE49-F238E27FC236}">
                <a16:creationId xmlns:a16="http://schemas.microsoft.com/office/drawing/2014/main" id="{32E195BD-A83F-42D9-BD67-588250EC18D5}"/>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Designing a staff uniform</a:t>
            </a:r>
          </a:p>
        </p:txBody>
      </p:sp>
      <p:sp>
        <p:nvSpPr>
          <p:cNvPr id="4" name="">
            <a:extLst xmlns:a="http://schemas.openxmlformats.org/drawingml/2006/main">
              <a:ext uri="{FF2B5EF4-FFF2-40B4-BE49-F238E27FC236}">
                <a16:creationId xmlns:a16="http://schemas.microsoft.com/office/drawing/2014/main" id="{D8C0D402-C10E-4D54-A634-B657FFE21CEB}"/>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BFF1AAFA-B519-47AD-A9D3-0C6658783325}"/>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BF451C-522D-4F45-91D1-50ABD9BC05A0}"/>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The uniform is a brand-application concept, not proof of manufacture.</a:t>
            </a:r>
          </a:p>
        </p:txBody>
      </p:sp>
      <p:sp>
        <p:nvSpPr>
          <p:cNvPr id="7" name="">
            <a:extLst xmlns:a="http://schemas.openxmlformats.org/drawingml/2006/main">
              <a:ext uri="{FF2B5EF4-FFF2-40B4-BE49-F238E27FC236}">
                <a16:creationId xmlns:a16="http://schemas.microsoft.com/office/drawing/2014/main" id="{E80244ED-6245-48E9-B80F-0BE74A895ABC}"/>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49CDEDB-504A-43BE-998B-25DB216CFA5A}"/>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Placement and scale change recognition.</a:t>
            </a:r>
          </a:p>
        </p:txBody>
      </p:sp>
      <p:sp>
        <p:nvSpPr>
          <p:cNvPr id="9" name="">
            <a:extLst xmlns:a="http://schemas.openxmlformats.org/drawingml/2006/main">
              <a:ext uri="{FF2B5EF4-FFF2-40B4-BE49-F238E27FC236}">
                <a16:creationId xmlns:a16="http://schemas.microsoft.com/office/drawing/2014/main" id="{A6DB39BE-1FB6-4C4F-B43E-D2DAD18BE877}"/>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7F0268-CC1C-46E2-A843-3E580FFE73E2}"/>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Unverified garment and production facts stay out.</a:t>
            </a:r>
          </a:p>
        </p:txBody>
      </p:sp>
      <p:sp>
        <p:nvSpPr>
          <p:cNvPr id="11" name="">
            <a:extLst xmlns:a="http://schemas.openxmlformats.org/drawingml/2006/main">
              <a:ext uri="{FF2B5EF4-FFF2-40B4-BE49-F238E27FC236}">
                <a16:creationId xmlns:a16="http://schemas.microsoft.com/office/drawing/2014/main" id="{A62750B8-C671-459D-9DDF-4E6AB9456442}"/>
              </a:ext>
            </a:extLst>
          </p:cNvPr>
          <p:cNvSpPr>
            <a:spLocks xmlns:a="http://schemas.openxmlformats.org/drawingml/2006/main" noGrp="1"/>
          </p:cNvSpPr>
          <p:nvPr/>
        </p:nvSpPr>
        <p:spPr>
          <a:xfrm xmlns:a="http://schemas.openxmlformats.org/drawingml/2006/main">
            <a:off x="7200900" y="1352550"/>
            <a:ext cx="430530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926D5AE2-1082-4747-B79A-EB4B94BEBDAF}"/>
              </a:ext>
            </a:extLst>
          </p:cNvPr>
          <p:cNvSpPr>
            <a:spLocks xmlns:a="http://schemas.openxmlformats.org/drawingml/2006/main" noGrp="1"/>
          </p:cNvSpPr>
          <p:nvPr/>
        </p:nvSpPr>
        <p:spPr>
          <a:xfrm xmlns:a="http://schemas.openxmlformats.org/drawingml/2006/main">
            <a:off x="7353300" y="14478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0C5554"/>
                </a:solidFill>
                <a:latin typeface="Arial"/>
                <a:ea typeface="Arial"/>
                <a:cs typeface="Arial"/>
              </a:defRPr>
            </a:pPr>
            <a:r>
              <a:rPr sz="1050" b="1">
                <a:solidFill>
                  <a:srgbClr val="0C5554"/>
                </a:solidFill>
                <a:latin typeface="Arial"/>
                <a:ea typeface="Arial"/>
                <a:cs typeface="Arial"/>
              </a:rPr>
              <a:t>PROCESS TO WATCH</a:t>
            </a:r>
          </a:p>
        </p:txBody>
      </p:sp>
      <p:sp>
        <p:nvSpPr>
          <p:cNvPr id="13" name="">
            <a:extLst xmlns:a="http://schemas.openxmlformats.org/drawingml/2006/main">
              <a:ext uri="{FF2B5EF4-FFF2-40B4-BE49-F238E27FC236}">
                <a16:creationId xmlns:a16="http://schemas.microsoft.com/office/drawing/2014/main" id="{6CF66D05-C664-476E-9CA1-CFBB142A49E7}"/>
              </a:ext>
            </a:extLst>
          </p:cNvPr>
          <p:cNvSpPr>
            <a:spLocks xmlns:a="http://schemas.openxmlformats.org/drawingml/2006/main" noGrp="1"/>
          </p:cNvSpPr>
          <p:nvPr/>
        </p:nvSpPr>
        <p:spPr>
          <a:xfrm xmlns:a="http://schemas.openxmlformats.org/drawingml/2006/main">
            <a:off x="7353300" y="1724025"/>
            <a:ext cx="1257300" cy="428625"/>
          </a:xfrm>
          <a:prstGeom xmlns:a="http://schemas.openxmlformats.org/drawingml/2006/main" prst="roundRect">
            <a:avLst>
              <a:gd name="adj" fmla="val 17778"/>
            </a:avLst>
          </a:prstGeom>
          <a:solidFill xmlns:a="http://schemas.openxmlformats.org/drawingml/2006/main">
            <a:srgbClr val="0C5554"/>
          </a:solidFill>
          <a:ln xmlns:a="http://schemas.openxmlformats.org/drawingml/2006/main" w="0">
            <a:noFill/>
            <a:prstDash val="solid"/>
          </a:ln>
        </p:spPr>
        <p:txBody>
          <a:bodyPr xmlns:a="http://schemas.openxmlformats.org/drawingml/2006/main" lIns="47625" tIns="38100" rIns="47625" bIns="38100" anchor="ctr">
            <a:normAutofit fontScale="100000"/>
          </a:bodyPr>
          <a:lstStyle xmlns:a="http://schemas.openxmlformats.org/drawingml/2006/main"/>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PLACE</a:t>
            </a:r>
          </a:p>
        </p:txBody>
      </p:sp>
      <p:sp>
        <p:nvSpPr>
          <p:cNvPr id="14" name="">
            <a:extLst xmlns:a="http://schemas.openxmlformats.org/drawingml/2006/main">
              <a:ext uri="{FF2B5EF4-FFF2-40B4-BE49-F238E27FC236}">
                <a16:creationId xmlns:a16="http://schemas.microsoft.com/office/drawing/2014/main" id="{E77CFFC4-13A8-44AD-9208-2CF36D6E35E9}"/>
              </a:ext>
            </a:extLst>
          </p:cNvPr>
          <p:cNvSpPr>
            <a:spLocks xmlns:a="http://schemas.openxmlformats.org/drawingml/2006/main" noGrp="1"/>
          </p:cNvSpPr>
          <p:nvPr/>
        </p:nvSpPr>
        <p:spPr>
          <a:xfrm xmlns:a="http://schemas.openxmlformats.org/drawingml/2006/main">
            <a:off x="8724900" y="1724025"/>
            <a:ext cx="1257300" cy="428625"/>
          </a:xfrm>
          <a:prstGeom xmlns:a="http://schemas.openxmlformats.org/drawingml/2006/main" prst="roundRect">
            <a:avLst>
              <a:gd name="adj" fmla="val 17778"/>
            </a:avLst>
          </a:prstGeom>
          <a:solidFill xmlns:a="http://schemas.openxmlformats.org/drawingml/2006/main">
            <a:srgbClr val="F2BD3C"/>
          </a:solidFill>
          <a:ln xmlns:a="http://schemas.openxmlformats.org/drawingml/2006/main" w="0">
            <a:noFill/>
            <a:prstDash val="solid"/>
          </a:ln>
        </p:spPr>
        <p:txBody>
          <a:bodyPr xmlns:a="http://schemas.openxmlformats.org/drawingml/2006/main" lIns="47625" tIns="38100" rIns="47625" bIns="38100" anchor="ctr">
            <a:normAutofit fontScale="100000"/>
          </a:bodyPr>
          <a:lstStyle xmlns:a="http://schemas.openxmlformats.org/drawingml/2006/main"/>
          <a:p xmlns:a="http://schemas.openxmlformats.org/drawingml/2006/main">
            <a:pPr algn="ctr">
              <a:defRPr sz="1275" b="1">
                <a:solidFill>
                  <a:srgbClr val="17342C"/>
                </a:solidFill>
                <a:latin typeface="Arial"/>
                <a:ea typeface="Arial"/>
                <a:cs typeface="Arial"/>
              </a:defRPr>
            </a:pPr>
            <a:r>
              <a:rPr sz="1275" b="1">
                <a:solidFill>
                  <a:srgbClr val="17342C"/>
                </a:solidFill>
                <a:latin typeface="Arial"/>
                <a:ea typeface="Arial"/>
                <a:cs typeface="Arial"/>
              </a:rPr>
              <a:t>VIEW AT SIZE</a:t>
            </a:r>
          </a:p>
        </p:txBody>
      </p:sp>
      <p:sp>
        <p:nvSpPr>
          <p:cNvPr id="15" name="">
            <a:extLst xmlns:a="http://schemas.openxmlformats.org/drawingml/2006/main">
              <a:ext uri="{FF2B5EF4-FFF2-40B4-BE49-F238E27FC236}">
                <a16:creationId xmlns:a16="http://schemas.microsoft.com/office/drawing/2014/main" id="{BEB52B95-50AD-4D84-B059-90EFAE31425D}"/>
              </a:ext>
            </a:extLst>
          </p:cNvPr>
          <p:cNvSpPr>
            <a:spLocks xmlns:a="http://schemas.openxmlformats.org/drawingml/2006/main" noGrp="1"/>
          </p:cNvSpPr>
          <p:nvPr/>
        </p:nvSpPr>
        <p:spPr>
          <a:xfrm xmlns:a="http://schemas.openxmlformats.org/drawingml/2006/main">
            <a:off x="10096500" y="1724025"/>
            <a:ext cx="1257300" cy="428625"/>
          </a:xfrm>
          <a:prstGeom xmlns:a="http://schemas.openxmlformats.org/drawingml/2006/main" prst="roundRect">
            <a:avLst>
              <a:gd name="adj" fmla="val 17778"/>
            </a:avLst>
          </a:prstGeom>
          <a:solidFill xmlns:a="http://schemas.openxmlformats.org/drawingml/2006/main">
            <a:srgbClr val="E8674B"/>
          </a:solidFill>
          <a:ln xmlns:a="http://schemas.openxmlformats.org/drawingml/2006/main" w="0">
            <a:noFill/>
            <a:prstDash val="solid"/>
          </a:ln>
        </p:spPr>
        <p:txBody>
          <a:bodyPr xmlns:a="http://schemas.openxmlformats.org/drawingml/2006/main" lIns="47625" tIns="38100" rIns="47625" bIns="38100" anchor="ctr">
            <a:normAutofit fontScale="79200"/>
          </a:bodyPr>
          <a:lstStyle xmlns:a="http://schemas.openxmlformats.org/drawingml/2006/main"/>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CHECK CONTRAST</a:t>
            </a:r>
          </a:p>
        </p:txBody>
      </p:sp>
      <p:sp>
        <p:nvSpPr>
          <p:cNvPr id="16" name="">
            <a:extLst xmlns:a="http://schemas.openxmlformats.org/drawingml/2006/main">
              <a:ext uri="{FF2B5EF4-FFF2-40B4-BE49-F238E27FC236}">
                <a16:creationId xmlns:a16="http://schemas.microsoft.com/office/drawing/2014/main" id="{33D2602B-5010-436E-839B-6D3E4703912F}"/>
              </a:ext>
            </a:extLst>
          </p:cNvPr>
          <p:cNvSpPr>
            <a:spLocks xmlns:a="http://schemas.openxmlformats.org/drawingml/2006/main" noGrp="1"/>
          </p:cNvSpPr>
          <p:nvPr/>
        </p:nvSpPr>
        <p:spPr>
          <a:xfrm xmlns:a="http://schemas.openxmlformats.org/drawingml/2006/main">
            <a:off x="7781925" y="2362200"/>
            <a:ext cx="3143250" cy="1771650"/>
          </a:xfrm>
          <a:prstGeom xmlns:a="http://schemas.openxmlformats.org/drawingml/2006/main" prst="roundRect">
            <a:avLst>
              <a:gd name="adj" fmla="val 6452"/>
            </a:avLst>
          </a:prstGeom>
          <a:solidFill xmlns:a="http://schemas.openxmlformats.org/drawingml/2006/main">
            <a:srgbClr val="0C5554"/>
          </a:solidFill>
          <a:ln xmlns:a="http://schemas.openxmlformats.org/drawingml/2006/main" w="9525">
            <a:solidFill>
              <a:srgbClr val="CFD8D2"/>
            </a:solidFill>
            <a:prstDash val="solid"/>
          </a:ln>
        </p:spPr>
      </p:sp>
      <p:pic>
        <p:nvPicPr>
          <p:cNvPr id="40" name="Drive video poster — Creating a Staff Uniform in Canva Demo.mp4" title="Drive video poster — Creating a Staff Uniform in Canva Demo.mp4" descr="Custom privacy-safe poster for Creating a Staff Uniform in Canva Demo.mp4, duration 1:54. Ctrl+click the poster to open the authorised Drive video.">
            <a:hlinkClick xmlns:a="http://schemas.openxmlformats.org/drawingml/2006/main" xmlns:r="http://schemas.openxmlformats.org/officeDocument/2006/relationships" r:id="RStage07Hyperlink4_1"/>
          </p:cNvPr>
          <p:cNvPicPr>
            <a:picLocks xmlns:a="http://schemas.openxmlformats.org/drawingml/2006/main" noChangeAspect="1"/>
          </p:cNvPicPr>
          <p:nvPr/>
        </p:nvPicPr>
        <p:blipFill>
          <a:blip xmlns:r="http://schemas.openxmlformats.org/officeDocument/2006/relationships" xmlns:a="http://schemas.openxmlformats.org/drawingml/2006/main" r:embed="Ra58fe707d70348a2"/>
          <a:stretch xmlns:a="http://schemas.openxmlformats.org/drawingml/2006/main"/>
        </p:blipFill>
        <p:spPr>
          <a:xfrm xmlns:a="http://schemas.openxmlformats.org/drawingml/2006/main">
            <a:off x="7781925" y="2363549"/>
            <a:ext cx="3143250" cy="1768951"/>
          </a:xfrm>
          <a:prstGeom xmlns:a="http://schemas.openxmlformats.org/drawingml/2006/main" prst="roundRect">
            <a:avLst>
              <a:gd name="adj" fmla="val 6452"/>
            </a:avLst>
          </a:prstGeom>
        </p:spPr>
      </p:pic>
      <p:sp>
        <p:nvSpPr>
          <p:cNvPr id="18" name="">
            <a:extLst xmlns:a="http://schemas.openxmlformats.org/drawingml/2006/main">
              <a:ext uri="{FF2B5EF4-FFF2-40B4-BE49-F238E27FC236}">
                <a16:creationId xmlns:a16="http://schemas.microsoft.com/office/drawing/2014/main" id="{5920873E-71FB-4579-B96B-76B71CE63B18}"/>
              </a:ext>
            </a:extLst>
          </p:cNvPr>
          <p:cNvSpPr>
            <a:spLocks xmlns:a="http://schemas.openxmlformats.org/drawingml/2006/main" noGrp="1"/>
          </p:cNvSpPr>
          <p:nvPr/>
        </p:nvSpPr>
        <p:spPr>
          <a:xfrm xmlns:a="http://schemas.openxmlformats.org/drawingml/2006/main">
            <a:off x="7200900" y="4210050"/>
            <a:ext cx="4305300" cy="285750"/>
          </a:xfrm>
          <a:prstGeom xmlns:a="http://schemas.openxmlformats.org/drawingml/2006/main" prst="roundRect">
            <a:avLst>
              <a:gd name="adj" fmla="val 26667"/>
            </a:avLst>
          </a:prstGeom>
          <a:solidFill xmlns:a="http://schemas.openxmlformats.org/drawingml/2006/main">
            <a:srgbClr val="FCF4D8"/>
          </a:solidFill>
          <a:ln xmlns:a="http://schemas.openxmlformats.org/drawingml/2006/main" w="0">
            <a:noFill/>
            <a:prstDash val="solid"/>
          </a:ln>
        </p:spPr>
        <p:txBody>
          <a:bodyPr xmlns:a="http://schemas.openxmlformats.org/drawingml/2006/main" lIns="66675" tIns="38100" rIns="66675" bIns="38100" anchor="ctr">
            <a:normAutofit fontScale="96187"/>
          </a:bodyPr>
          <a:lstStyle xmlns:a="http://schemas.openxmlformats.org/drawingml/2006/main"/>
          <a:p xmlns:a="http://schemas.openxmlformats.org/drawingml/2006/main">
            <a:pPr algn="ctr">
              <a:defRPr sz="1125" b="1">
                <a:solidFill>
                  <a:srgbClr val="0C5554"/>
                </a:solidFill>
                <a:latin typeface="Arial"/>
                <a:ea typeface="Arial"/>
                <a:cs typeface="Arial"/>
              </a:defRPr>
            </a:pPr>
            <a:r>
              <a:rPr sz="1125" b="1">
                <a:solidFill>
                  <a:srgbClr val="0C5554"/>
                </a:solidFill>
                <a:latin typeface="Arial"/>
                <a:ea typeface="Arial"/>
                <a:cs typeface="Arial"/>
              </a:rPr>
              <a:t>TEACHER: CTRL+CLICK POSTER TO OPEN DRIVE  •  1:54</a:t>
            </a:r>
          </a:p>
        </p:txBody>
      </p:sp>
      <p:sp>
        <p:nvSpPr>
          <p:cNvPr id="19" name="">
            <a:extLst xmlns:a="http://schemas.openxmlformats.org/drawingml/2006/main">
              <a:ext uri="{FF2B5EF4-FFF2-40B4-BE49-F238E27FC236}">
                <a16:creationId xmlns:a16="http://schemas.microsoft.com/office/drawing/2014/main" id="{70B6B05C-E6A5-4E5A-8865-D5C17ED177A7}"/>
              </a:ext>
            </a:extLst>
          </p:cNvPr>
          <p:cNvSpPr>
            <a:spLocks xmlns:a="http://schemas.openxmlformats.org/drawingml/2006/main" noGrp="1"/>
          </p:cNvSpPr>
          <p:nvPr/>
        </p:nvSpPr>
        <p:spPr>
          <a:xfrm xmlns:a="http://schemas.openxmlformats.org/drawingml/2006/main">
            <a:off x="7200900" y="4572000"/>
            <a:ext cx="430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7342C"/>
                </a:solidFill>
                <a:latin typeface="Arial"/>
                <a:ea typeface="Arial"/>
                <a:cs typeface="Arial"/>
              </a:defRPr>
            </a:pPr>
            <a:r>
              <a:rPr sz="1200" b="1">
                <a:solidFill>
                  <a:srgbClr val="17342C"/>
                </a:solidFill>
                <a:latin typeface="Arial"/>
                <a:ea typeface="Arial"/>
                <a:cs typeface="Arial"/>
              </a:rPr>
              <a:t>WATCH FOR: Where is the identity placed, and what would you check for visibility, contrast and practical suitability?</a:t>
            </a:r>
          </a:p>
        </p:txBody>
      </p:sp>
      <p:sp>
        <p:nvSpPr>
          <p:cNvPr id="20" name="">
            <a:extLst xmlns:a="http://schemas.openxmlformats.org/drawingml/2006/main">
              <a:ext uri="{FF2B5EF4-FFF2-40B4-BE49-F238E27FC236}">
                <a16:creationId xmlns:a16="http://schemas.microsoft.com/office/drawing/2014/main" id="{AFE770AE-1936-4324-A549-F27AA25013C7}"/>
              </a:ext>
            </a:extLst>
          </p:cNvPr>
          <p:cNvSpPr>
            <a:spLocks xmlns:a="http://schemas.openxmlformats.org/drawingml/2006/main" noGrp="1"/>
          </p:cNvSpPr>
          <p:nvPr/>
        </p:nvSpPr>
        <p:spPr>
          <a:xfrm xmlns:a="http://schemas.openxmlformats.org/drawingml/2006/main">
            <a:off x="7200900" y="510540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1" name="">
            <a:extLst xmlns:a="http://schemas.openxmlformats.org/drawingml/2006/main">
              <a:ext uri="{FF2B5EF4-FFF2-40B4-BE49-F238E27FC236}">
                <a16:creationId xmlns:a16="http://schemas.microsoft.com/office/drawing/2014/main" id="{440BB6CB-EC44-4FCD-87C4-F339CF5448FA}"/>
              </a:ext>
            </a:extLst>
          </p:cNvPr>
          <p:cNvSpPr>
            <a:spLocks xmlns:a="http://schemas.openxmlformats.org/drawingml/2006/main" noGrp="1"/>
          </p:cNvSpPr>
          <p:nvPr/>
        </p:nvSpPr>
        <p:spPr>
          <a:xfrm xmlns:a="http://schemas.openxmlformats.org/drawingml/2006/main">
            <a:off x="7200900" y="5314950"/>
            <a:ext cx="4305300" cy="876300"/>
          </a:xfrm>
          <a:prstGeom xmlns:a="http://schemas.openxmlformats.org/drawingml/2006/main" prst="roundRect">
            <a:avLst>
              <a:gd name="adj" fmla="val 8696"/>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does the source confirm about the uniform task?</a:t>
            </a:r>
          </a:p>
        </p:txBody>
      </p:sp>
      <p:sp>
        <p:nvSpPr>
          <p:cNvPr id="22" name="">
            <a:extLst xmlns:a="http://schemas.openxmlformats.org/drawingml/2006/main">
              <a:ext uri="{FF2B5EF4-FFF2-40B4-BE49-F238E27FC236}">
                <a16:creationId xmlns:a16="http://schemas.microsoft.com/office/drawing/2014/main" id="{63B4718A-095C-416D-B20B-F4548F8D55DF}"/>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06  •  BRAND APPLICATIONS</a:t>
            </a:r>
          </a:p>
        </p:txBody>
      </p:sp>
      <p:sp>
        <p:nvSpPr>
          <p:cNvPr id="23" name="">
            <a:extLst xmlns:a="http://schemas.openxmlformats.org/drawingml/2006/main">
              <a:ext uri="{FF2B5EF4-FFF2-40B4-BE49-F238E27FC236}">
                <a16:creationId xmlns:a16="http://schemas.microsoft.com/office/drawing/2014/main" id="{FE4A8B08-BD17-447A-859C-2DFF315CA012}"/>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1773014644"/>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3EAB574-2B29-4F4F-9E37-93B6C8BDB2F1}"/>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81C8CFB-AC49-4319-B836-D5E7066E750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6.3  CHECKING SUITABILITY AND ACCESSIBILITY</a:t>
            </a:r>
          </a:p>
        </p:txBody>
      </p:sp>
      <p:sp>
        <p:nvSpPr>
          <p:cNvPr id="3" name="">
            <a:extLst xmlns:a="http://schemas.openxmlformats.org/drawingml/2006/main">
              <a:ext uri="{FF2B5EF4-FFF2-40B4-BE49-F238E27FC236}">
                <a16:creationId xmlns:a16="http://schemas.microsoft.com/office/drawing/2014/main" id="{D7A54B37-529E-4E81-AC50-38DB81D35595}"/>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Checking suitability and accessibility</a:t>
            </a:r>
          </a:p>
        </p:txBody>
      </p:sp>
      <p:sp>
        <p:nvSpPr>
          <p:cNvPr id="4" name="">
            <a:extLst xmlns:a="http://schemas.openxmlformats.org/drawingml/2006/main">
              <a:ext uri="{FF2B5EF4-FFF2-40B4-BE49-F238E27FC236}">
                <a16:creationId xmlns:a16="http://schemas.microsoft.com/office/drawing/2014/main" id="{33FC455D-F53C-4B3E-A1D7-CF3C6899157C}"/>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B49F215E-7161-42CD-B32E-2196D9262DAE}"/>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571D85-E081-4157-9292-528D8C8B091F}"/>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Suitability joins audience, purpose and context.</a:t>
            </a:r>
          </a:p>
        </p:txBody>
      </p:sp>
      <p:sp>
        <p:nvSpPr>
          <p:cNvPr id="7" name="">
            <a:extLst xmlns:a="http://schemas.openxmlformats.org/drawingml/2006/main">
              <a:ext uri="{FF2B5EF4-FFF2-40B4-BE49-F238E27FC236}">
                <a16:creationId xmlns:a16="http://schemas.microsoft.com/office/drawing/2014/main" id="{C319FF8C-C5F2-47F8-96CD-133F72CD1559}"/>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BB823A9-0A72-4842-8842-F6CCFE62D885}"/>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Accessibility includes contrast, text, shape and non-colour cues.</a:t>
            </a:r>
          </a:p>
        </p:txBody>
      </p:sp>
      <p:sp>
        <p:nvSpPr>
          <p:cNvPr id="9" name="">
            <a:extLst xmlns:a="http://schemas.openxmlformats.org/drawingml/2006/main">
              <a:ext uri="{FF2B5EF4-FFF2-40B4-BE49-F238E27FC236}">
                <a16:creationId xmlns:a16="http://schemas.microsoft.com/office/drawing/2014/main" id="{C0F54300-8875-4E6A-B41D-67D562DFAA0E}"/>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910326C-B536-4373-B4B2-2F41BD21C337}"/>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Small tests provide evidence but do not prove universal success.</a:t>
            </a:r>
          </a:p>
        </p:txBody>
      </p:sp>
      <p:sp>
        <p:nvSpPr>
          <p:cNvPr id="11" name="">
            <a:extLst xmlns:a="http://schemas.openxmlformats.org/drawingml/2006/main">
              <a:ext uri="{FF2B5EF4-FFF2-40B4-BE49-F238E27FC236}">
                <a16:creationId xmlns:a16="http://schemas.microsoft.com/office/drawing/2014/main" id="{40D03853-2699-4807-845D-000E766D5166}"/>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D863A0AB-E0AD-4B0B-9603-1A5F74663CEB}"/>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TEST MORE THAN COLOUR</a:t>
            </a:r>
          </a:p>
        </p:txBody>
      </p:sp>
      <p:sp>
        <p:nvSpPr>
          <p:cNvPr id="13" name="">
            <a:extLst xmlns:a="http://schemas.openxmlformats.org/drawingml/2006/main">
              <a:ext uri="{FF2B5EF4-FFF2-40B4-BE49-F238E27FC236}">
                <a16:creationId xmlns:a16="http://schemas.microsoft.com/office/drawing/2014/main" id="{7ABBB430-ED5B-4832-982F-6FE6B54960AF}"/>
              </a:ext>
            </a:extLst>
          </p:cNvPr>
          <p:cNvSpPr>
            <a:spLocks xmlns:a="http://schemas.openxmlformats.org/drawingml/2006/main" noGrp="1"/>
          </p:cNvSpPr>
          <p:nvPr/>
        </p:nvSpPr>
        <p:spPr>
          <a:xfrm xmlns:a="http://schemas.openxmlformats.org/drawingml/2006/main">
            <a:off x="7696200" y="2009775"/>
            <a:ext cx="3314700" cy="571500"/>
          </a:xfrm>
          <a:prstGeom xmlns:a="http://schemas.openxmlformats.org/drawingml/2006/main" prst="roundRect">
            <a:avLst>
              <a:gd name="adj" fmla="val 13333"/>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VIEW AT SIZE</a:t>
            </a:r>
          </a:p>
        </p:txBody>
      </p:sp>
      <p:sp>
        <p:nvSpPr>
          <p:cNvPr id="14" name="">
            <a:extLst xmlns:a="http://schemas.openxmlformats.org/drawingml/2006/main">
              <a:ext uri="{FF2B5EF4-FFF2-40B4-BE49-F238E27FC236}">
                <a16:creationId xmlns:a16="http://schemas.microsoft.com/office/drawing/2014/main" id="{2AD6B35C-326E-427A-9BB0-4B2C415C4454}"/>
              </a:ext>
            </a:extLst>
          </p:cNvPr>
          <p:cNvSpPr>
            <a:spLocks xmlns:a="http://schemas.openxmlformats.org/drawingml/2006/main" noGrp="1"/>
          </p:cNvSpPr>
          <p:nvPr/>
        </p:nvSpPr>
        <p:spPr>
          <a:xfrm xmlns:a="http://schemas.openxmlformats.org/drawingml/2006/main">
            <a:off x="9182100" y="258127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F588D844-9DC7-4070-8009-79686ABF3723}"/>
              </a:ext>
            </a:extLst>
          </p:cNvPr>
          <p:cNvSpPr>
            <a:spLocks xmlns:a="http://schemas.openxmlformats.org/drawingml/2006/main" noGrp="1"/>
          </p:cNvSpPr>
          <p:nvPr/>
        </p:nvSpPr>
        <p:spPr>
          <a:xfrm xmlns:a="http://schemas.openxmlformats.org/drawingml/2006/main">
            <a:off x="7696200" y="2752725"/>
            <a:ext cx="3314700" cy="571500"/>
          </a:xfrm>
          <a:prstGeom xmlns:a="http://schemas.openxmlformats.org/drawingml/2006/main" prst="roundRect">
            <a:avLst>
              <a:gd name="adj" fmla="val 13333"/>
            </a:avLst>
          </a:prstGeom>
          <a:solidFill xmlns:a="http://schemas.openxmlformats.org/drawingml/2006/main">
            <a:srgbClr val="E8674B"/>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CHECK CONTRAST</a:t>
            </a:r>
          </a:p>
        </p:txBody>
      </p:sp>
      <p:sp>
        <p:nvSpPr>
          <p:cNvPr id="16" name="">
            <a:extLst xmlns:a="http://schemas.openxmlformats.org/drawingml/2006/main">
              <a:ext uri="{FF2B5EF4-FFF2-40B4-BE49-F238E27FC236}">
                <a16:creationId xmlns:a16="http://schemas.microsoft.com/office/drawing/2014/main" id="{15E2AC4D-1AC3-400A-92FC-D38CAA81DF72}"/>
              </a:ext>
            </a:extLst>
          </p:cNvPr>
          <p:cNvSpPr>
            <a:spLocks xmlns:a="http://schemas.openxmlformats.org/drawingml/2006/main" noGrp="1"/>
          </p:cNvSpPr>
          <p:nvPr/>
        </p:nvSpPr>
        <p:spPr>
          <a:xfrm xmlns:a="http://schemas.openxmlformats.org/drawingml/2006/main">
            <a:off x="9182100" y="332422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D22C05A2-0238-43BE-A2EC-9AFFC671448C}"/>
              </a:ext>
            </a:extLst>
          </p:cNvPr>
          <p:cNvSpPr>
            <a:spLocks xmlns:a="http://schemas.openxmlformats.org/drawingml/2006/main" noGrp="1"/>
          </p:cNvSpPr>
          <p:nvPr/>
        </p:nvSpPr>
        <p:spPr>
          <a:xfrm xmlns:a="http://schemas.openxmlformats.org/drawingml/2006/main">
            <a:off x="7696200" y="3495675"/>
            <a:ext cx="3314700" cy="571500"/>
          </a:xfrm>
          <a:prstGeom xmlns:a="http://schemas.openxmlformats.org/drawingml/2006/main" prst="roundRect">
            <a:avLst>
              <a:gd name="adj" fmla="val 13333"/>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ADD LABEL OR SHAPE</a:t>
            </a:r>
          </a:p>
        </p:txBody>
      </p:sp>
      <p:sp>
        <p:nvSpPr>
          <p:cNvPr id="18" name="">
            <a:extLst xmlns:a="http://schemas.openxmlformats.org/drawingml/2006/main">
              <a:ext uri="{FF2B5EF4-FFF2-40B4-BE49-F238E27FC236}">
                <a16:creationId xmlns:a16="http://schemas.microsoft.com/office/drawing/2014/main" id="{022870B7-CE61-4084-91E6-F1D04C0168AC}"/>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79272"/>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Meaning should remain clear when colour alone is not enough.</a:t>
            </a:r>
          </a:p>
        </p:txBody>
      </p:sp>
      <p:sp>
        <p:nvSpPr>
          <p:cNvPr id="19" name="">
            <a:extLst xmlns:a="http://schemas.openxmlformats.org/drawingml/2006/main">
              <a:ext uri="{FF2B5EF4-FFF2-40B4-BE49-F238E27FC236}">
                <a16:creationId xmlns:a16="http://schemas.microsoft.com/office/drawing/2014/main" id="{0DA14A89-9FAF-41FB-BF86-28FE7AB86925}"/>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0" name="">
            <a:extLst xmlns:a="http://schemas.openxmlformats.org/drawingml/2006/main">
              <a:ext uri="{FF2B5EF4-FFF2-40B4-BE49-F238E27FC236}">
                <a16:creationId xmlns:a16="http://schemas.microsoft.com/office/drawing/2014/main" id="{189F7822-6A3F-48E6-AB1F-6D61B9E086E9}"/>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makes an application suitable?</a:t>
            </a:r>
          </a:p>
        </p:txBody>
      </p:sp>
      <p:sp>
        <p:nvSpPr>
          <p:cNvPr id="21" name="">
            <a:extLst xmlns:a="http://schemas.openxmlformats.org/drawingml/2006/main">
              <a:ext uri="{FF2B5EF4-FFF2-40B4-BE49-F238E27FC236}">
                <a16:creationId xmlns:a16="http://schemas.microsoft.com/office/drawing/2014/main" id="{B3FC4264-0D5C-4D70-AF04-B5D3901264E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06  •  BRAND APPLICATIONS</a:t>
            </a:r>
          </a:p>
        </p:txBody>
      </p:sp>
      <p:sp>
        <p:nvSpPr>
          <p:cNvPr id="22" name="">
            <a:extLst xmlns:a="http://schemas.openxmlformats.org/drawingml/2006/main">
              <a:ext uri="{FF2B5EF4-FFF2-40B4-BE49-F238E27FC236}">
                <a16:creationId xmlns:a16="http://schemas.microsoft.com/office/drawing/2014/main" id="{B5B09317-040C-447F-AA10-171993CC1598}"/>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707668607"/>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25B9802-0F8D-4857-950C-474438B47345}"/>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5F9C72E-24E1-4B68-AC68-F38CC6603376}"/>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0BA8E220-ABA7-4EE6-986E-49250578C697}"/>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10711C95-6A17-4890-AF3D-0C93B5E997FE}"/>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5AFE768A-F0BB-4C06-8035-EF842DC3D25C}"/>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FD9061B9-EFCF-478A-9244-71A0CB16FCA9}"/>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1E826964-C590-4D43-99AE-EFCFF2EEF0B5}"/>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creates brand consistency?</a:t>
            </a:r>
          </a:p>
        </p:txBody>
      </p:sp>
      <p:sp>
        <p:nvSpPr>
          <p:cNvPr id="8" name="">
            <a:extLst xmlns:a="http://schemas.openxmlformats.org/drawingml/2006/main">
              <a:ext uri="{FF2B5EF4-FFF2-40B4-BE49-F238E27FC236}">
                <a16:creationId xmlns:a16="http://schemas.microsoft.com/office/drawing/2014/main" id="{9DC4D01A-0863-4A53-9230-EF5B99C701F7}"/>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9DF6FB59-C881-4172-90FC-C9196FC7F614}"/>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A39E20FD-2E4C-4FA8-9069-A45903783DA9}"/>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does the source confirm about the uniform task?</a:t>
            </a:r>
          </a:p>
        </p:txBody>
      </p:sp>
      <p:sp>
        <p:nvSpPr>
          <p:cNvPr id="11" name="">
            <a:extLst xmlns:a="http://schemas.openxmlformats.org/drawingml/2006/main">
              <a:ext uri="{FF2B5EF4-FFF2-40B4-BE49-F238E27FC236}">
                <a16:creationId xmlns:a16="http://schemas.microsoft.com/office/drawing/2014/main" id="{4C795A8B-B8E8-4A18-A3A3-37D81527E909}"/>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7CA4F57D-D98A-47C9-BD53-3790B80C2850}"/>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BBDD5C5F-2389-49B8-B132-ABA899CEF4B3}"/>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makes an application suitable?</a:t>
            </a:r>
          </a:p>
        </p:txBody>
      </p:sp>
      <p:sp>
        <p:nvSpPr>
          <p:cNvPr id="14" name="">
            <a:extLst xmlns:a="http://schemas.openxmlformats.org/drawingml/2006/main">
              <a:ext uri="{FF2B5EF4-FFF2-40B4-BE49-F238E27FC236}">
                <a16:creationId xmlns:a16="http://schemas.microsoft.com/office/drawing/2014/main" id="{DF5F27E6-313F-4815-A297-4CF57A9CD01E}"/>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06  •  BRAND APPLICATIONS</a:t>
            </a:r>
          </a:p>
        </p:txBody>
      </p:sp>
      <p:sp>
        <p:nvSpPr>
          <p:cNvPr id="15" name="">
            <a:extLst xmlns:a="http://schemas.openxmlformats.org/drawingml/2006/main">
              <a:ext uri="{FF2B5EF4-FFF2-40B4-BE49-F238E27FC236}">
                <a16:creationId xmlns:a16="http://schemas.microsoft.com/office/drawing/2014/main" id="{6F9ACF51-4D3C-4A0B-9FCF-CEB674294FA6}"/>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972928875"/>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07B90EA7-8106-4F64-A316-A28F3F52F63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D9ABDB7E-ADE7-4AA3-AC7D-786894A642F0}"/>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5FFB9FA4-F599-49F4-AB61-E68C25F4D981}"/>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942E4965-41EE-48F7-84BB-DD74414575D0}"/>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DF7A44-547A-4826-A4AF-868B9507E1F4}"/>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AD9A4A69-8384-4E13-8152-B7E784265225}"/>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Compare two uniform concepts and justify identity, placement, scale, contrast and one accessibility revision without claiming manufacture.</a:t>
            </a:r>
          </a:p>
        </p:txBody>
      </p:sp>
      <p:sp>
        <p:nvSpPr>
          <p:cNvPr id="7" name="">
            <a:extLst xmlns:a="http://schemas.openxmlformats.org/drawingml/2006/main">
              <a:ext uri="{FF2B5EF4-FFF2-40B4-BE49-F238E27FC236}">
                <a16:creationId xmlns:a16="http://schemas.microsoft.com/office/drawing/2014/main" id="{3C9D8FDD-0181-4B22-85ED-5D924ACBDBC8}"/>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BB0EA28D-6F63-4813-88F7-115CA064268F}"/>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8CCAA5D-74BC-4548-839B-AAC6112A0DB3}"/>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Repeat the recognisable core</a:t>
            </a:r>
          </a:p>
        </p:txBody>
      </p:sp>
      <p:sp>
        <p:nvSpPr>
          <p:cNvPr id="10" name="">
            <a:extLst xmlns:a="http://schemas.openxmlformats.org/drawingml/2006/main">
              <a:ext uri="{FF2B5EF4-FFF2-40B4-BE49-F238E27FC236}">
                <a16:creationId xmlns:a16="http://schemas.microsoft.com/office/drawing/2014/main" id="{442758C4-77DB-437F-A559-6146814CB78B}"/>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B970A0F-0C98-4674-9105-66AFFE5FE185}"/>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Adapt placement to context</a:t>
            </a:r>
          </a:p>
        </p:txBody>
      </p:sp>
      <p:sp>
        <p:nvSpPr>
          <p:cNvPr id="12" name="">
            <a:extLst xmlns:a="http://schemas.openxmlformats.org/drawingml/2006/main">
              <a:ext uri="{FF2B5EF4-FFF2-40B4-BE49-F238E27FC236}">
                <a16:creationId xmlns:a16="http://schemas.microsoft.com/office/drawing/2014/main" id="{3DA5B34B-631C-4125-A205-97E9C64CA783}"/>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AA0B3F3-5628-4E60-BB92-66EB0AAE1E5B}"/>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Report test limits honestly</a:t>
            </a:r>
          </a:p>
        </p:txBody>
      </p:sp>
      <p:sp>
        <p:nvSpPr>
          <p:cNvPr id="14" name="">
            <a:extLst xmlns:a="http://schemas.openxmlformats.org/drawingml/2006/main">
              <a:ext uri="{FF2B5EF4-FFF2-40B4-BE49-F238E27FC236}">
                <a16:creationId xmlns:a16="http://schemas.microsoft.com/office/drawing/2014/main" id="{22DF92C9-17FE-4C55-9062-01205095D123}"/>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73ACDE7-A80F-44FD-90F8-C001391804AA}"/>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88E1449B-F4D8-432A-B329-8E3BF29D5ED3}"/>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C813BDB1-3616-4681-88E1-E2F1A5ECBC4F}"/>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8CD5692-845E-4667-9999-1ADC06B42FDC}"/>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0887A752-0672-44BC-8139-C19903F563BD}"/>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6BB4AD14-57EC-46CA-97E1-0864851CD6D3}"/>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09CB56D-8DC7-4EC1-BC73-2F1FCD6A801F}"/>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E0F0EEE1-F265-4145-B78D-72E319353B3C}"/>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3018C2D8-FFA9-4944-A2D5-9BA04185F9D4}"/>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The identity stays recognisable because… I will revise… after testing…</a:t>
            </a:r>
          </a:p>
        </p:txBody>
      </p:sp>
      <p:sp>
        <p:nvSpPr>
          <p:cNvPr id="24" name="">
            <a:extLst xmlns:a="http://schemas.openxmlformats.org/drawingml/2006/main">
              <a:ext uri="{FF2B5EF4-FFF2-40B4-BE49-F238E27FC236}">
                <a16:creationId xmlns:a16="http://schemas.microsoft.com/office/drawing/2014/main" id="{81A6A08A-360A-4B0F-911F-DD7F71F8438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06  •  BRAND APPLICATIONS</a:t>
            </a:r>
          </a:p>
        </p:txBody>
      </p:sp>
      <p:sp>
        <p:nvSpPr>
          <p:cNvPr id="25" name="">
            <a:extLst xmlns:a="http://schemas.openxmlformats.org/drawingml/2006/main">
              <a:ext uri="{FF2B5EF4-FFF2-40B4-BE49-F238E27FC236}">
                <a16:creationId xmlns:a16="http://schemas.microsoft.com/office/drawing/2014/main" id="{6AC9EC40-819A-42B7-AF7F-EF33F6FC7EAF}"/>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2119149378"/>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3CC755-D879-4CCF-BEEE-AF3577304FBD}"/>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389BE30-15B6-4A21-BADA-22A5D5F38152}"/>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AB475B30-0384-4C85-983D-FF968BE27356}"/>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D39A1004-DDFD-4018-84C1-1CDFE5FFE693}"/>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B2141203-B821-48B7-B5EE-C832B5E89A4A}"/>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EE1C2606-DF49-4FFD-8E39-98E5EA9CA4ED}"/>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10FB264-6A91-406D-AC6A-0591B920D3F1}"/>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B4CD8CCA-B38F-4AB7-A23F-4BCDE591AE15}"/>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17F63A85-9197-42F1-9535-B1EE56491D81}"/>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06  •  BRAND APPLICATIONS</a:t>
            </a:r>
          </a:p>
        </p:txBody>
      </p:sp>
      <p:sp>
        <p:nvSpPr>
          <p:cNvPr id="10" name="">
            <a:extLst xmlns:a="http://schemas.openxmlformats.org/drawingml/2006/main">
              <a:ext uri="{FF2B5EF4-FFF2-40B4-BE49-F238E27FC236}">
                <a16:creationId xmlns:a16="http://schemas.microsoft.com/office/drawing/2014/main" id="{AE4BF740-D073-4AD5-9471-42A2CEFE9DA6}"/>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19999720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2026-08-24T00:54:03.5760000Z</dcterms:created>
  <dcterms:modified xsi:type="dcterms:W3CDTF">2026-08-24T00:54:03.5760000Z</dcterms:modified>
</coreProperties>
</file>