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5c34de9c5654770" /><Relationship Type="http://schemas.openxmlformats.org/officeDocument/2006/relationships/extended-properties" Target="/docProps/app.xml" Id="R725a997e818a4ea4" /><Relationship Type="http://schemas.openxmlformats.org/officeDocument/2006/relationships/officeDocument" Target="/ppt/presentation.xml" Id="R8ac5a97f921c4ec8" /></Relationships>
</file>

<file path=ppt/presentation.xml><?xml version="1.0" encoding="utf-8"?>
<p:presentation xmlns:p="http://schemas.openxmlformats.org/presentationml/2006/main">
  <p:sldMasterIdLst>
    <p:sldMasterId xmlns:r="http://schemas.openxmlformats.org/officeDocument/2006/relationships" id="2147483648" r:id="R8cfe724ed837476c"/>
  </p:sldMasterIdLst>
  <p:notesMasterIdLst>
    <p:notesMasterId xmlns:r="http://schemas.openxmlformats.org/officeDocument/2006/relationships" r:id="R65707ce16ead4658"/>
  </p:notesMasterIdLst>
  <p:sldIdLst>
    <p:sldId xmlns:r="http://schemas.openxmlformats.org/officeDocument/2006/relationships" id="256" r:id="R54c93944fb5d43f4"/>
    <p:sldId xmlns:r="http://schemas.openxmlformats.org/officeDocument/2006/relationships" id="257" r:id="Rf0b22ed2378746f7"/>
    <p:sldId xmlns:r="http://schemas.openxmlformats.org/officeDocument/2006/relationships" id="258" r:id="Rf0ba11ea92d94e1d"/>
    <p:sldId xmlns:r="http://schemas.openxmlformats.org/officeDocument/2006/relationships" id="259" r:id="R7e5a06dfe1204014"/>
    <p:sldId xmlns:r="http://schemas.openxmlformats.org/officeDocument/2006/relationships" id="260" r:id="R01a23673cd5d4e22"/>
    <p:sldId xmlns:r="http://schemas.openxmlformats.org/officeDocument/2006/relationships" id="261" r:id="R83a8767d3b524f00"/>
    <p:sldId xmlns:r="http://schemas.openxmlformats.org/officeDocument/2006/relationships" id="262" r:id="Re3febd22c97b4bb8"/>
    <p:sldId xmlns:r="http://schemas.openxmlformats.org/officeDocument/2006/relationships" id="263" r:id="Re1671541690b4b0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1aa6c4033f4792" /><Relationship Type="http://schemas.openxmlformats.org/officeDocument/2006/relationships/slideMaster" Target="/ppt/slideMasters/slideMaster1.xml" Id="R8cfe724ed837476c" /><Relationship Type="http://schemas.openxmlformats.org/officeDocument/2006/relationships/notesMaster" Target="/ppt/notesMasters/notesMaster1.xml" Id="R65707ce16ead4658" /><Relationship Type="http://schemas.openxmlformats.org/officeDocument/2006/relationships/presProps" Target="/ppt/presProps.xml" Id="Rd9d6c811e135469b" /><Relationship Type="http://schemas.openxmlformats.org/officeDocument/2006/relationships/tableStyles" Target="/ppt/tableStyles.xml" Id="Rca8add8d92804afe" /><Relationship Type="http://schemas.openxmlformats.org/officeDocument/2006/relationships/slide" Target="/ppt/slides/slide1.xml" Id="R54c93944fb5d43f4" /><Relationship Type="http://schemas.openxmlformats.org/officeDocument/2006/relationships/slide" Target="/ppt/slides/slide2.xml" Id="Rf0b22ed2378746f7" /><Relationship Type="http://schemas.openxmlformats.org/officeDocument/2006/relationships/slide" Target="/ppt/slides/slide3.xml" Id="Rf0ba11ea92d94e1d" /><Relationship Type="http://schemas.openxmlformats.org/officeDocument/2006/relationships/slide" Target="/ppt/slides/slide4.xml" Id="R7e5a06dfe1204014" /><Relationship Type="http://schemas.openxmlformats.org/officeDocument/2006/relationships/slide" Target="/ppt/slides/slide5.xml" Id="R01a23673cd5d4e22" /><Relationship Type="http://schemas.openxmlformats.org/officeDocument/2006/relationships/slide" Target="/ppt/slides/slide6.xml" Id="R83a8767d3b524f00" /><Relationship Type="http://schemas.openxmlformats.org/officeDocument/2006/relationships/slide" Target="/ppt/slides/slide7.xml" Id="Re3febd22c97b4bb8" /><Relationship Type="http://schemas.openxmlformats.org/officeDocument/2006/relationships/slide" Target="/ppt/slides/slide8.xml" Id="Re1671541690b4b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5170a35c7c45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e560ad7c824c33" /><Relationship Type="http://schemas.openxmlformats.org/officeDocument/2006/relationships/notesMaster" Target="/ppt/notesMasters/notesMaster1.xml" Id="R33759855a3794a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32b8f8be704426" /><Relationship Type="http://schemas.openxmlformats.org/officeDocument/2006/relationships/notesMaster" Target="/ppt/notesMasters/notesMaster1.xml" Id="Rccc2f176045643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807b78b4dc4b58" /><Relationship Type="http://schemas.openxmlformats.org/officeDocument/2006/relationships/notesMaster" Target="/ppt/notesMasters/notesMaster1.xml" Id="Raa680f3c9e2e48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aa27ba0df84e40" /><Relationship Type="http://schemas.openxmlformats.org/officeDocument/2006/relationships/notesMaster" Target="/ppt/notesMasters/notesMaster1.xml" Id="R9b9c85b6bd5947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7e9d9a408346ea" /><Relationship Type="http://schemas.openxmlformats.org/officeDocument/2006/relationships/notesMaster" Target="/ppt/notesMasters/notesMaster1.xml" Id="R24dd0e7f36cf4ba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4fe888515f44e97" /><Relationship Type="http://schemas.openxmlformats.org/officeDocument/2006/relationships/notesMaster" Target="/ppt/notesMasters/notesMaster1.xml" Id="R477d08938b96431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2e9caabe1d46f6" /><Relationship Type="http://schemas.openxmlformats.org/officeDocument/2006/relationships/notesMaster" Target="/ppt/notesMasters/notesMaster1.xml" Id="R5d231c1022d946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2b9c30d33a4873" /><Relationship Type="http://schemas.openxmlformats.org/officeDocument/2006/relationships/notesMaster" Target="/ppt/notesMasters/notesMaster1.xml" Id="R10b5a35d501740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Introduce the module as one connected learning package, not a list of software clicks.</a:t>
            </a:r>
          </a:p>
          <a:p xmlns:a="http://schemas.openxmlformats.org/drawingml/2006/main">
            <a:r>
              <a:t>State the outcome: Apply a consistent identity to a staff uniform.</a:t>
            </a:r>
          </a:p>
          <a:p xmlns:a="http://schemas.openxmlformats.org/drawingml/2006/main">
            <a:r>
              <a:t>Prompt: Which features should stay stable across a poster, cup and uniform?</a:t>
            </a:r>
          </a:p>
          <a:p xmlns:a="http://schemas.openxmlformats.org/drawingml/2006/main">
            <a:r>
              <a:t>Listen for a purposeful link to audience, evidence or communication.</a:t>
            </a:r>
          </a:p>
          <a:p xmlns:a="http://schemas.openxmlformats.org/drawingml/2006/main">
            <a:r>
              <a:t>Transition: Preview the three named sections on the next slide.</a:t>
            </a:r>
          </a:p>
          <a:p xmlns:a="http://schemas.openxmlformats.org/drawingml/2006/main">
            <a:r>
              <a:t/>
            </a:r>
          </a:p>
          <a:p xmlns:a="http://schemas.openxmlformats.org/drawingml/2006/main">
            <a:r>
              <a:t>[Sources]</a:t>
            </a:r>
          </a:p>
          <a:p xmlns:a="http://schemas.openxmlformats.org/drawingml/2006/main">
            <a:r>
              <a:t>- Course sequence: data/course-map.js, Module 6.</a:t>
            </a:r>
          </a:p>
          <a:p xmlns:a="http://schemas.openxmlformats.org/drawingml/2006/main">
            <a:r>
              <a:t>- Theory: data/course-content.js, m06-s01, m06-s02, m06-s03.</a:t>
            </a:r>
          </a:p>
          <a:p xmlns:a="http://schemas.openxmlformats.org/drawingml/2006/main">
            <a:r>
              <a:t>- Visual: assets/visuals/generated-brand-touchpoints.png.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Read the three section titles aloud and explain how each one prepares the next.</a:t>
            </a:r>
          </a:p>
          <a:p xmlns:a="http://schemas.openxmlformats.org/drawingml/2006/main">
            <a:r>
              <a:t>Warm-up: Which features should stay stable across a poster, cup and uniform?</a:t>
            </a:r>
          </a:p>
          <a:p xmlns:a="http://schemas.openxmlformats.org/drawingml/2006/main">
            <a:r>
              <a:t>Give silent thinking time before pair discussion.</a:t>
            </a:r>
          </a:p>
          <a:p xmlns:a="http://schemas.openxmlformats.org/drawingml/2006/main">
            <a:r>
              <a:t>Listen for: a reason, not only a preference.</a:t>
            </a:r>
          </a:p>
          <a:p xmlns:a="http://schemas.openxmlformats.org/drawingml/2006/main">
            <a:r>
              <a:t>Transition: Start with Consistent identity.</a:t>
            </a:r>
          </a:p>
          <a:p xmlns:a="http://schemas.openxmlformats.org/drawingml/2006/main">
            <a:r>
              <a:t/>
            </a:r>
          </a:p>
          <a:p xmlns:a="http://schemas.openxmlformats.org/drawingml/2006/main">
            <a:r>
              <a:t>[Sources]</a:t>
            </a:r>
          </a:p>
          <a:p xmlns:a="http://schemas.openxmlformats.org/drawingml/2006/main">
            <a:r>
              <a:t>- Theory sequence: data/course-content.js, m06-s01, m06-s02, m06-s03.</a:t>
            </a:r>
          </a:p>
          <a:p xmlns:a="http://schemas.openxmlformats.org/drawingml/2006/main">
            <a:r>
              <a:t>- Module summary: data/course-map.js, Module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Build a flexible visual system that stays recognisable across different brand applications.</a:t>
            </a:r>
          </a:p>
          <a:p xmlns:a="http://schemas.openxmlformats.org/drawingml/2006/main">
            <a:r>
              <a:t>Explain: A consistent identity repeats meaningful relationships: logo treatment, palette roles, type hierarchy, image style and tone. Consistency does not require every output to have the same layout. A menu and a uniform solve different problems, but the audience should still recognise the same brand. A short style guide records the stable rules and the variations allowed for different contexts.</a:t>
            </a:r>
          </a:p>
          <a:p xmlns:a="http://schemas.openxmlformats.org/drawingml/2006/main">
            <a:r>
              <a:t>Clarify: Rigid repetition can make a design unsuitable. A vertical poster logo may need a compact uniform version; a detailed image style may be inappropriate for a small embroidered area. Adaptation is controlled when the reason is visible and the core identity remains. Test applications side by side to find accidental changes in colour, spacing, type or tone.</a:t>
            </a:r>
          </a:p>
          <a:p xmlns:a="http://schemas.openxmlformats.org/drawingml/2006/main">
            <a:r>
              <a:t>Worked example: A student creates a table with logo version, colour role, type role and image treatment for the menu, poster, motion ad, uniform and site. The uniform uses a compact one-colour mark because the full slogan is unreadable. The site keeps the full palette and primary logo. The matrix shows why the difference is controlled. An accidental purple heading on one page is corrected because it has no defined system role.</a:t>
            </a:r>
          </a:p>
          <a:p xmlns:a="http://schemas.openxmlformats.org/drawingml/2006/main">
            <a:r>
              <a:t>Ask: What creates brand consistency?</a:t>
            </a:r>
          </a:p>
          <a:p xmlns:a="http://schemas.openxmlformats.org/drawingml/2006/main">
            <a:r>
              <a:t>Listen for: Stable logo, palette, type and tone relationships. Correct. These make the system recognisable.</a:t>
            </a:r>
          </a:p>
          <a:p xmlns:a="http://schemas.openxmlformats.org/drawingml/2006/main">
            <a:r>
              <a:t>Misconception to correct: Consistency means using the exact same layout everywhere. → The core system remains recognisable while layouts adapt to context.</a:t>
            </a:r>
          </a:p>
          <a:p xmlns:a="http://schemas.openxmlformats.org/drawingml/2006/main">
            <a:r>
              <a:t>Transition: Connect this idea to Designing a staff uniform.</a:t>
            </a:r>
          </a:p>
          <a:p xmlns:a="http://schemas.openxmlformats.org/drawingml/2006/main">
            <a:r>
              <a:t/>
            </a:r>
          </a:p>
          <a:p xmlns:a="http://schemas.openxmlformats.org/drawingml/2006/main">
            <a:r>
              <a:t>[Sources]</a:t>
            </a:r>
          </a:p>
          <a:p xmlns:a="http://schemas.openxmlformats.org/drawingml/2006/main">
            <a:r>
              <a:t>- Theory and check: data/course-content.js, m06-s01 and m06-s01-q01.</a:t>
            </a:r>
          </a:p>
          <a:p xmlns:a="http://schemas.openxmlformats.org/drawingml/2006/main">
            <a:r>
              <a:t>- Image-first teaching visual: assets/visuals/generated-brand-touchpoints.png. AI-generated with the built-in image tool on 24 August 2026; no brand or source image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Apply the brand identity to a staff-uniform concept while considering placement, scale and role.</a:t>
            </a:r>
          </a:p>
          <a:p xmlns:a="http://schemas.openxmlformats.org/drawingml/2006/main">
            <a:r>
              <a:t>Explain: A staff-uniform concept can identify the business and connect staff with the visual identity. The source verifies a Canva demonstration of applying the identity to a uniform concept, but it does not confirm a required garment, supplier, material, production method or school licence. Treat the output as a design concept unless the teacher supplies further production facts.</a:t>
            </a:r>
          </a:p>
          <a:p xmlns:a="http://schemas.openxmlformats.org/drawingml/2006/main">
            <a:r>
              <a:t>Clarify: A mark placed on a moving person is viewed from varied distances and angles. Test front, back or other proposed positions for visibility without assuming that every position is required. Large graphics may dominate or fold across garment shapes; tiny marks may disappear. Use a suitable logo variant, preserve clear area and check contrast against the garment colour.</a:t>
            </a:r>
          </a:p>
          <a:p xmlns:a="http://schemas.openxmlformats.org/drawingml/2006/main">
            <a:r>
              <a:t>Worked example: A student tests the full logo across the front and a compact mark in a smaller upper-area position. The full version distorts over the mock-up shape and its slogan becomes hard to read. The compact version stays clear but needs stronger colour contrast. The student selects the second direction and records that real manufacture, material performance and exact placement remain outside this digital concept evidence.</a:t>
            </a:r>
          </a:p>
          <a:p xmlns:a="http://schemas.openxmlformats.org/drawingml/2006/main">
            <a:r>
              <a:t>Ask: What does the source confirm about the uniform task?</a:t>
            </a:r>
          </a:p>
          <a:p xmlns:a="http://schemas.openxmlformats.org/drawingml/2006/main">
            <a:r>
              <a:t>Listen for: A digital brand application to a staff-uniform concept. Correct. That is the supported scope.</a:t>
            </a:r>
          </a:p>
          <a:p xmlns:a="http://schemas.openxmlformats.org/drawingml/2006/main">
            <a:r>
              <a:t>Misconception to correct: A realistic uniform mock-up proves the garment can be manufactured exactly as shown. → It tests visual application only unless production details are separately verified.</a:t>
            </a:r>
          </a:p>
          <a:p xmlns:a="http://schemas.openxmlformats.org/drawingml/2006/main">
            <a:r>
              <a:t>Transition: Connect this idea to Checking suitability and accessibility.</a:t>
            </a:r>
          </a:p>
          <a:p xmlns:a="http://schemas.openxmlformats.org/drawingml/2006/main">
            <a:r>
              <a:t/>
            </a:r>
          </a:p>
          <a:p xmlns:a="http://schemas.openxmlformats.org/drawingml/2006/main">
            <a:r>
              <a:t>[Sources]</a:t>
            </a:r>
          </a:p>
          <a:p xmlns:a="http://schemas.openxmlformats.org/drawingml/2006/main">
            <a:r>
              <a:t>- Theory and check: data/course-content.js, m06-s02 and m06-s02-q01.</a:t>
            </a:r>
          </a:p>
          <a:p xmlns:a="http://schemas.openxmlformats.org/drawingml/2006/main">
            <a:r>
              <a:t>- Image-first teaching visual: assets/visuals/generated-uniform-system.png. AI-generated with the built-in image tool on 24 August 2026; no student, crest or source image used.</a:t>
            </a:r>
          </a:p>
          <a:p xmlns:a="http://schemas.openxmlformats.org/drawingml/2006/main">
            <a:r>
              <a:t>- Google Drive source: Creating a Staff Uniform in Canva Demo.mp4, Drive ID 1hIuwMunPHaPjdVAjPsKlIWJEm9vYMkxl, 1:54.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Evaluate a brand application for recognition, inclusion, readability and honest representation.</a:t>
            </a:r>
          </a:p>
          <a:p xmlns:a="http://schemas.openxmlformats.org/drawingml/2006/main">
            <a:r>
              <a:t>Explain: A visually consistent application can still be unsuitable if it is difficult to recognise, uncomfortable in tone or inaccessible. Review the concept against its audience profile and use context. Consider reading distance, contrast, image meaning, respectful representation and whether essential information survives. Do not assume that one reviewer represents the whole audience.</a:t>
            </a:r>
          </a:p>
          <a:p xmlns:a="http://schemas.openxmlformats.org/drawingml/2006/main">
            <a:r>
              <a:t>Clarify: Accessibility checks include contrast, clear shapes, readable text and cues that do not depend on colour alone. On a uniform concept, a simple mark may be more recognisable than small supporting text. Use privacy-safe silhouettes or mock-ups rather than identifiable student photographs. If real-user testing is possible under approved arrangements, ask focused questions and avoid collecting unnecessary personal data.</a:t>
            </a:r>
          </a:p>
          <a:p xmlns:a="http://schemas.openxmlformats.org/drawingml/2006/main">
            <a:r>
              <a:t>Worked example: Two reviewers identify the business from the front concept, but neither can read the slogan at the proposed size. One reviewer also confuses two low-contrast palette colours. The designer removes the slogan from the compact version and strengthens contrast while preserving the main palette roles. They report the small test honestly and do not claim universal accessibility from two responses.</a:t>
            </a:r>
          </a:p>
          <a:p xmlns:a="http://schemas.openxmlformats.org/drawingml/2006/main">
            <a:r>
              <a:t>Ask: What makes an application suitable?</a:t>
            </a:r>
          </a:p>
          <a:p xmlns:a="http://schemas.openxmlformats.org/drawingml/2006/main">
            <a:r>
              <a:t>Listen for: It fits the intended purpose, audience and context. Correct. Suitability is relational.</a:t>
            </a:r>
          </a:p>
          <a:p xmlns:a="http://schemas.openxmlformats.org/drawingml/2006/main">
            <a:r>
              <a:t>Misconception to correct: If two people can use a design, it is accessible for everyone. → A small test reveals issues but cannot represent every user or access need.</a:t>
            </a:r>
          </a:p>
          <a:p xmlns:a="http://schemas.openxmlformats.org/drawingml/2006/main">
            <a:r>
              <a:t>Transition: Connect this idea to the retrieval check.</a:t>
            </a:r>
          </a:p>
          <a:p xmlns:a="http://schemas.openxmlformats.org/drawingml/2006/main">
            <a:r>
              <a:t/>
            </a:r>
          </a:p>
          <a:p xmlns:a="http://schemas.openxmlformats.org/drawingml/2006/main">
            <a:r>
              <a:t>[Sources]</a:t>
            </a:r>
          </a:p>
          <a:p xmlns:a="http://schemas.openxmlformats.org/drawingml/2006/main">
            <a:r>
              <a:t>- Theory and check: data/course-content.js, m06-s03 and m06-s03-q01.</a:t>
            </a:r>
          </a:p>
          <a:p xmlns:a="http://schemas.openxmlformats.org/drawingml/2006/main">
            <a:r>
              <a:t>- Image-first teaching visual: assets/visuals/generated-m06-accessibility-suitability-test-v2.png. AI-generated with the built-in OpenAI image creator on 24 August 2026; no source or student image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routine: 60 seconds silent retrieval, pair justification, then whole-class feedback.</a:t>
            </a:r>
          </a:p>
          <a:p xmlns:a="http://schemas.openxmlformats.org/drawingml/2006/main">
            <a:r>
              <a:t>Question 1: Stable logo, palette, type and tone relationships. Feedback: Correct. These make the system recognisable.</a:t>
            </a:r>
          </a:p>
          <a:p xmlns:a="http://schemas.openxmlformats.org/drawingml/2006/main">
            <a:r>
              <a:t>Question 2: A digital brand application to a staff-uniform concept. Feedback: Correct. That is the supported scope.</a:t>
            </a:r>
          </a:p>
          <a:p xmlns:a="http://schemas.openxmlformats.org/drawingml/2006/main">
            <a:r>
              <a:t>Question 3: It fits the intended purpose, audience and context. Feedback: Correct. Suitability is relational.</a:t>
            </a:r>
          </a:p>
          <a:p xmlns:a="http://schemas.openxmlformats.org/drawingml/2006/main">
            <a:r>
              <a:t>Do not score this as a formal assessment. Use responses to decide whether to reteach or continue.</a:t>
            </a:r>
          </a:p>
          <a:p xmlns:a="http://schemas.openxmlformats.org/drawingml/2006/main">
            <a:r>
              <a:t>Transition: Model how the same knowledge becomes a longer written explanation.</a:t>
            </a:r>
          </a:p>
          <a:p xmlns:a="http://schemas.openxmlformats.org/drawingml/2006/main">
            <a:r>
              <a:t/>
            </a:r>
          </a:p>
          <a:p xmlns:a="http://schemas.openxmlformats.org/drawingml/2006/main">
            <a:r>
              <a:t>[Sources]</a:t>
            </a:r>
          </a:p>
          <a:p xmlns:a="http://schemas.openxmlformats.org/drawingml/2006/main">
            <a:r>
              <a:t>- Formative checks: data/course-content.js, m06-s01-q01, m06-s02-q01, m06-s03-q01.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Read the prompt once, then unpack it using Select, Explain and Check.</a:t>
            </a:r>
          </a:p>
          <a:p xmlns:a="http://schemas.openxmlformats.org/drawingml/2006/main">
            <a:r>
              <a:t>Model one sentence aloud using the supplied starter.</a:t>
            </a:r>
          </a:p>
          <a:p xmlns:a="http://schemas.openxmlformats.org/drawingml/2006/main">
            <a:r>
              <a:t>Prompt: Which section provides the strongest evidence for each part of the question?</a:t>
            </a:r>
          </a:p>
          <a:p xmlns:a="http://schemas.openxmlformats.org/drawingml/2006/main">
            <a:r>
              <a:t>Remind students: this is formative learning evidence. A local save is not a submission.</a:t>
            </a:r>
          </a:p>
          <a:p xmlns:a="http://schemas.openxmlformats.org/drawingml/2006/main">
            <a:r>
              <a:t>Transition: Finish with a three-part exit ticket and save the response in the matching module.</a:t>
            </a:r>
          </a:p>
          <a:p xmlns:a="http://schemas.openxmlformats.org/drawingml/2006/main">
            <a:r>
              <a:t/>
            </a:r>
          </a:p>
          <a:p xmlns:a="http://schemas.openxmlformats.org/drawingml/2006/main">
            <a:r>
              <a:t>[Sources]</a:t>
            </a:r>
          </a:p>
          <a:p xmlns:a="http://schemas.openxmlformats.org/drawingml/2006/main">
            <a:r>
              <a:t>- Section capstones: data/course-content.js, m06-s01-capstone, m06-s02-capstone, m06-s03-capstone.</a:t>
            </a:r>
          </a:p>
          <a:p xmlns:a="http://schemas.openxmlformats.org/drawingml/2006/main">
            <a:r>
              <a:t>- Integrated prompt: Stage 07 synthesis of the three source-grounded section capstones.</a:t>
            </a:r>
          </a:p>
          <a:p xmlns:a="http://schemas.openxmlformats.org/drawingml/2006/main">
            <a:r>
              <a:t>- Evidence boundary: data/course-content.js evidenceLabel, saveNotice and moduleEvidenceKey.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routine: Ask students to answer all three prompts in the matching module response box.</a:t>
            </a:r>
          </a:p>
          <a:p xmlns:a="http://schemas.openxmlformats.org/drawingml/2006/main">
            <a:r>
              <a:t>Invite one voluntary share for the first prompt.</a:t>
            </a:r>
          </a:p>
          <a:p xmlns:a="http://schemas.openxmlformats.org/drawingml/2006/main">
            <a:r>
              <a:t>Use the final question to plan the next explanation or support.</a:t>
            </a:r>
          </a:p>
          <a:p xmlns:a="http://schemas.openxmlformats.org/drawingml/2006/main">
            <a:r>
              <a:t>Remind students that browser-local saving preserves a draft on this device; it does not submit work.</a:t>
            </a:r>
          </a:p>
          <a:p xmlns:a="http://schemas.openxmlformats.org/drawingml/2006/main">
            <a:r>
              <a:t/>
            </a:r>
          </a:p>
          <a:p xmlns:a="http://schemas.openxmlformats.org/drawingml/2006/main">
            <a:r>
              <a:t>[Sources]</a:t>
            </a:r>
          </a:p>
          <a:p xmlns:a="http://schemas.openxmlformats.org/drawingml/2006/main">
            <a:r>
              <a:t>- Exit-ticket structure and evidence boundary: data/course-content.js saveNotice, savedMessage and evidenceDestination.</a:t>
            </a:r>
          </a:p>
          <a:p xmlns:a="http://schemas.openxmlformats.org/drawingml/2006/main">
            <a:r>
              <a:t>- Module theory: data/course-content.js, m06-s01, m06-s02, m06-s03.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f3a17ebb9943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443f7e07754dfc" /><Relationship Type="http://schemas.openxmlformats.org/officeDocument/2006/relationships/slideLayout" Target="/ppt/slideLayouts/slideLayout1.xml" Id="R2ba80cd19db74f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a80cd19db74f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4ea0291ef2f456d" /><Relationship Type="http://schemas.openxmlformats.org/officeDocument/2006/relationships/image" Target="/ppt/media/image.png" Id="Rf6efd48d67284b4d" /><Relationship Type="http://schemas.openxmlformats.org/officeDocument/2006/relationships/notesSlide" Target="/ppt/notesSlides/notesSlide1.xml" Id="R93120ce3f44b40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f504470fe7a46da" /><Relationship Type="http://schemas.openxmlformats.org/officeDocument/2006/relationships/notesSlide" Target="/ppt/notesSlides/notesSlide2.xml" Id="R3501d6291c8c47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a5d897e3144f5e" /><Relationship Type="http://schemas.openxmlformats.org/officeDocument/2006/relationships/image" Target="/ppt/media/image2.png" Id="Rbf922f9d7485475d" /><Relationship Type="http://schemas.openxmlformats.org/officeDocument/2006/relationships/notesSlide" Target="/ppt/notesSlides/notesSlide3.xml" Id="Re547a4da021146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2d8b333f54b457e" /><Relationship Type="http://schemas.openxmlformats.org/officeDocument/2006/relationships/image" Target="/ppt/media/image3.png" Id="R471009e2eb354709" /><Relationship Type="http://schemas.openxmlformats.org/officeDocument/2006/relationships/image" Target="/ppt/media/image4.png" Id="R66c96e8f75264372" /><Relationship Type="http://schemas.openxmlformats.org/officeDocument/2006/relationships/notesSlide" Target="/ppt/notesSlides/notesSlide4.xml" Id="Ra62599c821864a70" /><Relationship Type="http://schemas.openxmlformats.org/officeDocument/2006/relationships/hyperlink" Target="https://drive.google.com/file/d/1hIuwMunPHaPjdVAjPsKlIWJEm9vYMkxl/view" TargetMode="External" Id="RStage07Hyperlink4_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5d79d3cec554b07" /><Relationship Type="http://schemas.openxmlformats.org/officeDocument/2006/relationships/image" Target="/ppt/media/image5.png" Id="R3102d4abc6ad4ffe" /><Relationship Type="http://schemas.openxmlformats.org/officeDocument/2006/relationships/notesSlide" Target="/ppt/notesSlides/notesSlide5.xml" Id="Rbbfef37d09954a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eca7da551da4df0" /><Relationship Type="http://schemas.openxmlformats.org/officeDocument/2006/relationships/notesSlide" Target="/ppt/notesSlides/notesSlide6.xml" Id="R92d447627af54c2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7a240c2cb784639" /><Relationship Type="http://schemas.openxmlformats.org/officeDocument/2006/relationships/notesSlide" Target="/ppt/notesSlides/notesSlide7.xml" Id="R4b9a5f9ab2b74c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b68022961bf428a" /><Relationship Type="http://schemas.openxmlformats.org/officeDocument/2006/relationships/notesSlide" Target="/ppt/notesSlides/notesSlide8.xml" Id="R7b4e67ed77c7473b" /></Relationships>
</file>

<file path=ppt/slides/slide1.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D25083F-7664-454B-BC31-40C53D272331}"/>
              </a:ext>
            </a:extLst>
          </p:cNvPr>
          <p:cNvSpPr>
            <a:spLocks xmlns:a="http://schemas.openxmlformats.org/drawingml/2006/main" noGrp="1"/>
          </p:cNvSpPr>
          <p:nvPr/>
        </p:nvSpPr>
        <p:spPr>
          <a:xfrm xmlns:a="http://schemas.openxmlformats.org/drawingml/2006/main">
            <a:off x="0" y="0"/>
            <a:ext cx="5810250" cy="6858000"/>
          </a:xfrm>
          <a:prstGeom xmlns:a="http://schemas.openxmlformats.org/drawingml/2006/main" prst="rect">
            <a:avLst/>
          </a:prstGeom>
          <a:solidFill xmlns:a="http://schemas.openxmlformats.org/drawingml/2006/main">
            <a:srgbClr val="1734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C52CAAA-7AF0-4497-8670-4BECD3E948BC}"/>
              </a:ext>
            </a:extLst>
          </p:cNvPr>
          <p:cNvSpPr>
            <a:spLocks xmlns:a="http://schemas.openxmlformats.org/drawingml/2006/main" noGrp="1"/>
          </p:cNvSpPr>
          <p:nvPr/>
        </p:nvSpPr>
        <p:spPr>
          <a:xfrm xmlns:a="http://schemas.openxmlformats.org/drawingml/2006/main">
            <a:off x="685800" y="723900"/>
            <a:ext cx="933450" cy="952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42F9853-E793-4EFA-9368-E45D3181436E}"/>
              </a:ext>
            </a:extLst>
          </p:cNvPr>
          <p:cNvSpPr>
            <a:spLocks xmlns:a="http://schemas.openxmlformats.org/drawingml/2006/main" noGrp="1"/>
          </p:cNvSpPr>
          <p:nvPr/>
        </p:nvSpPr>
        <p:spPr>
          <a:xfrm xmlns:a="http://schemas.openxmlformats.org/drawingml/2006/main">
            <a:off x="685800" y="11239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F2BD3C"/>
                </a:solidFill>
                <a:latin typeface="Arial"/>
                <a:ea typeface="Arial"/>
                <a:cs typeface="Arial"/>
              </a:defRPr>
            </a:pPr>
            <a:r>
              <a:rPr sz="1350" b="1">
                <a:solidFill>
                  <a:srgbClr val="F2BD3C"/>
                </a:solidFill>
                <a:latin typeface="Arial"/>
                <a:ea typeface="Arial"/>
                <a:cs typeface="Arial"/>
              </a:rPr>
              <a:t>MODULE 06</a:t>
            </a:r>
          </a:p>
        </p:txBody>
      </p:sp>
      <p:sp>
        <p:nvSpPr>
          <p:cNvPr id="4" name="">
            <a:extLst xmlns:a="http://schemas.openxmlformats.org/drawingml/2006/main">
              <a:ext uri="{FF2B5EF4-FFF2-40B4-BE49-F238E27FC236}">
                <a16:creationId xmlns:a16="http://schemas.microsoft.com/office/drawing/2014/main" id="{0981DA0D-83C5-43BA-8890-E38CE8F80E90}"/>
              </a:ext>
            </a:extLst>
          </p:cNvPr>
          <p:cNvSpPr>
            <a:spLocks xmlns:a="http://schemas.openxmlformats.org/drawingml/2006/main" noGrp="1"/>
          </p:cNvSpPr>
          <p:nvPr/>
        </p:nvSpPr>
        <p:spPr>
          <a:xfrm xmlns:a="http://schemas.openxmlformats.org/drawingml/2006/main">
            <a:off x="685800" y="1790700"/>
            <a:ext cx="447675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675" b="1">
                <a:solidFill>
                  <a:srgbClr val="FFFFFF"/>
                </a:solidFill>
                <a:latin typeface="Arial"/>
                <a:ea typeface="Arial"/>
                <a:cs typeface="Arial"/>
              </a:defRPr>
            </a:pPr>
            <a:r>
              <a:rPr sz="3675" b="1">
                <a:solidFill>
                  <a:srgbClr val="FFFFFF"/>
                </a:solidFill>
                <a:latin typeface="Arial"/>
                <a:ea typeface="Arial"/>
                <a:cs typeface="Arial"/>
              </a:rPr>
              <a:t>Brand applications</a:t>
            </a:r>
          </a:p>
        </p:txBody>
      </p:sp>
      <p:sp>
        <p:nvSpPr>
          <p:cNvPr id="5" name="">
            <a:extLst xmlns:a="http://schemas.openxmlformats.org/drawingml/2006/main">
              <a:ext uri="{FF2B5EF4-FFF2-40B4-BE49-F238E27FC236}">
                <a16:creationId xmlns:a16="http://schemas.microsoft.com/office/drawing/2014/main" id="{CDEC95F3-167C-4924-9603-05B190154E67}"/>
              </a:ext>
            </a:extLst>
          </p:cNvPr>
          <p:cNvSpPr>
            <a:spLocks xmlns:a="http://schemas.openxmlformats.org/drawingml/2006/main" noGrp="1"/>
          </p:cNvSpPr>
          <p:nvPr/>
        </p:nvSpPr>
        <p:spPr>
          <a:xfrm xmlns:a="http://schemas.openxmlformats.org/drawingml/2006/main">
            <a:off x="685800" y="3676650"/>
            <a:ext cx="43338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0">
                <a:solidFill>
                  <a:srgbClr val="E6EEE9"/>
                </a:solidFill>
                <a:latin typeface="Arial"/>
                <a:ea typeface="Arial"/>
                <a:cs typeface="Arial"/>
              </a:defRPr>
            </a:pPr>
            <a:r>
              <a:rPr sz="1650" b="0">
                <a:solidFill>
                  <a:srgbClr val="E6EEE9"/>
                </a:solidFill>
                <a:latin typeface="Arial"/>
                <a:ea typeface="Arial"/>
                <a:cs typeface="Arial"/>
              </a:rPr>
              <a:t>Apply a consistent identity to a staff uniform.</a:t>
            </a:r>
          </a:p>
        </p:txBody>
      </p:sp>
      <p:sp>
        <p:nvSpPr>
          <p:cNvPr id="6" name="">
            <a:extLst xmlns:a="http://schemas.openxmlformats.org/drawingml/2006/main">
              <a:ext uri="{FF2B5EF4-FFF2-40B4-BE49-F238E27FC236}">
                <a16:creationId xmlns:a16="http://schemas.microsoft.com/office/drawing/2014/main" id="{86BA8C9D-7DEB-4DB8-8566-CB7133097DB9}"/>
              </a:ext>
            </a:extLst>
          </p:cNvPr>
          <p:cNvSpPr>
            <a:spLocks xmlns:a="http://schemas.openxmlformats.org/drawingml/2006/main" noGrp="1"/>
          </p:cNvSpPr>
          <p:nvPr/>
        </p:nvSpPr>
        <p:spPr>
          <a:xfrm xmlns:a="http://schemas.openxmlformats.org/drawingml/2006/main">
            <a:off x="685800" y="5010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E8674B"/>
                </a:solidFill>
                <a:latin typeface="Arial"/>
                <a:ea typeface="Arial"/>
                <a:cs typeface="Arial"/>
              </a:defRPr>
            </a:pPr>
            <a:r>
              <a:rPr sz="900" b="1">
                <a:solidFill>
                  <a:srgbClr val="E8674B"/>
                </a:solidFill>
                <a:latin typeface="Arial"/>
                <a:ea typeface="Arial"/>
                <a:cs typeface="Arial"/>
              </a:rPr>
              <a:t>TEACHING QUESTION</a:t>
            </a:r>
          </a:p>
        </p:txBody>
      </p:sp>
      <p:sp>
        <p:nvSpPr>
          <p:cNvPr id="7" name="">
            <a:extLst xmlns:a="http://schemas.openxmlformats.org/drawingml/2006/main">
              <a:ext uri="{FF2B5EF4-FFF2-40B4-BE49-F238E27FC236}">
                <a16:creationId xmlns:a16="http://schemas.microsoft.com/office/drawing/2014/main" id="{56EE4B22-7880-431C-B912-15395FD4DA5D}"/>
              </a:ext>
            </a:extLst>
          </p:cNvPr>
          <p:cNvSpPr>
            <a:spLocks xmlns:a="http://schemas.openxmlformats.org/drawingml/2006/main" noGrp="1"/>
          </p:cNvSpPr>
          <p:nvPr/>
        </p:nvSpPr>
        <p:spPr>
          <a:xfrm xmlns:a="http://schemas.openxmlformats.org/drawingml/2006/main">
            <a:off x="685800" y="5295900"/>
            <a:ext cx="4362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Which features should stay stable across a poster, cup and uniform?</a:t>
            </a:r>
          </a:p>
        </p:txBody>
      </p:sp>
      <p:sp>
        <p:nvSpPr>
          <p:cNvPr id="8" name="">
            <a:extLst xmlns:a="http://schemas.openxmlformats.org/drawingml/2006/main">
              <a:ext uri="{FF2B5EF4-FFF2-40B4-BE49-F238E27FC236}">
                <a16:creationId xmlns:a16="http://schemas.microsoft.com/office/drawing/2014/main" id="{C7319EAA-1982-4C87-9BC9-93D44C983781}"/>
              </a:ext>
            </a:extLst>
          </p:cNvPr>
          <p:cNvSpPr>
            <a:spLocks xmlns:a="http://schemas.openxmlformats.org/drawingml/2006/main" noGrp="1"/>
          </p:cNvSpPr>
          <p:nvPr/>
        </p:nvSpPr>
        <p:spPr>
          <a:xfrm xmlns:a="http://schemas.openxmlformats.org/drawingml/2006/main">
            <a:off x="6191250" y="514350"/>
            <a:ext cx="5334000" cy="5372100"/>
          </a:xfrm>
          <a:prstGeom xmlns:a="http://schemas.openxmlformats.org/drawingml/2006/main" prst="roundRect">
            <a:avLst>
              <a:gd name="adj" fmla="val 2143"/>
            </a:avLst>
          </a:prstGeom>
          <a:solidFill xmlns:a="http://schemas.openxmlformats.org/drawingml/2006/main">
            <a:srgbClr val="FFFFFF"/>
          </a:solidFill>
          <a:ln xmlns:a="http://schemas.openxmlformats.org/drawingml/2006/main" w="9525">
            <a:solidFill>
              <a:srgbClr val="CFD8D2"/>
            </a:solidFill>
            <a:prstDash val="solid"/>
          </a:ln>
        </p:spPr>
      </p:sp>
      <p:pic>
        <p:nvPicPr>
          <p:cNvPr id="20" name="Brand Touchpoints" title="Brand Touchpoints" descr="Studio photograph of a kraft takeaway bag, paper cup and wrapped food item using the same teal circle and orange striped-circle motif."/>
          <p:cNvPicPr>
            <a:picLocks xmlns:a="http://schemas.openxmlformats.org/drawingml/2006/main" noChangeAspect="1"/>
          </p:cNvPicPr>
          <p:nvPr/>
        </p:nvPicPr>
        <p:blipFill>
          <a:blip xmlns:r="http://schemas.openxmlformats.org/officeDocument/2006/relationships" xmlns:a="http://schemas.openxmlformats.org/drawingml/2006/main" r:embed="Rf6efd48d67284b4d"/>
          <a:srcRect xmlns:a="http://schemas.openxmlformats.org/drawingml/2006/main" l="22060" t="0" r="22060" b="0"/>
          <a:stretch xmlns:a="http://schemas.openxmlformats.org/drawingml/2006/main">
            <a:fillRect l="0" t="0" r="0" b="0"/>
          </a:stretch>
        </p:blipFill>
        <p:spPr>
          <a:xfrm xmlns:a="http://schemas.openxmlformats.org/drawingml/2006/main">
            <a:off x="6191250" y="514350"/>
            <a:ext cx="5334000" cy="5372100"/>
          </a:xfrm>
          <a:prstGeom xmlns:a="http://schemas.openxmlformats.org/drawingml/2006/main" prst="roundRect">
            <a:avLst>
              <a:gd name="adj" fmla="val 2143"/>
            </a:avLst>
          </a:prstGeom>
        </p:spPr>
      </p:pic>
      <p:sp>
        <p:nvSpPr>
          <p:cNvPr id="10" name="">
            <a:extLst xmlns:a="http://schemas.openxmlformats.org/drawingml/2006/main">
              <a:ext uri="{FF2B5EF4-FFF2-40B4-BE49-F238E27FC236}">
                <a16:creationId xmlns:a16="http://schemas.microsoft.com/office/drawing/2014/main" id="{DC231DBF-5666-4174-9908-99A5918365B6}"/>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06  •  BRAND APPLICATIONS</a:t>
            </a:r>
          </a:p>
        </p:txBody>
      </p:sp>
      <p:sp>
        <p:nvSpPr>
          <p:cNvPr id="11" name="">
            <a:extLst xmlns:a="http://schemas.openxmlformats.org/drawingml/2006/main">
              <a:ext uri="{FF2B5EF4-FFF2-40B4-BE49-F238E27FC236}">
                <a16:creationId xmlns:a16="http://schemas.microsoft.com/office/drawing/2014/main" id="{46770902-D033-4B9B-B633-51CEDD8E6424}"/>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01</a:t>
            </a:r>
          </a:p>
        </p:txBody>
      </p:sp>
    </p:spTree>
    <p:extLst>
      <p:ext uri="{BB962C8B-B14F-4D97-AF65-F5344CB8AC3E}">
        <p14:creationId xmlns:p14="http://schemas.microsoft.com/office/powerpoint/2010/main" val="350674552"/>
      </p:ext>
    </p:extLst>
  </p:cSld>
</p:sld>
</file>

<file path=ppt/slides/slide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AB70C6C-00B0-4E10-836A-AEF1A23B05FA}"/>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241A711-92B0-4054-8A10-2EE65E5E312B}"/>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TODAY'S LEARNING PATH</a:t>
            </a:r>
          </a:p>
        </p:txBody>
      </p:sp>
      <p:sp>
        <p:nvSpPr>
          <p:cNvPr id="3" name="">
            <a:extLst xmlns:a="http://schemas.openxmlformats.org/drawingml/2006/main">
              <a:ext uri="{FF2B5EF4-FFF2-40B4-BE49-F238E27FC236}">
                <a16:creationId xmlns:a16="http://schemas.microsoft.com/office/drawing/2014/main" id="{096CEB8E-0D1C-4C1D-B583-E2B7C0A229FF}"/>
              </a:ext>
            </a:extLst>
          </p:cNvPr>
          <p:cNvSpPr>
            <a:spLocks xmlns:a="http://schemas.openxmlformats.org/drawingml/2006/main" noGrp="1"/>
          </p:cNvSpPr>
          <p:nvPr/>
        </p:nvSpPr>
        <p:spPr>
          <a:xfrm xmlns:a="http://schemas.openxmlformats.org/drawingml/2006/main">
            <a:off x="685800" y="895350"/>
            <a:ext cx="742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925" b="1">
                <a:solidFill>
                  <a:srgbClr val="17342C"/>
                </a:solidFill>
                <a:latin typeface="Arial"/>
                <a:ea typeface="Arial"/>
                <a:cs typeface="Arial"/>
              </a:defRPr>
            </a:pPr>
            <a:r>
              <a:rPr sz="2925" b="1">
                <a:solidFill>
                  <a:srgbClr val="17342C"/>
                </a:solidFill>
                <a:latin typeface="Arial"/>
                <a:ea typeface="Arial"/>
                <a:cs typeface="Arial"/>
              </a:rPr>
              <a:t>Where are we going?</a:t>
            </a:r>
          </a:p>
        </p:txBody>
      </p:sp>
      <p:sp>
        <p:nvSpPr>
          <p:cNvPr id="4" name="">
            <a:extLst xmlns:a="http://schemas.openxmlformats.org/drawingml/2006/main">
              <a:ext uri="{FF2B5EF4-FFF2-40B4-BE49-F238E27FC236}">
                <a16:creationId xmlns:a16="http://schemas.microsoft.com/office/drawing/2014/main" id="{06109586-D98E-4EB5-9489-9C9B4769E2E1}"/>
              </a:ext>
            </a:extLst>
          </p:cNvPr>
          <p:cNvSpPr>
            <a:spLocks xmlns:a="http://schemas.openxmlformats.org/drawingml/2006/main" noGrp="1"/>
          </p:cNvSpPr>
          <p:nvPr/>
        </p:nvSpPr>
        <p:spPr>
          <a:xfrm xmlns:a="http://schemas.openxmlformats.org/drawingml/2006/main">
            <a:off x="685800" y="19526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5" name="">
            <a:extLst xmlns:a="http://schemas.openxmlformats.org/drawingml/2006/main">
              <a:ext uri="{FF2B5EF4-FFF2-40B4-BE49-F238E27FC236}">
                <a16:creationId xmlns:a16="http://schemas.microsoft.com/office/drawing/2014/main" id="{AA9B6C51-62A8-44ED-A234-6EBD28183C3C}"/>
              </a:ext>
            </a:extLst>
          </p:cNvPr>
          <p:cNvSpPr>
            <a:spLocks xmlns:a="http://schemas.openxmlformats.org/drawingml/2006/main" noGrp="1"/>
          </p:cNvSpPr>
          <p:nvPr/>
        </p:nvSpPr>
        <p:spPr>
          <a:xfrm xmlns:a="http://schemas.openxmlformats.org/drawingml/2006/main">
            <a:off x="933450" y="2162175"/>
            <a:ext cx="476250" cy="476250"/>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D5EDF2C-46CF-402C-BCBC-8626398C89C8}"/>
              </a:ext>
            </a:extLst>
          </p:cNvPr>
          <p:cNvSpPr>
            <a:spLocks xmlns:a="http://schemas.openxmlformats.org/drawingml/2006/main" noGrp="1"/>
          </p:cNvSpPr>
          <p:nvPr/>
        </p:nvSpPr>
        <p:spPr>
          <a:xfrm xmlns:a="http://schemas.openxmlformats.org/drawingml/2006/main">
            <a:off x="933450" y="21621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9507B1BC-378A-4D45-B3B5-D9CFF733F8E8}"/>
              </a:ext>
            </a:extLst>
          </p:cNvPr>
          <p:cNvSpPr>
            <a:spLocks xmlns:a="http://schemas.openxmlformats.org/drawingml/2006/main" noGrp="1"/>
          </p:cNvSpPr>
          <p:nvPr/>
        </p:nvSpPr>
        <p:spPr>
          <a:xfrm xmlns:a="http://schemas.openxmlformats.org/drawingml/2006/main">
            <a:off x="1733550" y="21431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Consistent identity</a:t>
            </a:r>
          </a:p>
        </p:txBody>
      </p:sp>
      <p:sp>
        <p:nvSpPr>
          <p:cNvPr id="8" name="">
            <a:extLst xmlns:a="http://schemas.openxmlformats.org/drawingml/2006/main">
              <a:ext uri="{FF2B5EF4-FFF2-40B4-BE49-F238E27FC236}">
                <a16:creationId xmlns:a16="http://schemas.microsoft.com/office/drawing/2014/main" id="{8DFFC935-7861-41E1-BA1D-28AA9E31F0CD}"/>
              </a:ext>
            </a:extLst>
          </p:cNvPr>
          <p:cNvSpPr>
            <a:spLocks xmlns:a="http://schemas.openxmlformats.org/drawingml/2006/main" noGrp="1"/>
          </p:cNvSpPr>
          <p:nvPr/>
        </p:nvSpPr>
        <p:spPr>
          <a:xfrm xmlns:a="http://schemas.openxmlformats.org/drawingml/2006/main">
            <a:off x="685800" y="32099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9" name="">
            <a:extLst xmlns:a="http://schemas.openxmlformats.org/drawingml/2006/main">
              <a:ext uri="{FF2B5EF4-FFF2-40B4-BE49-F238E27FC236}">
                <a16:creationId xmlns:a16="http://schemas.microsoft.com/office/drawing/2014/main" id="{5B79F4D2-E44F-4D30-8B34-4766232E35AB}"/>
              </a:ext>
            </a:extLst>
          </p:cNvPr>
          <p:cNvSpPr>
            <a:spLocks xmlns:a="http://schemas.openxmlformats.org/drawingml/2006/main" noGrp="1"/>
          </p:cNvSpPr>
          <p:nvPr/>
        </p:nvSpPr>
        <p:spPr>
          <a:xfrm xmlns:a="http://schemas.openxmlformats.org/drawingml/2006/main">
            <a:off x="933450" y="3419475"/>
            <a:ext cx="476250" cy="47625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B94A6DC-6F5A-409F-B5AB-3DBDAED7CFBF}"/>
              </a:ext>
            </a:extLst>
          </p:cNvPr>
          <p:cNvSpPr>
            <a:spLocks xmlns:a="http://schemas.openxmlformats.org/drawingml/2006/main" noGrp="1"/>
          </p:cNvSpPr>
          <p:nvPr/>
        </p:nvSpPr>
        <p:spPr>
          <a:xfrm xmlns:a="http://schemas.openxmlformats.org/drawingml/2006/main">
            <a:off x="933450" y="34194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17342C"/>
                </a:solidFill>
                <a:latin typeface="Arial"/>
                <a:ea typeface="Arial"/>
                <a:cs typeface="Arial"/>
              </a:defRPr>
            </a:pPr>
            <a:r>
              <a:rPr sz="1500" b="1">
                <a:solidFill>
                  <a:srgbClr val="17342C"/>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B2AC598B-EBB2-44B4-AB25-89C77FD23513}"/>
              </a:ext>
            </a:extLst>
          </p:cNvPr>
          <p:cNvSpPr>
            <a:spLocks xmlns:a="http://schemas.openxmlformats.org/drawingml/2006/main" noGrp="1"/>
          </p:cNvSpPr>
          <p:nvPr/>
        </p:nvSpPr>
        <p:spPr>
          <a:xfrm xmlns:a="http://schemas.openxmlformats.org/drawingml/2006/main">
            <a:off x="1733550" y="34004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Designing a staff uniform</a:t>
            </a:r>
          </a:p>
        </p:txBody>
      </p:sp>
      <p:sp>
        <p:nvSpPr>
          <p:cNvPr id="12" name="">
            <a:extLst xmlns:a="http://schemas.openxmlformats.org/drawingml/2006/main">
              <a:ext uri="{FF2B5EF4-FFF2-40B4-BE49-F238E27FC236}">
                <a16:creationId xmlns:a16="http://schemas.microsoft.com/office/drawing/2014/main" id="{DF3FD841-F7A1-4BB5-BAB4-E14EC00B20C0}"/>
              </a:ext>
            </a:extLst>
          </p:cNvPr>
          <p:cNvSpPr>
            <a:spLocks xmlns:a="http://schemas.openxmlformats.org/drawingml/2006/main" noGrp="1"/>
          </p:cNvSpPr>
          <p:nvPr/>
        </p:nvSpPr>
        <p:spPr>
          <a:xfrm xmlns:a="http://schemas.openxmlformats.org/drawingml/2006/main">
            <a:off x="685800" y="44672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13" name="">
            <a:extLst xmlns:a="http://schemas.openxmlformats.org/drawingml/2006/main">
              <a:ext uri="{FF2B5EF4-FFF2-40B4-BE49-F238E27FC236}">
                <a16:creationId xmlns:a16="http://schemas.microsoft.com/office/drawing/2014/main" id="{F365BE63-CC2E-4A09-9FB7-6FA7A78E0276}"/>
              </a:ext>
            </a:extLst>
          </p:cNvPr>
          <p:cNvSpPr>
            <a:spLocks xmlns:a="http://schemas.openxmlformats.org/drawingml/2006/main" noGrp="1"/>
          </p:cNvSpPr>
          <p:nvPr/>
        </p:nvSpPr>
        <p:spPr>
          <a:xfrm xmlns:a="http://schemas.openxmlformats.org/drawingml/2006/main">
            <a:off x="933450" y="4676775"/>
            <a:ext cx="476250" cy="476250"/>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E8A45A6-F353-4C9C-9B6B-5AF5E9E686C7}"/>
              </a:ext>
            </a:extLst>
          </p:cNvPr>
          <p:cNvSpPr>
            <a:spLocks xmlns:a="http://schemas.openxmlformats.org/drawingml/2006/main" noGrp="1"/>
          </p:cNvSpPr>
          <p:nvPr/>
        </p:nvSpPr>
        <p:spPr>
          <a:xfrm xmlns:a="http://schemas.openxmlformats.org/drawingml/2006/main">
            <a:off x="933450" y="46767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B8811BC6-C79E-4453-9F69-DDD846CA5F63}"/>
              </a:ext>
            </a:extLst>
          </p:cNvPr>
          <p:cNvSpPr>
            <a:spLocks xmlns:a="http://schemas.openxmlformats.org/drawingml/2006/main" noGrp="1"/>
          </p:cNvSpPr>
          <p:nvPr/>
        </p:nvSpPr>
        <p:spPr>
          <a:xfrm xmlns:a="http://schemas.openxmlformats.org/drawingml/2006/main">
            <a:off x="1733550" y="46577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Checking suitability and accessibility</a:t>
            </a:r>
          </a:p>
        </p:txBody>
      </p:sp>
      <p:sp>
        <p:nvSpPr>
          <p:cNvPr id="16" name="">
            <a:extLst xmlns:a="http://schemas.openxmlformats.org/drawingml/2006/main">
              <a:ext uri="{FF2B5EF4-FFF2-40B4-BE49-F238E27FC236}">
                <a16:creationId xmlns:a16="http://schemas.microsoft.com/office/drawing/2014/main" id="{1DB929DF-51B2-4ADB-83C4-246705C2EDD3}"/>
              </a:ext>
            </a:extLst>
          </p:cNvPr>
          <p:cNvSpPr>
            <a:spLocks xmlns:a="http://schemas.openxmlformats.org/drawingml/2006/main" noGrp="1"/>
          </p:cNvSpPr>
          <p:nvPr/>
        </p:nvSpPr>
        <p:spPr>
          <a:xfrm xmlns:a="http://schemas.openxmlformats.org/drawingml/2006/main">
            <a:off x="8191500" y="20764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2BD3C"/>
                </a:solidFill>
                <a:latin typeface="Arial"/>
                <a:ea typeface="Arial"/>
                <a:cs typeface="Arial"/>
              </a:defRPr>
            </a:pPr>
            <a:r>
              <a:rPr sz="1050" b="1">
                <a:solidFill>
                  <a:srgbClr val="F2BD3C"/>
                </a:solidFill>
                <a:latin typeface="Arial"/>
                <a:ea typeface="Arial"/>
                <a:cs typeface="Arial"/>
              </a:rPr>
              <a:t>RETRIEVAL WARM-UP</a:t>
            </a:r>
          </a:p>
        </p:txBody>
      </p:sp>
      <p:sp>
        <p:nvSpPr>
          <p:cNvPr id="17" name="">
            <a:extLst xmlns:a="http://schemas.openxmlformats.org/drawingml/2006/main">
              <a:ext uri="{FF2B5EF4-FFF2-40B4-BE49-F238E27FC236}">
                <a16:creationId xmlns:a16="http://schemas.microsoft.com/office/drawing/2014/main" id="{2E751BCE-1795-4E9E-A8FB-7E99FB8ED75C}"/>
              </a:ext>
            </a:extLst>
          </p:cNvPr>
          <p:cNvSpPr>
            <a:spLocks xmlns:a="http://schemas.openxmlformats.org/drawingml/2006/main" noGrp="1"/>
          </p:cNvSpPr>
          <p:nvPr/>
        </p:nvSpPr>
        <p:spPr>
          <a:xfrm xmlns:a="http://schemas.openxmlformats.org/drawingml/2006/main">
            <a:off x="8191500" y="2609850"/>
            <a:ext cx="2952750" cy="1390650"/>
          </a:xfrm>
          <a:prstGeom xmlns:a="http://schemas.openxmlformats.org/drawingml/2006/main" prst="roundRect">
            <a:avLst>
              <a:gd name="adj" fmla="val 8219"/>
            </a:avLst>
          </a:prstGeom>
          <a:solidFill xmlns:a="http://schemas.openxmlformats.org/drawingml/2006/main">
            <a:srgbClr val="17342C"/>
          </a:solidFill>
          <a:ln xmlns:a="http://schemas.openxmlformats.org/drawingml/2006/main" w="0">
            <a:noFill/>
            <a:prstDash val="solid"/>
          </a:ln>
        </p:spPr>
        <p:txBody>
          <a:bodyPr xmlns:a="http://schemas.openxmlformats.org/drawingml/2006/main" lIns="209550" tIns="209550" rIns="209550" bIns="209550" anchor="ctr">
            <a:normAutofit fontScale="86574"/>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Which features should stay stable across a poster, cup and uniform?</a:t>
            </a:r>
          </a:p>
        </p:txBody>
      </p:sp>
      <p:sp>
        <p:nvSpPr>
          <p:cNvPr id="18" name="">
            <a:extLst xmlns:a="http://schemas.openxmlformats.org/drawingml/2006/main">
              <a:ext uri="{FF2B5EF4-FFF2-40B4-BE49-F238E27FC236}">
                <a16:creationId xmlns:a16="http://schemas.microsoft.com/office/drawing/2014/main" id="{BC1EE681-9E50-4EBD-8C64-5098BB20F781}"/>
              </a:ext>
            </a:extLst>
          </p:cNvPr>
          <p:cNvSpPr>
            <a:spLocks xmlns:a="http://schemas.openxmlformats.org/drawingml/2006/main" noGrp="1"/>
          </p:cNvSpPr>
          <p:nvPr/>
        </p:nvSpPr>
        <p:spPr>
          <a:xfrm xmlns:a="http://schemas.openxmlformats.org/drawingml/2006/main">
            <a:off x="8191500" y="4229100"/>
            <a:ext cx="295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17342C"/>
                </a:solidFill>
                <a:latin typeface="Arial"/>
                <a:ea typeface="Arial"/>
                <a:cs typeface="Arial"/>
              </a:defRPr>
            </a:pPr>
            <a:r>
              <a:rPr sz="1275" b="0">
                <a:solidFill>
                  <a:srgbClr val="17342C"/>
                </a:solidFill>
                <a:latin typeface="Arial"/>
                <a:ea typeface="Arial"/>
                <a:cs typeface="Arial"/>
              </a:rPr>
              <a:t>Think silently → pair → share one reason.</a:t>
            </a:r>
          </a:p>
        </p:txBody>
      </p:sp>
      <p:sp>
        <p:nvSpPr>
          <p:cNvPr id="19" name="">
            <a:extLst xmlns:a="http://schemas.openxmlformats.org/drawingml/2006/main">
              <a:ext uri="{FF2B5EF4-FFF2-40B4-BE49-F238E27FC236}">
                <a16:creationId xmlns:a16="http://schemas.microsoft.com/office/drawing/2014/main" id="{53381DB7-7C3F-446D-95E1-FC2BE4035EA6}"/>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06  •  BRAND APPLICATIONS</a:t>
            </a:r>
          </a:p>
        </p:txBody>
      </p:sp>
      <p:sp>
        <p:nvSpPr>
          <p:cNvPr id="20" name="">
            <a:extLst xmlns:a="http://schemas.openxmlformats.org/drawingml/2006/main">
              <a:ext uri="{FF2B5EF4-FFF2-40B4-BE49-F238E27FC236}">
                <a16:creationId xmlns:a16="http://schemas.microsoft.com/office/drawing/2014/main" id="{22CDF12B-3BB7-41C4-871F-102BCFCA01EC}"/>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02</a:t>
            </a:r>
          </a:p>
        </p:txBody>
      </p:sp>
    </p:spTree>
    <p:extLst>
      <p:ext uri="{BB962C8B-B14F-4D97-AF65-F5344CB8AC3E}">
        <p14:creationId xmlns:p14="http://schemas.microsoft.com/office/powerpoint/2010/main" val="2134379722"/>
      </p:ext>
    </p:extLst>
  </p:cSld>
</p:sld>
</file>

<file path=ppt/slides/slide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672BA94-F483-47EB-AAE1-29DC831F0B24}"/>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26D6EC1-DE8C-41CD-BCBA-B8C233223206}"/>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6.1  CONSISTENT IDENTITY</a:t>
            </a:r>
          </a:p>
        </p:txBody>
      </p:sp>
      <p:sp>
        <p:nvSpPr>
          <p:cNvPr id="3" name="">
            <a:extLst xmlns:a="http://schemas.openxmlformats.org/drawingml/2006/main">
              <a:ext uri="{FF2B5EF4-FFF2-40B4-BE49-F238E27FC236}">
                <a16:creationId xmlns:a16="http://schemas.microsoft.com/office/drawing/2014/main" id="{C3968B7D-57A2-4EEF-BBC8-B15302458BC7}"/>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Consistent identity</a:t>
            </a:r>
          </a:p>
        </p:txBody>
      </p:sp>
      <p:sp>
        <p:nvSpPr>
          <p:cNvPr id="4" name="">
            <a:extLst xmlns:a="http://schemas.openxmlformats.org/drawingml/2006/main">
              <a:ext uri="{FF2B5EF4-FFF2-40B4-BE49-F238E27FC236}">
                <a16:creationId xmlns:a16="http://schemas.microsoft.com/office/drawing/2014/main" id="{9954545D-1BD7-4540-8E84-45C6B706F144}"/>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6F4F1009-1ABB-4E1C-832E-4149F90650D6}"/>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B4B16A9-6FE8-4D74-A8AA-3B951D83CB6D}"/>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Consistency repeats meaningful relationships.</a:t>
            </a:r>
          </a:p>
        </p:txBody>
      </p:sp>
      <p:sp>
        <p:nvSpPr>
          <p:cNvPr id="7" name="">
            <a:extLst xmlns:a="http://schemas.openxmlformats.org/drawingml/2006/main">
              <a:ext uri="{FF2B5EF4-FFF2-40B4-BE49-F238E27FC236}">
                <a16:creationId xmlns:a16="http://schemas.microsoft.com/office/drawing/2014/main" id="{BB526EAF-F024-46C8-8A28-E293DB146437}"/>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8B5CD95-1A5D-49CD-AB54-47345212A27C}"/>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Different applications can use controlled variants.</a:t>
            </a:r>
          </a:p>
        </p:txBody>
      </p:sp>
      <p:sp>
        <p:nvSpPr>
          <p:cNvPr id="9" name="">
            <a:extLst xmlns:a="http://schemas.openxmlformats.org/drawingml/2006/main">
              <a:ext uri="{FF2B5EF4-FFF2-40B4-BE49-F238E27FC236}">
                <a16:creationId xmlns:a16="http://schemas.microsoft.com/office/drawing/2014/main" id="{6C9DCB69-D13D-4A69-B1B9-DF34ADC7382E}"/>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2DE1625-4B16-43F7-A507-FB9F6BBC8025}"/>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A style guide makes stable and flexible rules explicit.</a:t>
            </a:r>
          </a:p>
        </p:txBody>
      </p:sp>
      <p:sp>
        <p:nvSpPr>
          <p:cNvPr id="11" name="">
            <a:extLst xmlns:a="http://schemas.openxmlformats.org/drawingml/2006/main">
              <a:ext uri="{FF2B5EF4-FFF2-40B4-BE49-F238E27FC236}">
                <a16:creationId xmlns:a16="http://schemas.microsoft.com/office/drawing/2014/main" id="{240EA127-9E2A-4E97-8F81-15971661F67C}"/>
              </a:ext>
            </a:extLst>
          </p:cNvPr>
          <p:cNvSpPr>
            <a:spLocks xmlns:a="http://schemas.openxmlformats.org/drawingml/2006/main" noGrp="1"/>
          </p:cNvSpPr>
          <p:nvPr/>
        </p:nvSpPr>
        <p:spPr>
          <a:xfrm xmlns:a="http://schemas.openxmlformats.org/drawingml/2006/main">
            <a:off x="7200900" y="1352550"/>
            <a:ext cx="4305300" cy="2419350"/>
          </a:xfrm>
          <a:prstGeom xmlns:a="http://schemas.openxmlformats.org/drawingml/2006/main" prst="roundRect">
            <a:avLst>
              <a:gd name="adj" fmla="val 4724"/>
            </a:avLst>
          </a:prstGeom>
          <a:solidFill xmlns:a="http://schemas.openxmlformats.org/drawingml/2006/main">
            <a:srgbClr val="FFFFFF"/>
          </a:solidFill>
          <a:ln xmlns:a="http://schemas.openxmlformats.org/drawingml/2006/main" w="9525">
            <a:solidFill>
              <a:srgbClr val="CFD8D2"/>
            </a:solidFill>
            <a:prstDash val="solid"/>
          </a:ln>
        </p:spPr>
      </p:sp>
      <p:pic>
        <p:nvPicPr>
          <p:cNvPr id="30" name="Brand Touchpoints" title="Brand Touchpoints" descr="Studio photograph of a kraft takeaway bag, paper cup and wrapped food item using the same teal circle and orange striped-circle motif."/>
          <p:cNvPicPr>
            <a:picLocks xmlns:a="http://schemas.openxmlformats.org/drawingml/2006/main" noChangeAspect="1"/>
          </p:cNvPicPr>
          <p:nvPr/>
        </p:nvPicPr>
        <p:blipFill>
          <a:blip xmlns:r="http://schemas.openxmlformats.org/officeDocument/2006/relationships" xmlns:a="http://schemas.openxmlformats.org/drawingml/2006/main" r:embed="Rbf922f9d7485475d"/>
          <a:stretch xmlns:a="http://schemas.openxmlformats.org/drawingml/2006/main"/>
        </p:blipFill>
        <p:spPr>
          <a:xfrm xmlns:a="http://schemas.openxmlformats.org/drawingml/2006/main">
            <a:off x="7204159" y="1352550"/>
            <a:ext cx="4298781" cy="2419350"/>
          </a:xfrm>
          <a:prstGeom xmlns:a="http://schemas.openxmlformats.org/drawingml/2006/main" prst="roundRect">
            <a:avLst>
              <a:gd name="adj" fmla="val 4724"/>
            </a:avLst>
          </a:prstGeom>
        </p:spPr>
      </p:pic>
      <p:sp>
        <p:nvSpPr>
          <p:cNvPr id="13" name="">
            <a:extLst xmlns:a="http://schemas.openxmlformats.org/drawingml/2006/main">
              <a:ext uri="{FF2B5EF4-FFF2-40B4-BE49-F238E27FC236}">
                <a16:creationId xmlns:a16="http://schemas.microsoft.com/office/drawing/2014/main" id="{AF543FED-3FFE-4D11-AA23-178724599CD7}"/>
              </a:ext>
            </a:extLst>
          </p:cNvPr>
          <p:cNvSpPr>
            <a:spLocks xmlns:a="http://schemas.openxmlformats.org/drawingml/2006/main" noGrp="1"/>
          </p:cNvSpPr>
          <p:nvPr/>
        </p:nvSpPr>
        <p:spPr>
          <a:xfrm xmlns:a="http://schemas.openxmlformats.org/drawingml/2006/main">
            <a:off x="7200900" y="3848100"/>
            <a:ext cx="430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17342C"/>
                </a:solidFill>
                <a:latin typeface="Arial"/>
                <a:ea typeface="Arial"/>
                <a:cs typeface="Arial"/>
              </a:defRPr>
            </a:pPr>
            <a:r>
              <a:rPr sz="1050" b="1">
                <a:solidFill>
                  <a:srgbClr val="17342C"/>
                </a:solidFill>
                <a:latin typeface="Arial"/>
                <a:ea typeface="Arial"/>
                <a:cs typeface="Arial"/>
              </a:rPr>
              <a:t>Three unbranded takeaway touchpoints carry the same geometric motif, showing controlled identity across different forms.</a:t>
            </a:r>
          </a:p>
        </p:txBody>
      </p:sp>
      <p:sp>
        <p:nvSpPr>
          <p:cNvPr id="14" name="">
            <a:extLst xmlns:a="http://schemas.openxmlformats.org/drawingml/2006/main">
              <a:ext uri="{FF2B5EF4-FFF2-40B4-BE49-F238E27FC236}">
                <a16:creationId xmlns:a16="http://schemas.microsoft.com/office/drawing/2014/main" id="{96FD426A-FA42-485A-8EDE-E74BC89ECD55}"/>
              </a:ext>
            </a:extLst>
          </p:cNvPr>
          <p:cNvSpPr>
            <a:spLocks xmlns:a="http://schemas.openxmlformats.org/drawingml/2006/main" noGrp="1"/>
          </p:cNvSpPr>
          <p:nvPr/>
        </p:nvSpPr>
        <p:spPr>
          <a:xfrm xmlns:a="http://schemas.openxmlformats.org/drawingml/2006/main">
            <a:off x="7200900" y="4324350"/>
            <a:ext cx="4305300" cy="514350"/>
          </a:xfrm>
          <a:prstGeom xmlns:a="http://schemas.openxmlformats.org/drawingml/2006/main" prst="roundRect">
            <a:avLst>
              <a:gd name="adj" fmla="val 14815"/>
            </a:avLst>
          </a:prstGeom>
          <a:solidFill xmlns:a="http://schemas.openxmlformats.org/drawingml/2006/main">
            <a:srgbClr val="FCF4D8"/>
          </a:solidFill>
          <a:ln xmlns:a="http://schemas.openxmlformats.org/drawingml/2006/main" w="0">
            <a:noFill/>
            <a:prstDash val="solid"/>
          </a:ln>
        </p:spPr>
        <p:txBody>
          <a:bodyPr xmlns:a="http://schemas.openxmlformats.org/drawingml/2006/main" lIns="95250" tIns="57150" rIns="95250" bIns="57150" anchor="ctr">
            <a:normAutofit fontScale="100000"/>
          </a:bodyPr>
          <a:lstStyle xmlns:a="http://schemas.openxmlformats.org/drawingml/2006/main"/>
          <a:p xmlns:a="http://schemas.openxmlformats.org/drawingml/2006/main">
            <a:pPr algn="l">
              <a:defRPr sz="1050" b="1">
                <a:solidFill>
                  <a:srgbClr val="0C5554"/>
                </a:solidFill>
                <a:latin typeface="Arial"/>
                <a:ea typeface="Arial"/>
                <a:cs typeface="Arial"/>
              </a:defRPr>
            </a:pPr>
            <a:r>
              <a:rPr sz="1050" b="1">
                <a:solidFill>
                  <a:srgbClr val="0C5554"/>
                </a:solidFill>
                <a:latin typeface="Arial"/>
                <a:ea typeface="Arial"/>
                <a:cs typeface="Arial"/>
              </a:rPr>
              <a:t>Notice: Which features repeat exactly, and which placement decisions adapt to each object?</a:t>
            </a:r>
          </a:p>
        </p:txBody>
      </p:sp>
      <p:sp>
        <p:nvSpPr>
          <p:cNvPr id="15" name="">
            <a:extLst xmlns:a="http://schemas.openxmlformats.org/drawingml/2006/main">
              <a:ext uri="{FF2B5EF4-FFF2-40B4-BE49-F238E27FC236}">
                <a16:creationId xmlns:a16="http://schemas.microsoft.com/office/drawing/2014/main" id="{3EDC87A3-9EDE-4928-A169-BDDC901C16E3}"/>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16" name="">
            <a:extLst xmlns:a="http://schemas.openxmlformats.org/drawingml/2006/main">
              <a:ext uri="{FF2B5EF4-FFF2-40B4-BE49-F238E27FC236}">
                <a16:creationId xmlns:a16="http://schemas.microsoft.com/office/drawing/2014/main" id="{E367F419-E27B-4AA0-A6A4-F95A5CD8D0E8}"/>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What creates brand consistency?</a:t>
            </a:r>
          </a:p>
        </p:txBody>
      </p:sp>
      <p:sp>
        <p:nvSpPr>
          <p:cNvPr id="17" name="">
            <a:extLst xmlns:a="http://schemas.openxmlformats.org/drawingml/2006/main">
              <a:ext uri="{FF2B5EF4-FFF2-40B4-BE49-F238E27FC236}">
                <a16:creationId xmlns:a16="http://schemas.microsoft.com/office/drawing/2014/main" id="{1E17182A-77F6-4E91-B983-236A50B69073}"/>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06  •  BRAND APPLICATIONS</a:t>
            </a:r>
          </a:p>
        </p:txBody>
      </p:sp>
      <p:sp>
        <p:nvSpPr>
          <p:cNvPr id="18" name="">
            <a:extLst xmlns:a="http://schemas.openxmlformats.org/drawingml/2006/main">
              <a:ext uri="{FF2B5EF4-FFF2-40B4-BE49-F238E27FC236}">
                <a16:creationId xmlns:a16="http://schemas.microsoft.com/office/drawing/2014/main" id="{81A1211D-73FB-48D8-A3F1-BDA7BD07F47B}"/>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03</a:t>
            </a:r>
          </a:p>
        </p:txBody>
      </p:sp>
    </p:spTree>
    <p:extLst>
      <p:ext uri="{BB962C8B-B14F-4D97-AF65-F5344CB8AC3E}">
        <p14:creationId xmlns:p14="http://schemas.microsoft.com/office/powerpoint/2010/main" val="1951830334"/>
      </p:ext>
    </p:extLst>
  </p:cSld>
</p:sld>
</file>

<file path=ppt/slides/slide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7C28B37-035D-4836-9D8D-20185CCA443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98F7A74-3562-4F86-B525-30453AC1693B}"/>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6.2  DESIGNING A STAFF UNIFORM</a:t>
            </a:r>
          </a:p>
        </p:txBody>
      </p:sp>
      <p:sp>
        <p:nvSpPr>
          <p:cNvPr id="3" name="">
            <a:extLst xmlns:a="http://schemas.openxmlformats.org/drawingml/2006/main">
              <a:ext uri="{FF2B5EF4-FFF2-40B4-BE49-F238E27FC236}">
                <a16:creationId xmlns:a16="http://schemas.microsoft.com/office/drawing/2014/main" id="{7C2B5F3F-9582-4F3E-96F7-CB33446CE560}"/>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Designing a staff uniform</a:t>
            </a:r>
          </a:p>
        </p:txBody>
      </p:sp>
      <p:sp>
        <p:nvSpPr>
          <p:cNvPr id="4" name="">
            <a:extLst xmlns:a="http://schemas.openxmlformats.org/drawingml/2006/main">
              <a:ext uri="{FF2B5EF4-FFF2-40B4-BE49-F238E27FC236}">
                <a16:creationId xmlns:a16="http://schemas.microsoft.com/office/drawing/2014/main" id="{2D938E63-6870-4871-8BB5-9B7C6CBDF60C}"/>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2A40B90F-D74E-4F4A-81B8-E17633DA90D4}"/>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FEF82B3-9A16-4808-B318-D0029F137147}"/>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The uniform is a brand-application concept, not proof of manufacture.</a:t>
            </a:r>
          </a:p>
        </p:txBody>
      </p:sp>
      <p:sp>
        <p:nvSpPr>
          <p:cNvPr id="7" name="">
            <a:extLst xmlns:a="http://schemas.openxmlformats.org/drawingml/2006/main">
              <a:ext uri="{FF2B5EF4-FFF2-40B4-BE49-F238E27FC236}">
                <a16:creationId xmlns:a16="http://schemas.microsoft.com/office/drawing/2014/main" id="{4DA6A5A2-2622-4C73-90E5-BD10C19488C8}"/>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6D9E431-6195-4F15-87F2-33A092B21F99}"/>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Placement and scale change recognition.</a:t>
            </a:r>
          </a:p>
        </p:txBody>
      </p:sp>
      <p:sp>
        <p:nvSpPr>
          <p:cNvPr id="9" name="">
            <a:extLst xmlns:a="http://schemas.openxmlformats.org/drawingml/2006/main">
              <a:ext uri="{FF2B5EF4-FFF2-40B4-BE49-F238E27FC236}">
                <a16:creationId xmlns:a16="http://schemas.microsoft.com/office/drawing/2014/main" id="{CF111628-55ED-49E9-83FE-3E21C0631922}"/>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9867E1D-0498-4844-ABCA-7F272C4063F2}"/>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Unverified garment and production facts stay out.</a:t>
            </a:r>
          </a:p>
        </p:txBody>
      </p:sp>
      <p:sp>
        <p:nvSpPr>
          <p:cNvPr id="11" name="">
            <a:extLst xmlns:a="http://schemas.openxmlformats.org/drawingml/2006/main">
              <a:ext uri="{FF2B5EF4-FFF2-40B4-BE49-F238E27FC236}">
                <a16:creationId xmlns:a16="http://schemas.microsoft.com/office/drawing/2014/main" id="{3B3C4111-7F3F-416B-801D-433D2E14C624}"/>
              </a:ext>
            </a:extLst>
          </p:cNvPr>
          <p:cNvSpPr>
            <a:spLocks xmlns:a="http://schemas.openxmlformats.org/drawingml/2006/main" noGrp="1"/>
          </p:cNvSpPr>
          <p:nvPr/>
        </p:nvSpPr>
        <p:spPr>
          <a:xfrm xmlns:a="http://schemas.openxmlformats.org/drawingml/2006/main">
            <a:off x="7200900" y="1352550"/>
            <a:ext cx="4305300" cy="2419350"/>
          </a:xfrm>
          <a:prstGeom xmlns:a="http://schemas.openxmlformats.org/drawingml/2006/main" prst="roundRect">
            <a:avLst>
              <a:gd name="adj" fmla="val 4724"/>
            </a:avLst>
          </a:prstGeom>
          <a:solidFill xmlns:a="http://schemas.openxmlformats.org/drawingml/2006/main">
            <a:srgbClr val="FFFFFF"/>
          </a:solidFill>
          <a:ln xmlns:a="http://schemas.openxmlformats.org/drawingml/2006/main" w="9525">
            <a:solidFill>
              <a:srgbClr val="CFD8D2"/>
            </a:solidFill>
            <a:prstDash val="solid"/>
          </a:ln>
        </p:spPr>
      </p:sp>
      <p:pic>
        <p:nvPicPr>
          <p:cNvPr id="34" name="Uniform System" title="Uniform System" descr="Navy T-shirt, cap and apron on hangers, each carrying the same muted circular geometric motif."/>
          <p:cNvPicPr>
            <a:picLocks xmlns:a="http://schemas.openxmlformats.org/drawingml/2006/main" noChangeAspect="1"/>
          </p:cNvPicPr>
          <p:nvPr/>
        </p:nvPicPr>
        <p:blipFill>
          <a:blip xmlns:r="http://schemas.openxmlformats.org/officeDocument/2006/relationships" xmlns:a="http://schemas.openxmlformats.org/drawingml/2006/main" r:embed="R471009e2eb354709"/>
          <a:srcRect xmlns:a="http://schemas.openxmlformats.org/drawingml/2006/main" l="0" t="76" r="0" b="76"/>
          <a:stretch xmlns:a="http://schemas.openxmlformats.org/drawingml/2006/main">
            <a:fillRect l="0" t="0" r="0" b="0"/>
          </a:stretch>
        </p:blipFill>
        <p:spPr>
          <a:xfrm xmlns:a="http://schemas.openxmlformats.org/drawingml/2006/main">
            <a:off x="7200900" y="1352550"/>
            <a:ext cx="4305300" cy="2419350"/>
          </a:xfrm>
          <a:prstGeom xmlns:a="http://schemas.openxmlformats.org/drawingml/2006/main" prst="roundRect">
            <a:avLst>
              <a:gd name="adj" fmla="val 4724"/>
            </a:avLst>
          </a:prstGeom>
        </p:spPr>
      </p:pic>
      <p:sp>
        <p:nvSpPr>
          <p:cNvPr id="13" name="">
            <a:extLst xmlns:a="http://schemas.openxmlformats.org/drawingml/2006/main">
              <a:ext uri="{FF2B5EF4-FFF2-40B4-BE49-F238E27FC236}">
                <a16:creationId xmlns:a16="http://schemas.microsoft.com/office/drawing/2014/main" id="{96FD9318-E1C1-4D45-8CD8-3ADFF40CA059}"/>
              </a:ext>
            </a:extLst>
          </p:cNvPr>
          <p:cNvSpPr>
            <a:spLocks xmlns:a="http://schemas.openxmlformats.org/drawingml/2006/main" noGrp="1"/>
          </p:cNvSpPr>
          <p:nvPr/>
        </p:nvSpPr>
        <p:spPr>
          <a:xfrm xmlns:a="http://schemas.openxmlformats.org/drawingml/2006/main">
            <a:off x="7200900" y="3810000"/>
            <a:ext cx="4305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9744"/>
          </a:bodyPr>
          <a:lstStyle xmlns:a="http://schemas.openxmlformats.org/drawingml/2006/main"/>
          <a:p xmlns:a="http://schemas.openxmlformats.org/drawingml/2006/main">
            <a:pPr algn="l">
              <a:defRPr sz="975" b="1">
                <a:solidFill>
                  <a:srgbClr val="17342C"/>
                </a:solidFill>
                <a:latin typeface="Arial"/>
                <a:ea typeface="Arial"/>
                <a:cs typeface="Arial"/>
              </a:defRPr>
            </a:pPr>
            <a:r>
              <a:rPr sz="975" b="1">
                <a:solidFill>
                  <a:srgbClr val="17342C"/>
                </a:solidFill>
                <a:latin typeface="Arial"/>
                <a:ea typeface="Arial"/>
                <a:cs typeface="Arial"/>
              </a:rPr>
              <a:t>A T-shirt, cap and apron repeat one restrained motif while adapting its scale and placement to each garment.</a:t>
            </a:r>
          </a:p>
        </p:txBody>
      </p:sp>
      <p:sp>
        <p:nvSpPr>
          <p:cNvPr id="14" name="">
            <a:extLst xmlns:a="http://schemas.openxmlformats.org/drawingml/2006/main">
              <a:ext uri="{FF2B5EF4-FFF2-40B4-BE49-F238E27FC236}">
                <a16:creationId xmlns:a16="http://schemas.microsoft.com/office/drawing/2014/main" id="{3F97DBC6-7DE1-4D96-B99B-108DC6F6CB33}"/>
              </a:ext>
            </a:extLst>
          </p:cNvPr>
          <p:cNvSpPr>
            <a:spLocks xmlns:a="http://schemas.openxmlformats.org/drawingml/2006/main" noGrp="1"/>
          </p:cNvSpPr>
          <p:nvPr/>
        </p:nvSpPr>
        <p:spPr>
          <a:xfrm xmlns:a="http://schemas.openxmlformats.org/drawingml/2006/main">
            <a:off x="7200900" y="4133850"/>
            <a:ext cx="4305300" cy="400050"/>
          </a:xfrm>
          <a:prstGeom xmlns:a="http://schemas.openxmlformats.org/drawingml/2006/main" prst="roundRect">
            <a:avLst>
              <a:gd name="adj" fmla="val 19048"/>
            </a:avLst>
          </a:prstGeom>
          <a:solidFill xmlns:a="http://schemas.openxmlformats.org/drawingml/2006/main">
            <a:srgbClr val="FCF4D8"/>
          </a:solidFill>
          <a:ln xmlns:a="http://schemas.openxmlformats.org/drawingml/2006/main" w="0">
            <a:noFill/>
            <a:prstDash val="solid"/>
          </a:ln>
        </p:spPr>
        <p:txBody>
          <a:bodyPr xmlns:a="http://schemas.openxmlformats.org/drawingml/2006/main" lIns="85725" tIns="47625" rIns="85725" bIns="47625" anchor="ctr">
            <a:normAutofit fontScale="87544"/>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Notice: Which placement remains visible without interfering with the garment’s practical use?</a:t>
            </a:r>
          </a:p>
        </p:txBody>
      </p:sp>
      <p:sp>
        <p:nvSpPr>
          <p:cNvPr id="15" name="">
            <a:extLst xmlns:a="http://schemas.openxmlformats.org/drawingml/2006/main">
              <a:ext uri="{FF2B5EF4-FFF2-40B4-BE49-F238E27FC236}">
                <a16:creationId xmlns:a16="http://schemas.microsoft.com/office/drawing/2014/main" id="{16FB8C54-22C7-4B06-8797-B0A27D5BE0CE}"/>
              </a:ext>
            </a:extLst>
          </p:cNvPr>
          <p:cNvSpPr>
            <a:spLocks xmlns:a="http://schemas.openxmlformats.org/drawingml/2006/main" noGrp="1"/>
          </p:cNvSpPr>
          <p:nvPr/>
        </p:nvSpPr>
        <p:spPr>
          <a:xfrm xmlns:a="http://schemas.openxmlformats.org/drawingml/2006/main">
            <a:off x="7200900" y="4610100"/>
            <a:ext cx="1123950" cy="628650"/>
          </a:xfrm>
          <a:prstGeom xmlns:a="http://schemas.openxmlformats.org/drawingml/2006/main" prst="roundRect">
            <a:avLst>
              <a:gd name="adj" fmla="val 18182"/>
            </a:avLst>
          </a:prstGeom>
          <a:solidFill xmlns:a="http://schemas.openxmlformats.org/drawingml/2006/main">
            <a:srgbClr val="0C5554"/>
          </a:solidFill>
          <a:ln xmlns:a="http://schemas.openxmlformats.org/drawingml/2006/main" w="9525">
            <a:solidFill>
              <a:srgbClr val="CFD8D2"/>
            </a:solidFill>
            <a:prstDash val="solid"/>
          </a:ln>
        </p:spPr>
      </p:sp>
      <p:pic>
        <p:nvPicPr>
          <p:cNvPr id="38" name="Drive video poster — Creating a Staff Uniform in Canva Demo.mp4" title="Drive video poster — Creating a Staff Uniform in Canva Demo.mp4" descr="Custom privacy-safe poster for Creating a Staff Uniform in Canva Demo.mp4, duration 1:54. Ctrl+click the poster to open the authorised Drive video.">
            <a:hlinkClick xmlns:a="http://schemas.openxmlformats.org/drawingml/2006/main" xmlns:r="http://schemas.openxmlformats.org/officeDocument/2006/relationships" r:id="RStage07Hyperlink4_2"/>
          </p:cNvPr>
          <p:cNvPicPr>
            <a:picLocks xmlns:a="http://schemas.openxmlformats.org/drawingml/2006/main" noChangeAspect="1"/>
          </p:cNvPicPr>
          <p:nvPr/>
        </p:nvPicPr>
        <p:blipFill>
          <a:blip xmlns:r="http://schemas.openxmlformats.org/officeDocument/2006/relationships" xmlns:a="http://schemas.openxmlformats.org/drawingml/2006/main" r:embed="R66c96e8f75264372"/>
          <a:stretch xmlns:a="http://schemas.openxmlformats.org/drawingml/2006/main"/>
        </p:blipFill>
        <p:spPr>
          <a:xfrm xmlns:a="http://schemas.openxmlformats.org/drawingml/2006/main">
            <a:off x="7204351" y="4610100"/>
            <a:ext cx="1117048" cy="628650"/>
          </a:xfrm>
          <a:prstGeom xmlns:a="http://schemas.openxmlformats.org/drawingml/2006/main" prst="roundRect">
            <a:avLst>
              <a:gd name="adj" fmla="val 18182"/>
            </a:avLst>
          </a:prstGeom>
        </p:spPr>
      </p:pic>
      <p:sp>
        <p:nvSpPr>
          <p:cNvPr id="17" name="">
            <a:extLst xmlns:a="http://schemas.openxmlformats.org/drawingml/2006/main">
              <a:ext uri="{FF2B5EF4-FFF2-40B4-BE49-F238E27FC236}">
                <a16:creationId xmlns:a16="http://schemas.microsoft.com/office/drawing/2014/main" id="{AA01C8FB-F973-44C5-AAAB-07A97CE337B8}"/>
              </a:ext>
            </a:extLst>
          </p:cNvPr>
          <p:cNvSpPr>
            <a:spLocks xmlns:a="http://schemas.openxmlformats.org/drawingml/2006/main" noGrp="1"/>
          </p:cNvSpPr>
          <p:nvPr/>
        </p:nvSpPr>
        <p:spPr>
          <a:xfrm xmlns:a="http://schemas.openxmlformats.org/drawingml/2006/main">
            <a:off x="8439150" y="4610100"/>
            <a:ext cx="3067050" cy="247650"/>
          </a:xfrm>
          <a:prstGeom xmlns:a="http://schemas.openxmlformats.org/drawingml/2006/main" prst="roundRect">
            <a:avLst>
              <a:gd name="adj" fmla="val 30769"/>
            </a:avLst>
          </a:prstGeom>
          <a:solidFill xmlns:a="http://schemas.openxmlformats.org/drawingml/2006/main">
            <a:srgbClr val="FCF4D8"/>
          </a:solidFill>
          <a:ln xmlns:a="http://schemas.openxmlformats.org/drawingml/2006/main" w="0">
            <a:noFill/>
            <a:prstDash val="solid"/>
          </a:ln>
        </p:spPr>
        <p:txBody>
          <a:bodyPr xmlns:a="http://schemas.openxmlformats.org/drawingml/2006/main" lIns="57150" tIns="28575" rIns="57150" bIns="28575" anchor="ctr">
            <a:normAutofit fontScale="100000"/>
          </a:bodyPr>
          <a:lstStyle xmlns:a="http://schemas.openxmlformats.org/drawingml/2006/main"/>
          <a:p xmlns:a="http://schemas.openxmlformats.org/drawingml/2006/main">
            <a:pPr algn="ctr">
              <a:defRPr sz="825" b="1">
                <a:solidFill>
                  <a:srgbClr val="0C5554"/>
                </a:solidFill>
                <a:latin typeface="Arial"/>
                <a:ea typeface="Arial"/>
                <a:cs typeface="Arial"/>
              </a:defRPr>
            </a:pPr>
            <a:r>
              <a:rPr sz="825" b="1">
                <a:solidFill>
                  <a:srgbClr val="0C5554"/>
                </a:solidFill>
                <a:latin typeface="Arial"/>
                <a:ea typeface="Arial"/>
                <a:cs typeface="Arial"/>
              </a:rPr>
              <a:t>TEACHER: CTRL+CLICK POSTER TO OPEN DRIVE  •  1:54</a:t>
            </a:r>
          </a:p>
        </p:txBody>
      </p:sp>
      <p:sp>
        <p:nvSpPr>
          <p:cNvPr id="18" name="">
            <a:extLst xmlns:a="http://schemas.openxmlformats.org/drawingml/2006/main">
              <a:ext uri="{FF2B5EF4-FFF2-40B4-BE49-F238E27FC236}">
                <a16:creationId xmlns:a16="http://schemas.microsoft.com/office/drawing/2014/main" id="{78C411FD-C678-458F-BDAA-BB1C411B86A4}"/>
              </a:ext>
            </a:extLst>
          </p:cNvPr>
          <p:cNvSpPr>
            <a:spLocks xmlns:a="http://schemas.openxmlformats.org/drawingml/2006/main" noGrp="1"/>
          </p:cNvSpPr>
          <p:nvPr/>
        </p:nvSpPr>
        <p:spPr>
          <a:xfrm xmlns:a="http://schemas.openxmlformats.org/drawingml/2006/main">
            <a:off x="8439150" y="4895850"/>
            <a:ext cx="3067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6637"/>
          </a:bodyPr>
          <a:lstStyle xmlns:a="http://schemas.openxmlformats.org/drawingml/2006/main"/>
          <a:p xmlns:a="http://schemas.openxmlformats.org/drawingml/2006/main">
            <a:pPr algn="l">
              <a:defRPr sz="900" b="1">
                <a:solidFill>
                  <a:srgbClr val="17342C"/>
                </a:solidFill>
                <a:latin typeface="Arial"/>
                <a:ea typeface="Arial"/>
                <a:cs typeface="Arial"/>
              </a:defRPr>
            </a:pPr>
            <a:r>
              <a:rPr sz="900" b="1">
                <a:solidFill>
                  <a:srgbClr val="17342C"/>
                </a:solidFill>
                <a:latin typeface="Arial"/>
                <a:ea typeface="Arial"/>
                <a:cs typeface="Arial"/>
              </a:rPr>
              <a:t>WATCH FOR: Where is the identity placed, and what would you check for visibility, contrast and practical suitability?</a:t>
            </a:r>
          </a:p>
        </p:txBody>
      </p:sp>
      <p:sp>
        <p:nvSpPr>
          <p:cNvPr id="19" name="">
            <a:extLst xmlns:a="http://schemas.openxmlformats.org/drawingml/2006/main">
              <a:ext uri="{FF2B5EF4-FFF2-40B4-BE49-F238E27FC236}">
                <a16:creationId xmlns:a16="http://schemas.microsoft.com/office/drawing/2014/main" id="{C6E96501-05AC-40D9-A974-2E5A4B1A1FC9}"/>
              </a:ext>
            </a:extLst>
          </p:cNvPr>
          <p:cNvSpPr>
            <a:spLocks xmlns:a="http://schemas.openxmlformats.org/drawingml/2006/main" noGrp="1"/>
          </p:cNvSpPr>
          <p:nvPr/>
        </p:nvSpPr>
        <p:spPr>
          <a:xfrm xmlns:a="http://schemas.openxmlformats.org/drawingml/2006/main">
            <a:off x="7200900" y="53149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20" name="">
            <a:extLst xmlns:a="http://schemas.openxmlformats.org/drawingml/2006/main">
              <a:ext uri="{FF2B5EF4-FFF2-40B4-BE49-F238E27FC236}">
                <a16:creationId xmlns:a16="http://schemas.microsoft.com/office/drawing/2014/main" id="{F761D2D7-40B2-45A9-A0A9-B8827E8CBFC5}"/>
              </a:ext>
            </a:extLst>
          </p:cNvPr>
          <p:cNvSpPr>
            <a:spLocks xmlns:a="http://schemas.openxmlformats.org/drawingml/2006/main" noGrp="1"/>
          </p:cNvSpPr>
          <p:nvPr/>
        </p:nvSpPr>
        <p:spPr>
          <a:xfrm xmlns:a="http://schemas.openxmlformats.org/drawingml/2006/main">
            <a:off x="7200900" y="5524500"/>
            <a:ext cx="4305300" cy="666750"/>
          </a:xfrm>
          <a:prstGeom xmlns:a="http://schemas.openxmlformats.org/drawingml/2006/main" prst="roundRect">
            <a:avLst>
              <a:gd name="adj" fmla="val 11429"/>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What does the source confirm about the uniform task?</a:t>
            </a:r>
          </a:p>
        </p:txBody>
      </p:sp>
      <p:sp>
        <p:nvSpPr>
          <p:cNvPr id="21" name="">
            <a:extLst xmlns:a="http://schemas.openxmlformats.org/drawingml/2006/main">
              <a:ext uri="{FF2B5EF4-FFF2-40B4-BE49-F238E27FC236}">
                <a16:creationId xmlns:a16="http://schemas.microsoft.com/office/drawing/2014/main" id="{23F08147-6DAA-43CD-8326-0FD6DBD04C2C}"/>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06  •  BRAND APPLICATIONS</a:t>
            </a:r>
          </a:p>
        </p:txBody>
      </p:sp>
      <p:sp>
        <p:nvSpPr>
          <p:cNvPr id="22" name="">
            <a:extLst xmlns:a="http://schemas.openxmlformats.org/drawingml/2006/main">
              <a:ext uri="{FF2B5EF4-FFF2-40B4-BE49-F238E27FC236}">
                <a16:creationId xmlns:a16="http://schemas.microsoft.com/office/drawing/2014/main" id="{D1F4A7BC-00D9-4980-B50B-93D58568BE0F}"/>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04</a:t>
            </a:r>
          </a:p>
        </p:txBody>
      </p:sp>
    </p:spTree>
    <p:extLst>
      <p:ext uri="{BB962C8B-B14F-4D97-AF65-F5344CB8AC3E}">
        <p14:creationId xmlns:p14="http://schemas.microsoft.com/office/powerpoint/2010/main" val="1266406015"/>
      </p:ext>
    </p:extLst>
  </p:cSld>
</p:sld>
</file>

<file path=ppt/slides/slide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F224EF8-832E-4ACC-B766-A3DB60B1E1E0}"/>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6CF1AF9-B45B-40EB-BE16-32E533E2AE2F}"/>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6.3  CHECKING SUITABILITY AND ACCESSIBILITY</a:t>
            </a:r>
          </a:p>
        </p:txBody>
      </p:sp>
      <p:sp>
        <p:nvSpPr>
          <p:cNvPr id="3" name="">
            <a:extLst xmlns:a="http://schemas.openxmlformats.org/drawingml/2006/main">
              <a:ext uri="{FF2B5EF4-FFF2-40B4-BE49-F238E27FC236}">
                <a16:creationId xmlns:a16="http://schemas.microsoft.com/office/drawing/2014/main" id="{E8870D9C-2306-492E-969B-27D5E8E19D30}"/>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Checking suitability and accessibility</a:t>
            </a:r>
          </a:p>
        </p:txBody>
      </p:sp>
      <p:sp>
        <p:nvSpPr>
          <p:cNvPr id="4" name="">
            <a:extLst xmlns:a="http://schemas.openxmlformats.org/drawingml/2006/main">
              <a:ext uri="{FF2B5EF4-FFF2-40B4-BE49-F238E27FC236}">
                <a16:creationId xmlns:a16="http://schemas.microsoft.com/office/drawing/2014/main" id="{7A780E4E-43EA-4FD4-A4CC-261D3962A0D2}"/>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BA85B435-49AA-417F-8A9C-E17B4A19A333}"/>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F8C9917-38FA-4C89-A47A-1113570D4DF7}"/>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Suitability joins audience, purpose and context.</a:t>
            </a:r>
          </a:p>
        </p:txBody>
      </p:sp>
      <p:sp>
        <p:nvSpPr>
          <p:cNvPr id="7" name="">
            <a:extLst xmlns:a="http://schemas.openxmlformats.org/drawingml/2006/main">
              <a:ext uri="{FF2B5EF4-FFF2-40B4-BE49-F238E27FC236}">
                <a16:creationId xmlns:a16="http://schemas.microsoft.com/office/drawing/2014/main" id="{741F2BB2-DFB0-41E9-BB8B-4A0EA1C99E25}"/>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6D2F11B-28F6-48CE-AF6C-110B79E64D17}"/>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Accessibility includes contrast, text, shape and non-colour cues.</a:t>
            </a:r>
          </a:p>
        </p:txBody>
      </p:sp>
      <p:sp>
        <p:nvSpPr>
          <p:cNvPr id="9" name="">
            <a:extLst xmlns:a="http://schemas.openxmlformats.org/drawingml/2006/main">
              <a:ext uri="{FF2B5EF4-FFF2-40B4-BE49-F238E27FC236}">
                <a16:creationId xmlns:a16="http://schemas.microsoft.com/office/drawing/2014/main" id="{636B9048-1AC5-4CFF-844D-4ABF334CD7DA}"/>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7894C83-6E7A-49BD-B246-DA5479D5BB15}"/>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Small tests provide evidence but do not prove universal success.</a:t>
            </a:r>
          </a:p>
        </p:txBody>
      </p:sp>
      <p:sp>
        <p:nvSpPr>
          <p:cNvPr id="11" name="">
            <a:extLst xmlns:a="http://schemas.openxmlformats.org/drawingml/2006/main">
              <a:ext uri="{FF2B5EF4-FFF2-40B4-BE49-F238E27FC236}">
                <a16:creationId xmlns:a16="http://schemas.microsoft.com/office/drawing/2014/main" id="{E7C15471-B7CA-4701-AC8E-8969506C7E90}"/>
              </a:ext>
            </a:extLst>
          </p:cNvPr>
          <p:cNvSpPr>
            <a:spLocks xmlns:a="http://schemas.openxmlformats.org/drawingml/2006/main" noGrp="1"/>
          </p:cNvSpPr>
          <p:nvPr/>
        </p:nvSpPr>
        <p:spPr>
          <a:xfrm xmlns:a="http://schemas.openxmlformats.org/drawingml/2006/main">
            <a:off x="7200900" y="1352550"/>
            <a:ext cx="4305300" cy="2419350"/>
          </a:xfrm>
          <a:prstGeom xmlns:a="http://schemas.openxmlformats.org/drawingml/2006/main" prst="roundRect">
            <a:avLst>
              <a:gd name="adj" fmla="val 4724"/>
            </a:avLst>
          </a:prstGeom>
          <a:solidFill xmlns:a="http://schemas.openxmlformats.org/drawingml/2006/main">
            <a:srgbClr val="FFFFFF"/>
          </a:solidFill>
          <a:ln xmlns:a="http://schemas.openxmlformats.org/drawingml/2006/main" w="9525">
            <a:solidFill>
              <a:srgbClr val="CFD8D2"/>
            </a:solidFill>
            <a:prstDash val="solid"/>
          </a:ln>
        </p:spPr>
      </p:sp>
      <p:pic>
        <p:nvPicPr>
          <p:cNvPr id="30" name="Accessibility Contrast Check" title="Accessibility Contrast Check" descr="Brand application proofs shown at different sizes and contrast conditions beside neutral accessibility viewing tools."/>
          <p:cNvPicPr>
            <a:picLocks xmlns:a="http://schemas.openxmlformats.org/drawingml/2006/main" noChangeAspect="1"/>
          </p:cNvPicPr>
          <p:nvPr/>
        </p:nvPicPr>
        <p:blipFill>
          <a:blip xmlns:r="http://schemas.openxmlformats.org/officeDocument/2006/relationships" xmlns:a="http://schemas.openxmlformats.org/drawingml/2006/main" r:embed="R3102d4abc6ad4ffe"/>
          <a:stretch xmlns:a="http://schemas.openxmlformats.org/drawingml/2006/main"/>
        </p:blipFill>
        <p:spPr>
          <a:xfrm xmlns:a="http://schemas.openxmlformats.org/drawingml/2006/main">
            <a:off x="7204159" y="1352550"/>
            <a:ext cx="4298781" cy="2419350"/>
          </a:xfrm>
          <a:prstGeom xmlns:a="http://schemas.openxmlformats.org/drawingml/2006/main" prst="roundRect">
            <a:avLst>
              <a:gd name="adj" fmla="val 4724"/>
            </a:avLst>
          </a:prstGeom>
        </p:spPr>
      </p:pic>
      <p:sp>
        <p:nvSpPr>
          <p:cNvPr id="13" name="">
            <a:extLst xmlns:a="http://schemas.openxmlformats.org/drawingml/2006/main">
              <a:ext uri="{FF2B5EF4-FFF2-40B4-BE49-F238E27FC236}">
                <a16:creationId xmlns:a16="http://schemas.microsoft.com/office/drawing/2014/main" id="{4BB95DB3-A963-4EC3-A0DF-9C66F569B770}"/>
              </a:ext>
            </a:extLst>
          </p:cNvPr>
          <p:cNvSpPr>
            <a:spLocks xmlns:a="http://schemas.openxmlformats.org/drawingml/2006/main" noGrp="1"/>
          </p:cNvSpPr>
          <p:nvPr/>
        </p:nvSpPr>
        <p:spPr>
          <a:xfrm xmlns:a="http://schemas.openxmlformats.org/drawingml/2006/main">
            <a:off x="7200900" y="3848100"/>
            <a:ext cx="430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17342C"/>
                </a:solidFill>
                <a:latin typeface="Arial"/>
                <a:ea typeface="Arial"/>
                <a:cs typeface="Arial"/>
              </a:defRPr>
            </a:pPr>
            <a:r>
              <a:rPr sz="1050" b="1">
                <a:solidFill>
                  <a:srgbClr val="17342C"/>
                </a:solidFill>
                <a:latin typeface="Arial"/>
                <a:ea typeface="Arial"/>
                <a:cs typeface="Arial"/>
              </a:rPr>
              <a:t>Suitability checks compare the same brand application at real size, in contrast and without colour alone.</a:t>
            </a:r>
          </a:p>
        </p:txBody>
      </p:sp>
      <p:sp>
        <p:nvSpPr>
          <p:cNvPr id="14" name="">
            <a:extLst xmlns:a="http://schemas.openxmlformats.org/drawingml/2006/main">
              <a:ext uri="{FF2B5EF4-FFF2-40B4-BE49-F238E27FC236}">
                <a16:creationId xmlns:a16="http://schemas.microsoft.com/office/drawing/2014/main" id="{301F60EA-66E6-4659-8F70-AE2AB6BE391E}"/>
              </a:ext>
            </a:extLst>
          </p:cNvPr>
          <p:cNvSpPr>
            <a:spLocks xmlns:a="http://schemas.openxmlformats.org/drawingml/2006/main" noGrp="1"/>
          </p:cNvSpPr>
          <p:nvPr/>
        </p:nvSpPr>
        <p:spPr>
          <a:xfrm xmlns:a="http://schemas.openxmlformats.org/drawingml/2006/main">
            <a:off x="7200900" y="4324350"/>
            <a:ext cx="4305300" cy="514350"/>
          </a:xfrm>
          <a:prstGeom xmlns:a="http://schemas.openxmlformats.org/drawingml/2006/main" prst="roundRect">
            <a:avLst>
              <a:gd name="adj" fmla="val 14815"/>
            </a:avLst>
          </a:prstGeom>
          <a:solidFill xmlns:a="http://schemas.openxmlformats.org/drawingml/2006/main">
            <a:srgbClr val="FCF4D8"/>
          </a:solidFill>
          <a:ln xmlns:a="http://schemas.openxmlformats.org/drawingml/2006/main" w="0">
            <a:noFill/>
            <a:prstDash val="solid"/>
          </a:ln>
        </p:spPr>
        <p:txBody>
          <a:bodyPr xmlns:a="http://schemas.openxmlformats.org/drawingml/2006/main" lIns="95250" tIns="57150" rIns="95250" bIns="57150" anchor="ctr">
            <a:normAutofit fontScale="100000"/>
          </a:bodyPr>
          <a:lstStyle xmlns:a="http://schemas.openxmlformats.org/drawingml/2006/main"/>
          <a:p xmlns:a="http://schemas.openxmlformats.org/drawingml/2006/main">
            <a:pPr algn="l">
              <a:defRPr sz="1050" b="1">
                <a:solidFill>
                  <a:srgbClr val="0C5554"/>
                </a:solidFill>
                <a:latin typeface="Arial"/>
                <a:ea typeface="Arial"/>
                <a:cs typeface="Arial"/>
              </a:defRPr>
            </a:pPr>
            <a:r>
              <a:rPr sz="1050" b="1">
                <a:solidFill>
                  <a:srgbClr val="0C5554"/>
                </a:solidFill>
                <a:latin typeface="Arial"/>
                <a:ea typeface="Arial"/>
                <a:cs typeface="Arial"/>
              </a:rPr>
              <a:t>Notice: Can the identity still be recognised when size, contrast or colour perception changes?</a:t>
            </a:r>
          </a:p>
        </p:txBody>
      </p:sp>
      <p:sp>
        <p:nvSpPr>
          <p:cNvPr id="15" name="">
            <a:extLst xmlns:a="http://schemas.openxmlformats.org/drawingml/2006/main">
              <a:ext uri="{FF2B5EF4-FFF2-40B4-BE49-F238E27FC236}">
                <a16:creationId xmlns:a16="http://schemas.microsoft.com/office/drawing/2014/main" id="{C3EA9CDD-3992-44C6-984C-DA7034E7F32D}"/>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16" name="">
            <a:extLst xmlns:a="http://schemas.openxmlformats.org/drawingml/2006/main">
              <a:ext uri="{FF2B5EF4-FFF2-40B4-BE49-F238E27FC236}">
                <a16:creationId xmlns:a16="http://schemas.microsoft.com/office/drawing/2014/main" id="{47B5B1DE-153E-4FD0-A36C-1A57F2746271}"/>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What makes an application suitable?</a:t>
            </a:r>
          </a:p>
        </p:txBody>
      </p:sp>
      <p:sp>
        <p:nvSpPr>
          <p:cNvPr id="17" name="">
            <a:extLst xmlns:a="http://schemas.openxmlformats.org/drawingml/2006/main">
              <a:ext uri="{FF2B5EF4-FFF2-40B4-BE49-F238E27FC236}">
                <a16:creationId xmlns:a16="http://schemas.microsoft.com/office/drawing/2014/main" id="{D096868E-32E4-4E2C-8154-F6685B1682BD}"/>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06  •  BRAND APPLICATIONS</a:t>
            </a:r>
          </a:p>
        </p:txBody>
      </p:sp>
      <p:sp>
        <p:nvSpPr>
          <p:cNvPr id="18" name="">
            <a:extLst xmlns:a="http://schemas.openxmlformats.org/drawingml/2006/main">
              <a:ext uri="{FF2B5EF4-FFF2-40B4-BE49-F238E27FC236}">
                <a16:creationId xmlns:a16="http://schemas.microsoft.com/office/drawing/2014/main" id="{3FA21504-4C21-4A49-A132-AAACDDED2A32}"/>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05</a:t>
            </a:r>
          </a:p>
        </p:txBody>
      </p:sp>
    </p:spTree>
    <p:extLst>
      <p:ext uri="{BB962C8B-B14F-4D97-AF65-F5344CB8AC3E}">
        <p14:creationId xmlns:p14="http://schemas.microsoft.com/office/powerpoint/2010/main" val="851678235"/>
      </p:ext>
    </p:extLst>
  </p:cSld>
</p:sld>
</file>

<file path=ppt/slides/slide6.xml><?xml version="1.0" encoding="utf-8"?>
<p:sld xmlns:p="http://schemas.openxmlformats.org/presentationml/2006/main">
  <p:cSld>
    <p:bg>
      <p:bgPr>
        <a:solidFill xmlns:a="http://schemas.openxmlformats.org/drawingml/2006/main">
          <a:srgbClr val="17342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4E30850-FDA1-44D6-9903-50D06280AB1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0BE19ED-185B-47A9-9653-FC481C827916}"/>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F2BD3C"/>
                </a:solidFill>
                <a:latin typeface="Arial"/>
                <a:ea typeface="Arial"/>
                <a:cs typeface="Arial"/>
              </a:defRPr>
            </a:pPr>
            <a:r>
              <a:rPr sz="975" b="1">
                <a:solidFill>
                  <a:srgbClr val="F2BD3C"/>
                </a:solidFill>
                <a:latin typeface="Arial"/>
                <a:ea typeface="Arial"/>
                <a:cs typeface="Arial"/>
              </a:rPr>
              <a:t>CHECK FOR UNDERSTANDING</a:t>
            </a:r>
          </a:p>
        </p:txBody>
      </p:sp>
      <p:sp>
        <p:nvSpPr>
          <p:cNvPr id="3" name="">
            <a:extLst xmlns:a="http://schemas.openxmlformats.org/drawingml/2006/main">
              <a:ext uri="{FF2B5EF4-FFF2-40B4-BE49-F238E27FC236}">
                <a16:creationId xmlns:a16="http://schemas.microsoft.com/office/drawing/2014/main" id="{3638688D-31D0-49F2-9657-9F754504EA75}"/>
              </a:ext>
            </a:extLst>
          </p:cNvPr>
          <p:cNvSpPr>
            <a:spLocks xmlns:a="http://schemas.openxmlformats.org/drawingml/2006/main" noGrp="1"/>
          </p:cNvSpPr>
          <p:nvPr/>
        </p:nvSpPr>
        <p:spPr>
          <a:xfrm xmlns:a="http://schemas.openxmlformats.org/drawingml/2006/main">
            <a:off x="685800" y="914400"/>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075" b="1">
                <a:solidFill>
                  <a:srgbClr val="FFFFFF"/>
                </a:solidFill>
                <a:latin typeface="Arial"/>
                <a:ea typeface="Arial"/>
                <a:cs typeface="Arial"/>
              </a:defRPr>
            </a:pPr>
            <a:r>
              <a:rPr sz="3075" b="1">
                <a:solidFill>
                  <a:srgbClr val="FFFFFF"/>
                </a:solidFill>
                <a:latin typeface="Arial"/>
                <a:ea typeface="Arial"/>
                <a:cs typeface="Arial"/>
              </a:rPr>
              <a:t>Stop. Think. Explain.</a:t>
            </a:r>
          </a:p>
        </p:txBody>
      </p:sp>
      <p:sp>
        <p:nvSpPr>
          <p:cNvPr id="4" name="">
            <a:extLst xmlns:a="http://schemas.openxmlformats.org/drawingml/2006/main">
              <a:ext uri="{FF2B5EF4-FFF2-40B4-BE49-F238E27FC236}">
                <a16:creationId xmlns:a16="http://schemas.microsoft.com/office/drawing/2014/main" id="{73203910-DA7F-466D-BFDF-1DDBCCE07974}"/>
              </a:ext>
            </a:extLst>
          </p:cNvPr>
          <p:cNvSpPr>
            <a:spLocks xmlns:a="http://schemas.openxmlformats.org/drawingml/2006/main" noGrp="1"/>
          </p:cNvSpPr>
          <p:nvPr/>
        </p:nvSpPr>
        <p:spPr>
          <a:xfrm xmlns:a="http://schemas.openxmlformats.org/drawingml/2006/main">
            <a:off x="685800" y="16573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DCE8E2"/>
                </a:solidFill>
                <a:latin typeface="Arial"/>
                <a:ea typeface="Arial"/>
                <a:cs typeface="Arial"/>
              </a:defRPr>
            </a:pPr>
            <a:r>
              <a:rPr sz="1425" b="0">
                <a:solidFill>
                  <a:srgbClr val="DCE8E2"/>
                </a:solidFill>
                <a:latin typeface="Arial"/>
                <a:ea typeface="Arial"/>
                <a:cs typeface="Arial"/>
              </a:rPr>
              <a:t>Answer silently first, then justify with a partner.</a:t>
            </a:r>
          </a:p>
        </p:txBody>
      </p:sp>
      <p:sp>
        <p:nvSpPr>
          <p:cNvPr id="5" name="">
            <a:extLst xmlns:a="http://schemas.openxmlformats.org/drawingml/2006/main">
              <a:ext uri="{FF2B5EF4-FFF2-40B4-BE49-F238E27FC236}">
                <a16:creationId xmlns:a16="http://schemas.microsoft.com/office/drawing/2014/main" id="{AF2BCA1A-EFC9-412D-867B-AE562BB54238}"/>
              </a:ext>
            </a:extLst>
          </p:cNvPr>
          <p:cNvSpPr>
            <a:spLocks xmlns:a="http://schemas.openxmlformats.org/drawingml/2006/main" noGrp="1"/>
          </p:cNvSpPr>
          <p:nvPr/>
        </p:nvSpPr>
        <p:spPr>
          <a:xfrm xmlns:a="http://schemas.openxmlformats.org/drawingml/2006/main">
            <a:off x="685800" y="232410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6" name="">
            <a:extLst xmlns:a="http://schemas.openxmlformats.org/drawingml/2006/main">
              <a:ext uri="{FF2B5EF4-FFF2-40B4-BE49-F238E27FC236}">
                <a16:creationId xmlns:a16="http://schemas.microsoft.com/office/drawing/2014/main" id="{A20E4F8F-07E7-498A-9045-2E5836A92F52}"/>
              </a:ext>
            </a:extLst>
          </p:cNvPr>
          <p:cNvSpPr>
            <a:spLocks xmlns:a="http://schemas.openxmlformats.org/drawingml/2006/main" noGrp="1"/>
          </p:cNvSpPr>
          <p:nvPr/>
        </p:nvSpPr>
        <p:spPr>
          <a:xfrm xmlns:a="http://schemas.openxmlformats.org/drawingml/2006/main">
            <a:off x="1028700" y="2552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39C18C95-7B32-47C0-91CC-5F0269A828E5}"/>
              </a:ext>
            </a:extLst>
          </p:cNvPr>
          <p:cNvSpPr>
            <a:spLocks xmlns:a="http://schemas.openxmlformats.org/drawingml/2006/main" noGrp="1"/>
          </p:cNvSpPr>
          <p:nvPr/>
        </p:nvSpPr>
        <p:spPr>
          <a:xfrm xmlns:a="http://schemas.openxmlformats.org/drawingml/2006/main">
            <a:off x="1676400" y="245745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What creates brand consistency?</a:t>
            </a:r>
          </a:p>
        </p:txBody>
      </p:sp>
      <p:sp>
        <p:nvSpPr>
          <p:cNvPr id="8" name="">
            <a:extLst xmlns:a="http://schemas.openxmlformats.org/drawingml/2006/main">
              <a:ext uri="{FF2B5EF4-FFF2-40B4-BE49-F238E27FC236}">
                <a16:creationId xmlns:a16="http://schemas.microsoft.com/office/drawing/2014/main" id="{B23ABE13-A32A-48BC-BE08-6C8760CBC218}"/>
              </a:ext>
            </a:extLst>
          </p:cNvPr>
          <p:cNvSpPr>
            <a:spLocks xmlns:a="http://schemas.openxmlformats.org/drawingml/2006/main" noGrp="1"/>
          </p:cNvSpPr>
          <p:nvPr/>
        </p:nvSpPr>
        <p:spPr>
          <a:xfrm xmlns:a="http://schemas.openxmlformats.org/drawingml/2006/main">
            <a:off x="685800" y="352425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9" name="">
            <a:extLst xmlns:a="http://schemas.openxmlformats.org/drawingml/2006/main">
              <a:ext uri="{FF2B5EF4-FFF2-40B4-BE49-F238E27FC236}">
                <a16:creationId xmlns:a16="http://schemas.microsoft.com/office/drawing/2014/main" id="{F4AAAFA0-D98B-407B-8602-EEB59849452C}"/>
              </a:ext>
            </a:extLst>
          </p:cNvPr>
          <p:cNvSpPr>
            <a:spLocks xmlns:a="http://schemas.openxmlformats.org/drawingml/2006/main" noGrp="1"/>
          </p:cNvSpPr>
          <p:nvPr/>
        </p:nvSpPr>
        <p:spPr>
          <a:xfrm xmlns:a="http://schemas.openxmlformats.org/drawingml/2006/main">
            <a:off x="1028700" y="3752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9C2EA8D5-AA41-4CA9-B8C8-3AA3388CD4C5}"/>
              </a:ext>
            </a:extLst>
          </p:cNvPr>
          <p:cNvSpPr>
            <a:spLocks xmlns:a="http://schemas.openxmlformats.org/drawingml/2006/main" noGrp="1"/>
          </p:cNvSpPr>
          <p:nvPr/>
        </p:nvSpPr>
        <p:spPr>
          <a:xfrm xmlns:a="http://schemas.openxmlformats.org/drawingml/2006/main">
            <a:off x="1676400" y="365760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What does the source confirm about the uniform task?</a:t>
            </a:r>
          </a:p>
        </p:txBody>
      </p:sp>
      <p:sp>
        <p:nvSpPr>
          <p:cNvPr id="11" name="">
            <a:extLst xmlns:a="http://schemas.openxmlformats.org/drawingml/2006/main">
              <a:ext uri="{FF2B5EF4-FFF2-40B4-BE49-F238E27FC236}">
                <a16:creationId xmlns:a16="http://schemas.microsoft.com/office/drawing/2014/main" id="{FE56D425-06DA-4F15-B0B7-D6498E357D6C}"/>
              </a:ext>
            </a:extLst>
          </p:cNvPr>
          <p:cNvSpPr>
            <a:spLocks xmlns:a="http://schemas.openxmlformats.org/drawingml/2006/main" noGrp="1"/>
          </p:cNvSpPr>
          <p:nvPr/>
        </p:nvSpPr>
        <p:spPr>
          <a:xfrm xmlns:a="http://schemas.openxmlformats.org/drawingml/2006/main">
            <a:off x="685800" y="472440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12" name="">
            <a:extLst xmlns:a="http://schemas.openxmlformats.org/drawingml/2006/main">
              <a:ext uri="{FF2B5EF4-FFF2-40B4-BE49-F238E27FC236}">
                <a16:creationId xmlns:a16="http://schemas.microsoft.com/office/drawing/2014/main" id="{EED1AF1E-94A8-433B-8A43-DF7E40442DCA}"/>
              </a:ext>
            </a:extLst>
          </p:cNvPr>
          <p:cNvSpPr>
            <a:spLocks xmlns:a="http://schemas.openxmlformats.org/drawingml/2006/main" noGrp="1"/>
          </p:cNvSpPr>
          <p:nvPr/>
        </p:nvSpPr>
        <p:spPr>
          <a:xfrm xmlns:a="http://schemas.openxmlformats.org/drawingml/2006/main">
            <a:off x="1028700" y="4953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EBA8897B-8C6E-4599-9029-8843172389B1}"/>
              </a:ext>
            </a:extLst>
          </p:cNvPr>
          <p:cNvSpPr>
            <a:spLocks xmlns:a="http://schemas.openxmlformats.org/drawingml/2006/main" noGrp="1"/>
          </p:cNvSpPr>
          <p:nvPr/>
        </p:nvSpPr>
        <p:spPr>
          <a:xfrm xmlns:a="http://schemas.openxmlformats.org/drawingml/2006/main">
            <a:off x="1676400" y="485775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What makes an application suitable?</a:t>
            </a:r>
          </a:p>
        </p:txBody>
      </p:sp>
      <p:sp>
        <p:nvSpPr>
          <p:cNvPr id="14" name="">
            <a:extLst xmlns:a="http://schemas.openxmlformats.org/drawingml/2006/main">
              <a:ext uri="{FF2B5EF4-FFF2-40B4-BE49-F238E27FC236}">
                <a16:creationId xmlns:a16="http://schemas.microsoft.com/office/drawing/2014/main" id="{B3D95FD2-28AB-47A8-BF3B-4858A259AA01}"/>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06  •  BRAND APPLICATIONS</a:t>
            </a:r>
          </a:p>
        </p:txBody>
      </p:sp>
      <p:sp>
        <p:nvSpPr>
          <p:cNvPr id="15" name="">
            <a:extLst xmlns:a="http://schemas.openxmlformats.org/drawingml/2006/main">
              <a:ext uri="{FF2B5EF4-FFF2-40B4-BE49-F238E27FC236}">
                <a16:creationId xmlns:a16="http://schemas.microsoft.com/office/drawing/2014/main" id="{AD76C94D-B0FD-4408-A68D-7E1158091559}"/>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06</a:t>
            </a:r>
          </a:p>
        </p:txBody>
      </p:sp>
    </p:spTree>
    <p:extLst>
      <p:ext uri="{BB962C8B-B14F-4D97-AF65-F5344CB8AC3E}">
        <p14:creationId xmlns:p14="http://schemas.microsoft.com/office/powerpoint/2010/main" val="232388840"/>
      </p:ext>
    </p:extLst>
  </p:cSld>
</p:sld>
</file>

<file path=ppt/slides/slide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8C256B4-4E7D-4F04-93EE-E0DBB1B89375}"/>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FORMATIVE LEARNING EVIDENCE</a:t>
            </a:r>
          </a:p>
        </p:txBody>
      </p:sp>
      <p:sp>
        <p:nvSpPr>
          <p:cNvPr id="2" name="">
            <a:extLst xmlns:a="http://schemas.openxmlformats.org/drawingml/2006/main">
              <a:ext uri="{FF2B5EF4-FFF2-40B4-BE49-F238E27FC236}">
                <a16:creationId xmlns:a16="http://schemas.microsoft.com/office/drawing/2014/main" id="{F34862E0-A511-4A1D-88F0-4B64EDD08F1B}"/>
              </a:ext>
            </a:extLst>
          </p:cNvPr>
          <p:cNvSpPr>
            <a:spLocks xmlns:a="http://schemas.openxmlformats.org/drawingml/2006/main" noGrp="1"/>
          </p:cNvSpPr>
          <p:nvPr/>
        </p:nvSpPr>
        <p:spPr>
          <a:xfrm xmlns:a="http://schemas.openxmlformats.org/drawingml/2006/main">
            <a:off x="685800" y="89535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925" b="1">
                <a:solidFill>
                  <a:srgbClr val="17342C"/>
                </a:solidFill>
                <a:latin typeface="Arial"/>
                <a:ea typeface="Arial"/>
                <a:cs typeface="Arial"/>
              </a:defRPr>
            </a:pPr>
            <a:r>
              <a:rPr sz="2925" b="1">
                <a:solidFill>
                  <a:srgbClr val="17342C"/>
                </a:solidFill>
                <a:latin typeface="Arial"/>
                <a:ea typeface="Arial"/>
                <a:cs typeface="Arial"/>
              </a:rPr>
              <a:t>Read → Select → Explain → Check</a:t>
            </a:r>
          </a:p>
        </p:txBody>
      </p:sp>
      <p:sp>
        <p:nvSpPr>
          <p:cNvPr id="3" name="">
            <a:extLst xmlns:a="http://schemas.openxmlformats.org/drawingml/2006/main">
              <a:ext uri="{FF2B5EF4-FFF2-40B4-BE49-F238E27FC236}">
                <a16:creationId xmlns:a16="http://schemas.microsoft.com/office/drawing/2014/main" id="{253DCAEA-7A1A-448C-B7DB-072F44F1FCFB}"/>
              </a:ext>
            </a:extLst>
          </p:cNvPr>
          <p:cNvSpPr>
            <a:spLocks xmlns:a="http://schemas.openxmlformats.org/drawingml/2006/main" noGrp="1"/>
          </p:cNvSpPr>
          <p:nvPr/>
        </p:nvSpPr>
        <p:spPr>
          <a:xfrm xmlns:a="http://schemas.openxmlformats.org/drawingml/2006/main">
            <a:off x="685800" y="1752600"/>
            <a:ext cx="5905500" cy="2019300"/>
          </a:xfrm>
          <a:prstGeom xmlns:a="http://schemas.openxmlformats.org/drawingml/2006/main" prst="roundRect">
            <a:avLst>
              <a:gd name="adj" fmla="val 5660"/>
            </a:avLst>
          </a:prstGeom>
          <a:solidFill xmlns:a="http://schemas.openxmlformats.org/drawingml/2006/main">
            <a:srgbClr val="FFFFFF"/>
          </a:solidFill>
          <a:ln xmlns:a="http://schemas.openxmlformats.org/drawingml/2006/main" w="9525">
            <a:solidFill>
              <a:srgbClr val="CFD8D2"/>
            </a:solidFill>
            <a:prstDash val="solid"/>
          </a:ln>
        </p:spPr>
      </p:sp>
      <p:sp>
        <p:nvSpPr>
          <p:cNvPr id="4" name="">
            <a:extLst xmlns:a="http://schemas.openxmlformats.org/drawingml/2006/main">
              <a:ext uri="{FF2B5EF4-FFF2-40B4-BE49-F238E27FC236}">
                <a16:creationId xmlns:a16="http://schemas.microsoft.com/office/drawing/2014/main" id="{CA5FDC36-253D-42FD-884B-F712FB981A84}"/>
              </a:ext>
            </a:extLst>
          </p:cNvPr>
          <p:cNvSpPr>
            <a:spLocks xmlns:a="http://schemas.openxmlformats.org/drawingml/2006/main" noGrp="1"/>
          </p:cNvSpPr>
          <p:nvPr/>
        </p:nvSpPr>
        <p:spPr>
          <a:xfrm xmlns:a="http://schemas.openxmlformats.org/drawingml/2006/main">
            <a:off x="6896100" y="1752600"/>
            <a:ext cx="4610100" cy="2019300"/>
          </a:xfrm>
          <a:prstGeom xmlns:a="http://schemas.openxmlformats.org/drawingml/2006/main" prst="roundRect">
            <a:avLst>
              <a:gd name="adj" fmla="val 5660"/>
            </a:avLst>
          </a:prstGeom>
          <a:solidFill xmlns:a="http://schemas.openxmlformats.org/drawingml/2006/main">
            <a:srgbClr val="E7F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F3FCE2E-EE6D-41FA-B02D-7069AE0BF68C}"/>
              </a:ext>
            </a:extLst>
          </p:cNvPr>
          <p:cNvSpPr>
            <a:spLocks xmlns:a="http://schemas.openxmlformats.org/drawingml/2006/main" noGrp="1"/>
          </p:cNvSpPr>
          <p:nvPr/>
        </p:nvSpPr>
        <p:spPr>
          <a:xfrm xmlns:a="http://schemas.openxmlformats.org/drawingml/2006/main">
            <a:off x="952500" y="18859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THE QUESTION</a:t>
            </a:r>
          </a:p>
        </p:txBody>
      </p:sp>
      <p:sp>
        <p:nvSpPr>
          <p:cNvPr id="6" name="">
            <a:extLst xmlns:a="http://schemas.openxmlformats.org/drawingml/2006/main">
              <a:ext uri="{FF2B5EF4-FFF2-40B4-BE49-F238E27FC236}">
                <a16:creationId xmlns:a16="http://schemas.microsoft.com/office/drawing/2014/main" id="{5B2B356D-5E16-4BE3-8D4C-D6BFAF22886A}"/>
              </a:ext>
            </a:extLst>
          </p:cNvPr>
          <p:cNvSpPr>
            <a:spLocks xmlns:a="http://schemas.openxmlformats.org/drawingml/2006/main" noGrp="1"/>
          </p:cNvSpPr>
          <p:nvPr/>
        </p:nvSpPr>
        <p:spPr>
          <a:xfrm xmlns:a="http://schemas.openxmlformats.org/drawingml/2006/main">
            <a:off x="952500" y="2266950"/>
            <a:ext cx="5238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7342C"/>
                </a:solidFill>
                <a:latin typeface="Arial"/>
                <a:ea typeface="Arial"/>
                <a:cs typeface="Arial"/>
              </a:defRPr>
            </a:pPr>
            <a:r>
              <a:rPr sz="1575" b="1">
                <a:solidFill>
                  <a:srgbClr val="17342C"/>
                </a:solidFill>
                <a:latin typeface="Arial"/>
                <a:ea typeface="Arial"/>
                <a:cs typeface="Arial"/>
              </a:rPr>
              <a:t>Compare two uniform concepts and justify identity, placement, scale, contrast and one accessibility revision without claiming manufacture.</a:t>
            </a:r>
          </a:p>
        </p:txBody>
      </p:sp>
      <p:sp>
        <p:nvSpPr>
          <p:cNvPr id="7" name="">
            <a:extLst xmlns:a="http://schemas.openxmlformats.org/drawingml/2006/main">
              <a:ext uri="{FF2B5EF4-FFF2-40B4-BE49-F238E27FC236}">
                <a16:creationId xmlns:a16="http://schemas.microsoft.com/office/drawing/2014/main" id="{800BF180-FDD6-4A88-A9AB-E267C6E0EA38}"/>
              </a:ext>
            </a:extLst>
          </p:cNvPr>
          <p:cNvSpPr>
            <a:spLocks xmlns:a="http://schemas.openxmlformats.org/drawingml/2006/main" noGrp="1"/>
          </p:cNvSpPr>
          <p:nvPr/>
        </p:nvSpPr>
        <p:spPr>
          <a:xfrm xmlns:a="http://schemas.openxmlformats.org/drawingml/2006/main">
            <a:off x="7181850" y="1885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WHAT THIS IS ASKING</a:t>
            </a:r>
          </a:p>
        </p:txBody>
      </p:sp>
      <p:sp>
        <p:nvSpPr>
          <p:cNvPr id="8" name="">
            <a:extLst xmlns:a="http://schemas.openxmlformats.org/drawingml/2006/main">
              <a:ext uri="{FF2B5EF4-FFF2-40B4-BE49-F238E27FC236}">
                <a16:creationId xmlns:a16="http://schemas.microsoft.com/office/drawing/2014/main" id="{A96B4B37-64B1-497B-818A-73ADC61A8586}"/>
              </a:ext>
            </a:extLst>
          </p:cNvPr>
          <p:cNvSpPr>
            <a:spLocks xmlns:a="http://schemas.openxmlformats.org/drawingml/2006/main" noGrp="1"/>
          </p:cNvSpPr>
          <p:nvPr/>
        </p:nvSpPr>
        <p:spPr>
          <a:xfrm xmlns:a="http://schemas.openxmlformats.org/drawingml/2006/main">
            <a:off x="7219950" y="2324100"/>
            <a:ext cx="114300" cy="114300"/>
          </a:xfrm>
          <a:prstGeom xmlns:a="http://schemas.openxmlformats.org/drawingml/2006/main" prst="ellipse">
            <a:avLst/>
          </a:prstGeom>
          <a:solidFill xmlns:a="http://schemas.openxmlformats.org/drawingml/2006/main">
            <a:srgbClr val="0C555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F993F60-400E-4DDB-9204-7BF1985D417C}"/>
              </a:ext>
            </a:extLst>
          </p:cNvPr>
          <p:cNvSpPr>
            <a:spLocks xmlns:a="http://schemas.openxmlformats.org/drawingml/2006/main" noGrp="1"/>
          </p:cNvSpPr>
          <p:nvPr/>
        </p:nvSpPr>
        <p:spPr>
          <a:xfrm xmlns:a="http://schemas.openxmlformats.org/drawingml/2006/main">
            <a:off x="7524750" y="22288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Repeat the recognisable core</a:t>
            </a:r>
          </a:p>
        </p:txBody>
      </p:sp>
      <p:sp>
        <p:nvSpPr>
          <p:cNvPr id="10" name="">
            <a:extLst xmlns:a="http://schemas.openxmlformats.org/drawingml/2006/main">
              <a:ext uri="{FF2B5EF4-FFF2-40B4-BE49-F238E27FC236}">
                <a16:creationId xmlns:a16="http://schemas.microsoft.com/office/drawing/2014/main" id="{364F6E50-07C7-46DB-8E1A-DF3E6DADC1F7}"/>
              </a:ext>
            </a:extLst>
          </p:cNvPr>
          <p:cNvSpPr>
            <a:spLocks xmlns:a="http://schemas.openxmlformats.org/drawingml/2006/main" noGrp="1"/>
          </p:cNvSpPr>
          <p:nvPr/>
        </p:nvSpPr>
        <p:spPr>
          <a:xfrm xmlns:a="http://schemas.openxmlformats.org/drawingml/2006/main">
            <a:off x="7219950" y="2771775"/>
            <a:ext cx="114300" cy="114300"/>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701243D-CB05-486A-895D-802A3649DFD9}"/>
              </a:ext>
            </a:extLst>
          </p:cNvPr>
          <p:cNvSpPr>
            <a:spLocks xmlns:a="http://schemas.openxmlformats.org/drawingml/2006/main" noGrp="1"/>
          </p:cNvSpPr>
          <p:nvPr/>
        </p:nvSpPr>
        <p:spPr>
          <a:xfrm xmlns:a="http://schemas.openxmlformats.org/drawingml/2006/main">
            <a:off x="7524750" y="26765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Adapt placement to context</a:t>
            </a:r>
          </a:p>
        </p:txBody>
      </p:sp>
      <p:sp>
        <p:nvSpPr>
          <p:cNvPr id="12" name="">
            <a:extLst xmlns:a="http://schemas.openxmlformats.org/drawingml/2006/main">
              <a:ext uri="{FF2B5EF4-FFF2-40B4-BE49-F238E27FC236}">
                <a16:creationId xmlns:a16="http://schemas.microsoft.com/office/drawing/2014/main" id="{7FFA1F5B-ACE5-4258-AA84-0565805F6AB7}"/>
              </a:ext>
            </a:extLst>
          </p:cNvPr>
          <p:cNvSpPr>
            <a:spLocks xmlns:a="http://schemas.openxmlformats.org/drawingml/2006/main" noGrp="1"/>
          </p:cNvSpPr>
          <p:nvPr/>
        </p:nvSpPr>
        <p:spPr>
          <a:xfrm xmlns:a="http://schemas.openxmlformats.org/drawingml/2006/main">
            <a:off x="7219950" y="3219450"/>
            <a:ext cx="114300" cy="11430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C9EEDF4-11E2-4637-80E4-286E15CA25D1}"/>
              </a:ext>
            </a:extLst>
          </p:cNvPr>
          <p:cNvSpPr>
            <a:spLocks xmlns:a="http://schemas.openxmlformats.org/drawingml/2006/main" noGrp="1"/>
          </p:cNvSpPr>
          <p:nvPr/>
        </p:nvSpPr>
        <p:spPr>
          <a:xfrm xmlns:a="http://schemas.openxmlformats.org/drawingml/2006/main">
            <a:off x="7524750" y="31242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Report test limits honestly</a:t>
            </a:r>
          </a:p>
        </p:txBody>
      </p:sp>
      <p:sp>
        <p:nvSpPr>
          <p:cNvPr id="14" name="">
            <a:extLst xmlns:a="http://schemas.openxmlformats.org/drawingml/2006/main">
              <a:ext uri="{FF2B5EF4-FFF2-40B4-BE49-F238E27FC236}">
                <a16:creationId xmlns:a16="http://schemas.microsoft.com/office/drawing/2014/main" id="{E27A25AB-26CB-4801-BCB9-65610010D1AE}"/>
              </a:ext>
            </a:extLst>
          </p:cNvPr>
          <p:cNvSpPr>
            <a:spLocks xmlns:a="http://schemas.openxmlformats.org/drawingml/2006/main" noGrp="1"/>
          </p:cNvSpPr>
          <p:nvPr/>
        </p:nvSpPr>
        <p:spPr>
          <a:xfrm xmlns:a="http://schemas.openxmlformats.org/drawingml/2006/main">
            <a:off x="685800" y="4095750"/>
            <a:ext cx="3333750" cy="1466850"/>
          </a:xfrm>
          <a:prstGeom xmlns:a="http://schemas.openxmlformats.org/drawingml/2006/main" prst="roundRect">
            <a:avLst>
              <a:gd name="adj" fmla="val 7792"/>
            </a:avLst>
          </a:prstGeom>
          <a:solidFill xmlns:a="http://schemas.openxmlformats.org/drawingml/2006/main">
            <a:srgbClr val="17342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4DAA2DE-3828-44D3-9960-2E480B7FBFCD}"/>
              </a:ext>
            </a:extLst>
          </p:cNvPr>
          <p:cNvSpPr>
            <a:spLocks xmlns:a="http://schemas.openxmlformats.org/drawingml/2006/main" noGrp="1"/>
          </p:cNvSpPr>
          <p:nvPr/>
        </p:nvSpPr>
        <p:spPr>
          <a:xfrm xmlns:a="http://schemas.openxmlformats.org/drawingml/2006/main">
            <a:off x="89535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1  SELECT</a:t>
            </a:r>
          </a:p>
        </p:txBody>
      </p:sp>
      <p:sp>
        <p:nvSpPr>
          <p:cNvPr id="16" name="">
            <a:extLst xmlns:a="http://schemas.openxmlformats.org/drawingml/2006/main">
              <a:ext uri="{FF2B5EF4-FFF2-40B4-BE49-F238E27FC236}">
                <a16:creationId xmlns:a16="http://schemas.microsoft.com/office/drawing/2014/main" id="{8AAAAAAA-A28F-4A9A-81B2-25A5CBACDEC7}"/>
              </a:ext>
            </a:extLst>
          </p:cNvPr>
          <p:cNvSpPr>
            <a:spLocks xmlns:a="http://schemas.openxmlformats.org/drawingml/2006/main" noGrp="1"/>
          </p:cNvSpPr>
          <p:nvPr/>
        </p:nvSpPr>
        <p:spPr>
          <a:xfrm xmlns:a="http://schemas.openxmlformats.org/drawingml/2006/main">
            <a:off x="89535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Choose precise theory and examples that answer the question.</a:t>
            </a:r>
          </a:p>
        </p:txBody>
      </p:sp>
      <p:sp>
        <p:nvSpPr>
          <p:cNvPr id="17" name="">
            <a:extLst xmlns:a="http://schemas.openxmlformats.org/drawingml/2006/main">
              <a:ext uri="{FF2B5EF4-FFF2-40B4-BE49-F238E27FC236}">
                <a16:creationId xmlns:a16="http://schemas.microsoft.com/office/drawing/2014/main" id="{05524716-618E-4557-A7D8-B6BBA8A75B04}"/>
              </a:ext>
            </a:extLst>
          </p:cNvPr>
          <p:cNvSpPr>
            <a:spLocks xmlns:a="http://schemas.openxmlformats.org/drawingml/2006/main" noGrp="1"/>
          </p:cNvSpPr>
          <p:nvPr/>
        </p:nvSpPr>
        <p:spPr>
          <a:xfrm xmlns:a="http://schemas.openxmlformats.org/drawingml/2006/main">
            <a:off x="4362450" y="4095750"/>
            <a:ext cx="3333750" cy="1466850"/>
          </a:xfrm>
          <a:prstGeom xmlns:a="http://schemas.openxmlformats.org/drawingml/2006/main" prst="roundRect">
            <a:avLst>
              <a:gd name="adj" fmla="val 7792"/>
            </a:avLst>
          </a:prstGeom>
          <a:solidFill xmlns:a="http://schemas.openxmlformats.org/drawingml/2006/main">
            <a:srgbClr val="F2BD3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634E749-03D5-45CD-8279-6D7FD1C09FAE}"/>
              </a:ext>
            </a:extLst>
          </p:cNvPr>
          <p:cNvSpPr>
            <a:spLocks xmlns:a="http://schemas.openxmlformats.org/drawingml/2006/main" noGrp="1"/>
          </p:cNvSpPr>
          <p:nvPr/>
        </p:nvSpPr>
        <p:spPr>
          <a:xfrm xmlns:a="http://schemas.openxmlformats.org/drawingml/2006/main">
            <a:off x="457200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17342C"/>
                </a:solidFill>
                <a:latin typeface="Arial"/>
                <a:ea typeface="Arial"/>
                <a:cs typeface="Arial"/>
              </a:defRPr>
            </a:pPr>
            <a:r>
              <a:rPr sz="1050" b="1">
                <a:solidFill>
                  <a:srgbClr val="17342C"/>
                </a:solidFill>
                <a:latin typeface="Arial"/>
                <a:ea typeface="Arial"/>
                <a:cs typeface="Arial"/>
              </a:rPr>
              <a:t>2  EXPLAIN</a:t>
            </a:r>
          </a:p>
        </p:txBody>
      </p:sp>
      <p:sp>
        <p:nvSpPr>
          <p:cNvPr id="19" name="">
            <a:extLst xmlns:a="http://schemas.openxmlformats.org/drawingml/2006/main">
              <a:ext uri="{FF2B5EF4-FFF2-40B4-BE49-F238E27FC236}">
                <a16:creationId xmlns:a16="http://schemas.microsoft.com/office/drawing/2014/main" id="{BF80F996-DA6B-451A-B3CE-0277D87E0027}"/>
              </a:ext>
            </a:extLst>
          </p:cNvPr>
          <p:cNvSpPr>
            <a:spLocks xmlns:a="http://schemas.openxmlformats.org/drawingml/2006/main" noGrp="1"/>
          </p:cNvSpPr>
          <p:nvPr/>
        </p:nvSpPr>
        <p:spPr>
          <a:xfrm xmlns:a="http://schemas.openxmlformats.org/drawingml/2006/main">
            <a:off x="457200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17342C"/>
                </a:solidFill>
                <a:latin typeface="Arial"/>
                <a:ea typeface="Arial"/>
                <a:cs typeface="Arial"/>
              </a:defRPr>
            </a:pPr>
            <a:r>
              <a:rPr sz="1275" b="0">
                <a:solidFill>
                  <a:srgbClr val="17342C"/>
                </a:solidFill>
                <a:latin typeface="Arial"/>
                <a:ea typeface="Arial"/>
                <a:cs typeface="Arial"/>
              </a:rPr>
              <a:t>Link ideas with because, so or therefore.</a:t>
            </a:r>
          </a:p>
        </p:txBody>
      </p:sp>
      <p:sp>
        <p:nvSpPr>
          <p:cNvPr id="20" name="">
            <a:extLst xmlns:a="http://schemas.openxmlformats.org/drawingml/2006/main">
              <a:ext uri="{FF2B5EF4-FFF2-40B4-BE49-F238E27FC236}">
                <a16:creationId xmlns:a16="http://schemas.microsoft.com/office/drawing/2014/main" id="{9B4B33C9-E87D-4762-9ACF-273B10700DA2}"/>
              </a:ext>
            </a:extLst>
          </p:cNvPr>
          <p:cNvSpPr>
            <a:spLocks xmlns:a="http://schemas.openxmlformats.org/drawingml/2006/main" noGrp="1"/>
          </p:cNvSpPr>
          <p:nvPr/>
        </p:nvSpPr>
        <p:spPr>
          <a:xfrm xmlns:a="http://schemas.openxmlformats.org/drawingml/2006/main">
            <a:off x="8039100" y="4095750"/>
            <a:ext cx="3333750" cy="1466850"/>
          </a:xfrm>
          <a:prstGeom xmlns:a="http://schemas.openxmlformats.org/drawingml/2006/main" prst="roundRect">
            <a:avLst>
              <a:gd name="adj" fmla="val 7792"/>
            </a:avLst>
          </a:prstGeom>
          <a:solidFill xmlns:a="http://schemas.openxmlformats.org/drawingml/2006/main">
            <a:srgbClr val="0C555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88FCB35-9F67-4480-B142-F1060B235226}"/>
              </a:ext>
            </a:extLst>
          </p:cNvPr>
          <p:cNvSpPr>
            <a:spLocks xmlns:a="http://schemas.openxmlformats.org/drawingml/2006/main" noGrp="1"/>
          </p:cNvSpPr>
          <p:nvPr/>
        </p:nvSpPr>
        <p:spPr>
          <a:xfrm xmlns:a="http://schemas.openxmlformats.org/drawingml/2006/main">
            <a:off x="824865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3  CHECK</a:t>
            </a:r>
          </a:p>
        </p:txBody>
      </p:sp>
      <p:sp>
        <p:nvSpPr>
          <p:cNvPr id="22" name="">
            <a:extLst xmlns:a="http://schemas.openxmlformats.org/drawingml/2006/main">
              <a:ext uri="{FF2B5EF4-FFF2-40B4-BE49-F238E27FC236}">
                <a16:creationId xmlns:a16="http://schemas.microsoft.com/office/drawing/2014/main" id="{CDF8DCA9-E019-4342-9AC0-F147C307A062}"/>
              </a:ext>
            </a:extLst>
          </p:cNvPr>
          <p:cNvSpPr>
            <a:spLocks xmlns:a="http://schemas.openxmlformats.org/drawingml/2006/main" noGrp="1"/>
          </p:cNvSpPr>
          <p:nvPr/>
        </p:nvSpPr>
        <p:spPr>
          <a:xfrm xmlns:a="http://schemas.openxmlformats.org/drawingml/2006/main">
            <a:off x="824865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Answer every part; keep claims specific and source-safe.</a:t>
            </a:r>
          </a:p>
        </p:txBody>
      </p:sp>
      <p:sp>
        <p:nvSpPr>
          <p:cNvPr id="23" name="">
            <a:extLst xmlns:a="http://schemas.openxmlformats.org/drawingml/2006/main">
              <a:ext uri="{FF2B5EF4-FFF2-40B4-BE49-F238E27FC236}">
                <a16:creationId xmlns:a16="http://schemas.microsoft.com/office/drawing/2014/main" id="{36E817FA-FCC2-48BB-816C-8C81E39E95E5}"/>
              </a:ext>
            </a:extLst>
          </p:cNvPr>
          <p:cNvSpPr>
            <a:spLocks xmlns:a="http://schemas.openxmlformats.org/drawingml/2006/main" noGrp="1"/>
          </p:cNvSpPr>
          <p:nvPr/>
        </p:nvSpPr>
        <p:spPr>
          <a:xfrm xmlns:a="http://schemas.openxmlformats.org/drawingml/2006/main">
            <a:off x="685800" y="5810250"/>
            <a:ext cx="1076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E8674B"/>
                </a:solidFill>
                <a:latin typeface="Arial"/>
                <a:ea typeface="Arial"/>
                <a:cs typeface="Arial"/>
              </a:defRPr>
            </a:pPr>
            <a:r>
              <a:rPr sz="1200" b="1">
                <a:solidFill>
                  <a:srgbClr val="E8674B"/>
                </a:solidFill>
                <a:latin typeface="Arial"/>
                <a:ea typeface="Arial"/>
                <a:cs typeface="Arial"/>
              </a:rPr>
              <a:t>Sentence starter: The identity stays recognisable because… I will revise… after testing…</a:t>
            </a:r>
          </a:p>
        </p:txBody>
      </p:sp>
      <p:sp>
        <p:nvSpPr>
          <p:cNvPr id="24" name="">
            <a:extLst xmlns:a="http://schemas.openxmlformats.org/drawingml/2006/main">
              <a:ext uri="{FF2B5EF4-FFF2-40B4-BE49-F238E27FC236}">
                <a16:creationId xmlns:a16="http://schemas.microsoft.com/office/drawing/2014/main" id="{01882DD0-CED5-415B-8CA1-70C1FC02364B}"/>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06  •  BRAND APPLICATIONS</a:t>
            </a:r>
          </a:p>
        </p:txBody>
      </p:sp>
      <p:sp>
        <p:nvSpPr>
          <p:cNvPr id="25" name="">
            <a:extLst xmlns:a="http://schemas.openxmlformats.org/drawingml/2006/main">
              <a:ext uri="{FF2B5EF4-FFF2-40B4-BE49-F238E27FC236}">
                <a16:creationId xmlns:a16="http://schemas.microsoft.com/office/drawing/2014/main" id="{4E674994-05C8-473B-8566-939EE5BDB55A}"/>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07</a:t>
            </a:r>
          </a:p>
        </p:txBody>
      </p:sp>
    </p:spTree>
    <p:extLst>
      <p:ext uri="{BB962C8B-B14F-4D97-AF65-F5344CB8AC3E}">
        <p14:creationId xmlns:p14="http://schemas.microsoft.com/office/powerpoint/2010/main" val="1686321590"/>
      </p:ext>
    </p:extLst>
  </p:cSld>
</p:sld>
</file>

<file path=ppt/slides/slide8.xml><?xml version="1.0" encoding="utf-8"?>
<p:sld xmlns:p="http://schemas.openxmlformats.org/presentationml/2006/main">
  <p:cSld>
    <p:bg>
      <p:bgPr>
        <a:solidFill xmlns:a="http://schemas.openxmlformats.org/drawingml/2006/main">
          <a:srgbClr val="E8674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A5D7CBD-3886-4E7A-BFD7-715F9CDFC174}"/>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156F781-2A9B-469C-9575-EDC50AB7FA2B}"/>
              </a:ext>
            </a:extLst>
          </p:cNvPr>
          <p:cNvSpPr>
            <a:spLocks xmlns:a="http://schemas.openxmlformats.org/drawingml/2006/main" noGrp="1"/>
          </p:cNvSpPr>
          <p:nvPr/>
        </p:nvSpPr>
        <p:spPr>
          <a:xfrm xmlns:a="http://schemas.openxmlformats.org/drawingml/2006/main">
            <a:off x="685800" y="838200"/>
            <a:ext cx="666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Before you pack up…</a:t>
            </a:r>
          </a:p>
        </p:txBody>
      </p:sp>
      <p:sp>
        <p:nvSpPr>
          <p:cNvPr id="3" name="">
            <a:extLst xmlns:a="http://schemas.openxmlformats.org/drawingml/2006/main">
              <a:ext uri="{FF2B5EF4-FFF2-40B4-BE49-F238E27FC236}">
                <a16:creationId xmlns:a16="http://schemas.microsoft.com/office/drawing/2014/main" id="{DF9512F4-9BA8-47B2-850A-659E105D3CCD}"/>
              </a:ext>
            </a:extLst>
          </p:cNvPr>
          <p:cNvSpPr>
            <a:spLocks xmlns:a="http://schemas.openxmlformats.org/drawingml/2006/main" noGrp="1"/>
          </p:cNvSpPr>
          <p:nvPr/>
        </p:nvSpPr>
        <p:spPr>
          <a:xfrm xmlns:a="http://schemas.openxmlformats.org/drawingml/2006/main">
            <a:off x="685800" y="196215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1. One idea I can now explain is…</a:t>
            </a:r>
          </a:p>
        </p:txBody>
      </p:sp>
      <p:sp>
        <p:nvSpPr>
          <p:cNvPr id="4" name="">
            <a:extLst xmlns:a="http://schemas.openxmlformats.org/drawingml/2006/main">
              <a:ext uri="{FF2B5EF4-FFF2-40B4-BE49-F238E27FC236}">
                <a16:creationId xmlns:a16="http://schemas.microsoft.com/office/drawing/2014/main" id="{BF3DBBEA-3CE0-4B16-92F7-C88CF7D699D7}"/>
              </a:ext>
            </a:extLst>
          </p:cNvPr>
          <p:cNvSpPr>
            <a:spLocks xmlns:a="http://schemas.openxmlformats.org/drawingml/2006/main" noGrp="1"/>
          </p:cNvSpPr>
          <p:nvPr/>
        </p:nvSpPr>
        <p:spPr>
          <a:xfrm xmlns:a="http://schemas.openxmlformats.org/drawingml/2006/main">
            <a:off x="685800" y="308610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2. One design decision or practical action this changes is…</a:t>
            </a:r>
          </a:p>
        </p:txBody>
      </p:sp>
      <p:sp>
        <p:nvSpPr>
          <p:cNvPr id="5" name="">
            <a:extLst xmlns:a="http://schemas.openxmlformats.org/drawingml/2006/main">
              <a:ext uri="{FF2B5EF4-FFF2-40B4-BE49-F238E27FC236}">
                <a16:creationId xmlns:a16="http://schemas.microsoft.com/office/drawing/2014/main" id="{8EC2C296-64B6-4DDB-8698-E0FB90E4AB97}"/>
              </a:ext>
            </a:extLst>
          </p:cNvPr>
          <p:cNvSpPr>
            <a:spLocks xmlns:a="http://schemas.openxmlformats.org/drawingml/2006/main" noGrp="1"/>
          </p:cNvSpPr>
          <p:nvPr/>
        </p:nvSpPr>
        <p:spPr>
          <a:xfrm xmlns:a="http://schemas.openxmlformats.org/drawingml/2006/main">
            <a:off x="685800" y="421005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3. One question I still need answered is…</a:t>
            </a:r>
          </a:p>
        </p:txBody>
      </p:sp>
      <p:sp>
        <p:nvSpPr>
          <p:cNvPr id="6" name="">
            <a:extLst xmlns:a="http://schemas.openxmlformats.org/drawingml/2006/main">
              <a:ext uri="{FF2B5EF4-FFF2-40B4-BE49-F238E27FC236}">
                <a16:creationId xmlns:a16="http://schemas.microsoft.com/office/drawing/2014/main" id="{CDC606BC-98C8-4001-AF5F-17D3E3448716}"/>
              </a:ext>
            </a:extLst>
          </p:cNvPr>
          <p:cNvSpPr>
            <a:spLocks xmlns:a="http://schemas.openxmlformats.org/drawingml/2006/main" noGrp="1"/>
          </p:cNvSpPr>
          <p:nvPr/>
        </p:nvSpPr>
        <p:spPr>
          <a:xfrm xmlns:a="http://schemas.openxmlformats.org/drawingml/2006/main">
            <a:off x="9810750" y="2609850"/>
            <a:ext cx="1638300" cy="163830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651CF34-7FD3-4A57-BF88-4407813079DA}"/>
              </a:ext>
            </a:extLst>
          </p:cNvPr>
          <p:cNvSpPr>
            <a:spLocks xmlns:a="http://schemas.openxmlformats.org/drawingml/2006/main" noGrp="1"/>
          </p:cNvSpPr>
          <p:nvPr/>
        </p:nvSpPr>
        <p:spPr>
          <a:xfrm xmlns:a="http://schemas.openxmlformats.org/drawingml/2006/main">
            <a:off x="9944100" y="2876550"/>
            <a:ext cx="13716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SAVE</a:t>
            </a:r>
          </a:p>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YOUR</a:t>
            </a:r>
          </a:p>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EVIDENCE</a:t>
            </a:r>
          </a:p>
        </p:txBody>
      </p:sp>
      <p:sp>
        <p:nvSpPr>
          <p:cNvPr id="8" name="">
            <a:extLst xmlns:a="http://schemas.openxmlformats.org/drawingml/2006/main">
              <a:ext uri="{FF2B5EF4-FFF2-40B4-BE49-F238E27FC236}">
                <a16:creationId xmlns:a16="http://schemas.microsoft.com/office/drawing/2014/main" id="{CEC59D24-C8CC-4A33-A0E1-C88A6ABF6430}"/>
              </a:ext>
            </a:extLst>
          </p:cNvPr>
          <p:cNvSpPr>
            <a:spLocks xmlns:a="http://schemas.openxmlformats.org/drawingml/2006/main" noGrp="1"/>
          </p:cNvSpPr>
          <p:nvPr/>
        </p:nvSpPr>
        <p:spPr>
          <a:xfrm xmlns:a="http://schemas.openxmlformats.org/drawingml/2006/main">
            <a:off x="685800" y="57531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rPr sz="1200" b="1">
                <a:solidFill>
                  <a:srgbClr val="FFFFFF"/>
                </a:solidFill>
                <a:latin typeface="Arial"/>
                <a:ea typeface="Arial"/>
                <a:cs typeface="Arial"/>
              </a:rPr>
              <a:t>Save in the matching course module. Local save is not submission.</a:t>
            </a:r>
          </a:p>
        </p:txBody>
      </p:sp>
      <p:sp>
        <p:nvSpPr>
          <p:cNvPr id="9" name="">
            <a:extLst xmlns:a="http://schemas.openxmlformats.org/drawingml/2006/main">
              <a:ext uri="{FF2B5EF4-FFF2-40B4-BE49-F238E27FC236}">
                <a16:creationId xmlns:a16="http://schemas.microsoft.com/office/drawing/2014/main" id="{65BB1F2C-5979-44F4-88B7-B9E85D21D42D}"/>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06  •  BRAND APPLICATIONS</a:t>
            </a:r>
          </a:p>
        </p:txBody>
      </p:sp>
      <p:sp>
        <p:nvSpPr>
          <p:cNvPr id="10" name="">
            <a:extLst xmlns:a="http://schemas.openxmlformats.org/drawingml/2006/main">
              <a:ext uri="{FF2B5EF4-FFF2-40B4-BE49-F238E27FC236}">
                <a16:creationId xmlns:a16="http://schemas.microsoft.com/office/drawing/2014/main" id="{38522736-5DEB-4B65-8A12-83F8DC38C832}"/>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08</a:t>
            </a:r>
          </a:p>
        </p:txBody>
      </p:sp>
    </p:spTree>
    <p:extLst>
      <p:ext uri="{BB962C8B-B14F-4D97-AF65-F5344CB8AC3E}">
        <p14:creationId xmlns:p14="http://schemas.microsoft.com/office/powerpoint/2010/main" val="11809833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2026-08-24T09:10:28.8450000Z</dcterms:created>
  <dcterms:modified xsi:type="dcterms:W3CDTF">2026-08-24T09:10:28.8450000Z</dcterms:modified>
</coreProperties>
</file>