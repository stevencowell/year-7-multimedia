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887bb1908b4ed8" /><Relationship Type="http://schemas.openxmlformats.org/officeDocument/2006/relationships/extended-properties" Target="/docProps/app.xml" Id="R1b12eaaf91bc4eff" /><Relationship Type="http://schemas.openxmlformats.org/officeDocument/2006/relationships/officeDocument" Target="/ppt/presentation.xml" Id="R5eab853276e04e5e" /></Relationships>
</file>

<file path=ppt/presentation.xml><?xml version="1.0" encoding="utf-8"?>
<p:presentation xmlns:p="http://schemas.openxmlformats.org/presentationml/2006/main">
  <p:sldMasterIdLst>
    <p:sldMasterId xmlns:r="http://schemas.openxmlformats.org/officeDocument/2006/relationships" id="2147483648" r:id="Re3299d30a9ec4382"/>
  </p:sldMasterIdLst>
  <p:notesMasterIdLst>
    <p:notesMasterId xmlns:r="http://schemas.openxmlformats.org/officeDocument/2006/relationships" r:id="R76ff0d99ac904a1a"/>
  </p:notesMasterIdLst>
  <p:sldIdLst>
    <p:sldId xmlns:r="http://schemas.openxmlformats.org/officeDocument/2006/relationships" id="256" r:id="R687a15121b744786"/>
    <p:sldId xmlns:r="http://schemas.openxmlformats.org/officeDocument/2006/relationships" id="257" r:id="R9e6b8af729174df2"/>
    <p:sldId xmlns:r="http://schemas.openxmlformats.org/officeDocument/2006/relationships" id="258" r:id="R8b76b5ba3ecb4b89"/>
    <p:sldId xmlns:r="http://schemas.openxmlformats.org/officeDocument/2006/relationships" id="259" r:id="R1c0790f91c5b4961"/>
    <p:sldId xmlns:r="http://schemas.openxmlformats.org/officeDocument/2006/relationships" id="260" r:id="R1dedaa209ac2468e"/>
    <p:sldId xmlns:r="http://schemas.openxmlformats.org/officeDocument/2006/relationships" id="261" r:id="R43a5f1e7a89741d3"/>
    <p:sldId xmlns:r="http://schemas.openxmlformats.org/officeDocument/2006/relationships" id="262" r:id="R34ca693c87d44813"/>
    <p:sldId xmlns:r="http://schemas.openxmlformats.org/officeDocument/2006/relationships" id="263" r:id="R25d9f8719f044f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ba86cc918e4047" /><Relationship Type="http://schemas.openxmlformats.org/officeDocument/2006/relationships/slideMaster" Target="/ppt/slideMasters/slideMaster1.xml" Id="Re3299d30a9ec4382" /><Relationship Type="http://schemas.openxmlformats.org/officeDocument/2006/relationships/notesMaster" Target="/ppt/notesMasters/notesMaster1.xml" Id="R76ff0d99ac904a1a" /><Relationship Type="http://schemas.openxmlformats.org/officeDocument/2006/relationships/presProps" Target="/ppt/presProps.xml" Id="Rf430f38d0890466f" /><Relationship Type="http://schemas.openxmlformats.org/officeDocument/2006/relationships/tableStyles" Target="/ppt/tableStyles.xml" Id="Rdc949a355ef547fc" /><Relationship Type="http://schemas.openxmlformats.org/officeDocument/2006/relationships/slide" Target="/ppt/slides/slide1.xml" Id="R687a15121b744786" /><Relationship Type="http://schemas.openxmlformats.org/officeDocument/2006/relationships/slide" Target="/ppt/slides/slide2.xml" Id="R9e6b8af729174df2" /><Relationship Type="http://schemas.openxmlformats.org/officeDocument/2006/relationships/slide" Target="/ppt/slides/slide3.xml" Id="R8b76b5ba3ecb4b89" /><Relationship Type="http://schemas.openxmlformats.org/officeDocument/2006/relationships/slide" Target="/ppt/slides/slide4.xml" Id="R1c0790f91c5b4961" /><Relationship Type="http://schemas.openxmlformats.org/officeDocument/2006/relationships/slide" Target="/ppt/slides/slide5.xml" Id="R1dedaa209ac2468e" /><Relationship Type="http://schemas.openxmlformats.org/officeDocument/2006/relationships/slide" Target="/ppt/slides/slide6.xml" Id="R43a5f1e7a89741d3" /><Relationship Type="http://schemas.openxmlformats.org/officeDocument/2006/relationships/slide" Target="/ppt/slides/slide7.xml" Id="R34ca693c87d44813" /><Relationship Type="http://schemas.openxmlformats.org/officeDocument/2006/relationships/slide" Target="/ppt/slides/slide8.xml" Id="R25d9f8719f044f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0d368c5b2543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52fdfb122e48d6" /><Relationship Type="http://schemas.openxmlformats.org/officeDocument/2006/relationships/notesMaster" Target="/ppt/notesMasters/notesMaster1.xml" Id="Rdd54719426fc42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72cf2526bc477a" /><Relationship Type="http://schemas.openxmlformats.org/officeDocument/2006/relationships/notesMaster" Target="/ppt/notesMasters/notesMaster1.xml" Id="R482d2b7a8c9240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07d26754894bea" /><Relationship Type="http://schemas.openxmlformats.org/officeDocument/2006/relationships/notesMaster" Target="/ppt/notesMasters/notesMaster1.xml" Id="R16a2d517f5c443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036e949bea4729" /><Relationship Type="http://schemas.openxmlformats.org/officeDocument/2006/relationships/notesMaster" Target="/ppt/notesMasters/notesMaster1.xml" Id="Rf02ff37a2af84e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d973221df46a7" /><Relationship Type="http://schemas.openxmlformats.org/officeDocument/2006/relationships/notesMaster" Target="/ppt/notesMasters/notesMaster1.xml" Id="R63b630473d554d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d9ff8962ca4f10" /><Relationship Type="http://schemas.openxmlformats.org/officeDocument/2006/relationships/notesMaster" Target="/ppt/notesMasters/notesMaster1.xml" Id="R8f3ddae09ad34a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8e16a881004995" /><Relationship Type="http://schemas.openxmlformats.org/officeDocument/2006/relationships/notesMaster" Target="/ppt/notesMasters/notesMaster1.xml" Id="R5de68e4016aa4c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b870ac85244254" /><Relationship Type="http://schemas.openxmlformats.org/officeDocument/2006/relationships/notesMaster" Target="/ppt/notesMasters/notesMaster1.xml" Id="Rdafaa72b23544e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Organise product information so it is easy to scan and trust.</a:t>
            </a:r>
          </a:p>
          <a:p xmlns:a="http://schemas.openxmlformats.org/drawingml/2006/main">
            <a:r>
              <a:t>Prompt: How could a user find one item quickly without reading every line?</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4.</a:t>
            </a:r>
          </a:p>
          <a:p xmlns:a="http://schemas.openxmlformats.org/drawingml/2006/main">
            <a:r>
              <a:t>- Theory: data/course-content.js, m04-s01, m04-s02, m04-s03.</a:t>
            </a:r>
          </a:p>
          <a:p xmlns:a="http://schemas.openxmlformats.org/drawingml/2006/main">
            <a:r>
              <a:t>- Visual: assets/source/drive-canteen-menu-wwhs.jpg.</a:t>
            </a:r>
          </a:p>
          <a:p xmlns:a="http://schemas.openxmlformats.org/drawingml/2006/main">
            <a:r>
              <a:t>- Projection enlargement: crop of the supplied Drive source; item availability and prices are not presented as current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How could a user find one item quickly without reading every line?</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Grouping and information architecture.</a:t>
            </a:r>
          </a:p>
          <a:p xmlns:a="http://schemas.openxmlformats.org/drawingml/2006/main">
            <a:r>
              <a:t/>
            </a:r>
          </a:p>
          <a:p xmlns:a="http://schemas.openxmlformats.org/drawingml/2006/main">
            <a:r>
              <a:t>[Sources]</a:t>
            </a:r>
          </a:p>
          <a:p xmlns:a="http://schemas.openxmlformats.org/drawingml/2006/main">
            <a:r>
              <a:t>- Theory sequence: data/course-content.js, m04-s01, m04-s02, m04-s03.</a:t>
            </a:r>
          </a:p>
          <a:p xmlns:a="http://schemas.openxmlformats.org/drawingml/2006/main">
            <a:r>
              <a:t>- Module summary: data/course-map.js, Module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Organise menu content into labelled groups that support quick, accurate scanning.</a:t>
            </a:r>
          </a:p>
          <a:p xmlns:a="http://schemas.openxmlformats.org/drawingml/2006/main">
            <a:r>
              <a:t>Explain: Information architecture is the planned grouping, naming and order of content. Before styling a menu, list the information users need and sort related items into categories. Category labels should use words the intended audience can understand. A menu is not clearer simply because every item has a box; clear headings, consistent order and useful spacing can make relationships visible with less clutter.</a:t>
            </a:r>
          </a:p>
          <a:p xmlns:a="http://schemas.openxmlformats.org/drawingml/2006/main">
            <a:r>
              <a:t>Clarify: The supplied WWHS canteen menu is authorised for analysing visible grouping, headings, price alignment and scanning. It is not current authority for prices or product availability. Students should view the complete image, describe what is observable and separate those observations from judgements. “Items are grouped under headings” is observable; “this is the best possible menu” is an unsupported judgement until criteria and users are considered.</a:t>
            </a:r>
          </a:p>
          <a:p xmlns:a="http://schemas.openxmlformats.org/drawingml/2006/main">
            <a:r>
              <a:t>Worked example: A draft list mixes meals, drinks, sides and promotional items. The designer writes each entry on a card, groups cards by the way users are likely to search, tests category names with another person and then orders groups from common choices to supporting items. One product could fit two groups, so it is placed once under the label users find fastest. This avoids duplicates and turns content structure into a reasoned decision.</a:t>
            </a:r>
          </a:p>
          <a:p xmlns:a="http://schemas.openxmlformats.org/drawingml/2006/main">
            <a:r>
              <a:t>Ask: What is information architecture?</a:t>
            </a:r>
          </a:p>
          <a:p xmlns:a="http://schemas.openxmlformats.org/drawingml/2006/main">
            <a:r>
              <a:t>Listen for: A plan for grouping, naming and ordering content. Correct. It helps users find information.</a:t>
            </a:r>
          </a:p>
          <a:p xmlns:a="http://schemas.openxmlformats.org/drawingml/2006/main">
            <a:r>
              <a:t>Misconception to correct: More boxes automatically make a menu easier to scan. → Grouping, labels, alignment and space must create a useful path; extra borders can add clutter.</a:t>
            </a:r>
          </a:p>
          <a:p xmlns:a="http://schemas.openxmlformats.org/drawingml/2006/main">
            <a:r>
              <a:t>Transition: Connect this idea to Readability and scanning.</a:t>
            </a:r>
          </a:p>
          <a:p xmlns:a="http://schemas.openxmlformats.org/drawingml/2006/main">
            <a:r>
              <a:t/>
            </a:r>
          </a:p>
          <a:p xmlns:a="http://schemas.openxmlformats.org/drawingml/2006/main">
            <a:r>
              <a:t>[Sources]</a:t>
            </a:r>
          </a:p>
          <a:p xmlns:a="http://schemas.openxmlformats.org/drawingml/2006/main">
            <a:r>
              <a:t>- Theory and check: data/course-content.js, m04-s01 and m04-s01-q01.</a:t>
            </a:r>
          </a:p>
          <a:p xmlns:a="http://schemas.openxmlformats.org/drawingml/2006/main">
            <a:r>
              <a:t>- Native projection-scale diagram adapted from approved visual menu-information-architecture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Use hierarchy, alignment and spacing to help users scan a menu without losing important detail.</a:t>
            </a:r>
          </a:p>
          <a:p xmlns:a="http://schemas.openxmlformats.org/drawingml/2006/main">
            <a:r>
              <a:t>Explain: People often scan a menu for headings, familiar item names and aligned details before reading a description. The layout should provide landmarks: repeated heading styles, predictable item order and consistent alignment. Price or other comparable information is easier to inspect when its position is stable. A clear scan path does not remove useful detail; it helps users decide where closer reading is needed.</a:t>
            </a:r>
          </a:p>
          <a:p xmlns:a="http://schemas.openxmlformats.org/drawingml/2006/main">
            <a:r>
              <a:t>Clarify: Type size, line spacing, contrast and line length affect reading. Long centred descriptions can be harder to follow than short, aligned blocks. Decorative backgrounds may make a menu feel on-brand but should not reduce text contrast. Test the design at its intended print or screen size, not only while zoomed in. Ask a user to find a named item and explain where their attention went.</a:t>
            </a:r>
          </a:p>
          <a:p xmlns:a="http://schemas.openxmlformats.org/drawingml/2006/main">
            <a:r>
              <a:t>Worked example: A reviewer is asked to find a drink, a main item and a price without being coached. They find the headings but repeatedly lose the matching price because dotted lines are irregular. The designer moves all prices to one aligned column and increases space between categories. A second test is faster and produces fewer errors. The improvement is supported by observable finding behaviour rather than appearance alone.</a:t>
            </a:r>
          </a:p>
          <a:p xmlns:a="http://schemas.openxmlformats.org/drawingml/2006/main">
            <a:r>
              <a:t>Ask: What is a visual landmark in a menu?</a:t>
            </a:r>
          </a:p>
          <a:p xmlns:a="http://schemas.openxmlformats.org/drawingml/2006/main">
            <a:r>
              <a:t>Listen for: A consistent heading or alignment cue. Correct. It supports predictable scanning.</a:t>
            </a:r>
          </a:p>
          <a:p xmlns:a="http://schemas.openxmlformats.org/drawingml/2006/main">
            <a:r>
              <a:t>Misconception to correct: If all information fits on one page, the menu is readable. → Fit does not prove that users can perceive, scan and match the information accurately.</a:t>
            </a:r>
          </a:p>
          <a:p xmlns:a="http://schemas.openxmlformats.org/drawingml/2006/main">
            <a:r>
              <a:t>Transition: Connect this idea to Honest product information.</a:t>
            </a:r>
          </a:p>
          <a:p xmlns:a="http://schemas.openxmlformats.org/drawingml/2006/main">
            <a:r>
              <a:t/>
            </a:r>
          </a:p>
          <a:p xmlns:a="http://schemas.openxmlformats.org/drawingml/2006/main">
            <a:r>
              <a:t>[Sources]</a:t>
            </a:r>
          </a:p>
          <a:p xmlns:a="http://schemas.openxmlformats.org/drawingml/2006/main">
            <a:r>
              <a:t>- Theory and check: data/course-content.js, m04-s02 and m04-s02-q01.</a:t>
            </a:r>
          </a:p>
          <a:p xmlns:a="http://schemas.openxmlformats.org/drawingml/2006/main">
            <a:r>
              <a:t>- Native projection-scale diagram adapted from approved visual menu-scan-alignment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Present product information and claims clearly without inventing current prices, availability or benefits.</a:t>
            </a:r>
          </a:p>
          <a:p xmlns:a="http://schemas.openxmlformats.org/drawingml/2006/main">
            <a:r>
              <a:t>Explain: A clear menu can still mislead if its words, prices or images do not match the actual offer. Product names and short descriptions should distinguish items without making unsupported health, environmental or quality claims. Draft prices or availability must be checked against the current authorised source before publication. The supplied canteen image helps with layout analysis only and must not be copied as a current list.</a:t>
            </a:r>
          </a:p>
          <a:p xmlns:a="http://schemas.openxmlformats.org/drawingml/2006/main">
            <a:r>
              <a:t>Clarify: A large image can imply size, ingredients or presentation even without written promises. Cropping and mock-ups should not hide important differences between the designed concept and what is actually offered. If a graphic is an illustration, concept or context test, label it honestly. Essential information should be prominent enough to find, not buried in low contrast or tiny type.</a:t>
            </a:r>
          </a:p>
          <a:p xmlns:a="http://schemas.openxmlformats.org/drawingml/2006/main">
            <a:r>
              <a:t>Worked example: A menu draft says “the planet’s greenest fries” because the palette is green. No evidence supports the statement. The student removes the claim and replaces it with a factual description of the proposed product, then records the environmental idea as a question for later investigation. The menu becomes less dramatic but more trustworthy. Strong promotion can still be vivid without pretending an unverified benefit is a fact.</a:t>
            </a:r>
          </a:p>
          <a:p xmlns:a="http://schemas.openxmlformats.org/drawingml/2006/main">
            <a:r>
              <a:t>Ask: Which menu statement most clearly needs evidence?</a:t>
            </a:r>
          </a:p>
          <a:p xmlns:a="http://schemas.openxmlformats.org/drawingml/2006/main">
            <a:r>
              <a:t>Listen for: The planet’s greenest fries. Correct. This broad environmental comparison needs strong evidence.</a:t>
            </a:r>
          </a:p>
          <a:p xmlns:a="http://schemas.openxmlformats.org/drawingml/2006/main">
            <a:r>
              <a:t>Misconception to correct: Promotional language does not need evidence because it is creative. → Creative wording can persuade, but factual or implied claims still need honest support.</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m04-s03 and m04-s03-q01.</a:t>
            </a:r>
          </a:p>
          <a:p xmlns:a="http://schemas.openxmlformats.org/drawingml/2006/main">
            <a:r>
              <a:t>- Native editable diagram: honest-claim.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A plan for grouping, naming and ordering content. Feedback: Correct. It helps users find information.</a:t>
            </a:r>
          </a:p>
          <a:p xmlns:a="http://schemas.openxmlformats.org/drawingml/2006/main">
            <a:r>
              <a:t>Question 2: A consistent heading or alignment cue. Feedback: Correct. It supports predictable scanning.</a:t>
            </a:r>
          </a:p>
          <a:p xmlns:a="http://schemas.openxmlformats.org/drawingml/2006/main">
            <a:r>
              <a:t>Question 3: The planet’s greenest fries. Feedback: Correct. This broad environmental comparison needs strong evidence.</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m04-s01-q01, m04-s02-q01, m04-s03-q01.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m04-s01-capstone, m04-s02-capstone, m04-s03-capstone.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m04-s01, m04-s02, m04-s03.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8b9dd8bb8442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53cba48c442d1" /><Relationship Type="http://schemas.openxmlformats.org/officeDocument/2006/relationships/slideLayout" Target="/ppt/slideLayouts/slideLayout1.xml" Id="R76f20753e5b445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20753e5b445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a27e2e01104e53" /><Relationship Type="http://schemas.openxmlformats.org/officeDocument/2006/relationships/image" Target="/ppt/media/image.png" Id="R5b148dc9a5a744e3" /><Relationship Type="http://schemas.openxmlformats.org/officeDocument/2006/relationships/notesSlide" Target="/ppt/notesSlides/notesSlide1.xml" Id="R09d1c2ed64b14d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542aebe9b24732" /><Relationship Type="http://schemas.openxmlformats.org/officeDocument/2006/relationships/notesSlide" Target="/ppt/notesSlides/notesSlide2.xml" Id="Rf6a7357cfecf4a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1bd2c7485e42a1" /><Relationship Type="http://schemas.openxmlformats.org/officeDocument/2006/relationships/notesSlide" Target="/ppt/notesSlides/notesSlide3.xml" Id="Rfc814d3a392941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2ef20ab6444f90" /><Relationship Type="http://schemas.openxmlformats.org/officeDocument/2006/relationships/notesSlide" Target="/ppt/notesSlides/notesSlide4.xml" Id="R2aede8f8ab9c4a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4c731afbaf43e7" /><Relationship Type="http://schemas.openxmlformats.org/officeDocument/2006/relationships/notesSlide" Target="/ppt/notesSlides/notesSlide5.xml" Id="R929de2c0a01541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211c1e57454cb9" /><Relationship Type="http://schemas.openxmlformats.org/officeDocument/2006/relationships/notesSlide" Target="/ppt/notesSlides/notesSlide6.xml" Id="Rb52b648d5f8742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11986d8088434c" /><Relationship Type="http://schemas.openxmlformats.org/officeDocument/2006/relationships/notesSlide" Target="/ppt/notesSlides/notesSlide7.xml" Id="R90ae858e06d74d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1f3f4e758849af" /><Relationship Type="http://schemas.openxmlformats.org/officeDocument/2006/relationships/notesSlide" Target="/ppt/notesSlides/notesSlide8.xml" Id="R12c5180116c84b16"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BFE4C9-0D68-43E2-80F4-9C1E1A76E3F1}"/>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E287A8-1DE4-4258-9F3D-5D8E1B3D1611}"/>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811783-B45D-44CB-A875-4FA84CC79758}"/>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04</a:t>
            </a:r>
          </a:p>
        </p:txBody>
      </p:sp>
      <p:sp>
        <p:nvSpPr>
          <p:cNvPr id="4" name="">
            <a:extLst xmlns:a="http://schemas.openxmlformats.org/drawingml/2006/main">
              <a:ext uri="{FF2B5EF4-FFF2-40B4-BE49-F238E27FC236}">
                <a16:creationId xmlns:a16="http://schemas.microsoft.com/office/drawing/2014/main" id="{BFE15760-7CC6-457E-828B-A4B546214808}"/>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Menu information design</a:t>
            </a:r>
          </a:p>
        </p:txBody>
      </p:sp>
      <p:sp>
        <p:nvSpPr>
          <p:cNvPr id="5" name="">
            <a:extLst xmlns:a="http://schemas.openxmlformats.org/drawingml/2006/main">
              <a:ext uri="{FF2B5EF4-FFF2-40B4-BE49-F238E27FC236}">
                <a16:creationId xmlns:a16="http://schemas.microsoft.com/office/drawing/2014/main" id="{60EFAEAD-A8B3-438F-A5B9-CC8A0509E1DA}"/>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Organise product information so it is easy to scan and trust.</a:t>
            </a:r>
          </a:p>
        </p:txBody>
      </p:sp>
      <p:sp>
        <p:nvSpPr>
          <p:cNvPr id="6" name="">
            <a:extLst xmlns:a="http://schemas.openxmlformats.org/drawingml/2006/main">
              <a:ext uri="{FF2B5EF4-FFF2-40B4-BE49-F238E27FC236}">
                <a16:creationId xmlns:a16="http://schemas.microsoft.com/office/drawing/2014/main" id="{DE91A918-A136-4A74-B093-380EB3C5AFCA}"/>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127D0B76-64D7-46FF-A68B-B71E53C4E36A}"/>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How could a user find one item quickly without reading every line?</a:t>
            </a:r>
          </a:p>
        </p:txBody>
      </p:sp>
      <p:sp>
        <p:nvSpPr>
          <p:cNvPr id="8" name="">
            <a:extLst xmlns:a="http://schemas.openxmlformats.org/drawingml/2006/main">
              <a:ext uri="{FF2B5EF4-FFF2-40B4-BE49-F238E27FC236}">
                <a16:creationId xmlns:a16="http://schemas.microsoft.com/office/drawing/2014/main" id="{448918D0-DC63-4D71-AF38-125E8305E29A}"/>
              </a:ext>
            </a:extLst>
          </p:cNvPr>
          <p:cNvSpPr>
            <a:spLocks xmlns:a="http://schemas.openxmlformats.org/drawingml/2006/main" noGrp="1"/>
          </p:cNvSpPr>
          <p:nvPr/>
        </p:nvSpPr>
        <p:spPr>
          <a:xfrm xmlns:a="http://schemas.openxmlformats.org/drawingml/2006/main">
            <a:off x="6191250" y="514350"/>
            <a:ext cx="5334000" cy="4819650"/>
          </a:xfrm>
          <a:prstGeom xmlns:a="http://schemas.openxmlformats.org/drawingml/2006/main" prst="roundRect">
            <a:avLst>
              <a:gd name="adj" fmla="val 2372"/>
            </a:avLst>
          </a:prstGeom>
          <a:solidFill xmlns:a="http://schemas.openxmlformats.org/drawingml/2006/main">
            <a:srgbClr val="FFFFFF"/>
          </a:solidFill>
          <a:ln xmlns:a="http://schemas.openxmlformats.org/drawingml/2006/main" w="9525">
            <a:solidFill>
              <a:srgbClr val="CFD8D2"/>
            </a:solidFill>
            <a:prstDash val="solid"/>
          </a:ln>
        </p:spPr>
      </p:sp>
      <p:pic>
        <p:nvPicPr>
          <p:cNvPr id="21" name="Canteen menu source detail — hot food section" title="Canteen menu source detail — hot food section" descr="Enlarged crop of the supplied canteen menu showing the Hot Food heading, item names, descriptions and aligned prices for information-design discussion."/>
          <p:cNvPicPr>
            <a:picLocks xmlns:a="http://schemas.openxmlformats.org/drawingml/2006/main" noChangeAspect="1"/>
          </p:cNvPicPr>
          <p:nvPr/>
        </p:nvPicPr>
        <p:blipFill>
          <a:blip xmlns:r="http://schemas.openxmlformats.org/officeDocument/2006/relationships" xmlns:a="http://schemas.openxmlformats.org/drawingml/2006/main" r:embed="R5b148dc9a5a744e3"/>
          <a:stretch xmlns:a="http://schemas.openxmlformats.org/drawingml/2006/main"/>
        </p:blipFill>
        <p:spPr>
          <a:xfrm xmlns:a="http://schemas.openxmlformats.org/drawingml/2006/main">
            <a:off x="6983942" y="514350"/>
            <a:ext cx="3748617" cy="4819650"/>
          </a:xfrm>
          <a:prstGeom xmlns:a="http://schemas.openxmlformats.org/drawingml/2006/main" prst="roundRect">
            <a:avLst>
              <a:gd name="adj" fmla="val 2372"/>
            </a:avLst>
          </a:prstGeom>
        </p:spPr>
      </p:pic>
      <p:sp>
        <p:nvSpPr>
          <p:cNvPr id="10" name="">
            <a:extLst xmlns:a="http://schemas.openxmlformats.org/drawingml/2006/main">
              <a:ext uri="{FF2B5EF4-FFF2-40B4-BE49-F238E27FC236}">
                <a16:creationId xmlns:a16="http://schemas.microsoft.com/office/drawing/2014/main" id="{F8C81FAB-D46C-4C90-8F20-0DEE152974DD}"/>
              </a:ext>
            </a:extLst>
          </p:cNvPr>
          <p:cNvSpPr>
            <a:spLocks xmlns:a="http://schemas.openxmlformats.org/drawingml/2006/main" noGrp="1"/>
          </p:cNvSpPr>
          <p:nvPr/>
        </p:nvSpPr>
        <p:spPr>
          <a:xfrm xmlns:a="http://schemas.openxmlformats.org/drawingml/2006/main">
            <a:off x="6362700" y="5486400"/>
            <a:ext cx="4991100" cy="400050"/>
          </a:xfrm>
          <a:prstGeom xmlns:a="http://schemas.openxmlformats.org/drawingml/2006/main" prst="roundRect">
            <a:avLst>
              <a:gd name="adj" fmla="val 19048"/>
            </a:avLst>
          </a:prstGeom>
          <a:solidFill xmlns:a="http://schemas.openxmlformats.org/drawingml/2006/main">
            <a:srgbClr val="FCF4D8"/>
          </a:solidFill>
          <a:ln xmlns:a="http://schemas.openxmlformats.org/drawingml/2006/main" w="0">
            <a:noFill/>
            <a:prstDash val="solid"/>
          </a:ln>
        </p:spPr>
        <p:txBody>
          <a:bodyPr xmlns:a="http://schemas.openxmlformats.org/drawingml/2006/main" lIns="76200" tIns="47625" rIns="76200" bIns="47625" anchor="ctr">
            <a:normAutofit fontScale="75791"/>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SOURCE DETAIL  •  GROUPING + SCAN PATH  •  CURRENT DETAILS NOT CONFIRMED</a:t>
            </a:r>
          </a:p>
        </p:txBody>
      </p:sp>
      <p:sp>
        <p:nvSpPr>
          <p:cNvPr id="11" name="">
            <a:extLst xmlns:a="http://schemas.openxmlformats.org/drawingml/2006/main">
              <a:ext uri="{FF2B5EF4-FFF2-40B4-BE49-F238E27FC236}">
                <a16:creationId xmlns:a16="http://schemas.microsoft.com/office/drawing/2014/main" id="{6AAB707A-26E6-4C74-8F4A-143ADB91E91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04  •  MENU INFORMATION DESIGN</a:t>
            </a:r>
          </a:p>
        </p:txBody>
      </p:sp>
      <p:sp>
        <p:nvSpPr>
          <p:cNvPr id="12" name="">
            <a:extLst xmlns:a="http://schemas.openxmlformats.org/drawingml/2006/main">
              <a:ext uri="{FF2B5EF4-FFF2-40B4-BE49-F238E27FC236}">
                <a16:creationId xmlns:a16="http://schemas.microsoft.com/office/drawing/2014/main" id="{525323E6-1BA7-4009-B031-268CC9872E6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856726958"/>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E496EBA-1353-4898-B9BF-E7C8AC19251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557FB5-1FA7-488A-AD12-BA586EE07D9C}"/>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480A3096-E249-4908-8070-C4C402C09DA1}"/>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BDCAA558-5FD5-4DD9-A9F9-83481BBF41D0}"/>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0B651F36-267C-449D-8E09-ADDDFFABB9E4}"/>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5E6C46-E4CF-4A80-9A2E-27F07FCF76E4}"/>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3C0B77D-656B-4653-AA0E-69203C2CAE2C}"/>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Grouping and information architecture</a:t>
            </a:r>
          </a:p>
        </p:txBody>
      </p:sp>
      <p:sp>
        <p:nvSpPr>
          <p:cNvPr id="8" name="">
            <a:extLst xmlns:a="http://schemas.openxmlformats.org/drawingml/2006/main">
              <a:ext uri="{FF2B5EF4-FFF2-40B4-BE49-F238E27FC236}">
                <a16:creationId xmlns:a16="http://schemas.microsoft.com/office/drawing/2014/main" id="{025E8970-FCD1-4E6E-AB64-A2494C04AF69}"/>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D41432AC-46FC-4A07-A753-E1F9FBBD49E4}"/>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C3DC5E-CAAB-4091-B434-6D88270DD9B3}"/>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51DBA45-2753-4428-B5F3-CABB4D2FECFD}"/>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Readability and scanning</a:t>
            </a:r>
          </a:p>
        </p:txBody>
      </p:sp>
      <p:sp>
        <p:nvSpPr>
          <p:cNvPr id="12" name="">
            <a:extLst xmlns:a="http://schemas.openxmlformats.org/drawingml/2006/main">
              <a:ext uri="{FF2B5EF4-FFF2-40B4-BE49-F238E27FC236}">
                <a16:creationId xmlns:a16="http://schemas.microsoft.com/office/drawing/2014/main" id="{356138DD-0204-4824-80F6-5F08BB2081AA}"/>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F079481C-B8AB-4B30-BFED-73AEE5BC728A}"/>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B6C5FD-CE5C-4F9B-AD4A-31E9CDD522E2}"/>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E7562673-1B70-4794-94BE-90ECF90221E7}"/>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Honest product information</a:t>
            </a:r>
          </a:p>
        </p:txBody>
      </p:sp>
      <p:sp>
        <p:nvSpPr>
          <p:cNvPr id="16" name="">
            <a:extLst xmlns:a="http://schemas.openxmlformats.org/drawingml/2006/main">
              <a:ext uri="{FF2B5EF4-FFF2-40B4-BE49-F238E27FC236}">
                <a16:creationId xmlns:a16="http://schemas.microsoft.com/office/drawing/2014/main" id="{A25106AB-F2D8-47A6-877B-4FE006A7D566}"/>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82DC09AB-51C2-40E4-AAF7-D0953D68FD68}"/>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88978"/>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How could a user find one item quickly without reading every line?</a:t>
            </a:r>
          </a:p>
        </p:txBody>
      </p:sp>
      <p:sp>
        <p:nvSpPr>
          <p:cNvPr id="18" name="">
            <a:extLst xmlns:a="http://schemas.openxmlformats.org/drawingml/2006/main">
              <a:ext uri="{FF2B5EF4-FFF2-40B4-BE49-F238E27FC236}">
                <a16:creationId xmlns:a16="http://schemas.microsoft.com/office/drawing/2014/main" id="{85CAA6DE-37F0-4A61-BD64-D264819591F6}"/>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3AEF9A80-22DF-4BC1-98BE-2454F60618BD}"/>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04  •  MENU INFORMATION DESIGN</a:t>
            </a:r>
          </a:p>
        </p:txBody>
      </p:sp>
      <p:sp>
        <p:nvSpPr>
          <p:cNvPr id="20" name="">
            <a:extLst xmlns:a="http://schemas.openxmlformats.org/drawingml/2006/main">
              <a:ext uri="{FF2B5EF4-FFF2-40B4-BE49-F238E27FC236}">
                <a16:creationId xmlns:a16="http://schemas.microsoft.com/office/drawing/2014/main" id="{D066D93E-CD49-426E-B473-FE90A0767B5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912581845"/>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07BBC63-68DD-44A6-BDD0-654902B0011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FC33B9-981D-4C5A-961E-D649CC89CBF3}"/>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4.1  GROUPING AND INFORMATION ARCHITECTURE</a:t>
            </a:r>
          </a:p>
        </p:txBody>
      </p:sp>
      <p:sp>
        <p:nvSpPr>
          <p:cNvPr id="3" name="">
            <a:extLst xmlns:a="http://schemas.openxmlformats.org/drawingml/2006/main">
              <a:ext uri="{FF2B5EF4-FFF2-40B4-BE49-F238E27FC236}">
                <a16:creationId xmlns:a16="http://schemas.microsoft.com/office/drawing/2014/main" id="{F2B0017D-CA1D-48E9-862E-EB3E5F77EA6F}"/>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Grouping and information architecture</a:t>
            </a:r>
          </a:p>
        </p:txBody>
      </p:sp>
      <p:sp>
        <p:nvSpPr>
          <p:cNvPr id="4" name="">
            <a:extLst xmlns:a="http://schemas.openxmlformats.org/drawingml/2006/main">
              <a:ext uri="{FF2B5EF4-FFF2-40B4-BE49-F238E27FC236}">
                <a16:creationId xmlns:a16="http://schemas.microsoft.com/office/drawing/2014/main" id="{50DC9523-33A8-45FF-833D-52ABAD9BDFE7}"/>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1DF25634-E9E7-4161-A1EB-C03F59470106}"/>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56A245-A9C5-477F-8AAE-854685126E81}"/>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Structure content before decorating it.</a:t>
            </a:r>
          </a:p>
        </p:txBody>
      </p:sp>
      <p:sp>
        <p:nvSpPr>
          <p:cNvPr id="7" name="">
            <a:extLst xmlns:a="http://schemas.openxmlformats.org/drawingml/2006/main">
              <a:ext uri="{FF2B5EF4-FFF2-40B4-BE49-F238E27FC236}">
                <a16:creationId xmlns:a16="http://schemas.microsoft.com/office/drawing/2014/main" id="{6FEEFA84-D964-4821-AE6A-BBC75EE0C791}"/>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A6F1E5-95BB-4956-A303-CB5375FE253D}"/>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Labels should match audience language.</a:t>
            </a:r>
          </a:p>
        </p:txBody>
      </p:sp>
      <p:sp>
        <p:nvSpPr>
          <p:cNvPr id="9" name="">
            <a:extLst xmlns:a="http://schemas.openxmlformats.org/drawingml/2006/main">
              <a:ext uri="{FF2B5EF4-FFF2-40B4-BE49-F238E27FC236}">
                <a16:creationId xmlns:a16="http://schemas.microsoft.com/office/drawing/2014/main" id="{7AFDD5C5-419E-4C44-BB1E-E4C2A09F4527}"/>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7042C9-6DDE-40BC-9EB4-1ECFA27279AF}"/>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The source menu provides layout evidence, not current commercial facts.</a:t>
            </a:r>
          </a:p>
        </p:txBody>
      </p:sp>
      <p:sp>
        <p:nvSpPr>
          <p:cNvPr id="11" name="">
            <a:extLst xmlns:a="http://schemas.openxmlformats.org/drawingml/2006/main">
              <a:ext uri="{FF2B5EF4-FFF2-40B4-BE49-F238E27FC236}">
                <a16:creationId xmlns:a16="http://schemas.microsoft.com/office/drawing/2014/main" id="{3B4E5FE5-CA40-4C15-B8BA-59D5C4545D2A}"/>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BFD78E18-86C1-4FF0-80BD-4895F63653D7}"/>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STRUCTURE BEFORE STYLING</a:t>
            </a:r>
          </a:p>
        </p:txBody>
      </p:sp>
      <p:sp>
        <p:nvSpPr>
          <p:cNvPr id="13" name="">
            <a:extLst xmlns:a="http://schemas.openxmlformats.org/drawingml/2006/main">
              <a:ext uri="{FF2B5EF4-FFF2-40B4-BE49-F238E27FC236}">
                <a16:creationId xmlns:a16="http://schemas.microsoft.com/office/drawing/2014/main" id="{10803749-68A9-4F4B-AB7E-94015C548655}"/>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GROUP ITEMS</a:t>
            </a:r>
          </a:p>
        </p:txBody>
      </p:sp>
      <p:sp>
        <p:nvSpPr>
          <p:cNvPr id="14" name="">
            <a:extLst xmlns:a="http://schemas.openxmlformats.org/drawingml/2006/main">
              <a:ext uri="{FF2B5EF4-FFF2-40B4-BE49-F238E27FC236}">
                <a16:creationId xmlns:a16="http://schemas.microsoft.com/office/drawing/2014/main" id="{801F8F89-0802-40C7-96FA-513819D2EFA6}"/>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8BE2EA4-4DC4-47B5-A53E-06D503A3D4E6}"/>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NAME SECTIONS</a:t>
            </a:r>
          </a:p>
        </p:txBody>
      </p:sp>
      <p:sp>
        <p:nvSpPr>
          <p:cNvPr id="16" name="">
            <a:extLst xmlns:a="http://schemas.openxmlformats.org/drawingml/2006/main">
              <a:ext uri="{FF2B5EF4-FFF2-40B4-BE49-F238E27FC236}">
                <a16:creationId xmlns:a16="http://schemas.microsoft.com/office/drawing/2014/main" id="{DDA2D14A-6A71-4AF9-92E8-972191761A2E}"/>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DE27A82-0012-4A73-94AA-993668363BC6}"/>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ORDER CONTENT</a:t>
            </a:r>
          </a:p>
        </p:txBody>
      </p:sp>
      <p:sp>
        <p:nvSpPr>
          <p:cNvPr id="18" name="">
            <a:extLst xmlns:a="http://schemas.openxmlformats.org/drawingml/2006/main">
              <a:ext uri="{FF2B5EF4-FFF2-40B4-BE49-F238E27FC236}">
                <a16:creationId xmlns:a16="http://schemas.microsoft.com/office/drawing/2014/main" id="{AABE9CC0-2253-41B1-ACBE-2164677D5FC7}"/>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7C62A8D-74A1-49F5-A0A9-DF30C5789E7B}"/>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TEST FINDING</a:t>
            </a:r>
          </a:p>
        </p:txBody>
      </p:sp>
      <p:sp>
        <p:nvSpPr>
          <p:cNvPr id="20" name="">
            <a:extLst xmlns:a="http://schemas.openxmlformats.org/drawingml/2006/main">
              <a:ext uri="{FF2B5EF4-FFF2-40B4-BE49-F238E27FC236}">
                <a16:creationId xmlns:a16="http://schemas.microsoft.com/office/drawing/2014/main" id="{FC9EC4B2-1C5A-4479-BDFD-C6ABCFAE5A2F}"/>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80647"/>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Users should predict where an item belongs before they scan.</a:t>
            </a:r>
          </a:p>
        </p:txBody>
      </p:sp>
      <p:sp>
        <p:nvSpPr>
          <p:cNvPr id="21" name="">
            <a:extLst xmlns:a="http://schemas.openxmlformats.org/drawingml/2006/main">
              <a:ext uri="{FF2B5EF4-FFF2-40B4-BE49-F238E27FC236}">
                <a16:creationId xmlns:a16="http://schemas.microsoft.com/office/drawing/2014/main" id="{3969B273-6C07-4258-B635-68760C3204D1}"/>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7D2F8D83-AE76-4694-B44A-E73D4FBDF44C}"/>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information architecture?</a:t>
            </a:r>
          </a:p>
        </p:txBody>
      </p:sp>
      <p:sp>
        <p:nvSpPr>
          <p:cNvPr id="23" name="">
            <a:extLst xmlns:a="http://schemas.openxmlformats.org/drawingml/2006/main">
              <a:ext uri="{FF2B5EF4-FFF2-40B4-BE49-F238E27FC236}">
                <a16:creationId xmlns:a16="http://schemas.microsoft.com/office/drawing/2014/main" id="{665D30EF-13B4-4ED2-9D15-A2EF54556A39}"/>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04  •  MENU INFORMATION DESIGN</a:t>
            </a:r>
          </a:p>
        </p:txBody>
      </p:sp>
      <p:sp>
        <p:nvSpPr>
          <p:cNvPr id="24" name="">
            <a:extLst xmlns:a="http://schemas.openxmlformats.org/drawingml/2006/main">
              <a:ext uri="{FF2B5EF4-FFF2-40B4-BE49-F238E27FC236}">
                <a16:creationId xmlns:a16="http://schemas.microsoft.com/office/drawing/2014/main" id="{80646250-002F-4638-9748-69640E6059B3}"/>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2143672052"/>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36EA10F-4FF1-45A2-A3A1-8B078EB3512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EEBCED-3CD2-4615-93D4-1F457A950E1C}"/>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4.2  READABILITY AND SCANNING</a:t>
            </a:r>
          </a:p>
        </p:txBody>
      </p:sp>
      <p:sp>
        <p:nvSpPr>
          <p:cNvPr id="3" name="">
            <a:extLst xmlns:a="http://schemas.openxmlformats.org/drawingml/2006/main">
              <a:ext uri="{FF2B5EF4-FFF2-40B4-BE49-F238E27FC236}">
                <a16:creationId xmlns:a16="http://schemas.microsoft.com/office/drawing/2014/main" id="{6823BCA4-72C9-4EFA-9DF3-90E0E86C6A3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Readability and scanning</a:t>
            </a:r>
          </a:p>
        </p:txBody>
      </p:sp>
      <p:sp>
        <p:nvSpPr>
          <p:cNvPr id="4" name="">
            <a:extLst xmlns:a="http://schemas.openxmlformats.org/drawingml/2006/main">
              <a:ext uri="{FF2B5EF4-FFF2-40B4-BE49-F238E27FC236}">
                <a16:creationId xmlns:a16="http://schemas.microsoft.com/office/drawing/2014/main" id="{C7FFADAB-19F9-4791-81F9-019D18A043CB}"/>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10AB600A-02C6-4877-876D-07E05E1E668B}"/>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4BDD63-EDD3-47FE-AE8D-AF7FFB21E1DF}"/>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Scanning needs visual landmarks.</a:t>
            </a:r>
          </a:p>
        </p:txBody>
      </p:sp>
      <p:sp>
        <p:nvSpPr>
          <p:cNvPr id="7" name="">
            <a:extLst xmlns:a="http://schemas.openxmlformats.org/drawingml/2006/main">
              <a:ext uri="{FF2B5EF4-FFF2-40B4-BE49-F238E27FC236}">
                <a16:creationId xmlns:a16="http://schemas.microsoft.com/office/drawing/2014/main" id="{2F4D7A6F-9A62-4CE3-950B-CDA799A28F34}"/>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08E4D81-7A6A-4617-B4B9-31C440E943AF}"/>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Comparable information benefits from stable alignment.</a:t>
            </a:r>
          </a:p>
        </p:txBody>
      </p:sp>
      <p:sp>
        <p:nvSpPr>
          <p:cNvPr id="9" name="">
            <a:extLst xmlns:a="http://schemas.openxmlformats.org/drawingml/2006/main">
              <a:ext uri="{FF2B5EF4-FFF2-40B4-BE49-F238E27FC236}">
                <a16:creationId xmlns:a16="http://schemas.microsoft.com/office/drawing/2014/main" id="{D8BB3192-2767-4ECD-BD27-831EE1B2577F}"/>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9F49E9-9FDA-4AE0-9290-370FB277EBD4}"/>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Readability is tested at the intended output size.</a:t>
            </a:r>
          </a:p>
        </p:txBody>
      </p:sp>
      <p:sp>
        <p:nvSpPr>
          <p:cNvPr id="11" name="">
            <a:extLst xmlns:a="http://schemas.openxmlformats.org/drawingml/2006/main">
              <a:ext uri="{FF2B5EF4-FFF2-40B4-BE49-F238E27FC236}">
                <a16:creationId xmlns:a16="http://schemas.microsoft.com/office/drawing/2014/main" id="{C6F24917-1D3D-49F1-9784-D66896387F70}"/>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A0525AA1-433A-4A68-806F-6AAF3CD0395E}"/>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MAKE EACH ROW EASY TO SCAN</a:t>
            </a:r>
          </a:p>
        </p:txBody>
      </p:sp>
      <p:sp>
        <p:nvSpPr>
          <p:cNvPr id="13" name="">
            <a:extLst xmlns:a="http://schemas.openxmlformats.org/drawingml/2006/main">
              <a:ext uri="{FF2B5EF4-FFF2-40B4-BE49-F238E27FC236}">
                <a16:creationId xmlns:a16="http://schemas.microsoft.com/office/drawing/2014/main" id="{44DF7B94-7732-4035-A65C-D2FEA68CBC2B}"/>
              </a:ext>
            </a:extLst>
          </p:cNvPr>
          <p:cNvSpPr>
            <a:spLocks xmlns:a="http://schemas.openxmlformats.org/drawingml/2006/main" noGrp="1"/>
          </p:cNvSpPr>
          <p:nvPr/>
        </p:nvSpPr>
        <p:spPr>
          <a:xfrm xmlns:a="http://schemas.openxmlformats.org/drawingml/2006/main">
            <a:off x="7696200" y="2009775"/>
            <a:ext cx="3314700" cy="571500"/>
          </a:xfrm>
          <a:prstGeom xmlns:a="http://schemas.openxmlformats.org/drawingml/2006/main" prst="roundRect">
            <a:avLst>
              <a:gd name="adj" fmla="val 13333"/>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HEADING</a:t>
            </a:r>
          </a:p>
        </p:txBody>
      </p:sp>
      <p:sp>
        <p:nvSpPr>
          <p:cNvPr id="14" name="">
            <a:extLst xmlns:a="http://schemas.openxmlformats.org/drawingml/2006/main">
              <a:ext uri="{FF2B5EF4-FFF2-40B4-BE49-F238E27FC236}">
                <a16:creationId xmlns:a16="http://schemas.microsoft.com/office/drawing/2014/main" id="{8696CC8A-818E-4EC1-818A-C57F599FA7B7}"/>
              </a:ext>
            </a:extLst>
          </p:cNvPr>
          <p:cNvSpPr>
            <a:spLocks xmlns:a="http://schemas.openxmlformats.org/drawingml/2006/main" noGrp="1"/>
          </p:cNvSpPr>
          <p:nvPr/>
        </p:nvSpPr>
        <p:spPr>
          <a:xfrm xmlns:a="http://schemas.openxmlformats.org/drawingml/2006/main">
            <a:off x="9182100" y="25812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E0A8EF4-CE50-4046-AD27-3C369E3E1215}"/>
              </a:ext>
            </a:extLst>
          </p:cNvPr>
          <p:cNvSpPr>
            <a:spLocks xmlns:a="http://schemas.openxmlformats.org/drawingml/2006/main" noGrp="1"/>
          </p:cNvSpPr>
          <p:nvPr/>
        </p:nvSpPr>
        <p:spPr>
          <a:xfrm xmlns:a="http://schemas.openxmlformats.org/drawingml/2006/main">
            <a:off x="7696200" y="2752725"/>
            <a:ext cx="3314700" cy="571500"/>
          </a:xfrm>
          <a:prstGeom xmlns:a="http://schemas.openxmlformats.org/drawingml/2006/main" prst="roundRect">
            <a:avLst>
              <a:gd name="adj" fmla="val 13333"/>
            </a:avLst>
          </a:prstGeom>
          <a:solidFill xmlns:a="http://schemas.openxmlformats.org/drawingml/2006/main">
            <a:srgbClr val="E8674B"/>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ITEM</a:t>
            </a:r>
          </a:p>
        </p:txBody>
      </p:sp>
      <p:sp>
        <p:nvSpPr>
          <p:cNvPr id="16" name="">
            <a:extLst xmlns:a="http://schemas.openxmlformats.org/drawingml/2006/main">
              <a:ext uri="{FF2B5EF4-FFF2-40B4-BE49-F238E27FC236}">
                <a16:creationId xmlns:a16="http://schemas.microsoft.com/office/drawing/2014/main" id="{31750079-4A71-43CD-8B62-10CEA95CE556}"/>
              </a:ext>
            </a:extLst>
          </p:cNvPr>
          <p:cNvSpPr>
            <a:spLocks xmlns:a="http://schemas.openxmlformats.org/drawingml/2006/main" noGrp="1"/>
          </p:cNvSpPr>
          <p:nvPr/>
        </p:nvSpPr>
        <p:spPr>
          <a:xfrm xmlns:a="http://schemas.openxmlformats.org/drawingml/2006/main">
            <a:off x="9182100" y="33242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235"/>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5FCBDDD-6742-4F62-A71D-929C73EDFD23}"/>
              </a:ext>
            </a:extLst>
          </p:cNvPr>
          <p:cNvSpPr>
            <a:spLocks xmlns:a="http://schemas.openxmlformats.org/drawingml/2006/main" noGrp="1"/>
          </p:cNvSpPr>
          <p:nvPr/>
        </p:nvSpPr>
        <p:spPr>
          <a:xfrm xmlns:a="http://schemas.openxmlformats.org/drawingml/2006/main">
            <a:off x="7696200" y="3495675"/>
            <a:ext cx="3314700" cy="571500"/>
          </a:xfrm>
          <a:prstGeom xmlns:a="http://schemas.openxmlformats.org/drawingml/2006/main" prst="roundRect">
            <a:avLst>
              <a:gd name="adj" fmla="val 13333"/>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PRICE</a:t>
            </a:r>
          </a:p>
        </p:txBody>
      </p:sp>
      <p:sp>
        <p:nvSpPr>
          <p:cNvPr id="18" name="">
            <a:extLst xmlns:a="http://schemas.openxmlformats.org/drawingml/2006/main">
              <a:ext uri="{FF2B5EF4-FFF2-40B4-BE49-F238E27FC236}">
                <a16:creationId xmlns:a16="http://schemas.microsoft.com/office/drawing/2014/main" id="{D5D8D6A3-41E0-437A-A55F-A0E700781B82}"/>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9634"/>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Consistent alignment lets the eye compare without wandering.</a:t>
            </a:r>
          </a:p>
        </p:txBody>
      </p:sp>
      <p:sp>
        <p:nvSpPr>
          <p:cNvPr id="19" name="">
            <a:extLst xmlns:a="http://schemas.openxmlformats.org/drawingml/2006/main">
              <a:ext uri="{FF2B5EF4-FFF2-40B4-BE49-F238E27FC236}">
                <a16:creationId xmlns:a16="http://schemas.microsoft.com/office/drawing/2014/main" id="{1CFF4EDB-D996-4D5F-AACA-B27A9656CCF5}"/>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D94E835D-72A3-4F76-A1E2-AE83BFC4B4D7}"/>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a visual landmark in a menu?</a:t>
            </a:r>
          </a:p>
        </p:txBody>
      </p:sp>
      <p:sp>
        <p:nvSpPr>
          <p:cNvPr id="21" name="">
            <a:extLst xmlns:a="http://schemas.openxmlformats.org/drawingml/2006/main">
              <a:ext uri="{FF2B5EF4-FFF2-40B4-BE49-F238E27FC236}">
                <a16:creationId xmlns:a16="http://schemas.microsoft.com/office/drawing/2014/main" id="{EC77534A-9185-4545-9015-F3C62823152C}"/>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04  •  MENU INFORMATION DESIGN</a:t>
            </a:r>
          </a:p>
        </p:txBody>
      </p:sp>
      <p:sp>
        <p:nvSpPr>
          <p:cNvPr id="22" name="">
            <a:extLst xmlns:a="http://schemas.openxmlformats.org/drawingml/2006/main">
              <a:ext uri="{FF2B5EF4-FFF2-40B4-BE49-F238E27FC236}">
                <a16:creationId xmlns:a16="http://schemas.microsoft.com/office/drawing/2014/main" id="{2DCC962E-5755-47AE-8168-5799E5A5F0BD}"/>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418777250"/>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CA5315-28E1-414E-8540-ED7AE81E02C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2BF1F6-B11B-4286-B0D8-D8243788AF72}"/>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4.3  HONEST PRODUCT INFORMATION</a:t>
            </a:r>
          </a:p>
        </p:txBody>
      </p:sp>
      <p:sp>
        <p:nvSpPr>
          <p:cNvPr id="3" name="">
            <a:extLst xmlns:a="http://schemas.openxmlformats.org/drawingml/2006/main">
              <a:ext uri="{FF2B5EF4-FFF2-40B4-BE49-F238E27FC236}">
                <a16:creationId xmlns:a16="http://schemas.microsoft.com/office/drawing/2014/main" id="{5C5CB3A5-1469-4983-9CDB-D6455FA8D2AF}"/>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Honest product information</a:t>
            </a:r>
          </a:p>
        </p:txBody>
      </p:sp>
      <p:sp>
        <p:nvSpPr>
          <p:cNvPr id="4" name="">
            <a:extLst xmlns:a="http://schemas.openxmlformats.org/drawingml/2006/main">
              <a:ext uri="{FF2B5EF4-FFF2-40B4-BE49-F238E27FC236}">
                <a16:creationId xmlns:a16="http://schemas.microsoft.com/office/drawing/2014/main" id="{4884D169-3BE8-4046-A7F7-5E9DC8BDBC5E}"/>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A2E03D3A-A977-4191-A1BA-001B1ADDEEEA}"/>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5D509BB-BBF4-4EB2-B551-4C37C4E7569E}"/>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Visual clarity and factual accuracy work together.</a:t>
            </a:r>
          </a:p>
        </p:txBody>
      </p:sp>
      <p:sp>
        <p:nvSpPr>
          <p:cNvPr id="7" name="">
            <a:extLst xmlns:a="http://schemas.openxmlformats.org/drawingml/2006/main">
              <a:ext uri="{FF2B5EF4-FFF2-40B4-BE49-F238E27FC236}">
                <a16:creationId xmlns:a16="http://schemas.microsoft.com/office/drawing/2014/main" id="{3AE93BB2-3DFD-4EB5-92EE-7696E1159B06}"/>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44412F-0D79-470E-97E5-CB5747DB7352}"/>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Images can imply claims as strongly as words.</a:t>
            </a:r>
          </a:p>
        </p:txBody>
      </p:sp>
      <p:sp>
        <p:nvSpPr>
          <p:cNvPr id="9" name="">
            <a:extLst xmlns:a="http://schemas.openxmlformats.org/drawingml/2006/main">
              <a:ext uri="{FF2B5EF4-FFF2-40B4-BE49-F238E27FC236}">
                <a16:creationId xmlns:a16="http://schemas.microsoft.com/office/drawing/2014/main" id="{49E9C975-6C16-4BAD-92E5-665224118F6B}"/>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76A67C-03BC-4B70-8963-D1159C81E2D8}"/>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Unverified current details and benefits must be checked or withheld.</a:t>
            </a:r>
          </a:p>
        </p:txBody>
      </p:sp>
      <p:sp>
        <p:nvSpPr>
          <p:cNvPr id="11" name="">
            <a:extLst xmlns:a="http://schemas.openxmlformats.org/drawingml/2006/main">
              <a:ext uri="{FF2B5EF4-FFF2-40B4-BE49-F238E27FC236}">
                <a16:creationId xmlns:a16="http://schemas.microsoft.com/office/drawing/2014/main" id="{D9038065-B205-46A1-92C6-83CD320E98CE}"/>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6B641C8B-ACCA-40F6-96D9-48A5936524B1}"/>
              </a:ext>
            </a:extLst>
          </p:cNvPr>
          <p:cNvSpPr>
            <a:spLocks xmlns:a="http://schemas.openxmlformats.org/drawingml/2006/main" noGrp="1"/>
          </p:cNvSpPr>
          <p:nvPr/>
        </p:nvSpPr>
        <p:spPr>
          <a:xfrm xmlns:a="http://schemas.openxmlformats.org/drawingml/2006/main">
            <a:off x="7505700" y="1962150"/>
            <a:ext cx="3695700" cy="552450"/>
          </a:xfrm>
          <a:prstGeom xmlns:a="http://schemas.openxmlformats.org/drawingml/2006/main" prst="roundRect">
            <a:avLst>
              <a:gd name="adj" fmla="val 1379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2100" b="1">
                <a:solidFill>
                  <a:srgbClr val="0C5554"/>
                </a:solidFill>
                <a:latin typeface="Arial"/>
                <a:ea typeface="Arial"/>
                <a:cs typeface="Arial"/>
              </a:defRPr>
            </a:pPr>
            <a:r>
              <a:rPr sz="2100" b="1">
                <a:solidFill>
                  <a:srgbClr val="0C5554"/>
                </a:solidFill>
                <a:latin typeface="Arial"/>
                <a:ea typeface="Arial"/>
                <a:cs typeface="Arial"/>
              </a:rPr>
              <a:t>CLAIM</a:t>
            </a:r>
          </a:p>
        </p:txBody>
      </p:sp>
      <p:sp>
        <p:nvSpPr>
          <p:cNvPr id="13" name="">
            <a:extLst xmlns:a="http://schemas.openxmlformats.org/drawingml/2006/main">
              <a:ext uri="{FF2B5EF4-FFF2-40B4-BE49-F238E27FC236}">
                <a16:creationId xmlns:a16="http://schemas.microsoft.com/office/drawing/2014/main" id="{7DB00B2F-AC03-4519-8755-DA090FD48D46}"/>
              </a:ext>
            </a:extLst>
          </p:cNvPr>
          <p:cNvSpPr>
            <a:spLocks xmlns:a="http://schemas.openxmlformats.org/drawingml/2006/main" noGrp="1"/>
          </p:cNvSpPr>
          <p:nvPr/>
        </p:nvSpPr>
        <p:spPr>
          <a:xfrm xmlns:a="http://schemas.openxmlformats.org/drawingml/2006/main">
            <a:off x="7505700" y="2609850"/>
            <a:ext cx="3695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  needs</a:t>
            </a:r>
          </a:p>
        </p:txBody>
      </p:sp>
      <p:sp>
        <p:nvSpPr>
          <p:cNvPr id="14" name="">
            <a:extLst xmlns:a="http://schemas.openxmlformats.org/drawingml/2006/main">
              <a:ext uri="{FF2B5EF4-FFF2-40B4-BE49-F238E27FC236}">
                <a16:creationId xmlns:a16="http://schemas.microsoft.com/office/drawing/2014/main" id="{7749378E-C260-4E74-AB16-5A4B26B277CA}"/>
              </a:ext>
            </a:extLst>
          </p:cNvPr>
          <p:cNvSpPr>
            <a:spLocks xmlns:a="http://schemas.openxmlformats.org/drawingml/2006/main" noGrp="1"/>
          </p:cNvSpPr>
          <p:nvPr/>
        </p:nvSpPr>
        <p:spPr>
          <a:xfrm xmlns:a="http://schemas.openxmlformats.org/drawingml/2006/main">
            <a:off x="7505700" y="3067050"/>
            <a:ext cx="3695700" cy="552450"/>
          </a:xfrm>
          <a:prstGeom xmlns:a="http://schemas.openxmlformats.org/drawingml/2006/main" prst="roundRect">
            <a:avLst>
              <a:gd name="adj" fmla="val 13793"/>
            </a:avLst>
          </a:prstGeom>
          <a:solidFill xmlns:a="http://schemas.openxmlformats.org/drawingml/2006/main">
            <a:srgbClr val="F7E8E3"/>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2100" b="1">
                <a:solidFill>
                  <a:srgbClr val="E8674B"/>
                </a:solidFill>
                <a:latin typeface="Arial"/>
                <a:ea typeface="Arial"/>
                <a:cs typeface="Arial"/>
              </a:defRPr>
            </a:pPr>
            <a:r>
              <a:rPr sz="2100" b="1">
                <a:solidFill>
                  <a:srgbClr val="E8674B"/>
                </a:solidFill>
                <a:latin typeface="Arial"/>
                <a:ea typeface="Arial"/>
                <a:cs typeface="Arial"/>
              </a:rPr>
              <a:t>EVIDENCE</a:t>
            </a:r>
          </a:p>
        </p:txBody>
      </p:sp>
      <p:sp>
        <p:nvSpPr>
          <p:cNvPr id="15" name="">
            <a:extLst xmlns:a="http://schemas.openxmlformats.org/drawingml/2006/main">
              <a:ext uri="{FF2B5EF4-FFF2-40B4-BE49-F238E27FC236}">
                <a16:creationId xmlns:a16="http://schemas.microsoft.com/office/drawing/2014/main" id="{4B4F1CE7-3868-4969-90AF-42E95EDEC645}"/>
              </a:ext>
            </a:extLst>
          </p:cNvPr>
          <p:cNvSpPr>
            <a:spLocks xmlns:a="http://schemas.openxmlformats.org/drawingml/2006/main" noGrp="1"/>
          </p:cNvSpPr>
          <p:nvPr/>
        </p:nvSpPr>
        <p:spPr>
          <a:xfrm xmlns:a="http://schemas.openxmlformats.org/drawingml/2006/main">
            <a:off x="7505700" y="3733800"/>
            <a:ext cx="3695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64706B"/>
                </a:solidFill>
                <a:latin typeface="Arial"/>
                <a:ea typeface="Arial"/>
                <a:cs typeface="Arial"/>
              </a:defRPr>
            </a:pPr>
            <a:r>
              <a:rPr sz="1275" b="1">
                <a:solidFill>
                  <a:srgbClr val="64706B"/>
                </a:solidFill>
                <a:latin typeface="Arial"/>
                <a:ea typeface="Arial"/>
                <a:cs typeface="Arial"/>
              </a:rPr>
              <a:t>↓  decide</a:t>
            </a:r>
          </a:p>
        </p:txBody>
      </p:sp>
      <p:sp>
        <p:nvSpPr>
          <p:cNvPr id="16" name="">
            <a:extLst xmlns:a="http://schemas.openxmlformats.org/drawingml/2006/main">
              <a:ext uri="{FF2B5EF4-FFF2-40B4-BE49-F238E27FC236}">
                <a16:creationId xmlns:a16="http://schemas.microsoft.com/office/drawing/2014/main" id="{C05F2512-AA99-4E85-AA9A-0A388479102D}"/>
              </a:ext>
            </a:extLst>
          </p:cNvPr>
          <p:cNvSpPr>
            <a:spLocks xmlns:a="http://schemas.openxmlformats.org/drawingml/2006/main" noGrp="1"/>
          </p:cNvSpPr>
          <p:nvPr/>
        </p:nvSpPr>
        <p:spPr>
          <a:xfrm xmlns:a="http://schemas.openxmlformats.org/drawingml/2006/main">
            <a:off x="7505700" y="4210050"/>
            <a:ext cx="3695700" cy="609600"/>
          </a:xfrm>
          <a:prstGeom xmlns:a="http://schemas.openxmlformats.org/drawingml/2006/main" prst="roundRect">
            <a:avLst>
              <a:gd name="adj" fmla="val 12500"/>
            </a:avLst>
          </a:prstGeom>
          <a:solidFill xmlns:a="http://schemas.openxmlformats.org/drawingml/2006/main">
            <a:srgbClr val="FCF4D8"/>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800" b="1">
                <a:solidFill>
                  <a:srgbClr val="17342C"/>
                </a:solidFill>
                <a:latin typeface="Arial"/>
                <a:ea typeface="Arial"/>
                <a:cs typeface="Arial"/>
              </a:defRPr>
            </a:pPr>
            <a:r>
              <a:rPr sz="1800" b="1">
                <a:solidFill>
                  <a:srgbClr val="17342C"/>
                </a:solidFill>
                <a:latin typeface="Arial"/>
                <a:ea typeface="Arial"/>
                <a:cs typeface="Arial"/>
              </a:rPr>
              <a:t>PUBLISH  /  WITHHOLD</a:t>
            </a:r>
          </a:p>
        </p:txBody>
      </p:sp>
      <p:sp>
        <p:nvSpPr>
          <p:cNvPr id="17" name="">
            <a:extLst xmlns:a="http://schemas.openxmlformats.org/drawingml/2006/main">
              <a:ext uri="{FF2B5EF4-FFF2-40B4-BE49-F238E27FC236}">
                <a16:creationId xmlns:a16="http://schemas.microsoft.com/office/drawing/2014/main" id="{53C99D24-32DB-472C-834F-D4E51561EC4A}"/>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8" name="">
            <a:extLst xmlns:a="http://schemas.openxmlformats.org/drawingml/2006/main">
              <a:ext uri="{FF2B5EF4-FFF2-40B4-BE49-F238E27FC236}">
                <a16:creationId xmlns:a16="http://schemas.microsoft.com/office/drawing/2014/main" id="{5BBB69A9-3099-4B81-B517-576EE92C712E}"/>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menu statement most clearly needs evidence?</a:t>
            </a:r>
          </a:p>
        </p:txBody>
      </p:sp>
      <p:sp>
        <p:nvSpPr>
          <p:cNvPr id="19" name="">
            <a:extLst xmlns:a="http://schemas.openxmlformats.org/drawingml/2006/main">
              <a:ext uri="{FF2B5EF4-FFF2-40B4-BE49-F238E27FC236}">
                <a16:creationId xmlns:a16="http://schemas.microsoft.com/office/drawing/2014/main" id="{0EF126DD-DE08-4519-9B7E-0DBB34B0D808}"/>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04  •  MENU INFORMATION DESIGN</a:t>
            </a:r>
          </a:p>
        </p:txBody>
      </p:sp>
      <p:sp>
        <p:nvSpPr>
          <p:cNvPr id="20" name="">
            <a:extLst xmlns:a="http://schemas.openxmlformats.org/drawingml/2006/main">
              <a:ext uri="{FF2B5EF4-FFF2-40B4-BE49-F238E27FC236}">
                <a16:creationId xmlns:a16="http://schemas.microsoft.com/office/drawing/2014/main" id="{6EA623AF-7194-4966-8414-AC2781465091}"/>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869911977"/>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F4F4D2D-A5B0-4309-AAC9-EEE028C5C82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41FEB2-7260-4BE4-8FEB-12C035480BC9}"/>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6E66F4C8-135D-49DF-8314-90D560A50325}"/>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F747B463-8001-4030-9AEB-E92B6FE622A8}"/>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BD07B8CA-B29A-4AC2-952C-DE437B9C2FD1}"/>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84D78CBD-B8F4-4A26-86EE-B27B92E2FA2F}"/>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B66DACD-5E49-420F-BB9B-1D20FA949488}"/>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information architecture?</a:t>
            </a:r>
          </a:p>
        </p:txBody>
      </p:sp>
      <p:sp>
        <p:nvSpPr>
          <p:cNvPr id="8" name="">
            <a:extLst xmlns:a="http://schemas.openxmlformats.org/drawingml/2006/main">
              <a:ext uri="{FF2B5EF4-FFF2-40B4-BE49-F238E27FC236}">
                <a16:creationId xmlns:a16="http://schemas.microsoft.com/office/drawing/2014/main" id="{E2438DCC-2167-4462-A30A-8E1C7F063A6E}"/>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165ECD47-D19D-4F20-A29A-67DF9025A4B6}"/>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685B06CE-6277-4840-894E-F1E9FB8CE686}"/>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a visual landmark in a menu?</a:t>
            </a:r>
          </a:p>
        </p:txBody>
      </p:sp>
      <p:sp>
        <p:nvSpPr>
          <p:cNvPr id="11" name="">
            <a:extLst xmlns:a="http://schemas.openxmlformats.org/drawingml/2006/main">
              <a:ext uri="{FF2B5EF4-FFF2-40B4-BE49-F238E27FC236}">
                <a16:creationId xmlns:a16="http://schemas.microsoft.com/office/drawing/2014/main" id="{C85AEE86-6902-4A5F-9311-0A08B47375EB}"/>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1D40B53E-8579-4E6E-9613-13A025416646}"/>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266D60DA-F5FC-4E6B-8B41-8661F71206B0}"/>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menu statement most clearly needs evidence?</a:t>
            </a:r>
          </a:p>
        </p:txBody>
      </p:sp>
      <p:sp>
        <p:nvSpPr>
          <p:cNvPr id="14" name="">
            <a:extLst xmlns:a="http://schemas.openxmlformats.org/drawingml/2006/main">
              <a:ext uri="{FF2B5EF4-FFF2-40B4-BE49-F238E27FC236}">
                <a16:creationId xmlns:a16="http://schemas.microsoft.com/office/drawing/2014/main" id="{DE3CA88D-D4F3-48C6-8C35-6CC61C6C0C0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04  •  MENU INFORMATION DESIGN</a:t>
            </a:r>
          </a:p>
        </p:txBody>
      </p:sp>
      <p:sp>
        <p:nvSpPr>
          <p:cNvPr id="15" name="">
            <a:extLst xmlns:a="http://schemas.openxmlformats.org/drawingml/2006/main">
              <a:ext uri="{FF2B5EF4-FFF2-40B4-BE49-F238E27FC236}">
                <a16:creationId xmlns:a16="http://schemas.microsoft.com/office/drawing/2014/main" id="{FE86FB65-B0EC-4606-8850-0C5CACDE0DC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580670227"/>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3B05AFD-EEB8-4042-B26D-CDFD381E59CC}"/>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968C06D3-08FE-45A2-9ECF-48FD07C90BC8}"/>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00629F76-AC63-49BE-B1F8-00FFAB080D79}"/>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6E6B66C5-DE1D-4520-AF59-52632ED26F7D}"/>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84A5DA1-FD03-4EDD-A369-F62AF81ACC7F}"/>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A265FA07-D858-4FE8-82BC-DDB97EE0E09B}"/>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Explain a menu structure, a five-second finding test and one honesty check. Keep observations separate from current price or availability claims.</a:t>
            </a:r>
          </a:p>
        </p:txBody>
      </p:sp>
      <p:sp>
        <p:nvSpPr>
          <p:cNvPr id="7" name="">
            <a:extLst xmlns:a="http://schemas.openxmlformats.org/drawingml/2006/main">
              <a:ext uri="{FF2B5EF4-FFF2-40B4-BE49-F238E27FC236}">
                <a16:creationId xmlns:a16="http://schemas.microsoft.com/office/drawing/2014/main" id="{4710842C-DCCC-4F39-924B-48E80B4329EF}"/>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6C371A53-E016-468F-9A3E-9721D1C7BC54}"/>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B43317C-8B4A-4227-BCFD-198CAFB18890}"/>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Group before styling</a:t>
            </a:r>
          </a:p>
        </p:txBody>
      </p:sp>
      <p:sp>
        <p:nvSpPr>
          <p:cNvPr id="10" name="">
            <a:extLst xmlns:a="http://schemas.openxmlformats.org/drawingml/2006/main">
              <a:ext uri="{FF2B5EF4-FFF2-40B4-BE49-F238E27FC236}">
                <a16:creationId xmlns:a16="http://schemas.microsoft.com/office/drawing/2014/main" id="{CFFC7A97-4538-4936-8F45-350CC61EFB0B}"/>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091F11-43D2-4742-BFF3-F5A07DE2ECD5}"/>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Test the scan path</a:t>
            </a:r>
          </a:p>
        </p:txBody>
      </p:sp>
      <p:sp>
        <p:nvSpPr>
          <p:cNvPr id="12" name="">
            <a:extLst xmlns:a="http://schemas.openxmlformats.org/drawingml/2006/main">
              <a:ext uri="{FF2B5EF4-FFF2-40B4-BE49-F238E27FC236}">
                <a16:creationId xmlns:a16="http://schemas.microsoft.com/office/drawing/2014/main" id="{D350D36B-DB61-4462-9D07-468E2ECAF5C0}"/>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F93D9D-0F04-4711-A9B5-7ADFCA0E4348}"/>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Verify or withhold claims</a:t>
            </a:r>
          </a:p>
        </p:txBody>
      </p:sp>
      <p:sp>
        <p:nvSpPr>
          <p:cNvPr id="14" name="">
            <a:extLst xmlns:a="http://schemas.openxmlformats.org/drawingml/2006/main">
              <a:ext uri="{FF2B5EF4-FFF2-40B4-BE49-F238E27FC236}">
                <a16:creationId xmlns:a16="http://schemas.microsoft.com/office/drawing/2014/main" id="{7F84F437-87A3-43AA-8C1B-142B87D7095B}"/>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3CA544-86C7-4059-A855-629946785B6B}"/>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164313C4-0528-40CC-8BC3-DCC430EDD848}"/>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E46AD943-94AD-4CC6-9DDB-61ADC8919067}"/>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F8BD48-5FE6-4603-BC11-F8D9B81F95AA}"/>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81FCAC65-BD37-4F1D-A721-9BA9561B694C}"/>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F6EC4ADE-B236-4B88-B592-71AA78A7179B}"/>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642670B-4C12-45E3-B6B6-0DF0C9A7EBA2}"/>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0BEABCC8-EFC3-43B2-90F1-CF29D16CA79F}"/>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5401DF27-9C4D-46D3-9F96-B5EC63869074}"/>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Users can find… because… The source shows… but it does not confirm…</a:t>
            </a:r>
          </a:p>
        </p:txBody>
      </p:sp>
      <p:sp>
        <p:nvSpPr>
          <p:cNvPr id="24" name="">
            <a:extLst xmlns:a="http://schemas.openxmlformats.org/drawingml/2006/main">
              <a:ext uri="{FF2B5EF4-FFF2-40B4-BE49-F238E27FC236}">
                <a16:creationId xmlns:a16="http://schemas.microsoft.com/office/drawing/2014/main" id="{DDE0C8F1-020A-4157-8E4E-8FDC676AC1BA}"/>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04  •  MENU INFORMATION DESIGN</a:t>
            </a:r>
          </a:p>
        </p:txBody>
      </p:sp>
      <p:sp>
        <p:nvSpPr>
          <p:cNvPr id="25" name="">
            <a:extLst xmlns:a="http://schemas.openxmlformats.org/drawingml/2006/main">
              <a:ext uri="{FF2B5EF4-FFF2-40B4-BE49-F238E27FC236}">
                <a16:creationId xmlns:a16="http://schemas.microsoft.com/office/drawing/2014/main" id="{97AB87B8-EC83-47D9-A809-C4E89AE6252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117764519"/>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42DB64-ACD3-4252-B7C3-6414FAD7017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51543C-F4AC-46F6-85DF-B05F35B0CF30}"/>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EF8FDF11-208C-4D63-93FE-949214789CEE}"/>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87F0C6EC-3BBA-4074-BEB6-6A14D5BBE069}"/>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98CF608C-6F27-45D2-BF9C-6F31F666CFE7}"/>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13463385-13B4-4E14-97EA-984AEF04DE6B}"/>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A21182-ACF9-4D56-B945-97BAD947CAFF}"/>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D464AA32-7E3B-4411-B754-60954B3B741B}"/>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98BF0CEE-927B-4868-BEA8-91B5180E8692}"/>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04  •  MENU INFORMATION DESIGN</a:t>
            </a:r>
          </a:p>
        </p:txBody>
      </p:sp>
      <p:sp>
        <p:nvSpPr>
          <p:cNvPr id="10" name="">
            <a:extLst xmlns:a="http://schemas.openxmlformats.org/drawingml/2006/main">
              <a:ext uri="{FF2B5EF4-FFF2-40B4-BE49-F238E27FC236}">
                <a16:creationId xmlns:a16="http://schemas.microsoft.com/office/drawing/2014/main" id="{A0E80AEF-9108-4C62-83DD-2C70E423D83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5639230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2026-08-24T00:54:00.0890000Z</dcterms:created>
  <dcterms:modified xsi:type="dcterms:W3CDTF">2026-08-24T00:54:00.0890000Z</dcterms:modified>
</coreProperties>
</file>